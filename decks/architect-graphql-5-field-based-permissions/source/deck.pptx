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df86164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df86164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take a look at a basic </a:t>
            </a:r>
            <a:r>
              <a:rPr b="1" lang="en-GB">
                <a:solidFill>
                  <a:schemeClr val="dk1"/>
                </a:solidFill>
              </a:rPr>
              <a:t>GraphQL query structure</a:t>
            </a:r>
            <a:r>
              <a:rPr lang="en-GB">
                <a:solidFill>
                  <a:schemeClr val="dk1"/>
                </a:solidFill>
              </a:rPr>
              <a:t> for our API.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entry point</a:t>
            </a:r>
            <a:r>
              <a:rPr lang="en-GB">
                <a:solidFill>
                  <a:schemeClr val="dk1"/>
                </a:solidFill>
              </a:rPr>
              <a:t> for this API is a query called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When this query is executed, it returns a </a:t>
            </a:r>
            <a:r>
              <a:rPr b="1" lang="en-GB">
                <a:solidFill>
                  <a:schemeClr val="dk1"/>
                </a:solidFill>
              </a:rPr>
              <a:t>list of Account objects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Now, what does an </a:t>
            </a:r>
            <a:r>
              <a:rPr b="1" lang="en-GB">
                <a:solidFill>
                  <a:schemeClr val="dk1"/>
                </a:solidFill>
              </a:rPr>
              <a:t>Account</a:t>
            </a:r>
            <a:r>
              <a:rPr lang="en-GB">
                <a:solidFill>
                  <a:schemeClr val="dk1"/>
                </a:solidFill>
              </a:rPr>
              <a:t> object look like?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 are its key fields: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owner</a:t>
            </a:r>
            <a:r>
              <a:rPr lang="en-GB">
                <a:solidFill>
                  <a:schemeClr val="dk1"/>
                </a:solidFill>
              </a:rPr>
              <a:t>: This is the </a:t>
            </a:r>
            <a:r>
              <a:rPr b="1" lang="en-GB">
                <a:solidFill>
                  <a:schemeClr val="dk1"/>
                </a:solidFill>
              </a:rPr>
              <a:t>name of the account holder</a:t>
            </a:r>
            <a:r>
              <a:rPr lang="en-GB">
                <a:solidFill>
                  <a:schemeClr val="dk1"/>
                </a:solidFill>
              </a:rPr>
              <a:t> — a simple string field.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number</a:t>
            </a:r>
            <a:r>
              <a:rPr lang="en-GB">
                <a:solidFill>
                  <a:schemeClr val="dk1"/>
                </a:solidFill>
              </a:rPr>
              <a:t>: This is the </a:t>
            </a:r>
            <a:r>
              <a:rPr b="1" lang="en-GB">
                <a:solidFill>
                  <a:schemeClr val="dk1"/>
                </a:solidFill>
              </a:rPr>
              <a:t>unique account number</a:t>
            </a:r>
            <a:r>
              <a:rPr lang="en-GB">
                <a:solidFill>
                  <a:schemeClr val="dk1"/>
                </a:solidFill>
              </a:rPr>
              <a:t>, which identifies the account.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</a:t>
            </a:r>
            <a:r>
              <a:rPr lang="en-GB">
                <a:solidFill>
                  <a:schemeClr val="dk1"/>
                </a:solidFill>
              </a:rPr>
              <a:t>: This is a </a:t>
            </a:r>
            <a:r>
              <a:rPr b="1" lang="en-GB">
                <a:solidFill>
                  <a:schemeClr val="dk1"/>
                </a:solidFill>
              </a:rPr>
              <a:t>sensitive field</a:t>
            </a:r>
            <a:r>
              <a:rPr lang="en-GB">
                <a:solidFill>
                  <a:schemeClr val="dk1"/>
                </a:solidFill>
              </a:rPr>
              <a:t> — it shows the </a:t>
            </a:r>
            <a:r>
              <a:rPr b="1" lang="en-GB">
                <a:solidFill>
                  <a:schemeClr val="dk1"/>
                </a:solidFill>
              </a:rPr>
              <a:t>current balance</a:t>
            </a:r>
            <a:r>
              <a:rPr lang="en-GB">
                <a:solidFill>
                  <a:schemeClr val="dk1"/>
                </a:solidFill>
              </a:rPr>
              <a:t> in the account.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Depending on your use case, you may want to apply </a:t>
            </a:r>
            <a:r>
              <a:rPr b="1" lang="en-GB">
                <a:solidFill>
                  <a:schemeClr val="dk1"/>
                </a:solidFill>
              </a:rPr>
              <a:t>fine-grained access control</a:t>
            </a:r>
            <a:r>
              <a:rPr lang="en-GB">
                <a:solidFill>
                  <a:schemeClr val="dk1"/>
                </a:solidFill>
              </a:rPr>
              <a:t> to fields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</a:t>
            </a:r>
            <a:r>
              <a:rPr lang="en-GB">
                <a:solidFill>
                  <a:schemeClr val="dk1"/>
                </a:solidFill>
              </a:rPr>
              <a:t>, especially if different users or roles should see different levels of information.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where </a:t>
            </a:r>
            <a:r>
              <a:rPr b="1" lang="en-GB">
                <a:solidFill>
                  <a:schemeClr val="dk1"/>
                </a:solidFill>
              </a:rPr>
              <a:t>Tyk’s GraphQL security features</a:t>
            </a:r>
            <a:r>
              <a:rPr lang="en-GB">
                <a:solidFill>
                  <a:schemeClr val="dk1"/>
                </a:solidFill>
              </a:rPr>
              <a:t> — like </a:t>
            </a:r>
            <a:r>
              <a:rPr b="1" lang="en-GB">
                <a:solidFill>
                  <a:schemeClr val="dk1"/>
                </a:solidFill>
              </a:rPr>
              <a:t>field-level permissions and policies</a:t>
            </a:r>
            <a:r>
              <a:rPr lang="en-GB">
                <a:solidFill>
                  <a:schemeClr val="dk1"/>
                </a:solidFill>
              </a:rPr>
              <a:t> — can really shine.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df86164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df86164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GraphQL, it's easy to request </a:t>
            </a:r>
            <a:r>
              <a:rPr b="1" lang="en-GB">
                <a:solidFill>
                  <a:schemeClr val="dk1"/>
                </a:solidFill>
              </a:rPr>
              <a:t>only the data you need</a:t>
            </a:r>
            <a:r>
              <a:rPr lang="en-GB">
                <a:solidFill>
                  <a:schemeClr val="dk1"/>
                </a:solidFill>
              </a:rPr>
              <a:t> — which is a powerful feature.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But with that power comes a risk: </a:t>
            </a:r>
            <a:r>
              <a:rPr b="1" lang="en-GB">
                <a:solidFill>
                  <a:schemeClr val="dk1"/>
                </a:solidFill>
              </a:rPr>
              <a:t>Not every API consumer should be able to see everything.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 </a:t>
            </a:r>
            <a:r>
              <a:rPr b="1" lang="en-GB">
                <a:solidFill>
                  <a:schemeClr val="dk1"/>
                </a:solidFill>
              </a:rPr>
              <a:t>internal user</a:t>
            </a:r>
            <a:r>
              <a:rPr lang="en-GB">
                <a:solidFill>
                  <a:schemeClr val="dk1"/>
                </a:solidFill>
              </a:rPr>
              <a:t> — like a back-office system — might be allowed to query </a:t>
            </a:r>
            <a:r>
              <a:rPr b="1" lang="en-GB">
                <a:solidFill>
                  <a:schemeClr val="dk1"/>
                </a:solidFill>
              </a:rPr>
              <a:t>all fields</a:t>
            </a:r>
            <a:r>
              <a:rPr lang="en-GB">
                <a:solidFill>
                  <a:schemeClr val="dk1"/>
                </a:solidFill>
              </a:rPr>
              <a:t> of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Account</a:t>
            </a:r>
            <a:r>
              <a:rPr lang="en-GB">
                <a:solidFill>
                  <a:schemeClr val="dk1"/>
                </a:solidFill>
              </a:rPr>
              <a:t> type, including sensitive data like the account </a:t>
            </a:r>
            <a:r>
              <a:rPr b="1" lang="en-GB">
                <a:solidFill>
                  <a:schemeClr val="dk1"/>
                </a:solidFill>
              </a:rPr>
              <a:t>balance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CopyEdit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query 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accounts 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owner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number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balance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perfectly fine for trusted internal users.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However, when an </a:t>
            </a:r>
            <a:r>
              <a:rPr b="1" lang="en-GB">
                <a:solidFill>
                  <a:schemeClr val="dk1"/>
                </a:solidFill>
              </a:rPr>
              <a:t>external user</a:t>
            </a:r>
            <a:r>
              <a:rPr lang="en-GB">
                <a:solidFill>
                  <a:schemeClr val="dk1"/>
                </a:solidFill>
              </a:rPr>
              <a:t> — say, a third-party developer — tries to run the </a:t>
            </a:r>
            <a:r>
              <a:rPr b="1" lang="en-GB">
                <a:solidFill>
                  <a:schemeClr val="dk1"/>
                </a:solidFill>
              </a:rPr>
              <a:t>same query</a:t>
            </a:r>
            <a:r>
              <a:rPr lang="en-GB">
                <a:solidFill>
                  <a:schemeClr val="dk1"/>
                </a:solidFill>
              </a:rPr>
              <a:t>, they may not be authorized to see sensitive fields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Instead of getting the data, they get a </a:t>
            </a:r>
            <a:r>
              <a:rPr b="1" lang="en-GB">
                <a:solidFill>
                  <a:schemeClr val="dk1"/>
                </a:solidFill>
              </a:rPr>
              <a:t>clear error message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json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CopyEdit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"errors": [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"message": "field: balance is restricted on type: Account"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the result of </a:t>
            </a:r>
            <a:r>
              <a:rPr b="1" lang="en-GB">
                <a:solidFill>
                  <a:schemeClr val="dk1"/>
                </a:solidFill>
              </a:rPr>
              <a:t>field-based permissions</a:t>
            </a:r>
            <a:r>
              <a:rPr lang="en-GB">
                <a:solidFill>
                  <a:schemeClr val="dk1"/>
                </a:solidFill>
              </a:rPr>
              <a:t> configured in Tyk.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This Matters: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 enforces </a:t>
            </a:r>
            <a:r>
              <a:rPr b="1" lang="en-GB">
                <a:solidFill>
                  <a:schemeClr val="dk1"/>
                </a:solidFill>
              </a:rPr>
              <a:t>least privilege access</a:t>
            </a:r>
            <a:r>
              <a:rPr lang="en-GB">
                <a:solidFill>
                  <a:schemeClr val="dk1"/>
                </a:solidFill>
              </a:rPr>
              <a:t> — consumers only see what they’re allowed to.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 reduces the risk of </a:t>
            </a:r>
            <a:r>
              <a:rPr b="1" lang="en-GB">
                <a:solidFill>
                  <a:schemeClr val="dk1"/>
                </a:solidFill>
              </a:rPr>
              <a:t>data leakage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it helps you comply with </a:t>
            </a:r>
            <a:r>
              <a:rPr b="1" lang="en-GB">
                <a:solidFill>
                  <a:schemeClr val="dk1"/>
                </a:solidFill>
              </a:rPr>
              <a:t>data protection and regulatory requirements</a:t>
            </a:r>
            <a:r>
              <a:rPr lang="en-GB">
                <a:solidFill>
                  <a:schemeClr val="dk1"/>
                </a:solidFill>
              </a:rPr>
              <a:t>, especially when exposing APIs to third parties.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So, field-based permissions are an essential part of a secure and well-governed GraphQL API strategy.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fdf86164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fdf86164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makes it easy to manage </a:t>
            </a:r>
            <a:r>
              <a:rPr b="1" lang="en-GB">
                <a:solidFill>
                  <a:schemeClr val="dk1"/>
                </a:solidFill>
              </a:rPr>
              <a:t>field-level permissions</a:t>
            </a:r>
            <a:r>
              <a:rPr lang="en-GB">
                <a:solidFill>
                  <a:schemeClr val="dk1"/>
                </a:solidFill>
              </a:rPr>
              <a:t> for your GraphQL APIs — right from the </a:t>
            </a:r>
            <a:r>
              <a:rPr b="1" lang="en-GB">
                <a:solidFill>
                  <a:schemeClr val="dk1"/>
                </a:solidFill>
              </a:rPr>
              <a:t>Dashboard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restrict or allow access to </a:t>
            </a:r>
            <a:r>
              <a:rPr b="1" lang="en-GB">
                <a:solidFill>
                  <a:schemeClr val="dk1"/>
                </a:solidFill>
              </a:rPr>
              <a:t>specific types and fields</a:t>
            </a:r>
            <a:r>
              <a:rPr lang="en-GB">
                <a:solidFill>
                  <a:schemeClr val="dk1"/>
                </a:solidFill>
              </a:rPr>
              <a:t> using either a </a:t>
            </a:r>
            <a:r>
              <a:rPr b="1" lang="en-GB">
                <a:solidFill>
                  <a:schemeClr val="dk1"/>
                </a:solidFill>
              </a:rPr>
              <a:t>block list</a:t>
            </a:r>
            <a:r>
              <a:rPr lang="en-GB">
                <a:solidFill>
                  <a:schemeClr val="dk1"/>
                </a:solidFill>
              </a:rPr>
              <a:t> or an </a:t>
            </a:r>
            <a:r>
              <a:rPr b="1" lang="en-GB">
                <a:solidFill>
                  <a:schemeClr val="dk1"/>
                </a:solidFill>
              </a:rPr>
              <a:t>allow list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Here’s how you can set it up: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1: Define Access via a Policy (Optional)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Navigate to: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System Management &gt; Policies &gt; Add Policy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In the policy, select your </a:t>
            </a:r>
            <a:r>
              <a:rPr b="1" lang="en-GB">
                <a:solidFill>
                  <a:schemeClr val="dk1"/>
                </a:solidFill>
              </a:rPr>
              <a:t>GraphQL API</a:t>
            </a:r>
            <a:r>
              <a:rPr lang="en-GB">
                <a:solidFill>
                  <a:schemeClr val="dk1"/>
                </a:solidFill>
              </a:rPr>
              <a:t> — it’ll be marked clearly as a GraphQL type.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You’ll see two switches: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Block list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Allow list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Important note:</a:t>
            </a:r>
            <a:r>
              <a:rPr lang="en-GB">
                <a:solidFill>
                  <a:schemeClr val="dk1"/>
                </a:solidFill>
              </a:rPr>
              <a:t> You can enable </a:t>
            </a:r>
            <a:r>
              <a:rPr b="1" lang="en-GB">
                <a:solidFill>
                  <a:schemeClr val="dk1"/>
                </a:solidFill>
              </a:rPr>
              <a:t>either</a:t>
            </a:r>
            <a:r>
              <a:rPr lang="en-GB">
                <a:solidFill>
                  <a:schemeClr val="dk1"/>
                </a:solidFill>
              </a:rPr>
              <a:t> the block list or the allow list — </a:t>
            </a:r>
            <a:r>
              <a:rPr b="1" lang="en-GB">
                <a:solidFill>
                  <a:schemeClr val="dk1"/>
                </a:solidFill>
              </a:rPr>
              <a:t>not both</a:t>
            </a:r>
            <a:r>
              <a:rPr lang="en-GB">
                <a:solidFill>
                  <a:schemeClr val="dk1"/>
                </a:solidFill>
              </a:rPr>
              <a:t>. Turning on one will automatically disable the other.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Use the UI to select which fields or types to </a:t>
            </a:r>
            <a:r>
              <a:rPr b="1" lang="en-GB">
                <a:solidFill>
                  <a:schemeClr val="dk1"/>
                </a:solidFill>
              </a:rPr>
              <a:t>block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allow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2: Apply the Policy to a Key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Go to: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System Management &gt; Keys &gt; Add Key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You can either: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Attach the policy you just created, or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Directly define GraphQL permissions for this key in the interface.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allows you to </a:t>
            </a:r>
            <a:r>
              <a:rPr b="1" lang="en-GB">
                <a:solidFill>
                  <a:schemeClr val="dk1"/>
                </a:solidFill>
              </a:rPr>
              <a:t>customize access per client</a:t>
            </a:r>
            <a:r>
              <a:rPr lang="en-GB">
                <a:solidFill>
                  <a:schemeClr val="dk1"/>
                </a:solidFill>
              </a:rPr>
              <a:t>, ensuring internal and external users only see what they’re allowed 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This Matters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approach gives you fine-grained control without changing your upstream service — all access logic is handled by Tyk at the gateway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It’s a great way to </a:t>
            </a:r>
            <a:r>
              <a:rPr b="1" lang="en-GB">
                <a:solidFill>
                  <a:schemeClr val="dk1"/>
                </a:solidFill>
              </a:rPr>
              <a:t>enforce privacy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protect sensitive data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customize access</a:t>
            </a:r>
            <a:r>
              <a:rPr lang="en-GB">
                <a:solidFill>
                  <a:schemeClr val="dk1"/>
                </a:solidFill>
              </a:rPr>
              <a:t> based on user roles or API clients.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df86164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df86164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By default, </a:t>
            </a:r>
            <a:r>
              <a:rPr b="1" lang="en-GB">
                <a:solidFill>
                  <a:schemeClr val="dk1"/>
                </a:solidFill>
              </a:rPr>
              <a:t>all Types and Fields are unchecked</a:t>
            </a:r>
            <a:r>
              <a:rPr lang="en-GB">
                <a:solidFill>
                  <a:schemeClr val="dk1"/>
                </a:solidFill>
              </a:rPr>
              <a:t> in the permissions settings.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means </a:t>
            </a:r>
            <a:r>
              <a:rPr b="1" lang="en-GB">
                <a:solidFill>
                  <a:schemeClr val="dk1"/>
                </a:solidFill>
              </a:rPr>
              <a:t>everything is allowed</a:t>
            </a:r>
            <a:r>
              <a:rPr lang="en-GB">
                <a:solidFill>
                  <a:schemeClr val="dk1"/>
                </a:solidFill>
              </a:rPr>
              <a:t> unless you explicitly block something.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you </a:t>
            </a:r>
            <a:r>
              <a:rPr b="1" lang="en-GB">
                <a:solidFill>
                  <a:schemeClr val="dk1"/>
                </a:solidFill>
              </a:rPr>
              <a:t>check a Type or Field</a:t>
            </a:r>
            <a:r>
              <a:rPr lang="en-GB">
                <a:solidFill>
                  <a:schemeClr val="dk1"/>
                </a:solidFill>
              </a:rPr>
              <a:t>, you’re telling Tyk to </a:t>
            </a:r>
            <a:r>
              <a:rPr b="1" lang="en-GB">
                <a:solidFill>
                  <a:schemeClr val="dk1"/>
                </a:solidFill>
              </a:rPr>
              <a:t>disallow access</a:t>
            </a:r>
            <a:r>
              <a:rPr lang="en-GB">
                <a:solidFill>
                  <a:schemeClr val="dk1"/>
                </a:solidFill>
              </a:rPr>
              <a:t> to that part of the schema for any GraphQL operations made using the associated API key.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example, in the settings shown here: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fields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countries</a:t>
            </a:r>
            <a:r>
              <a:rPr lang="en-GB">
                <a:solidFill>
                  <a:schemeClr val="dk1"/>
                </a:solidFill>
              </a:rPr>
              <a:t> on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Continent</a:t>
            </a:r>
            <a:r>
              <a:rPr lang="en-GB">
                <a:solidFill>
                  <a:schemeClr val="dk1"/>
                </a:solidFill>
              </a:rPr>
              <a:t> type are blocked.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fields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latt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longt</a:t>
            </a:r>
            <a:r>
              <a:rPr lang="en-GB">
                <a:solidFill>
                  <a:schemeClr val="dk1"/>
                </a:solidFill>
              </a:rPr>
              <a:t> on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Coordinates</a:t>
            </a:r>
            <a:r>
              <a:rPr lang="en-GB">
                <a:solidFill>
                  <a:schemeClr val="dk1"/>
                </a:solidFill>
              </a:rPr>
              <a:t> type are blocked as well.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 if a client tries to query these blocked fields, they will get an error — access will be denied.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allows you to </a:t>
            </a:r>
            <a:r>
              <a:rPr b="1" lang="en-GB">
                <a:solidFill>
                  <a:schemeClr val="dk1"/>
                </a:solidFill>
              </a:rPr>
              <a:t>precisely control which parts of your GraphQL API clients can access</a:t>
            </a:r>
            <a:r>
              <a:rPr lang="en-GB">
                <a:solidFill>
                  <a:schemeClr val="dk1"/>
                </a:solidFill>
              </a:rPr>
              <a:t>, helping secure sensitive or irrelevant data without modifying your backend.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df86164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df86164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By default, </a:t>
            </a:r>
            <a:r>
              <a:rPr b="1" lang="en-GB">
                <a:solidFill>
                  <a:schemeClr val="dk1"/>
                </a:solidFill>
              </a:rPr>
              <a:t>all Types and Fields are unchecked</a:t>
            </a:r>
            <a:r>
              <a:rPr lang="en-GB">
                <a:solidFill>
                  <a:schemeClr val="dk1"/>
                </a:solidFill>
              </a:rPr>
              <a:t> in the permissions settings.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case, that means </a:t>
            </a:r>
            <a:r>
              <a:rPr b="1" lang="en-GB">
                <a:solidFill>
                  <a:schemeClr val="dk1"/>
                </a:solidFill>
              </a:rPr>
              <a:t>nothing is allowed</a:t>
            </a:r>
            <a:r>
              <a:rPr lang="en-GB">
                <a:solidFill>
                  <a:schemeClr val="dk1"/>
                </a:solidFill>
              </a:rPr>
              <a:t> until you explicitly allow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you </a:t>
            </a:r>
            <a:r>
              <a:rPr b="1" lang="en-GB">
                <a:solidFill>
                  <a:schemeClr val="dk1"/>
                </a:solidFill>
              </a:rPr>
              <a:t>check a Type or Field</a:t>
            </a:r>
            <a:r>
              <a:rPr lang="en-GB">
                <a:solidFill>
                  <a:schemeClr val="dk1"/>
                </a:solidFill>
              </a:rPr>
              <a:t>, you are granting permission for that part of the schema to be used in any GraphQL operation associated with the API key.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example, in the settings shown here: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Only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</a:t>
            </a:r>
            <a:r>
              <a:rPr lang="en-GB">
                <a:solidFill>
                  <a:schemeClr val="dk1"/>
                </a:solidFill>
              </a:rPr>
              <a:t> field on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Continent</a:t>
            </a:r>
            <a:r>
              <a:rPr lang="en-GB">
                <a:solidFill>
                  <a:schemeClr val="dk1"/>
                </a:solidFill>
              </a:rPr>
              <a:t> type is allowed.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for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Language</a:t>
            </a:r>
            <a:r>
              <a:rPr lang="en-GB">
                <a:solidFill>
                  <a:schemeClr val="dk1"/>
                </a:solidFill>
              </a:rPr>
              <a:t> type, only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GB">
                <a:solidFill>
                  <a:schemeClr val="dk1"/>
                </a:solidFill>
              </a:rPr>
              <a:t> fields are allowed.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Any attempt by the client to query fields outside of these allowed ones will be blocked.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approach is useful when you want a </a:t>
            </a:r>
            <a:r>
              <a:rPr b="1" lang="en-GB">
                <a:solidFill>
                  <a:schemeClr val="dk1"/>
                </a:solidFill>
              </a:rPr>
              <a:t>strict allow-list policy</a:t>
            </a:r>
            <a:r>
              <a:rPr lang="en-GB">
                <a:solidFill>
                  <a:schemeClr val="dk1"/>
                </a:solidFill>
              </a:rPr>
              <a:t> to tightly control what data clients can access, ensuring maximum security and compliance.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720000" y="1001800"/>
            <a:ext cx="28746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Understanding the GraphQL Schema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Query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accounts: [Account!]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Account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owner: String!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number: ID!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balance: Float!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3" name="Google Shape;113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8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Field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8"/>
          <p:cNvSpPr txBox="1"/>
          <p:nvPr/>
        </p:nvSpPr>
        <p:spPr>
          <a:xfrm>
            <a:off x="3901725" y="1018432"/>
            <a:ext cx="4327800" cy="3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Query: The entry point of your API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accounts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returns a list of </a:t>
            </a: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objects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Account Type: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owner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Name of account holder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Unique account number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balance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Sensitive field showing current balance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/>
        </p:nvSpPr>
        <p:spPr>
          <a:xfrm>
            <a:off x="720000" y="1001800"/>
            <a:ext cx="33366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Why Use Field-Based Permissions?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Not every API consumer should see everything.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Internal user can query: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accounts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owner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number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balance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2" name="Google Shape;122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Field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9"/>
          <p:cNvSpPr txBox="1"/>
          <p:nvPr/>
        </p:nvSpPr>
        <p:spPr>
          <a:xfrm>
            <a:off x="4453800" y="1001800"/>
            <a:ext cx="45666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External user tries to access </a:t>
            </a: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balance</a:t>
            </a:r>
            <a:r>
              <a:rPr lang="en-GB" sz="1100">
                <a:solidFill>
                  <a:schemeClr val="dk1"/>
                </a:solidFill>
              </a:rPr>
              <a:t> and gets: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"errors": [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"message": "field: balance is restricted on type: Account"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720000" y="1154200"/>
            <a:ext cx="57027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Restricted and allowed types and fields can also be set up via Tyk Dashboard.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Optional: Configure a Policy from System Management &gt; Policies &gt; Add Policy.</a:t>
            </a:r>
            <a:endParaRPr i="1"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From System Management &gt; Keys &gt; Add Key select a policy or configure directly for the key.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Select your GraphQL API (marked as GraphQL).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Enable either Block list or Allow list. By default, both are disabled. It’s not possible to have both enabled at the same time - enabling one switch automatically disables the other.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Setting Up Field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/>
        </p:nvSpPr>
        <p:spPr>
          <a:xfrm>
            <a:off x="720000" y="1154200"/>
            <a:ext cx="79290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By default all Types and Fields will be unchecked. By checking a Type or Field you will disallow to use it for any GraphQL operation associated with the key.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For example, the settings illustrated below would block the following: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code and countries fields in Continent type.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latt and longt fields in Coordinates type.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 txBox="1"/>
          <p:nvPr/>
        </p:nvSpPr>
        <p:spPr>
          <a:xfrm>
            <a:off x="110400" y="309475"/>
            <a:ext cx="9389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Setting Up Field Based Permissions - Blocklist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p31" title="Screenshot 2025-05-21 at 10.58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56" y="2816024"/>
            <a:ext cx="8057569" cy="16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/>
        </p:nvSpPr>
        <p:spPr>
          <a:xfrm>
            <a:off x="720000" y="1154200"/>
            <a:ext cx="79290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By default all Types and Fields will be unchecked. By checking a Type or Field you will allow it to be used for any GraphQL operation associated with the key.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For example, the settings illustrated below would only allow the following: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code field in </a:t>
            </a: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Continent</a:t>
            </a: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type.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fields in </a:t>
            </a: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type.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2"/>
          <p:cNvSpPr txBox="1"/>
          <p:nvPr/>
        </p:nvSpPr>
        <p:spPr>
          <a:xfrm>
            <a:off x="110400" y="309475"/>
            <a:ext cx="9389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Setting Up Field Based Permissions - Allowlist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32" title="Screenshot 2025-05-21 at 11.00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50" y="2950225"/>
            <a:ext cx="7623350" cy="17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