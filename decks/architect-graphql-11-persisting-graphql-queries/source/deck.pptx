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73" r:id="rId4"/>
    <p:sldMasterId id="214748367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</p:sldIdLst>
  <p:sldSz cy="5143500" cx="9144000"/>
  <p:notesSz cx="6858000" cy="9144000"/>
  <p:embeddedFontLst>
    <p:embeddedFont>
      <p:font typeface="Inter Light"/>
      <p:regular r:id="rId11"/>
      <p:bold r:id="rId12"/>
      <p:italic r:id="rId13"/>
      <p:boldItalic r:id="rId14"/>
    </p:embeddedFont>
    <p:embeddedFont>
      <p:font typeface="Roboto"/>
      <p:regular r:id="rId15"/>
      <p:bold r:id="rId16"/>
      <p:italic r:id="rId17"/>
      <p:boldItalic r:id="rId18"/>
    </p:embeddedFont>
    <p:embeddedFont>
      <p:font typeface="Inter"/>
      <p:regular r:id="rId19"/>
      <p:bold r:id="rId20"/>
      <p:italic r:id="rId21"/>
      <p:boldItalic r:id="rId22"/>
    </p:embeddedFont>
    <p:embeddedFont>
      <p:font typeface="Open Sans SemiBold"/>
      <p:regular r:id="rId23"/>
      <p:bold r:id="rId24"/>
      <p:italic r:id="rId25"/>
      <p:boldItalic r:id="rId26"/>
    </p:embeddedFont>
    <p:embeddedFont>
      <p:font typeface="Roboto Mono"/>
      <p:regular r:id="rId27"/>
      <p:bold r:id="rId28"/>
      <p:italic r:id="rId29"/>
      <p:boldItalic r:id="rId30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Inter-bold.fntdata"/><Relationship Id="rId22" Type="http://schemas.openxmlformats.org/officeDocument/2006/relationships/font" Target="fonts/Inter-boldItalic.fntdata"/><Relationship Id="rId21" Type="http://schemas.openxmlformats.org/officeDocument/2006/relationships/font" Target="fonts/Inter-italic.fntdata"/><Relationship Id="rId24" Type="http://schemas.openxmlformats.org/officeDocument/2006/relationships/font" Target="fonts/OpenSansSemiBold-bold.fntdata"/><Relationship Id="rId23" Type="http://schemas.openxmlformats.org/officeDocument/2006/relationships/font" Target="fonts/OpenSansSemiBold-regular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OpenSansSemiBold-boldItalic.fntdata"/><Relationship Id="rId25" Type="http://schemas.openxmlformats.org/officeDocument/2006/relationships/font" Target="fonts/OpenSansSemiBold-italic.fntdata"/><Relationship Id="rId28" Type="http://schemas.openxmlformats.org/officeDocument/2006/relationships/font" Target="fonts/RobotoMono-bold.fntdata"/><Relationship Id="rId27" Type="http://schemas.openxmlformats.org/officeDocument/2006/relationships/font" Target="fonts/RobotoMono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ono-italic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0" Type="http://schemas.openxmlformats.org/officeDocument/2006/relationships/font" Target="fonts/RobotoMono-boldItalic.fntdata"/><Relationship Id="rId11" Type="http://schemas.openxmlformats.org/officeDocument/2006/relationships/font" Target="fonts/InterLight-regular.fntdata"/><Relationship Id="rId10" Type="http://schemas.openxmlformats.org/officeDocument/2006/relationships/slide" Target="slides/slide4.xml"/><Relationship Id="rId13" Type="http://schemas.openxmlformats.org/officeDocument/2006/relationships/font" Target="fonts/InterLight-italic.fntdata"/><Relationship Id="rId12" Type="http://schemas.openxmlformats.org/officeDocument/2006/relationships/font" Target="fonts/InterLight-bold.fntdata"/><Relationship Id="rId15" Type="http://schemas.openxmlformats.org/officeDocument/2006/relationships/font" Target="fonts/Roboto-regular.fntdata"/><Relationship Id="rId14" Type="http://schemas.openxmlformats.org/officeDocument/2006/relationships/font" Target="fonts/InterLight-boldItalic.fntdata"/><Relationship Id="rId17" Type="http://schemas.openxmlformats.org/officeDocument/2006/relationships/font" Target="fonts/Roboto-italic.fntdata"/><Relationship Id="rId16" Type="http://schemas.openxmlformats.org/officeDocument/2006/relationships/font" Target="fonts/Roboto-bold.fntdata"/><Relationship Id="rId19" Type="http://schemas.openxmlformats.org/officeDocument/2006/relationships/font" Target="fonts/Inter-regular.fntdata"/><Relationship Id="rId18" Type="http://schemas.openxmlformats.org/officeDocument/2006/relationships/font" Target="fonts/Roboto-bold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5fe0ac7b27_0_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5fe0ac7b27_0_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Tyk allows you to </a:t>
            </a:r>
            <a:r>
              <a:rPr b="1" lang="en-GB">
                <a:solidFill>
                  <a:schemeClr val="dk1"/>
                </a:solidFill>
              </a:rPr>
              <a:t>expose a GraphQL query as a REST endpoint</a:t>
            </a:r>
            <a:r>
              <a:rPr lang="en-GB">
                <a:solidFill>
                  <a:schemeClr val="dk1"/>
                </a:solidFill>
              </a:rPr>
              <a:t> using the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persist_graphql</a:t>
            </a:r>
            <a:r>
              <a:rPr lang="en-GB">
                <a:solidFill>
                  <a:schemeClr val="dk1"/>
                </a:solidFill>
              </a:rPr>
              <a:t> feature inside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extended_paths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is configured on an </a:t>
            </a:r>
            <a:r>
              <a:rPr b="1" lang="en-GB">
                <a:solidFill>
                  <a:schemeClr val="dk1"/>
                </a:solidFill>
              </a:rPr>
              <a:t>HTTP-type API definition</a:t>
            </a:r>
            <a:r>
              <a:rPr lang="en-GB">
                <a:solidFill>
                  <a:schemeClr val="dk1"/>
                </a:solidFill>
              </a:rPr>
              <a:t>, not a GraphQL type.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It’s especially useful for: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Creating </a:t>
            </a:r>
            <a:r>
              <a:rPr b="1" lang="en-GB">
                <a:solidFill>
                  <a:schemeClr val="dk1"/>
                </a:solidFill>
              </a:rPr>
              <a:t>simple, cacheable REST endpoints</a:t>
            </a:r>
            <a:r>
              <a:rPr lang="en-GB">
                <a:solidFill>
                  <a:schemeClr val="dk1"/>
                </a:solidFill>
              </a:rPr>
              <a:t> from complex GraphQL queries.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Providing </a:t>
            </a:r>
            <a:r>
              <a:rPr b="1" lang="en-GB">
                <a:solidFill>
                  <a:schemeClr val="dk1"/>
                </a:solidFill>
              </a:rPr>
              <a:t>predefined access to specific GraphQL operations</a:t>
            </a:r>
            <a:r>
              <a:rPr lang="en-GB">
                <a:solidFill>
                  <a:schemeClr val="dk1"/>
                </a:solidFill>
              </a:rPr>
              <a:t> without exposing the full schema.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To use this feature, two requirements must be met: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The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target_url</a:t>
            </a:r>
            <a:r>
              <a:rPr lang="en-GB">
                <a:solidFill>
                  <a:schemeClr val="dk1"/>
                </a:solidFill>
              </a:rPr>
              <a:t> must point to a valid </a:t>
            </a:r>
            <a:r>
              <a:rPr b="1" lang="en-GB">
                <a:solidFill>
                  <a:schemeClr val="dk1"/>
                </a:solidFill>
              </a:rPr>
              <a:t>GraphQL upstream</a:t>
            </a:r>
            <a:r>
              <a:rPr lang="en-GB">
                <a:solidFill>
                  <a:schemeClr val="dk1"/>
                </a:solidFill>
              </a:rPr>
              <a:t>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enable_context_vars</a:t>
            </a:r>
            <a:r>
              <a:rPr lang="en-GB">
                <a:solidFill>
                  <a:schemeClr val="dk1"/>
                </a:solidFill>
              </a:rPr>
              <a:t> must be set to </a:t>
            </a:r>
            <a:r>
              <a:rPr b="1" lang="en-GB">
                <a:solidFill>
                  <a:schemeClr val="dk1"/>
                </a:solidFill>
              </a:rPr>
              <a:t>true</a:t>
            </a:r>
            <a:r>
              <a:rPr lang="en-GB">
                <a:solidFill>
                  <a:schemeClr val="dk1"/>
                </a:solidFill>
              </a:rPr>
              <a:t>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approach lets you combine the flexibility of GraphQL with the simplicity and caching benefits of REST.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5fe0ac7b27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5fe0ac7b27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Here’s a basic example of an API definition for a GraphQL proxy in Tyk: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The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listen_path</a:t>
            </a:r>
            <a:r>
              <a:rPr lang="en-GB">
                <a:solidFill>
                  <a:schemeClr val="dk1"/>
                </a:solidFill>
              </a:rPr>
              <a:t> is set to </a:t>
            </a:r>
            <a:r>
              <a:rPr b="1"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/trevorblades/</a:t>
            </a:r>
            <a:r>
              <a:rPr lang="en-GB">
                <a:solidFill>
                  <a:schemeClr val="dk1"/>
                </a:solidFill>
              </a:rPr>
              <a:t>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The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target_url</a:t>
            </a:r>
            <a:r>
              <a:rPr lang="en-GB">
                <a:solidFill>
                  <a:schemeClr val="dk1"/>
                </a:solidFill>
              </a:rPr>
              <a:t> points to the upstream GraphQL service at </a:t>
            </a:r>
            <a:r>
              <a:rPr b="1"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https://countries.trevorblades.com</a:t>
            </a:r>
            <a:r>
              <a:rPr lang="en-GB">
                <a:solidFill>
                  <a:schemeClr val="dk1"/>
                </a:solidFill>
              </a:rPr>
              <a:t>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We enable </a:t>
            </a:r>
            <a:r>
              <a:rPr b="1"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strip_listen_path</a:t>
            </a:r>
            <a:r>
              <a:rPr lang="en-GB">
                <a:solidFill>
                  <a:schemeClr val="dk1"/>
                </a:solidFill>
              </a:rPr>
              <a:t> to remove the prefix before forwarding requests upstream.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To enable </a:t>
            </a:r>
            <a:r>
              <a:rPr b="1" lang="en-GB">
                <a:solidFill>
                  <a:schemeClr val="dk1"/>
                </a:solidFill>
              </a:rPr>
              <a:t>versioning</a:t>
            </a:r>
            <a:r>
              <a:rPr lang="en-GB">
                <a:solidFill>
                  <a:schemeClr val="dk1"/>
                </a:solidFill>
              </a:rPr>
              <a:t> with this setup:</a:t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Set </a:t>
            </a:r>
            <a:r>
              <a:rPr b="1"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use_extended_paths</a:t>
            </a:r>
            <a:r>
              <a:rPr lang="en-GB">
                <a:solidFill>
                  <a:schemeClr val="dk1"/>
                </a:solidFill>
              </a:rPr>
              <a:t> to </a:t>
            </a:r>
            <a:r>
              <a:rPr b="1"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-GB">
                <a:solidFill>
                  <a:schemeClr val="dk1"/>
                </a:solidFill>
              </a:rPr>
              <a:t> — this allows more granular path handling.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Set </a:t>
            </a:r>
            <a:r>
              <a:rPr b="1"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not_versioned</a:t>
            </a:r>
            <a:r>
              <a:rPr lang="en-GB">
                <a:solidFill>
                  <a:schemeClr val="dk1"/>
                </a:solidFill>
              </a:rPr>
              <a:t> to </a:t>
            </a:r>
            <a:r>
              <a:rPr b="1"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true</a:t>
            </a:r>
            <a:r>
              <a:rPr lang="en-GB">
                <a:solidFill>
                  <a:schemeClr val="dk1"/>
                </a:solidFill>
              </a:rPr>
              <a:t> if you want to disable automatic versioning behavior.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The important piece for GraphQL-to-REST conversion is that the middleware handling this logic lives inside the </a:t>
            </a:r>
            <a:r>
              <a:rPr b="1"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extended_paths.persist_graphql</a:t>
            </a:r>
            <a:r>
              <a:rPr lang="en-GB">
                <a:solidFill>
                  <a:schemeClr val="dk1"/>
                </a:solidFill>
              </a:rPr>
              <a:t> section.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modular approach gives you flexibility to manage your API versions and expose GraphQL queries as REST endpoints with fine control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5fe0ac7b27_0_10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5fe0ac7b27_0_10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Once the API definition is in place, versioning plays an important role — even if you're not managing multiple versions.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By setting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not_versioned: true</a:t>
            </a:r>
            <a:r>
              <a:rPr lang="en-GB">
                <a:solidFill>
                  <a:schemeClr val="dk1"/>
                </a:solidFill>
              </a:rPr>
              <a:t> and providing a "Default" version, you activate the GraphQL-to-REST middleware. This is where the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persist_graphql</a:t>
            </a:r>
            <a:r>
              <a:rPr lang="en-GB">
                <a:solidFill>
                  <a:schemeClr val="dk1"/>
                </a:solidFill>
              </a:rPr>
              <a:t> configuration lives.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5fe0ac7b27_0_10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5fe0ac7b27_0_10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In this final step, we configure the actual persisted query.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The path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/getContinentByCode</a:t>
            </a:r>
            <a:r>
              <a:rPr lang="en-GB">
                <a:solidFill>
                  <a:schemeClr val="dk1"/>
                </a:solidFill>
              </a:rPr>
              <a:t> becomes a usable REST endpoint.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When Tyk receives a GET request to that path, it will construct and send the defined GraphQL operation to the upstream — in this case, fetching the continent by code.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The query and variables are hardcoded, so it's predictable and easy to cache or control.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3.png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image" Target="../media/image1.jpg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0" y="922550"/>
            <a:ext cx="8520600" cy="16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5315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E9BA"/>
              </a:buClr>
              <a:buSzPts val="2000"/>
              <a:buNone/>
              <a:defRPr sz="2000">
                <a:solidFill>
                  <a:srgbClr val="21E9B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66" name="Google Shape;66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7" name="Google Shape;67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9pPr>
          </a:lstStyle>
          <a:p/>
        </p:txBody>
      </p:sp>
      <p:sp>
        <p:nvSpPr>
          <p:cNvPr id="71" name="Google Shape;7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4" name="Google Shape;74;p19"/>
          <p:cNvSpPr txBox="1"/>
          <p:nvPr>
            <p:ph idx="1" type="body"/>
          </p:nvPr>
        </p:nvSpPr>
        <p:spPr>
          <a:xfrm>
            <a:off x="311700" y="1389600"/>
            <a:ext cx="50364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5" name="Google Shape;75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8" name="Google Shape;78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1" name="Google Shape;81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8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2" name="Google Shape;82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21E9BA"/>
              </a:buClr>
              <a:buSzPts val="1600"/>
              <a:buNone/>
              <a:defRPr sz="1600">
                <a:solidFill>
                  <a:srgbClr val="21E9BA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3" name="Google Shape;83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800"/>
              <a:buChar char="●"/>
              <a:defRPr>
                <a:solidFill>
                  <a:srgbClr val="8438FA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●"/>
              <a:defRPr>
                <a:solidFill>
                  <a:srgbClr val="8438FA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●"/>
              <a:defRPr>
                <a:solidFill>
                  <a:srgbClr val="8438FA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○"/>
              <a:defRPr>
                <a:solidFill>
                  <a:srgbClr val="8438FA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rgbClr val="8438FA"/>
              </a:buClr>
              <a:buSzPts val="1400"/>
              <a:buChar char="■"/>
              <a:defRPr>
                <a:solidFill>
                  <a:srgbClr val="8438FA"/>
                </a:solidFill>
              </a:defRPr>
            </a:lvl9pPr>
          </a:lstStyle>
          <a:p/>
        </p:txBody>
      </p:sp>
      <p:sp>
        <p:nvSpPr>
          <p:cNvPr id="84" name="Google Shape;84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87" name="Google Shape;87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8000"/>
              <a:buNone/>
              <a:defRPr sz="8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0" name="Google Shape;90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91" name="Google Shape;91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Light slide" showMasterSp="0">
  <p:cSld name="Light slide">
    <p:bg>
      <p:bgPr>
        <a:solidFill>
          <a:srgbClr val="FFFFFF"/>
        </a:solidFill>
      </p:bgPr>
    </p:bg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25"/>
          <p:cNvSpPr txBox="1"/>
          <p:nvPr>
            <p:ph idx="1" type="body"/>
          </p:nvPr>
        </p:nvSpPr>
        <p:spPr>
          <a:xfrm>
            <a:off x="951731" y="1115566"/>
            <a:ext cx="5302200" cy="887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4191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505071"/>
              </a:buClr>
              <a:buSzPts val="3000"/>
              <a:buFont typeface="Arial"/>
              <a:buChar char="●"/>
              <a:defRPr b="1" sz="3000">
                <a:solidFill>
                  <a:srgbClr val="505071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96" name="Google Shape;96;p25"/>
          <p:cNvSpPr txBox="1"/>
          <p:nvPr>
            <p:ph idx="2" type="body"/>
          </p:nvPr>
        </p:nvSpPr>
        <p:spPr>
          <a:xfrm>
            <a:off x="934600" y="858391"/>
            <a:ext cx="2825700" cy="2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19050" lIns="19050" spcFirstLastPara="1" rIns="19050" wrap="square" tIns="19050">
            <a:normAutofit/>
          </a:bodyPr>
          <a:lstStyle>
            <a:lvl1pPr indent="-27305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pic>
        <p:nvPicPr>
          <p:cNvPr descr="logo_RGB-Transparent1-WEB.png" id="97" name="Google Shape;97;p25"/>
          <p:cNvPicPr preferRelativeResize="0"/>
          <p:nvPr/>
        </p:nvPicPr>
        <p:blipFill rotWithShape="1">
          <a:blip r:embed="rId2">
            <a:alphaModFix/>
          </a:blip>
          <a:srcRect b="40" l="0" r="0" t="40"/>
          <a:stretch/>
        </p:blipFill>
        <p:spPr>
          <a:xfrm>
            <a:off x="243186" y="4749582"/>
            <a:ext cx="279847" cy="142875"/>
          </a:xfrm>
          <a:prstGeom prst="rect">
            <a:avLst/>
          </a:prstGeom>
          <a:noFill/>
          <a:ln>
            <a:noFill/>
          </a:ln>
        </p:spPr>
      </p:pic>
      <p:sp>
        <p:nvSpPr>
          <p:cNvPr id="98" name="Google Shape;98;p25"/>
          <p:cNvSpPr txBox="1"/>
          <p:nvPr>
            <p:ph idx="3" type="body"/>
          </p:nvPr>
        </p:nvSpPr>
        <p:spPr>
          <a:xfrm>
            <a:off x="951731" y="2296477"/>
            <a:ext cx="3860100" cy="550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normAutofit/>
          </a:bodyPr>
          <a:lstStyle>
            <a:lvl1pPr indent="-273050" lvl="0" marL="457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1pPr>
            <a:lvl2pPr indent="-273050" lvl="1" marL="914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2pPr>
            <a:lvl3pPr indent="-273050" lvl="2" marL="1371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3pPr>
            <a:lvl4pPr indent="-273050" lvl="3" marL="1828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4pPr>
            <a:lvl5pPr indent="-273050" lvl="4" marL="22860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5pPr>
            <a:lvl6pPr indent="-273050" lvl="5" marL="27432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6pPr>
            <a:lvl7pPr indent="-273050" lvl="6" marL="32004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●"/>
              <a:defRPr/>
            </a:lvl7pPr>
            <a:lvl8pPr indent="-273050" lvl="7" marL="36576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○"/>
              <a:defRPr/>
            </a:lvl8pPr>
            <a:lvl9pPr indent="-273050" lvl="8" marL="4114800" algn="l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700"/>
              <a:buChar char="■"/>
              <a:defRPr/>
            </a:lvl9pPr>
          </a:lstStyle>
          <a:p/>
        </p:txBody>
      </p:sp>
      <p:sp>
        <p:nvSpPr>
          <p:cNvPr id="99" name="Google Shape;99;p25"/>
          <p:cNvSpPr txBox="1"/>
          <p:nvPr>
            <p:ph idx="12" type="sldNum"/>
          </p:nvPr>
        </p:nvSpPr>
        <p:spPr>
          <a:xfrm>
            <a:off x="8543920" y="4773806"/>
            <a:ext cx="351600" cy="1620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rm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7A79A1"/>
              </a:buClr>
              <a:buSzPts val="900"/>
              <a:buFont typeface="Open Sans"/>
              <a:buNone/>
              <a:defRPr i="0" sz="800" u="none" cap="none" strike="noStrike">
                <a:latin typeface="Open Sans SemiBold"/>
                <a:ea typeface="Open Sans SemiBold"/>
                <a:cs typeface="Open Sans SemiBold"/>
                <a:sym typeface="Open Sans SemiBold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dark">
  <p:cSld name="SECTION_HEADER_1_1">
    <p:bg>
      <p:bgPr>
        <a:blipFill>
          <a:blip r:embed="rId2">
            <a:alphaModFix/>
          </a:blip>
          <a:stretch>
            <a:fillRect/>
          </a:stretch>
        </a:blipFill>
      </p:bgPr>
    </p:bg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p26"/>
          <p:cNvSpPr txBox="1"/>
          <p:nvPr>
            <p:ph type="title"/>
          </p:nvPr>
        </p:nvSpPr>
        <p:spPr>
          <a:xfrm>
            <a:off x="500550" y="0"/>
            <a:ext cx="8520600" cy="11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3000"/>
              <a:buNone/>
              <a:defRPr b="1" sz="3000">
                <a:solidFill>
                  <a:srgbClr val="E1E1E1"/>
                </a:solidFill>
              </a:defRPr>
            </a:lvl9pPr>
          </a:lstStyle>
          <a:p/>
        </p:txBody>
      </p:sp>
      <p:sp>
        <p:nvSpPr>
          <p:cNvPr id="102" name="Google Shape;102;p26"/>
          <p:cNvSpPr txBox="1"/>
          <p:nvPr>
            <p:ph idx="2" type="title"/>
          </p:nvPr>
        </p:nvSpPr>
        <p:spPr>
          <a:xfrm>
            <a:off x="500550" y="1140600"/>
            <a:ext cx="8520600" cy="39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sz="1800">
                <a:solidFill>
                  <a:srgbClr val="E1E1E1"/>
                </a:solidFill>
              </a:defRPr>
            </a:lvl1pPr>
            <a:lvl2pPr lv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2pPr>
            <a:lvl3pPr lvl="2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3pPr>
            <a:lvl4pPr lvl="3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4pPr>
            <a:lvl5pPr lvl="4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5pPr>
            <a:lvl6pPr lvl="5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6pPr>
            <a:lvl7pPr lvl="6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7pPr>
            <a:lvl8pPr lvl="7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8pPr>
            <a:lvl9pPr lvl="8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E1E1E1"/>
              </a:buClr>
              <a:buSzPts val="1800"/>
              <a:buNone/>
              <a:defRPr b="1" sz="1800">
                <a:solidFill>
                  <a:srgbClr val="E1E1E1"/>
                </a:solidFill>
              </a:defRPr>
            </a:lvl9pPr>
          </a:lstStyle>
          <a:p/>
        </p:txBody>
      </p:sp>
      <p:sp>
        <p:nvSpPr>
          <p:cNvPr id="103" name="Google Shape;103;p26"/>
          <p:cNvSpPr txBox="1"/>
          <p:nvPr/>
        </p:nvSpPr>
        <p:spPr>
          <a:xfrm>
            <a:off x="0" y="0"/>
            <a:ext cx="242100" cy="1140600"/>
          </a:xfrm>
          <a:prstGeom prst="rect">
            <a:avLst/>
          </a:prstGeom>
          <a:gradFill>
            <a:gsLst>
              <a:gs pos="0">
                <a:srgbClr val="109EAE"/>
              </a:gs>
              <a:gs pos="100000">
                <a:srgbClr val="00D9BA"/>
              </a:gs>
            </a:gsLst>
            <a:lin ang="5400012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andard white">
  <p:cSld name="SECTION_HEADER_1_1_1_1">
    <p:bg>
      <p:bgPr>
        <a:solidFill>
          <a:srgbClr val="FFFFFF"/>
        </a:solidFill>
      </p:bgPr>
    </p:bg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7"/>
          <p:cNvSpPr txBox="1"/>
          <p:nvPr>
            <p:ph type="title"/>
          </p:nvPr>
        </p:nvSpPr>
        <p:spPr>
          <a:xfrm>
            <a:off x="500550" y="0"/>
            <a:ext cx="8520600" cy="1140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3000"/>
              <a:buNone/>
              <a:defRPr b="1" sz="3000">
                <a:solidFill>
                  <a:srgbClr val="0D0D18"/>
                </a:solidFill>
              </a:defRPr>
            </a:lvl9pPr>
          </a:lstStyle>
          <a:p/>
        </p:txBody>
      </p:sp>
      <p:sp>
        <p:nvSpPr>
          <p:cNvPr id="106" name="Google Shape;106;p27"/>
          <p:cNvSpPr txBox="1"/>
          <p:nvPr>
            <p:ph idx="2" type="title"/>
          </p:nvPr>
        </p:nvSpPr>
        <p:spPr>
          <a:xfrm>
            <a:off x="500550" y="1140600"/>
            <a:ext cx="8520600" cy="3916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sz="1800">
                <a:solidFill>
                  <a:srgbClr val="0D0D18"/>
                </a:solidFill>
              </a:defRPr>
            </a:lvl1pPr>
            <a:lvl2pPr lvl="1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2pPr>
            <a:lvl3pPr lvl="2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3pPr>
            <a:lvl4pPr lvl="3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4pPr>
            <a:lvl5pPr lvl="4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5pPr>
            <a:lvl6pPr lvl="5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6pPr>
            <a:lvl7pPr lvl="6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7pPr>
            <a:lvl8pPr lvl="7">
              <a:lnSpc>
                <a:spcPct val="150000"/>
              </a:lnSpc>
              <a:spcBef>
                <a:spcPts val="1000"/>
              </a:spcBef>
              <a:spcAft>
                <a:spcPts val="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8pPr>
            <a:lvl9pPr lvl="8">
              <a:lnSpc>
                <a:spcPct val="150000"/>
              </a:lnSpc>
              <a:spcBef>
                <a:spcPts val="1000"/>
              </a:spcBef>
              <a:spcAft>
                <a:spcPts val="1000"/>
              </a:spcAft>
              <a:buClr>
                <a:srgbClr val="0D0D18"/>
              </a:buClr>
              <a:buSzPts val="1800"/>
              <a:buNone/>
              <a:defRPr b="1" sz="1800">
                <a:solidFill>
                  <a:srgbClr val="0D0D18"/>
                </a:solidFill>
              </a:defRPr>
            </a:lvl9pPr>
          </a:lstStyle>
          <a:p/>
        </p:txBody>
      </p:sp>
      <p:sp>
        <p:nvSpPr>
          <p:cNvPr id="107" name="Google Shape;107;p27"/>
          <p:cNvSpPr txBox="1"/>
          <p:nvPr/>
        </p:nvSpPr>
        <p:spPr>
          <a:xfrm>
            <a:off x="0" y="0"/>
            <a:ext cx="242100" cy="1140600"/>
          </a:xfrm>
          <a:prstGeom prst="rect">
            <a:avLst/>
          </a:prstGeom>
          <a:gradFill>
            <a:gsLst>
              <a:gs pos="0">
                <a:srgbClr val="1A237D"/>
              </a:gs>
              <a:gs pos="100000">
                <a:srgbClr val="2F3F9E"/>
              </a:gs>
            </a:gsLst>
            <a:lin ang="5400012" scaled="0"/>
          </a:gra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oboto"/>
              <a:ea typeface="Roboto"/>
              <a:cs typeface="Roboto"/>
              <a:sym typeface="Roboto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5" Type="http://schemas.openxmlformats.org/officeDocument/2006/relationships/theme" Target="../theme/theme1.xml"/><Relationship Id="rId14" Type="http://schemas.openxmlformats.org/officeDocument/2006/relationships/slideLayout" Target="../slideLayouts/slideLayout2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rgbClr val="8438FA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800"/>
              <a:buFont typeface="Inter"/>
              <a:buNone/>
              <a:defRPr b="1" sz="3800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Font typeface="Inter"/>
              <a:buChar char="●"/>
              <a:defRPr sz="1800"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●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○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Inter"/>
              <a:buChar char="■"/>
              <a:defRPr>
                <a:solidFill>
                  <a:schemeClr val="lt1"/>
                </a:solidFill>
                <a:latin typeface="Inter"/>
                <a:ea typeface="Inter"/>
                <a:cs typeface="Inter"/>
                <a:sym typeface="Inter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1pPr>
            <a:lvl2pPr lvl="1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2pPr>
            <a:lvl3pPr lvl="2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3pPr>
            <a:lvl4pPr lvl="3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4pPr>
            <a:lvl5pPr lvl="4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5pPr>
            <a:lvl6pPr lvl="5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6pPr>
            <a:lvl7pPr lvl="6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7pPr>
            <a:lvl8pPr lvl="7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8pPr>
            <a:lvl9pPr lvl="8" algn="r">
              <a:buNone/>
              <a:defRPr sz="1000">
                <a:solidFill>
                  <a:schemeClr val="lt1"/>
                </a:solidFill>
                <a:latin typeface="Inter Light"/>
                <a:ea typeface="Inter Light"/>
                <a:cs typeface="Inter Light"/>
                <a:sym typeface="Inter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2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8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13" name="Google Shape;113;p2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14" name="Google Shape;114;p28"/>
          <p:cNvSpPr txBox="1"/>
          <p:nvPr/>
        </p:nvSpPr>
        <p:spPr>
          <a:xfrm>
            <a:off x="720000" y="309475"/>
            <a:ext cx="78039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1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Persisting GraphQL queries</a:t>
            </a:r>
            <a:endParaRPr b="1" sz="31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15" name="Google Shape;115;p28"/>
          <p:cNvSpPr txBox="1"/>
          <p:nvPr/>
        </p:nvSpPr>
        <p:spPr>
          <a:xfrm>
            <a:off x="390150" y="1202050"/>
            <a:ext cx="7803900" cy="3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Tyk allows exposing a GraphQL query as a REST endpoint.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Achieved using persist_graphql inside extended_paths.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Configured on an HTTP-type API definition.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Useful for: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Creating simple, cacheable REST endpoints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○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Predefined access to known GraphQL operations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Requirements: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target_url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must point to a GraphQL upstream.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enable_context_vars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 must be set to 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true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29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1" name="Google Shape;12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22" name="Google Shape;122;p29"/>
          <p:cNvSpPr txBox="1"/>
          <p:nvPr/>
        </p:nvSpPr>
        <p:spPr>
          <a:xfrm>
            <a:off x="720000" y="309475"/>
            <a:ext cx="78039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1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Persisting GraphQL queries</a:t>
            </a:r>
            <a:endParaRPr b="1" sz="31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23" name="Google Shape;123;p29"/>
          <p:cNvSpPr txBox="1"/>
          <p:nvPr/>
        </p:nvSpPr>
        <p:spPr>
          <a:xfrm>
            <a:off x="390150" y="1202050"/>
            <a:ext cx="7803900" cy="3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API Definition &amp; Versioning Setup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Basic API definition: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"proxy": {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"listen_path": "/trevorblades/",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"target_url": "https://countries.trevorblades.com",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"strip_listen_path": true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Enable versioning with: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○"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use_extended_paths: true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Courier New"/>
              <a:buChar char="○"/>
            </a:pP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not_versioned: true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GraphQL to REST middleware lives inside 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extended_paths.persist_graphql</a:t>
            </a: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.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30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29" name="Google Shape;129;p3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0" name="Google Shape;130;p30"/>
          <p:cNvSpPr txBox="1"/>
          <p:nvPr/>
        </p:nvSpPr>
        <p:spPr>
          <a:xfrm>
            <a:off x="720000" y="309475"/>
            <a:ext cx="78039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1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Persisting GraphQL queries</a:t>
            </a:r>
            <a:endParaRPr b="1" sz="31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1" name="Google Shape;131;p30"/>
          <p:cNvSpPr txBox="1"/>
          <p:nvPr/>
        </p:nvSpPr>
        <p:spPr>
          <a:xfrm>
            <a:off x="390150" y="1049650"/>
            <a:ext cx="7803900" cy="3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The vital part of this is the 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extended_paths.persist_graphql </a:t>
            </a:r>
            <a:r>
              <a:rPr b="1"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field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Sample persist_graphql configuration: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"persist_graphql": [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"method": "GET",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"path": "/getContinentByCode",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"operation": "query ($continentCode: ID!) { continent(code: $continentCode) { code name countries { name } } }",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"variables": {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"continentCode": "EU"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}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2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]</a:t>
            </a:r>
            <a:endParaRPr sz="12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31"/>
          <p:cNvSpPr/>
          <p:nvPr/>
        </p:nvSpPr>
        <p:spPr>
          <a:xfrm flipH="1">
            <a:off x="8153400" y="4429125"/>
            <a:ext cx="990600" cy="714300"/>
          </a:xfrm>
          <a:prstGeom prst="round1Rect">
            <a:avLst>
              <a:gd fmla="val 50000" name="adj"/>
            </a:avLst>
          </a:prstGeom>
          <a:solidFill>
            <a:schemeClr val="dk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pic>
        <p:nvPicPr>
          <p:cNvPr id="137" name="Google Shape;13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423988" y="4687950"/>
            <a:ext cx="527775" cy="273675"/>
          </a:xfrm>
          <a:prstGeom prst="rect">
            <a:avLst/>
          </a:prstGeom>
          <a:noFill/>
          <a:ln>
            <a:noFill/>
          </a:ln>
        </p:spPr>
      </p:pic>
      <p:sp>
        <p:nvSpPr>
          <p:cNvPr id="138" name="Google Shape;138;p31"/>
          <p:cNvSpPr txBox="1"/>
          <p:nvPr/>
        </p:nvSpPr>
        <p:spPr>
          <a:xfrm>
            <a:off x="720000" y="309475"/>
            <a:ext cx="7803900" cy="6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 sz="3100">
                <a:solidFill>
                  <a:srgbClr val="5900CB"/>
                </a:solidFill>
                <a:latin typeface="Inter"/>
                <a:ea typeface="Inter"/>
                <a:cs typeface="Inter"/>
                <a:sym typeface="Inter"/>
              </a:rPr>
              <a:t>Persisting GraphQL queries</a:t>
            </a:r>
            <a:endParaRPr b="1" sz="3100">
              <a:solidFill>
                <a:srgbClr val="03031C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39" name="Google Shape;139;p31"/>
          <p:cNvSpPr txBox="1"/>
          <p:nvPr/>
        </p:nvSpPr>
        <p:spPr>
          <a:xfrm>
            <a:off x="390150" y="1049650"/>
            <a:ext cx="7803900" cy="394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Each entry includes:</a:t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method – e.g., 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GET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path – e.g., </a:t>
            </a:r>
            <a:r>
              <a:rPr lang="en-GB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/getContinentByCode</a:t>
            </a:r>
            <a:endParaRPr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operation – the GraphQL query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-31750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Inter"/>
              <a:buChar char="●"/>
            </a:pPr>
            <a:r>
              <a:rPr lang="en-GB">
                <a:solidFill>
                  <a:schemeClr val="dk1"/>
                </a:solidFill>
                <a:latin typeface="Inter"/>
                <a:ea typeface="Inter"/>
                <a:cs typeface="Inter"/>
                <a:sym typeface="Inter"/>
              </a:rPr>
              <a:t>variables – parameters passed to the query</a:t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Inter"/>
              <a:ea typeface="Inter"/>
              <a:cs typeface="Inter"/>
              <a:sym typeface="Inter"/>
            </a:endParaRPr>
          </a:p>
        </p:txBody>
      </p:sp>
      <p:sp>
        <p:nvSpPr>
          <p:cNvPr id="140" name="Google Shape;140;p31"/>
          <p:cNvSpPr txBox="1"/>
          <p:nvPr/>
        </p:nvSpPr>
        <p:spPr>
          <a:xfrm>
            <a:off x="4966150" y="1197200"/>
            <a:ext cx="3985500" cy="3043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{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"data": {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"continent": {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"code": "EU",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"name": "Europe",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"countries": [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{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    "name": "Andorra"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},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    ...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    ]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    }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    }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 sz="1300">
                <a:solidFill>
                  <a:schemeClr val="dk1"/>
                </a:solidFill>
                <a:latin typeface="Courier New"/>
                <a:ea typeface="Courier New"/>
                <a:cs typeface="Courier New"/>
                <a:sym typeface="Courier New"/>
              </a:rPr>
              <a:t>}</a:t>
            </a:r>
            <a:endParaRPr sz="1300">
              <a:solidFill>
                <a:schemeClr val="dk1"/>
              </a:solidFill>
              <a:latin typeface="Courier New"/>
              <a:ea typeface="Courier New"/>
              <a:cs typeface="Courier New"/>
              <a:sym typeface="Courier New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yk main slide deck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