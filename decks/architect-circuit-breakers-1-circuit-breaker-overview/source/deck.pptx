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Inter Light"/>
      <p:regular r:id="rId12"/>
      <p:bold r:id="rId13"/>
      <p:italic r:id="rId14"/>
      <p:boldItalic r:id="rId15"/>
    </p:embeddedFont>
    <p:embeddedFont>
      <p:font typeface="Int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454">
          <p15:clr>
            <a:srgbClr val="747775"/>
          </p15:clr>
        </p15:guide>
        <p15:guide id="3" pos="454">
          <p15:clr>
            <a:srgbClr val="747775"/>
          </p15:clr>
        </p15:guide>
        <p15:guide id="4" pos="5329">
          <p15:clr>
            <a:srgbClr val="747775"/>
          </p15:clr>
        </p15:guide>
        <p15:guide id="5" orient="horz" pos="2786">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un Kiat Kok"/>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54" orient="horz"/>
        <p:guide pos="454"/>
        <p:guide pos="5329"/>
        <p:guide pos="278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InterLight-bold.fntdata"/><Relationship Id="rId12" Type="http://schemas.openxmlformats.org/officeDocument/2006/relationships/font" Target="fonts/InterLigh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font" Target="fonts/InterLight-boldItalic.fntdata"/><Relationship Id="rId14" Type="http://schemas.openxmlformats.org/officeDocument/2006/relationships/font" Target="fonts/InterLight-italic.fntdata"/><Relationship Id="rId17" Type="http://schemas.openxmlformats.org/officeDocument/2006/relationships/font" Target="fonts/Inter-bold.fntdata"/><Relationship Id="rId16" Type="http://schemas.openxmlformats.org/officeDocument/2006/relationships/font" Target="fonts/Inter-regular.fntdata"/><Relationship Id="rId5" Type="http://schemas.openxmlformats.org/officeDocument/2006/relationships/slideMaster" Target="slideMasters/slideMaster1.xml"/><Relationship Id="rId19" Type="http://schemas.openxmlformats.org/officeDocument/2006/relationships/font" Target="fonts/Inter-boldItalic.fntdata"/><Relationship Id="rId6" Type="http://schemas.openxmlformats.org/officeDocument/2006/relationships/notesMaster" Target="notesMasters/notesMaster1.xml"/><Relationship Id="rId18" Type="http://schemas.openxmlformats.org/officeDocument/2006/relationships/font" Target="fonts/Inter-italic.fntdata"/><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6-09T05:30:45.911">
    <p:pos x="6000" y="0"/>
    <p:text>Just an internal note: Circuit breakers work on per-gateway level. 
i.e. A gateway only track their own 5xx rates. Other gateways in the same cluster are not aware of it. 
This is not ideal because you could come across a case where in a 2-gateway setup, only 1 gateway triggers CB and the other hasn't had CB triggered.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611dd162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611dd162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11dd1627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11dd1627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In distributed systems, failure is inevitable—but system-wide failure doesn’t have to be. This is where circuit breakers come in. They act as a protective mechanism, stopping repeated calls to a service that’s already failing. This prevents overload and gives the faulty service time to recover, helping the rest of the system remain operational.</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Tyk offers powerful circuit breaker capabilities that can be configured at the endpoint level. It tracks how often upstream services return error responses—specifically those with HTTP status codes of 500 and above. If the failure rate crosses a predefined threshold, the circuit breaker trips. Tyk will then block any more requests to that endpoint, returning a 503 response to clients instead. This block remains in place for a set cooldown period.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611dd1627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611dd1627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GraphQL is a modern way to work with APIs. It lets clients define exactly what data they need, which means we’re no longer over-fetching or under-fetching like we often do with REST.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of the biggest advantages is the ability to make a single request for complex, nested data — instead of stitching together multiple REST calls. This leads to cleaner, more efficient frontends, especially in mobile and data-rich applications.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Flexibility is another win — GraphQL is backend-agnostic, and works across languages and data sources.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Strong typing and introspection allow developers to confidently build and explore APIs. Combined with the ability to evolve schemas without breaking clients, GraphQL is not just powerful — it’s sustainable for growing teams and complex systems.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611dd1627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611dd16274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What’s more, Tyk can trigger events when the breaker trips and resets. These events can be consumed by your monitoring or alerting systems—or even used to automate recovery processes. This feature strengthens your observability and reinforces the resilience of your API architecture.</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611dd16274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611dd16274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Circuit breakers are an essential pattern when building resilient APIs, especially in distributed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First, they’re ideal for </a:t>
            </a:r>
            <a:r>
              <a:rPr b="1" lang="en-GB">
                <a:solidFill>
                  <a:schemeClr val="dk1"/>
                </a:solidFill>
              </a:rPr>
              <a:t>protecting critical endpoints</a:t>
            </a:r>
            <a:r>
              <a:rPr lang="en-GB">
                <a:solidFill>
                  <a:schemeClr val="dk1"/>
                </a:solidFill>
              </a:rPr>
              <a:t>. If an upstream service starts failing, circuit breakers stop repeated calls from overwhelming it. This helps maintain availability and responsiveness of essential APIs.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Second, they’re useful for </a:t>
            </a:r>
            <a:r>
              <a:rPr b="1" lang="en-GB">
                <a:solidFill>
                  <a:schemeClr val="dk1"/>
                </a:solidFill>
              </a:rPr>
              <a:t>handling temporary issues</a:t>
            </a:r>
            <a:r>
              <a:rPr lang="en-GB">
                <a:solidFill>
                  <a:schemeClr val="dk1"/>
                </a:solidFill>
              </a:rPr>
              <a:t>—like a service momentarily going down or slowing due to high load. The breaker opens when things are bad and closes once stability returns, letting the system recover naturally.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Third, circuit breakers play a key role in </a:t>
            </a:r>
            <a:r>
              <a:rPr b="1" lang="en-GB">
                <a:solidFill>
                  <a:schemeClr val="dk1"/>
                </a:solidFill>
              </a:rPr>
              <a:t>managing retry logic</a:t>
            </a:r>
            <a:r>
              <a:rPr lang="en-GB">
                <a:solidFill>
                  <a:schemeClr val="dk1"/>
                </a:solidFill>
              </a:rPr>
              <a:t>. Instead of flooding a failing service with retries, they enforce a cooldown period before trying again—this increases the chance of success without overloading the backend.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Finally, circuit breakers can help you </a:t>
            </a:r>
            <a:r>
              <a:rPr b="1" lang="en-GB">
                <a:solidFill>
                  <a:schemeClr val="dk1"/>
                </a:solidFill>
              </a:rPr>
              <a:t>implement fallback mechanisms</a:t>
            </a:r>
            <a:r>
              <a:rPr lang="en-GB">
                <a:solidFill>
                  <a:schemeClr val="dk1"/>
                </a:solidFill>
              </a:rPr>
              <a:t>. If a service fails, the breaker can trigger alternative workflows or degraded responses—keeping the user experience intact even during partial failures.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2" name="Shape 52"/>
        <p:cNvGrpSpPr/>
        <p:nvPr/>
      </p:nvGrpSpPr>
      <p:grpSpPr>
        <a:xfrm>
          <a:off x="0" y="0"/>
          <a:ext cx="0" cy="0"/>
          <a:chOff x="0" y="0"/>
          <a:chExt cx="0" cy="0"/>
        </a:xfrm>
      </p:grpSpPr>
      <p:sp>
        <p:nvSpPr>
          <p:cNvPr id="53" name="Google Shape;53;p13"/>
          <p:cNvSpPr txBox="1"/>
          <p:nvPr/>
        </p:nvSpPr>
        <p:spPr>
          <a:xfrm>
            <a:off x="1926900" y="1952775"/>
            <a:ext cx="5290200" cy="754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700">
                <a:solidFill>
                  <a:schemeClr val="lt1"/>
                </a:solidFill>
                <a:latin typeface="Inter"/>
                <a:ea typeface="Inter"/>
                <a:cs typeface="Inter"/>
                <a:sym typeface="Inter"/>
              </a:rPr>
              <a:t>Circuit Breakers</a:t>
            </a:r>
            <a:endParaRPr b="1" sz="3700">
              <a:solidFill>
                <a:schemeClr val="lt1"/>
              </a:solidFill>
              <a:latin typeface="Inter"/>
              <a:ea typeface="Inter"/>
              <a:cs typeface="Inter"/>
              <a:sym typeface="Inter"/>
            </a:endParaRPr>
          </a:p>
        </p:txBody>
      </p:sp>
      <p:sp>
        <p:nvSpPr>
          <p:cNvPr id="54" name="Google Shape;54;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4">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nvSpPr>
        <p:spPr>
          <a:xfrm>
            <a:off x="720000" y="1078000"/>
            <a:ext cx="8139900" cy="362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What is a Circuit Breaker?</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A protective mechanism that maintains system stability.</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Prevents repeated failures and overloading of failing services.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Te</a:t>
            </a:r>
            <a:r>
              <a:rPr lang="en-GB">
                <a:solidFill>
                  <a:srgbClr val="03031C"/>
                </a:solidFill>
                <a:latin typeface="Inter"/>
                <a:ea typeface="Inter"/>
                <a:cs typeface="Inter"/>
                <a:sym typeface="Inter"/>
              </a:rPr>
              <a:t>m</a:t>
            </a:r>
            <a:r>
              <a:rPr lang="en-GB">
                <a:solidFill>
                  <a:srgbClr val="03031C"/>
                </a:solidFill>
                <a:latin typeface="Inter"/>
                <a:ea typeface="Inter"/>
                <a:cs typeface="Inter"/>
                <a:sym typeface="Inter"/>
              </a:rPr>
              <a:t>porarily blocks calls to unstable services, allowing them time to recover.</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Ensures overall system continues functioning during partial failures.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Circuit Breakers in Tyk</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Configurable per endpoint.</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Monitors HTTP 500+ response rates from upstream services.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If failures exceed a threshold:</a:t>
            </a:r>
            <a:endParaRPr>
              <a:solidFill>
                <a:srgbClr val="03031C"/>
              </a:solidFill>
              <a:latin typeface="Inter"/>
              <a:ea typeface="Inter"/>
              <a:cs typeface="Inter"/>
              <a:sym typeface="Inter"/>
            </a:endParaRPr>
          </a:p>
          <a:p>
            <a:pPr indent="-317500" lvl="1" marL="9144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Circuit breaker trips.</a:t>
            </a:r>
            <a:endParaRPr>
              <a:solidFill>
                <a:srgbClr val="03031C"/>
              </a:solidFill>
              <a:latin typeface="Inter"/>
              <a:ea typeface="Inter"/>
              <a:cs typeface="Inter"/>
              <a:sym typeface="Inter"/>
            </a:endParaRPr>
          </a:p>
          <a:p>
            <a:pPr indent="-317500" lvl="1" marL="9144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Tyk blocks further requests to that endpoint.</a:t>
            </a:r>
            <a:endParaRPr>
              <a:solidFill>
                <a:srgbClr val="03031C"/>
              </a:solidFill>
              <a:latin typeface="Inter"/>
              <a:ea typeface="Inter"/>
              <a:cs typeface="Inter"/>
              <a:sym typeface="Inter"/>
            </a:endParaRPr>
          </a:p>
          <a:p>
            <a:pPr indent="-317500" lvl="1" marL="9144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Returns HTTP 503 to clients.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After a defined cooldown period, the breaker resets and resumes traffic.</a:t>
            </a:r>
            <a:endParaRPr>
              <a:solidFill>
                <a:srgbClr val="03031C"/>
              </a:solidFill>
              <a:latin typeface="Inter"/>
              <a:ea typeface="Inter"/>
              <a:cs typeface="Inter"/>
              <a:sym typeface="Inter"/>
            </a:endParaRPr>
          </a:p>
        </p:txBody>
      </p:sp>
      <p:sp>
        <p:nvSpPr>
          <p:cNvPr id="61" name="Google Shape;61;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3" name="Google Shape;63;p14"/>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Circuit Breakers</a:t>
            </a:r>
            <a:endParaRPr b="1" sz="3800">
              <a:solidFill>
                <a:srgbClr val="03031C"/>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 name="Google Shape;69;p15"/>
          <p:cNvPicPr preferRelativeResize="0"/>
          <p:nvPr/>
        </p:nvPicPr>
        <p:blipFill>
          <a:blip r:embed="rId3">
            <a:alphaModFix/>
          </a:blip>
          <a:stretch>
            <a:fillRect/>
          </a:stretch>
        </p:blipFill>
        <p:spPr>
          <a:xfrm>
            <a:off x="8423988" y="4687950"/>
            <a:ext cx="527775" cy="273675"/>
          </a:xfrm>
          <a:prstGeom prst="rect">
            <a:avLst/>
          </a:prstGeom>
          <a:noFill/>
          <a:ln>
            <a:noFill/>
          </a:ln>
        </p:spPr>
      </p:pic>
      <p:pic>
        <p:nvPicPr>
          <p:cNvPr id="70" name="Google Shape;70;p15"/>
          <p:cNvPicPr preferRelativeResize="0"/>
          <p:nvPr/>
        </p:nvPicPr>
        <p:blipFill>
          <a:blip r:embed="rId4">
            <a:alphaModFix/>
          </a:blip>
          <a:stretch>
            <a:fillRect/>
          </a:stretch>
        </p:blipFill>
        <p:spPr>
          <a:xfrm>
            <a:off x="152400" y="152400"/>
            <a:ext cx="7741920"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 name="Shape 74"/>
        <p:cNvGrpSpPr/>
        <p:nvPr/>
      </p:nvGrpSpPr>
      <p:grpSpPr>
        <a:xfrm>
          <a:off x="0" y="0"/>
          <a:ext cx="0" cy="0"/>
          <a:chOff x="0" y="0"/>
          <a:chExt cx="0" cy="0"/>
        </a:xfrm>
      </p:grpSpPr>
      <p:sp>
        <p:nvSpPr>
          <p:cNvPr id="75" name="Google Shape;75;p16"/>
          <p:cNvSpPr txBox="1"/>
          <p:nvPr/>
        </p:nvSpPr>
        <p:spPr>
          <a:xfrm>
            <a:off x="720000" y="1154200"/>
            <a:ext cx="8139900" cy="213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Event Integration</a:t>
            </a:r>
            <a:endParaRPr b="1">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lang="en-GB">
                <a:solidFill>
                  <a:srgbClr val="03031C"/>
                </a:solidFill>
                <a:latin typeface="Inter"/>
                <a:ea typeface="Inter"/>
                <a:cs typeface="Inter"/>
                <a:sym typeface="Inter"/>
              </a:rPr>
              <a:t>Tyk can emit events: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When the circuit breaker trips.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When it resets.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lang="en-GB">
                <a:solidFill>
                  <a:srgbClr val="03031C"/>
                </a:solidFill>
                <a:latin typeface="Inter"/>
                <a:ea typeface="Inter"/>
                <a:cs typeface="Inter"/>
                <a:sym typeface="Inter"/>
              </a:rPr>
              <a:t>Use these events for:</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Monitoring &amp; alerting.</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Automation of recovery workflows.</a:t>
            </a:r>
            <a:endParaRPr>
              <a:solidFill>
                <a:srgbClr val="03031C"/>
              </a:solidFill>
              <a:latin typeface="Inter"/>
              <a:ea typeface="Inter"/>
              <a:cs typeface="Inter"/>
              <a:sym typeface="Inter"/>
            </a:endParaRPr>
          </a:p>
        </p:txBody>
      </p:sp>
      <p:sp>
        <p:nvSpPr>
          <p:cNvPr id="76" name="Google Shape;76;p1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 name="Google Shape;77;p1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78" name="Google Shape;78;p16"/>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Circuit Breakers</a:t>
            </a:r>
            <a:endParaRPr b="1" sz="3800">
              <a:solidFill>
                <a:srgbClr val="03031C"/>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 name="Shape 82"/>
        <p:cNvGrpSpPr/>
        <p:nvPr/>
      </p:nvGrpSpPr>
      <p:grpSpPr>
        <a:xfrm>
          <a:off x="0" y="0"/>
          <a:ext cx="0" cy="0"/>
          <a:chOff x="0" y="0"/>
          <a:chExt cx="0" cy="0"/>
        </a:xfrm>
      </p:grpSpPr>
      <p:sp>
        <p:nvSpPr>
          <p:cNvPr id="83" name="Google Shape;83;p17"/>
          <p:cNvSpPr txBox="1"/>
          <p:nvPr/>
        </p:nvSpPr>
        <p:spPr>
          <a:xfrm>
            <a:off x="720000" y="1001800"/>
            <a:ext cx="8139900" cy="386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1. Protection of Critical API Endpoints</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Prevents overload of essential APIs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Ensures uptime and responsiveness under failure scenarios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b="1">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2. Handling Temporary Issues</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Automatically detects and responds to service degradation</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Opens and closes the circuit based on health, allowing recovery</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b="1">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3. Implementing Retry Logic</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Manages retries after a cooldown period</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Avoids flooding unstable services with repeated calls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b="1">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4. Enabling Fallback Mechanisms</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Triggers alternate flows when primary services fail</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Supports graceful degradation of service</a:t>
            </a:r>
            <a:endParaRPr>
              <a:solidFill>
                <a:srgbClr val="03031C"/>
              </a:solidFill>
              <a:latin typeface="Inter"/>
              <a:ea typeface="Inter"/>
              <a:cs typeface="Inter"/>
              <a:sym typeface="Inter"/>
            </a:endParaRPr>
          </a:p>
        </p:txBody>
      </p:sp>
      <p:sp>
        <p:nvSpPr>
          <p:cNvPr id="84" name="Google Shape;84;p1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 name="Google Shape;85;p1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86" name="Google Shape;86;p17"/>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Circuit Breakers</a:t>
            </a:r>
            <a:endParaRPr b="1" sz="3800">
              <a:solidFill>
                <a:srgbClr val="03031C"/>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Tyk main slide deck">
  <a:themeElements>
    <a:clrScheme name="Simple Light">
      <a:dk1>
        <a:srgbClr val="03031C"/>
      </a:dk1>
      <a:lt1>
        <a:srgbClr val="FFFFFF"/>
      </a:lt1>
      <a:dk2>
        <a:srgbClr val="8438FA"/>
      </a:dk2>
      <a:lt2>
        <a:srgbClr val="5900CB"/>
      </a:lt2>
      <a:accent1>
        <a:srgbClr val="FFC743"/>
      </a:accent1>
      <a:accent2>
        <a:srgbClr val="FFF500"/>
      </a:accent2>
      <a:accent3>
        <a:srgbClr val="20EDBA"/>
      </a:accent3>
      <a:accent4>
        <a:srgbClr val="00A3A0"/>
      </a:accent4>
      <a:accent5>
        <a:srgbClr val="BB11FF"/>
      </a:accent5>
      <a:accent6>
        <a:srgbClr val="EA26A9"/>
      </a:accent6>
      <a:hlink>
        <a:srgbClr val="E3C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