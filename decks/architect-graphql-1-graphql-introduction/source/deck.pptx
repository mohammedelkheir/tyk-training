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4"/>
    <p:sldMasterId id="214748367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Inter Light"/>
      <p:regular r:id="rId13"/>
      <p:bold r:id="rId14"/>
      <p:italic r:id="rId15"/>
      <p:boldItalic r:id="rId16"/>
    </p:embeddedFont>
    <p:embeddedFont>
      <p:font typeface="Roboto"/>
      <p:regular r:id="rId17"/>
      <p:bold r:id="rId18"/>
      <p:italic r:id="rId19"/>
      <p:boldItalic r:id="rId20"/>
    </p:embeddedFont>
    <p:embeddedFont>
      <p:font typeface="Inter"/>
      <p:regular r:id="rId21"/>
      <p:bold r:id="rId22"/>
      <p:italic r:id="rId23"/>
      <p:boldItalic r:id="rId24"/>
    </p:embeddedFont>
    <p:embeddedFont>
      <p:font typeface="Open Sans SemiBold"/>
      <p:regular r:id="rId25"/>
      <p:bold r:id="rId26"/>
      <p:italic r:id="rId27"/>
      <p:boldItalic r:id="rId28"/>
    </p:embeddedFont>
    <p:embeddedFont>
      <p:font typeface="Roboto Mono"/>
      <p:regular r:id="rId29"/>
      <p:bold r:id="rId30"/>
      <p:italic r:id="rId31"/>
      <p:boldItalic r:id="rId32"/>
    </p:embeddedFont>
    <p:embeddedFont>
      <p:font typeface="Inter Medium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22" Type="http://schemas.openxmlformats.org/officeDocument/2006/relationships/font" Target="fonts/Inter-bold.fntdata"/><Relationship Id="rId21" Type="http://schemas.openxmlformats.org/officeDocument/2006/relationships/font" Target="fonts/Inter-regular.fntdata"/><Relationship Id="rId24" Type="http://schemas.openxmlformats.org/officeDocument/2006/relationships/font" Target="fonts/Inter-boldItalic.fntdata"/><Relationship Id="rId23" Type="http://schemas.openxmlformats.org/officeDocument/2006/relationships/font" Target="fonts/Inter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OpenSansSemiBold-bold.fntdata"/><Relationship Id="rId25" Type="http://schemas.openxmlformats.org/officeDocument/2006/relationships/font" Target="fonts/OpenSansSemiBold-regular.fntdata"/><Relationship Id="rId28" Type="http://schemas.openxmlformats.org/officeDocument/2006/relationships/font" Target="fonts/OpenSansSemiBold-boldItalic.fntdata"/><Relationship Id="rId27" Type="http://schemas.openxmlformats.org/officeDocument/2006/relationships/font" Target="fonts/OpenSansSemiBold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on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ono-italic.fntdata"/><Relationship Id="rId30" Type="http://schemas.openxmlformats.org/officeDocument/2006/relationships/font" Target="fonts/RobotoMono-bold.fntdata"/><Relationship Id="rId11" Type="http://schemas.openxmlformats.org/officeDocument/2006/relationships/slide" Target="slides/slide5.xml"/><Relationship Id="rId33" Type="http://schemas.openxmlformats.org/officeDocument/2006/relationships/font" Target="fonts/InterMedium-regular.fntdata"/><Relationship Id="rId10" Type="http://schemas.openxmlformats.org/officeDocument/2006/relationships/slide" Target="slides/slide4.xml"/><Relationship Id="rId32" Type="http://schemas.openxmlformats.org/officeDocument/2006/relationships/font" Target="fonts/RobotoMono-boldItalic.fntdata"/><Relationship Id="rId13" Type="http://schemas.openxmlformats.org/officeDocument/2006/relationships/font" Target="fonts/InterLight-regular.fntdata"/><Relationship Id="rId35" Type="http://schemas.openxmlformats.org/officeDocument/2006/relationships/font" Target="fonts/InterMedium-italic.fntdata"/><Relationship Id="rId12" Type="http://schemas.openxmlformats.org/officeDocument/2006/relationships/slide" Target="slides/slide6.xml"/><Relationship Id="rId34" Type="http://schemas.openxmlformats.org/officeDocument/2006/relationships/font" Target="fonts/InterMedium-bold.fntdata"/><Relationship Id="rId15" Type="http://schemas.openxmlformats.org/officeDocument/2006/relationships/font" Target="fonts/InterLight-italic.fntdata"/><Relationship Id="rId14" Type="http://schemas.openxmlformats.org/officeDocument/2006/relationships/font" Target="fonts/InterLight-bold.fntdata"/><Relationship Id="rId36" Type="http://schemas.openxmlformats.org/officeDocument/2006/relationships/font" Target="fonts/InterMedium-boldItalic.fntdata"/><Relationship Id="rId17" Type="http://schemas.openxmlformats.org/officeDocument/2006/relationships/font" Target="fonts/Roboto-regular.fntdata"/><Relationship Id="rId16" Type="http://schemas.openxmlformats.org/officeDocument/2006/relationships/font" Target="fonts/InterLight-boldItalic.fntdata"/><Relationship Id="rId19" Type="http://schemas.openxmlformats.org/officeDocument/2006/relationships/font" Target="fonts/Roboto-italic.fntdata"/><Relationship Id="rId1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fdf221e6b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5fdf221e6b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5fdf221e6b_0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5fdf221e6b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GraphQL is a modern way to work with APIs. It lets clients define exactly what data they need, which means we’re no longer over-fetching or under-fetching like we often do with REST.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One of the biggest advantages is the ability to make a single request for complex, nested data — instead of stitching together multiple REST calls. This leads to cleaner, more efficient frontends, especially in mobile and data-rich applications.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Flexibility is another win — GraphQL is backend-agnostic, and works across languages and data sources.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Strong typing and introspection allow developers to confidently build and explore APIs. Combined with the ability to evolve schemas without breaking clients, GraphQL is not just powerful — it’s sustainable for growing teams and complex systems.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5fdf221e6b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5fdf221e6b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Let’s start by understanding how GraphQL differs from REST.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In REST, getting related data often means making multiple requests — one for user info, another for posts, etc. This causes over-fetching, especially for mobile devices with limited bandwidth.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With GraphQL, you can ask for exactly what you need in one request — here, both user details and their posts — and get back only that data.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eliminates redundant calls and makes the API feel snappier and more efficient.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One of GraphQL’s biggest advantages is its flexibility for different frontends.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 mobile app can request just a user's name, while an admin dashboard might want full details — all using the same endpoint.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means backend developers don’t need to build different versions of the same endpoint — the frontend drives the shape of the response.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That’s why GraphQL is so popular in mobile and microservices environments.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5fdf221e6b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5fdf221e6b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GraphQL APIs are built around a schema — it’s like a contract between the backend and frontend.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schema is typed, meaning we define the structure of data: what a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en-GB">
                <a:solidFill>
                  <a:schemeClr val="dk1"/>
                </a:solidFill>
              </a:rPr>
              <a:t> is, what fields are required, and how it links to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Post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With this, you get things like auto-generated documentation, type-safe clients, and clear errors when queries go wrong.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It’s especially helpful in larger teams where backend and frontend are developed in parallel.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5fdf221e6b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5fdf221e6b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GraphQL supports non-breaking evolution of your API.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If you need to add a field, you just add it to the schema — clients won’t break because they only query what they need.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If you want to deprecate something, you can mark it in the schema — tools will even warn developers not to use it.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reduces the need for strict versioning like in REST — making long-term maintenance much easier and safer.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5fdf221e6b_0_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5fdf221e6b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Tyk has native support for GraphQL — meaning there’s no need for extra middleware or third-party integrations.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Tyk is fully compliant with the official GraphQL specification, including support for queries, mutations, and subscriptions — so you can build real-time and transactional APIs seamlessly.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If you already have GraphQL APIs, you can expose and secure them using Tyk.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And if you’re working with a mix of REST, gRPC, or other services, you can use Tyk’s Universal Data Graph to stitch those together into one unified GraphQL API — a powerful way to modernize and simplify your API layer.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We also have a short intro video available if you want to see this in action.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0" y="922550"/>
            <a:ext cx="8520600" cy="16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5315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E9BA"/>
              </a:buClr>
              <a:buSzPts val="2000"/>
              <a:buNone/>
              <a:defRPr sz="2000">
                <a:solidFill>
                  <a:srgbClr val="21E9B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7" name="Google Shape;67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>
            <a:off x="311700" y="1389600"/>
            <a:ext cx="50364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8" name="Google Shape;7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2" name="Google Shape;82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E9BA"/>
              </a:buClr>
              <a:buSzPts val="1600"/>
              <a:buNone/>
              <a:defRPr sz="1600">
                <a:solidFill>
                  <a:srgbClr val="21E9B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3" name="Google Shape;83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800"/>
              <a:buChar char="●"/>
              <a:defRPr>
                <a:solidFill>
                  <a:srgbClr val="8438FA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●"/>
              <a:defRPr>
                <a:solidFill>
                  <a:srgbClr val="8438FA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●"/>
              <a:defRPr>
                <a:solidFill>
                  <a:srgbClr val="8438FA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9pPr>
          </a:lstStyle>
          <a:p/>
        </p:txBody>
      </p:sp>
      <p:sp>
        <p:nvSpPr>
          <p:cNvPr id="84" name="Google Shape;8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7" name="Google Shape;8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0" name="Google Shape;90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slide" showMasterSp="0">
  <p:cSld name="Light slide"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5"/>
          <p:cNvSpPr txBox="1"/>
          <p:nvPr>
            <p:ph idx="1" type="body"/>
          </p:nvPr>
        </p:nvSpPr>
        <p:spPr>
          <a:xfrm>
            <a:off x="951731" y="1115566"/>
            <a:ext cx="53022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19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5071"/>
              </a:buClr>
              <a:buSzPts val="3000"/>
              <a:buFont typeface="Arial"/>
              <a:buChar char="●"/>
              <a:defRPr b="1" sz="3000">
                <a:solidFill>
                  <a:srgbClr val="50507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96" name="Google Shape;96;p25"/>
          <p:cNvSpPr txBox="1"/>
          <p:nvPr>
            <p:ph idx="2" type="body"/>
          </p:nvPr>
        </p:nvSpPr>
        <p:spPr>
          <a:xfrm>
            <a:off x="934600" y="858391"/>
            <a:ext cx="2825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pic>
        <p:nvPicPr>
          <p:cNvPr descr="logo_RGB-Transparent1-WEB.png" id="97" name="Google Shape;97;p25"/>
          <p:cNvPicPr preferRelativeResize="0"/>
          <p:nvPr/>
        </p:nvPicPr>
        <p:blipFill rotWithShape="1">
          <a:blip r:embed="rId2">
            <a:alphaModFix/>
          </a:blip>
          <a:srcRect b="40" l="0" r="0" t="40"/>
          <a:stretch/>
        </p:blipFill>
        <p:spPr>
          <a:xfrm>
            <a:off x="243186" y="4749582"/>
            <a:ext cx="279847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5"/>
          <p:cNvSpPr txBox="1"/>
          <p:nvPr>
            <p:ph idx="3" type="body"/>
          </p:nvPr>
        </p:nvSpPr>
        <p:spPr>
          <a:xfrm>
            <a:off x="951731" y="2296477"/>
            <a:ext cx="38601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12" type="sldNum"/>
          </p:nvPr>
        </p:nvSpPr>
        <p:spPr>
          <a:xfrm>
            <a:off x="8543920" y="4773806"/>
            <a:ext cx="351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dark">
  <p:cSld name="SECTION_HEADER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6"/>
          <p:cNvSpPr txBox="1"/>
          <p:nvPr>
            <p:ph type="title"/>
          </p:nvPr>
        </p:nvSpPr>
        <p:spPr>
          <a:xfrm>
            <a:off x="500550" y="0"/>
            <a:ext cx="8520600" cy="11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9pPr>
          </a:lstStyle>
          <a:p/>
        </p:txBody>
      </p:sp>
      <p:sp>
        <p:nvSpPr>
          <p:cNvPr id="102" name="Google Shape;102;p26"/>
          <p:cNvSpPr txBox="1"/>
          <p:nvPr>
            <p:ph idx="2" type="title"/>
          </p:nvPr>
        </p:nvSpPr>
        <p:spPr>
          <a:xfrm>
            <a:off x="500550" y="1140600"/>
            <a:ext cx="8520600" cy="39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sz="1800">
                <a:solidFill>
                  <a:srgbClr val="E1E1E1"/>
                </a:solidFill>
              </a:defRPr>
            </a:lvl1pPr>
            <a:lvl2pPr lv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2pPr>
            <a:lvl3pPr lvl="2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3pPr>
            <a:lvl4pPr lvl="3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4pPr>
            <a:lvl5pPr lvl="4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5pPr>
            <a:lvl6pPr lvl="5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6pPr>
            <a:lvl7pPr lvl="6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7pPr>
            <a:lvl8pPr lvl="7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8pPr>
            <a:lvl9pPr lvl="8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9pPr>
          </a:lstStyle>
          <a:p/>
        </p:txBody>
      </p:sp>
      <p:sp>
        <p:nvSpPr>
          <p:cNvPr id="103" name="Google Shape;103;p26"/>
          <p:cNvSpPr txBox="1"/>
          <p:nvPr/>
        </p:nvSpPr>
        <p:spPr>
          <a:xfrm>
            <a:off x="0" y="0"/>
            <a:ext cx="242100" cy="1140600"/>
          </a:xfrm>
          <a:prstGeom prst="rect">
            <a:avLst/>
          </a:prstGeom>
          <a:gradFill>
            <a:gsLst>
              <a:gs pos="0">
                <a:srgbClr val="109EAE"/>
              </a:gs>
              <a:gs pos="100000">
                <a:srgbClr val="00D9BA"/>
              </a:gs>
            </a:gsLst>
            <a:lin ang="5400012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white">
  <p:cSld name="SECTION_HEADER_1_1_1_1"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7"/>
          <p:cNvSpPr txBox="1"/>
          <p:nvPr>
            <p:ph type="title"/>
          </p:nvPr>
        </p:nvSpPr>
        <p:spPr>
          <a:xfrm>
            <a:off x="500550" y="0"/>
            <a:ext cx="8520600" cy="11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9pPr>
          </a:lstStyle>
          <a:p/>
        </p:txBody>
      </p:sp>
      <p:sp>
        <p:nvSpPr>
          <p:cNvPr id="106" name="Google Shape;106;p27"/>
          <p:cNvSpPr txBox="1"/>
          <p:nvPr>
            <p:ph idx="2" type="title"/>
          </p:nvPr>
        </p:nvSpPr>
        <p:spPr>
          <a:xfrm>
            <a:off x="500550" y="1140600"/>
            <a:ext cx="8520600" cy="39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sz="1800">
                <a:solidFill>
                  <a:srgbClr val="0D0D18"/>
                </a:solidFill>
              </a:defRPr>
            </a:lvl1pPr>
            <a:lvl2pPr lv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2pPr>
            <a:lvl3pPr lvl="2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3pPr>
            <a:lvl4pPr lvl="3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4pPr>
            <a:lvl5pPr lvl="4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5pPr>
            <a:lvl6pPr lvl="5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6pPr>
            <a:lvl7pPr lvl="6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7pPr>
            <a:lvl8pPr lvl="7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8pPr>
            <a:lvl9pPr lvl="8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9pPr>
          </a:lstStyle>
          <a:p/>
        </p:txBody>
      </p:sp>
      <p:sp>
        <p:nvSpPr>
          <p:cNvPr id="107" name="Google Shape;107;p27"/>
          <p:cNvSpPr txBox="1"/>
          <p:nvPr/>
        </p:nvSpPr>
        <p:spPr>
          <a:xfrm>
            <a:off x="0" y="0"/>
            <a:ext cx="242100" cy="1140600"/>
          </a:xfrm>
          <a:prstGeom prst="rect">
            <a:avLst/>
          </a:prstGeom>
          <a:gradFill>
            <a:gsLst>
              <a:gs pos="0">
                <a:srgbClr val="1A237D"/>
              </a:gs>
              <a:gs pos="100000">
                <a:srgbClr val="2F3F9E"/>
              </a:gs>
            </a:gsLst>
            <a:lin ang="5400012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8438FA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438FA"/>
            </a:gs>
            <a:gs pos="35000">
              <a:srgbClr val="8438FA"/>
            </a:gs>
            <a:gs pos="100000">
              <a:srgbClr val="BB11FF"/>
            </a:gs>
          </a:gsLst>
          <a:lin ang="2700006" scaled="0"/>
        </a:gra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 txBox="1"/>
          <p:nvPr/>
        </p:nvSpPr>
        <p:spPr>
          <a:xfrm>
            <a:off x="1926900" y="1952775"/>
            <a:ext cx="52902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GraphQL</a:t>
            </a:r>
            <a:endParaRPr b="1" sz="3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" name="Google Shape;113;p28"/>
          <p:cNvSpPr txBox="1"/>
          <p:nvPr/>
        </p:nvSpPr>
        <p:spPr>
          <a:xfrm>
            <a:off x="1926900" y="1677525"/>
            <a:ext cx="529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1E9BA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1</a:t>
            </a:r>
            <a:endParaRPr sz="1200">
              <a:solidFill>
                <a:srgbClr val="21E9BA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14" name="Google Shape;114;p28"/>
          <p:cNvSpPr txBox="1"/>
          <p:nvPr/>
        </p:nvSpPr>
        <p:spPr>
          <a:xfrm>
            <a:off x="1926900" y="2169975"/>
            <a:ext cx="529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" name="Google Shape;115;p28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9"/>
          <p:cNvSpPr txBox="1"/>
          <p:nvPr/>
        </p:nvSpPr>
        <p:spPr>
          <a:xfrm>
            <a:off x="720000" y="1154200"/>
            <a:ext cx="8139900" cy="3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Definition (GraphQL Foundation):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GraphQL is a query language for APIs and a runtime for fulfilling those queries with your existing data. It describes your data, lets clients request exactly what they need, and evolves safely over time.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Key Benefits: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Reduced network traffic – no over-fetching or under-fetching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Flexible &amp; language-agnostic – works with any backend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Simplified data fetching – one request, structured response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Easy to maintain – schema-based evolution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Strong typing – catch errors early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Great dev experience – ideal for mobile apps, public APIs, and microservices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" name="Google Shape;122;p29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9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GraphQL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0"/>
          <p:cNvSpPr txBox="1"/>
          <p:nvPr/>
        </p:nvSpPr>
        <p:spPr>
          <a:xfrm>
            <a:off x="720000" y="1154200"/>
            <a:ext cx="3721800" cy="26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The GraphQL Advantage: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Traditional REST API Call</a:t>
            </a:r>
            <a:endParaRPr b="1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To load user info + their posts: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Courier New"/>
              <a:buAutoNum type="arabicPeriod"/>
            </a:pPr>
            <a:r>
              <a:rPr lang="en-GB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GET /user/123</a:t>
            </a:r>
            <a:endParaRPr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Courier New"/>
              <a:buAutoNum type="arabicPeriod"/>
            </a:pPr>
            <a:r>
              <a:rPr lang="en-GB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GET /user/123/posts</a:t>
            </a:r>
            <a:endParaRPr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Multiple round-trips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Over-fetching / under-fetching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0" name="Google Shape;130;p30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30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GraphQL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3" name="Google Shape;133;p30"/>
          <p:cNvSpPr txBox="1"/>
          <p:nvPr/>
        </p:nvSpPr>
        <p:spPr>
          <a:xfrm>
            <a:off x="4441725" y="1549050"/>
            <a:ext cx="4390500" cy="22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GraphQL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query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user(id: "123")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name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posts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title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publishedAt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One request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Only the data needed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Structured JSON response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1"/>
          <p:cNvSpPr txBox="1"/>
          <p:nvPr/>
        </p:nvSpPr>
        <p:spPr>
          <a:xfrm>
            <a:off x="720000" y="1154200"/>
            <a:ext cx="7615800" cy="3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GraphQL uses a type system to define your API.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type User {</a:t>
            </a:r>
            <a:endParaRPr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id: ID!</a:t>
            </a:r>
            <a:endParaRPr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name: String!</a:t>
            </a:r>
            <a:endParaRPr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email: String!</a:t>
            </a:r>
            <a:endParaRPr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posts: [Post!]!</a:t>
            </a:r>
            <a:endParaRPr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type Post {</a:t>
            </a:r>
            <a:endParaRPr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title: String!</a:t>
            </a:r>
            <a:endParaRPr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publishedAt: String!</a:t>
            </a:r>
            <a:endParaRPr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9" name="Google Shape;139;p31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31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GraphQL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2" name="Google Shape;142;p31"/>
          <p:cNvSpPr txBox="1"/>
          <p:nvPr/>
        </p:nvSpPr>
        <p:spPr>
          <a:xfrm>
            <a:off x="3577350" y="1998476"/>
            <a:ext cx="5314800" cy="19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-GB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String!</a:t>
            </a: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means it's required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Relationships (e.g. </a:t>
            </a:r>
            <a:r>
              <a:rPr lang="en-GB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posts</a:t>
            </a: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 are embedded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Tools can auto-generate documentation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Clients get predictable responses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Catches errors at development time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2"/>
          <p:cNvSpPr txBox="1"/>
          <p:nvPr/>
        </p:nvSpPr>
        <p:spPr>
          <a:xfrm>
            <a:off x="720000" y="1154200"/>
            <a:ext cx="7615800" cy="3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GraphQL is schema-based, so you can: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Add new fields: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type User {</a:t>
            </a:r>
            <a:endParaRPr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age: Int   # Added later</a:t>
            </a:r>
            <a:endParaRPr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Deprecate old fields: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email: String @deprecated(reason: "Use contactEmail")</a:t>
            </a:r>
            <a:endParaRPr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No breaking changes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Versionless API evolution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Better long-term maintainability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32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2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GraphQL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3"/>
          <p:cNvSpPr txBox="1"/>
          <p:nvPr/>
        </p:nvSpPr>
        <p:spPr>
          <a:xfrm>
            <a:off x="720000" y="1154200"/>
            <a:ext cx="8139900" cy="28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Native GraphQL Support</a:t>
            </a:r>
            <a:endParaRPr b="1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No middleware required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Fully compliant with latest GraphQL specs: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○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Queries – Fetching data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○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Mutations – Modifying data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○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Subscriptions – Real-time updates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What You Can Do with Tyk GraphQL: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Securely expose existing GraphQL APIs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Use Tyk’s integrated engine to create a Universal Data Graph – combine multiple services into one unified GraphQL endpoint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" name="Google Shape;156;p33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33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GraphQL with Tyk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yk main slide deck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