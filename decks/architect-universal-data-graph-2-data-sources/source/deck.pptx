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Inter"/>
      <p:regular r:id="rId25"/>
      <p:bold r:id="rId26"/>
      <p:italic r:id="rId27"/>
      <p:boldItalic r:id="rId28"/>
    </p:embeddedFont>
    <p:embeddedFont>
      <p:font typeface="Roboto Mono"/>
      <p:regular r:id="rId29"/>
      <p:bold r:id="rId30"/>
      <p:italic r:id="rId31"/>
      <p:boldItalic r:id="rId32"/>
    </p:embeddedFont>
    <p:embeddedFont>
      <p:font typeface="Inter Medium"/>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33" Type="http://schemas.openxmlformats.org/officeDocument/2006/relationships/font" Target="fonts/InterMedium-regular.fntdata"/><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35" Type="http://schemas.openxmlformats.org/officeDocument/2006/relationships/font" Target="fonts/InterMedium-italic.fntdata"/><Relationship Id="rId12" Type="http://schemas.openxmlformats.org/officeDocument/2006/relationships/slide" Target="slides/slide7.xml"/><Relationship Id="rId34" Type="http://schemas.openxmlformats.org/officeDocument/2006/relationships/font" Target="fonts/InterMedium-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Inter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fe09225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fe09225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5fe09225f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5fe09225f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Unified Data Graph in Tyk relies on datasources — these are your backend systems that provide the actual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can attach a datasource to any field in the UDG schema, and even nest them, enabling complex data compositions.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While you can add datasources quickly for testing or prototyping without creating a full Tyk API, this limits your access to key API management features.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things like quotas, rate limiting, and transformations, we strongly recommend importing the backend API into Tyk first.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supports REST and GraphQL directly, SOAP via REST wrappers, and even Kafka for event-driven data access.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5fe09225f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5fe09225f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supports GraphQL Datasources which allow querying upstream GraphQL services. While the configuration is nearly identical to REST Datasources, there's a subtle but key difference in how GraphQL responses are handled, which we’ll explore next.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walk through a typical example. This schema and query target an employee by ID. The query asks for id and name fields.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5fe09225f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5fe09225f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Unlike REST, GraphQL wraps responses inside a data object. Tyk automatically unwraps this for you, simplifying field mapping.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fe09225f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fe09225f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key takeaway: GraphQL responses include a wrapping field, while REST typically does not. Because of this, GraphQL field mapping is turned on by default.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Tyk’s GraphQL engine sends standard-compliant queries. You can mix multiple REST and GraphQL datasources—even nested—and Tyk will handle query composition and resolution automatically.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query planner follows field ownership: when it hits a field with a datasource, it uses that datasource. If a nested field has its own, ownership shifts until it exits that field.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5fe09225f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5fe09225f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 In summary, Tyk makes it simple to use GraphQL APIs as datasources, with support for automatic parsing, field-level attachments, and flexible query planning across services.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5fe09225f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5fe09225f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Kafka is a distributed messaging system used for building real-time data pipelines and streaming applications. In Tyk, we can treat Kafka as a data source in our Universal Data Graph. This means developers can subscribe to topics and access streamed data using GraphQL queries. This is incredibly powerful for use cases involving live data such as product updates, financial tickers, IoT data, or live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Tyk Kafka DataSource is built on top of Kafka consumer groups. This is key, because it means it supports all Kafka features such as load balancing, fault tolerance, and scalability. When integrated into your schema, fields using Kafka can continuously stream updated data to any client that subscribes.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Kafka, a consumer group consists of multiple consumers that coordinate to consume messages from a topic. Each partition in a topic is consumed by only one consumer in a group, ensuring messages are processed exactly once per group.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we add more consumers than partitions, the extra consumers will remain idle. This model allows for dynamic scaling — consumers can be added or removed at runtime, and Kafka will rebalance automatically. Tyk leverages this model so multiple APIs or instances can share the workload for high-volume streams.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fe09225f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fe09225f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configure a Kafka DataSource in Tyk, the following fields are required: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broker_addresses: This is where your Kafka brokers live. It’s enough to supply just one broker; Kafka will discover the rest.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topics: These are the Kafka topics you want to subscribe to. All events must match the GraphQL schema.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group_id: This defines your consumer group. Multiple APIs can share this ID, which lets them cooperate on event processing.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client_id: This is a unique identifier for the client, used in Kafka logs and metrics to trace requests.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configuration is part of the Tyk API Definition object, allowing this setup to be version-controlled and automated.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fe09225f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5fe09225f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provides an intuitive UI to configure Kafka DataSources. Simply select a field in your schema and choose the Kafka data source type. You’ll be asked to input essential information like broker address and topic names.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Optional fields let you further customize how the consumer behaves. These settings allow for advanced balancing and mapping if your data structure is more complex. Once saved, you’ll see the data source type and name directly on the field, making schema maintenance easy.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fe09225f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fe09225f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provides an intuitive UI to configure Kafka DataSources. Simply select a field in your schema and choose the Kafka data source type. You’ll be asked to input essential information like broker address and topic names.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Optional fields let you further customize how the consumer behaves. These settings allow for advanced balancing and mapping if your data structure is more complex. Once saved, you’ll see the data source type and name directly on the field, making schema maintenance easy.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fe09225f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fe09225f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provides an intuitive UI to configure Kafka DataSources. Simply select a field in your schema and choose the Kafka data source type. You’ll be asked to input essential information like broker address and topic names.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Optional fields let you further customize how the consumer behaves. These settings allow for advanced balancing and mapping if your data structure is more complex. Once saved, you’ll see the data source type and name directly on the field, making schema maintenance easy.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fe09225f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fe09225f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GraphQL subscriptions are a powerful way to deliver real-time updates to clients. In Tyk, we can map Kafka topics to GraphQL subscription fields.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an event is published to the topic, all subscribed clients will receive the update instantly. This is done using the standard GraphQL </a:t>
            </a:r>
            <a:r>
              <a:rPr lang="en-GB">
                <a:solidFill>
                  <a:srgbClr val="188038"/>
                </a:solidFill>
                <a:latin typeface="Roboto Mono"/>
                <a:ea typeface="Roboto Mono"/>
                <a:cs typeface="Roboto Mono"/>
                <a:sym typeface="Roboto Mono"/>
              </a:rPr>
              <a:t>subscription</a:t>
            </a:r>
            <a:r>
              <a:rPr lang="en-GB">
                <a:solidFill>
                  <a:schemeClr val="dk1"/>
                </a:solidFill>
              </a:rPr>
              <a:t> query type. Clients can use any compliant GraphQL client or library to consume these updates — no need for custom protocols or vendor-specific solutions.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allows real-time data streams to be cleanly integrated into your unified API architecture.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is how simple it is to subscribe to Kafka-powered fields in Tyk. This GraphQL query on the right subscribes to the productUpdated field, which will be populated with data from the Kafka topic.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Whenever a new message comes through with product details, the client receives it immediately. This is ideal for use cases like e-commerce dashboards, live inventory trackers, or monitoring tools.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Developers can integrate this into frontend apps using tools like Apollo Client or urql.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fe09225f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5fe09225f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test your setup, you can publish events manually to Kafka using tools like Kafka CLI, Postman + Kafka REST Proxy, or a Kafka GUI.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Here we’re sending a JSON message to the </a:t>
            </a:r>
            <a:r>
              <a:rPr lang="en-GB">
                <a:solidFill>
                  <a:srgbClr val="188038"/>
                </a:solidFill>
                <a:latin typeface="Roboto Mono"/>
                <a:ea typeface="Roboto Mono"/>
                <a:cs typeface="Roboto Mono"/>
                <a:sym typeface="Roboto Mono"/>
              </a:rPr>
              <a:t>product-updates</a:t>
            </a:r>
            <a:r>
              <a:rPr lang="en-GB">
                <a:solidFill>
                  <a:schemeClr val="dk1"/>
                </a:solidFill>
              </a:rPr>
              <a:t> topic. When this happens, all GraphQL clients subscribed to </a:t>
            </a:r>
            <a:r>
              <a:rPr lang="en-GB">
                <a:solidFill>
                  <a:srgbClr val="188038"/>
                </a:solidFill>
                <a:latin typeface="Roboto Mono"/>
                <a:ea typeface="Roboto Mono"/>
                <a:cs typeface="Roboto Mono"/>
                <a:sym typeface="Roboto Mono"/>
              </a:rPr>
              <a:t>productUpdated</a:t>
            </a:r>
            <a:r>
              <a:rPr lang="en-GB">
                <a:solidFill>
                  <a:schemeClr val="dk1"/>
                </a:solidFill>
              </a:rPr>
              <a:t> will receive the new product info instantly. This is a great way to validate your data mappings, consumer group configuration, and client subscriptions.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enables full-cycle testing without needing a complete application stack.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fe09225f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5fe09225f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wrap up: Tyk’s Kafka DataSource is a powerful way to bring live streaming data into your Universal Data Graph. It leverages Kafka’s proven scalability and fault-tolerance while giving developers a modern, flexible API layer using GraphQL.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ideal for dynamic use cases — from IoT and supply chain systems to product catalogs and user behavior tracking. You can manage everything in one place — Tyk Gateway — and still keep your architecture loosely coupled and event-driven.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you’re building anything real-time, Kafka with Tyk UDG is a compelling option.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fe09225f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5fe09225f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REST DataSources act as connectors between your GraphQL schema and existing REST endpoints. Instead of rewriting your APIs, you attach a REST DataSource to a GraphQL field, allowing that field to be resolved via a REST call. These can be external APIs or APIs already managed in your Tyk Gateway.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we add more consumers than partitions, the extra consumers will remain idle. This model allows for dynamic scaling — consumers can be added or removed at runtime, and Kafka will rebalance automatically. Tyk leverages this model so multiple APIs or instances can share the workload for high-volume streams.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fe09225f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fe09225f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attach an external REST API to a GraphQL field, start by selecting the field in the schema editor. Use the right-side configuration panel to define your DataSource details. This includes naming it, entering the REST URL, HTTP method, and optionally setting request headers and field mapping to align the response with your schema.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fe09225f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5fe09225f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your REST API is already managed by Tyk, the integration is even easier. Choose from the list of available Tyk APIs in the dropdown, then configure which endpoint and method to use. This method promotes reuse of existing API definitions and policies.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Once the DataSource configuration is complete, saving it will generate a resolver function under the hood. This resolver ensures that when your GraphQL field is queried, the corresponding REST call is made to retrieve the data dynamically.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fe09225f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5fe09225f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save time, Tyk allows you to auto-generate DataSource configurations from an OpenAPI (OAS) document. Just call the Dashboard API with the OAS content, and Tyk will generate and publish the corresponding GraphQL configuration. This is particularly useful for onboarding large REST APIs quickly.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fe09225f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5fe09225f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wrap up, REST DataSources provide a powerful way to integrate legacy REST APIs into your modern GraphQL layer. You can attach them to any field, choose external or internal APIs, and even use OpenAPI specs to automate the setup. This enhances development agility while leveraging existing infrastructure.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3" name="Shape 53"/>
        <p:cNvGrpSpPr/>
        <p:nvPr/>
      </p:nvGrpSpPr>
      <p:grpSpPr>
        <a:xfrm>
          <a:off x="0" y="0"/>
          <a:ext cx="0" cy="0"/>
          <a:chOff x="0" y="0"/>
          <a:chExt cx="0" cy="0"/>
        </a:xfrm>
      </p:grpSpPr>
      <p:sp>
        <p:nvSpPr>
          <p:cNvPr id="54" name="Google Shape;54;p13"/>
          <p:cNvSpPr txBox="1"/>
          <p:nvPr/>
        </p:nvSpPr>
        <p:spPr>
          <a:xfrm>
            <a:off x="1926900" y="1419375"/>
            <a:ext cx="5290200" cy="75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DataSources</a:t>
            </a:r>
            <a:endParaRPr b="1" sz="3700">
              <a:solidFill>
                <a:schemeClr val="lt1"/>
              </a:solidFill>
              <a:latin typeface="Inter"/>
              <a:ea typeface="Inter"/>
              <a:cs typeface="Inter"/>
              <a:sym typeface="Inter"/>
            </a:endParaRPr>
          </a:p>
        </p:txBody>
      </p:sp>
      <p:sp>
        <p:nvSpPr>
          <p:cNvPr id="55" name="Google Shape;55;p13"/>
          <p:cNvSpPr txBox="1"/>
          <p:nvPr/>
        </p:nvSpPr>
        <p:spPr>
          <a:xfrm>
            <a:off x="1926900" y="1144125"/>
            <a:ext cx="52902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en-GB" sz="1200">
                <a:solidFill>
                  <a:srgbClr val="21E9BA"/>
                </a:solidFill>
                <a:latin typeface="Inter Medium"/>
                <a:ea typeface="Inter Medium"/>
                <a:cs typeface="Inter Medium"/>
                <a:sym typeface="Inter Medium"/>
              </a:rPr>
              <a:t>Module 4</a:t>
            </a:r>
            <a:endParaRPr sz="1200">
              <a:solidFill>
                <a:srgbClr val="21E9BA"/>
              </a:solidFill>
              <a:latin typeface="Inter Medium"/>
              <a:ea typeface="Inter Medium"/>
              <a:cs typeface="Inter Medium"/>
              <a:sym typeface="Inter Medium"/>
            </a:endParaRPr>
          </a:p>
        </p:txBody>
      </p:sp>
      <p:sp>
        <p:nvSpPr>
          <p:cNvPr id="56" name="Google Shape;56;p13"/>
          <p:cNvSpPr txBox="1"/>
          <p:nvPr/>
        </p:nvSpPr>
        <p:spPr>
          <a:xfrm>
            <a:off x="1926900" y="2169975"/>
            <a:ext cx="52902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t/>
            </a:r>
            <a:endParaRPr>
              <a:solidFill>
                <a:schemeClr val="lt1"/>
              </a:solidFill>
              <a:latin typeface="Inter"/>
              <a:ea typeface="Inter"/>
              <a:cs typeface="Inter"/>
              <a:sym typeface="Inter"/>
            </a:endParaRPr>
          </a:p>
        </p:txBody>
      </p:sp>
      <p:sp>
        <p:nvSpPr>
          <p:cNvPr id="57" name="Google Shape;57;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8" name="Google Shape;58;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sp>
        <p:nvSpPr>
          <p:cNvPr id="63" name="Google Shape;63;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 name="Google Shape;64;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5" name="Google Shape;65;p14"/>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Connect Data Sources</a:t>
            </a:r>
            <a:endParaRPr b="1" sz="3000">
              <a:solidFill>
                <a:srgbClr val="03031C"/>
              </a:solidFill>
              <a:latin typeface="Inter"/>
              <a:ea typeface="Inter"/>
              <a:cs typeface="Inter"/>
              <a:sym typeface="Inter"/>
            </a:endParaRPr>
          </a:p>
        </p:txBody>
      </p:sp>
      <p:sp>
        <p:nvSpPr>
          <p:cNvPr id="66" name="Google Shape;66;p14"/>
          <p:cNvSpPr txBox="1"/>
          <p:nvPr/>
        </p:nvSpPr>
        <p:spPr>
          <a:xfrm>
            <a:off x="398525" y="1075650"/>
            <a:ext cx="7305600" cy="365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Unified Data Graph (UDG) – Datasource Overview</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Datasources power your UDG and its schema</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Can be attached to any field in the UDG schema</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Support nested configuration</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Quick Start vs Full Control</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You can add datasources directly to UDG without registering them as APIs in Tyk</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For advanced features (rate limits, quotas, transformations), import the API into Tyk first</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Supported Datasource Types:</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REST</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GraphQL</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SOAP (via REST Datasource)</a:t>
            </a:r>
            <a:endParaRPr b="1"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Kafka</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 name="Google Shape;72;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3" name="Google Shape;73;p15"/>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GraphQL Datasource Overview</a:t>
            </a:r>
            <a:endParaRPr b="1" sz="3000">
              <a:solidFill>
                <a:srgbClr val="03031C"/>
              </a:solidFill>
              <a:latin typeface="Inter"/>
              <a:ea typeface="Inter"/>
              <a:cs typeface="Inter"/>
              <a:sym typeface="Inter"/>
            </a:endParaRPr>
          </a:p>
        </p:txBody>
      </p:sp>
      <p:sp>
        <p:nvSpPr>
          <p:cNvPr id="74" name="Google Shape;74;p15"/>
          <p:cNvSpPr txBox="1"/>
          <p:nvPr/>
        </p:nvSpPr>
        <p:spPr>
          <a:xfrm>
            <a:off x="398525" y="1075650"/>
            <a:ext cx="7305600" cy="11160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Makes GraphQL queries to upstream GraphQL services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Configured similarly to REST Datasource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Handles query and response specifics automatically</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
        <p:nvSpPr>
          <p:cNvPr id="75" name="Google Shape;75;p15"/>
          <p:cNvSpPr txBox="1"/>
          <p:nvPr/>
        </p:nvSpPr>
        <p:spPr>
          <a:xfrm>
            <a:off x="622375" y="2066800"/>
            <a:ext cx="2372100" cy="19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1"/>
                </a:solidFill>
                <a:latin typeface="Inter"/>
                <a:ea typeface="Inter"/>
                <a:cs typeface="Inter"/>
                <a:sym typeface="Inter"/>
              </a:rPr>
              <a:t>Schema Example:</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type Query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employee(id: Int!): Employee</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type Employee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id: Int!</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name: String!</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p:txBody>
      </p:sp>
      <p:sp>
        <p:nvSpPr>
          <p:cNvPr id="76" name="Google Shape;76;p15"/>
          <p:cNvSpPr txBox="1"/>
          <p:nvPr/>
        </p:nvSpPr>
        <p:spPr>
          <a:xfrm>
            <a:off x="3136975" y="2066800"/>
            <a:ext cx="2372100" cy="19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1"/>
                </a:solidFill>
                <a:latin typeface="Inter"/>
                <a:ea typeface="Inter"/>
                <a:cs typeface="Inter"/>
                <a:sym typeface="Inter"/>
              </a:rPr>
              <a:t>Example Query:</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query TykCEO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employee(id: 1)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id</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name</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2" name="Google Shape;82;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3" name="Google Shape;83;p16"/>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GraphQL Datasource Overview</a:t>
            </a:r>
            <a:endParaRPr b="1" sz="3000">
              <a:solidFill>
                <a:srgbClr val="03031C"/>
              </a:solidFill>
              <a:latin typeface="Inter"/>
              <a:ea typeface="Inter"/>
              <a:cs typeface="Inter"/>
              <a:sym typeface="Inter"/>
            </a:endParaRPr>
          </a:p>
        </p:txBody>
      </p:sp>
      <p:sp>
        <p:nvSpPr>
          <p:cNvPr id="84" name="Google Shape;84;p16"/>
          <p:cNvSpPr txBox="1"/>
          <p:nvPr/>
        </p:nvSpPr>
        <p:spPr>
          <a:xfrm>
            <a:off x="398525" y="1075650"/>
            <a:ext cx="7305600" cy="6081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b="1" lang="en-GB" sz="1100">
                <a:solidFill>
                  <a:srgbClr val="03031C"/>
                </a:solidFill>
                <a:latin typeface="Inter"/>
                <a:ea typeface="Inter"/>
                <a:cs typeface="Inter"/>
                <a:sym typeface="Inter"/>
              </a:rPr>
              <a:t>GraphQL Response Parsing</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
        <p:nvSpPr>
          <p:cNvPr id="85" name="Google Shape;85;p16"/>
          <p:cNvSpPr txBox="1"/>
          <p:nvPr/>
        </p:nvSpPr>
        <p:spPr>
          <a:xfrm>
            <a:off x="622375" y="1533400"/>
            <a:ext cx="2372100" cy="19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1"/>
                </a:solidFill>
                <a:latin typeface="Inter"/>
                <a:ea typeface="Inter"/>
                <a:cs typeface="Inter"/>
                <a:sym typeface="Inter"/>
              </a:rPr>
              <a:t>Actual Response:</a:t>
            </a:r>
            <a:endParaRPr sz="1100">
              <a:solidFill>
                <a:schemeClr val="dk1"/>
              </a:solidFill>
              <a:latin typeface="Inter"/>
              <a:ea typeface="Inter"/>
              <a:cs typeface="Inter"/>
              <a:sym typeface="Inter"/>
            </a:endParaRPr>
          </a:p>
          <a:p>
            <a:pPr indent="0" lvl="0" marL="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"data":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"employee":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"id": 1,</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"name": "Martin Buhr"</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p:txBody>
      </p:sp>
      <p:sp>
        <p:nvSpPr>
          <p:cNvPr id="86" name="Google Shape;86;p16"/>
          <p:cNvSpPr txBox="1"/>
          <p:nvPr/>
        </p:nvSpPr>
        <p:spPr>
          <a:xfrm>
            <a:off x="3213175" y="1533400"/>
            <a:ext cx="2372100" cy="19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latin typeface="Inter"/>
                <a:ea typeface="Inter"/>
                <a:cs typeface="Inter"/>
                <a:sym typeface="Inter"/>
              </a:rPr>
              <a:t>Tyk Extracts:</a:t>
            </a:r>
            <a:endParaRPr sz="1100">
              <a:solidFill>
                <a:schemeClr val="dk1"/>
              </a:solidFill>
              <a:latin typeface="Inter"/>
              <a:ea typeface="Inter"/>
              <a:cs typeface="Inter"/>
              <a:sym typeface="Inter"/>
            </a:endParaRPr>
          </a:p>
          <a:p>
            <a:pPr indent="0" lvl="0" marL="0" rtl="0" algn="l">
              <a:spcBef>
                <a:spcPts val="120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"employee":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"id": 1,</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"name": "Martin Buhr"</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  }</a:t>
            </a:r>
            <a:endParaRPr sz="11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a:t>
            </a:r>
            <a:endParaRPr sz="1100">
              <a:solidFill>
                <a:schemeClr val="dk1"/>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3" name="Google Shape;93;p17"/>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GraphQL Datasource Overview</a:t>
            </a:r>
            <a:endParaRPr b="1" sz="3000">
              <a:solidFill>
                <a:srgbClr val="03031C"/>
              </a:solidFill>
              <a:latin typeface="Inter"/>
              <a:ea typeface="Inter"/>
              <a:cs typeface="Inter"/>
              <a:sym typeface="Inter"/>
            </a:endParaRPr>
          </a:p>
        </p:txBody>
      </p:sp>
      <p:sp>
        <p:nvSpPr>
          <p:cNvPr id="94" name="Google Shape;94;p17"/>
          <p:cNvSpPr txBox="1"/>
          <p:nvPr/>
        </p:nvSpPr>
        <p:spPr>
          <a:xfrm>
            <a:off x="398525" y="1075650"/>
            <a:ext cx="7305600" cy="5179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REST vs GraphQL</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REST APIs do not wrap responses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GraphQL APIs wrap responses in root fields (like data, employee)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GraphQL field mapping is enabled by default</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Why Use GraphQL Datasource?</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Specification-compliant GraphQL requests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Supports nested REST &amp; GraphQL APIs in a single schema</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Query planner sends correct queries to upstreams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How the Query Planner Works</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Checks if a field has a datasource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That datasource resolves the field and its children</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If a nested field has its own datasource, ownership shifts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p1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01" name="Google Shape;101;p18"/>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GraphQL Datasource Overview</a:t>
            </a:r>
            <a:endParaRPr b="1" sz="3000">
              <a:solidFill>
                <a:srgbClr val="03031C"/>
              </a:solidFill>
              <a:latin typeface="Inter"/>
              <a:ea typeface="Inter"/>
              <a:cs typeface="Inter"/>
              <a:sym typeface="Inter"/>
            </a:endParaRPr>
          </a:p>
        </p:txBody>
      </p:sp>
      <p:sp>
        <p:nvSpPr>
          <p:cNvPr id="102" name="Google Shape;102;p18"/>
          <p:cNvSpPr txBox="1"/>
          <p:nvPr/>
        </p:nvSpPr>
        <p:spPr>
          <a:xfrm>
            <a:off x="398525" y="1075650"/>
            <a:ext cx="7305600" cy="2986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a:solidFill>
                  <a:srgbClr val="03031C"/>
                </a:solidFill>
                <a:latin typeface="Inter"/>
                <a:ea typeface="Inter"/>
                <a:cs typeface="Inter"/>
                <a:sym typeface="Inter"/>
              </a:rPr>
              <a:t>Summary</a:t>
            </a:r>
            <a:endParaRPr b="1">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a:solidFill>
                <a:srgbClr val="03031C"/>
              </a:solidFill>
              <a:latin typeface="Inter"/>
              <a:ea typeface="Inter"/>
              <a:cs typeface="Inter"/>
              <a:sym typeface="Inter"/>
            </a:endParaRPr>
          </a:p>
          <a:p>
            <a:pPr indent="-317500" lvl="0" marL="457200" rtl="0" algn="l">
              <a:lnSpc>
                <a:spcPct val="150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Tyk supports full GraphQL Datasource configuration</a:t>
            </a:r>
            <a:endParaRPr>
              <a:solidFill>
                <a:srgbClr val="03031C"/>
              </a:solidFill>
              <a:latin typeface="Inter"/>
              <a:ea typeface="Inter"/>
              <a:cs typeface="Inter"/>
              <a:sym typeface="Inter"/>
            </a:endParaRPr>
          </a:p>
          <a:p>
            <a:pPr indent="-317500" lvl="0" marL="457200" rtl="0" algn="l">
              <a:lnSpc>
                <a:spcPct val="150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Automatic unwrapping of data field</a:t>
            </a:r>
            <a:endParaRPr>
              <a:solidFill>
                <a:srgbClr val="03031C"/>
              </a:solidFill>
              <a:latin typeface="Inter"/>
              <a:ea typeface="Inter"/>
              <a:cs typeface="Inter"/>
              <a:sym typeface="Inter"/>
            </a:endParaRPr>
          </a:p>
          <a:p>
            <a:pPr indent="-317500" lvl="0" marL="457200" rtl="0" algn="l">
              <a:lnSpc>
                <a:spcPct val="150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Query planner handles mixed datasources</a:t>
            </a:r>
            <a:endParaRPr>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 name="Google Shape;108;p1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09" name="Google Shape;109;p19"/>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10" name="Google Shape;110;p19"/>
          <p:cNvSpPr txBox="1"/>
          <p:nvPr/>
        </p:nvSpPr>
        <p:spPr>
          <a:xfrm>
            <a:off x="398525" y="1075650"/>
            <a:ext cx="7305600" cy="21318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Enables subscribing to Kafka topics and querying events with GraphQL.</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Integrates Kafka's powerful pub/sub model into your Universal Data Graph.</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Operates based on Kafka’s consumer group mechanism.</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Kafka Consumer Groups</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 group of cooperating consumers that share processing load.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Kafka automatically manages membership and rebalances partitions.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Allows for horizontal scaling and fault tolerance.</a:t>
            </a:r>
            <a:endParaRPr sz="1100">
              <a:solidFill>
                <a:srgbClr val="03031C"/>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2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7" name="Google Shape;117;p20"/>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18" name="Google Shape;118;p20"/>
          <p:cNvSpPr txBox="1"/>
          <p:nvPr/>
        </p:nvSpPr>
        <p:spPr>
          <a:xfrm>
            <a:off x="398525" y="1075650"/>
            <a:ext cx="7305600" cy="213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Basic Kafka Configuration</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Courier New"/>
                <a:ea typeface="Courier New"/>
                <a:cs typeface="Courier New"/>
                <a:sym typeface="Courier New"/>
              </a:rPr>
              <a:t>broker_addresses</a:t>
            </a:r>
            <a:r>
              <a:rPr lang="en-GB" sz="1100">
                <a:solidFill>
                  <a:srgbClr val="03031C"/>
                </a:solidFill>
                <a:latin typeface="Inter"/>
                <a:ea typeface="Inter"/>
                <a:cs typeface="Inter"/>
                <a:sym typeface="Inter"/>
              </a:rPr>
              <a:t>: Kafka broker hosts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Courier New"/>
                <a:ea typeface="Courier New"/>
                <a:cs typeface="Courier New"/>
                <a:sym typeface="Courier New"/>
              </a:rPr>
              <a:t>topics</a:t>
            </a:r>
            <a:r>
              <a:rPr lang="en-GB" sz="1100">
                <a:solidFill>
                  <a:srgbClr val="03031C"/>
                </a:solidFill>
                <a:latin typeface="Inter"/>
                <a:ea typeface="Inter"/>
                <a:cs typeface="Inter"/>
                <a:sym typeface="Inter"/>
              </a:rPr>
              <a:t>: Kafka topics to subscribe to</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Courier New"/>
                <a:ea typeface="Courier New"/>
                <a:cs typeface="Courier New"/>
                <a:sym typeface="Courier New"/>
              </a:rPr>
              <a:t>group_id</a:t>
            </a:r>
            <a:r>
              <a:rPr lang="en-GB" sz="1100">
                <a:solidFill>
                  <a:srgbClr val="03031C"/>
                </a:solidFill>
                <a:latin typeface="Inter"/>
                <a:ea typeface="Inter"/>
                <a:cs typeface="Inter"/>
                <a:sym typeface="Inter"/>
              </a:rPr>
              <a:t>: Consumer group identifier</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Courier New"/>
                <a:ea typeface="Courier New"/>
                <a:cs typeface="Courier New"/>
                <a:sym typeface="Courier New"/>
              </a:rPr>
              <a:t>client_id</a:t>
            </a:r>
            <a:r>
              <a:rPr lang="en-GB" sz="1100">
                <a:solidFill>
                  <a:srgbClr val="03031C"/>
                </a:solidFill>
                <a:latin typeface="Inter"/>
                <a:ea typeface="Inter"/>
                <a:cs typeface="Inter"/>
                <a:sym typeface="Inter"/>
              </a:rPr>
              <a:t>: Optional identifier for logging and debugging</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2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4" name="Google Shape;124;p2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25" name="Google Shape;125;p21"/>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26" name="Google Shape;126;p21"/>
          <p:cNvSpPr txBox="1"/>
          <p:nvPr/>
        </p:nvSpPr>
        <p:spPr>
          <a:xfrm>
            <a:off x="398525" y="1075650"/>
            <a:ext cx="7305600" cy="365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Configuring via Tyk Dashboard</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Click the field to attach Kafka DataSource.</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In Configure Data Source, choose KAFKA.</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Provide:</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Data source name</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Broker addresses</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Topics</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Group ID</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Client ID</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(Optional) Kafka version, balance strategy, field mappings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Click Save.</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0" name="Shape 130"/>
        <p:cNvGrpSpPr/>
        <p:nvPr/>
      </p:nvGrpSpPr>
      <p:grpSpPr>
        <a:xfrm>
          <a:off x="0" y="0"/>
          <a:ext cx="0" cy="0"/>
          <a:chOff x="0" y="0"/>
          <a:chExt cx="0" cy="0"/>
        </a:xfrm>
      </p:grpSpPr>
      <p:sp>
        <p:nvSpPr>
          <p:cNvPr id="131" name="Google Shape;131;p2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2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3" name="Google Shape;133;p22"/>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34" name="Google Shape;134;p22"/>
          <p:cNvSpPr txBox="1"/>
          <p:nvPr/>
        </p:nvSpPr>
        <p:spPr>
          <a:xfrm>
            <a:off x="398525" y="1075650"/>
            <a:ext cx="7305600" cy="861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pic>
        <p:nvPicPr>
          <p:cNvPr id="135" name="Google Shape;135;p22"/>
          <p:cNvPicPr preferRelativeResize="0"/>
          <p:nvPr/>
        </p:nvPicPr>
        <p:blipFill>
          <a:blip r:embed="rId4">
            <a:alphaModFix/>
          </a:blip>
          <a:stretch>
            <a:fillRect/>
          </a:stretch>
        </p:blipFill>
        <p:spPr>
          <a:xfrm>
            <a:off x="827825" y="1373625"/>
            <a:ext cx="6447000" cy="2901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2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 name="Google Shape;141;p2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2" name="Google Shape;142;p23"/>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43" name="Google Shape;143;p23"/>
          <p:cNvSpPr txBox="1"/>
          <p:nvPr/>
        </p:nvSpPr>
        <p:spPr>
          <a:xfrm>
            <a:off x="398525" y="1075650"/>
            <a:ext cx="7305600" cy="1369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Once done the field you just configured will show information about data source type and name:</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pic>
        <p:nvPicPr>
          <p:cNvPr id="144" name="Google Shape;144;p23"/>
          <p:cNvPicPr preferRelativeResize="0"/>
          <p:nvPr/>
        </p:nvPicPr>
        <p:blipFill>
          <a:blip r:embed="rId4">
            <a:alphaModFix/>
          </a:blip>
          <a:stretch>
            <a:fillRect/>
          </a:stretch>
        </p:blipFill>
        <p:spPr>
          <a:xfrm>
            <a:off x="566863" y="1869325"/>
            <a:ext cx="8113772" cy="2186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2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 name="Google Shape;150;p2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51" name="Google Shape;151;p24"/>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52" name="Google Shape;152;p24"/>
          <p:cNvSpPr txBox="1"/>
          <p:nvPr/>
        </p:nvSpPr>
        <p:spPr>
          <a:xfrm>
            <a:off x="398525" y="1075650"/>
            <a:ext cx="4339500" cy="396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GraphQL Subscriptions with Kafka</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Real-Time Subscriptions</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Use GraphQL subscription queries to listen to Kafka events.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Define Subscription type in your schema:</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800">
                <a:solidFill>
                  <a:srgbClr val="E36209"/>
                </a:solidFill>
                <a:latin typeface="Courier New"/>
                <a:ea typeface="Courier New"/>
                <a:cs typeface="Courier New"/>
                <a:sym typeface="Courier New"/>
              </a:rPr>
              <a:t>type</a:t>
            </a:r>
            <a:r>
              <a:rPr lang="en-GB" sz="800">
                <a:solidFill>
                  <a:srgbClr val="24292E"/>
                </a:solidFill>
                <a:latin typeface="Courier New"/>
                <a:ea typeface="Courier New"/>
                <a:cs typeface="Courier New"/>
                <a:sym typeface="Courier New"/>
              </a:rPr>
              <a:t> Product </a:t>
            </a:r>
            <a:r>
              <a:rPr lang="en-GB" sz="800">
                <a:solidFill>
                  <a:srgbClr val="555555"/>
                </a:solidFill>
                <a:latin typeface="Courier New"/>
                <a:ea typeface="Courier New"/>
                <a:cs typeface="Courier New"/>
                <a:sym typeface="Courier New"/>
              </a:rPr>
              <a:t>{</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24292E"/>
                </a:solidFill>
                <a:latin typeface="Courier New"/>
                <a:ea typeface="Courier New"/>
                <a:cs typeface="Courier New"/>
                <a:sym typeface="Courier New"/>
              </a:rPr>
              <a:t> name: String</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24292E"/>
                </a:solidFill>
                <a:latin typeface="Courier New"/>
                <a:ea typeface="Courier New"/>
                <a:cs typeface="Courier New"/>
                <a:sym typeface="Courier New"/>
              </a:rPr>
              <a:t> price: Int</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24292E"/>
                </a:solidFill>
                <a:latin typeface="Courier New"/>
                <a:ea typeface="Courier New"/>
                <a:cs typeface="Courier New"/>
                <a:sym typeface="Courier New"/>
              </a:rPr>
              <a:t> </a:t>
            </a:r>
            <a:r>
              <a:rPr b="1" lang="en-GB" sz="800">
                <a:solidFill>
                  <a:srgbClr val="D73A49"/>
                </a:solidFill>
                <a:latin typeface="Courier New"/>
                <a:ea typeface="Courier New"/>
                <a:cs typeface="Courier New"/>
                <a:sym typeface="Courier New"/>
              </a:rPr>
              <a:t>in</a:t>
            </a:r>
            <a:r>
              <a:rPr lang="en-GB" sz="800">
                <a:solidFill>
                  <a:srgbClr val="24292E"/>
                </a:solidFill>
                <a:latin typeface="Courier New"/>
                <a:ea typeface="Courier New"/>
                <a:cs typeface="Courier New"/>
                <a:sym typeface="Courier New"/>
              </a:rPr>
              <a:t>Stock: Int</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555555"/>
                </a:solidFill>
                <a:latin typeface="Courier New"/>
                <a:ea typeface="Courier New"/>
                <a:cs typeface="Courier New"/>
                <a:sym typeface="Courier New"/>
              </a:rPr>
              <a:t>}</a:t>
            </a:r>
            <a:endParaRPr sz="800">
              <a:solidFill>
                <a:srgbClr val="24292E"/>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E36209"/>
                </a:solidFill>
                <a:latin typeface="Courier New"/>
                <a:ea typeface="Courier New"/>
                <a:cs typeface="Courier New"/>
                <a:sym typeface="Courier New"/>
              </a:rPr>
              <a:t>type</a:t>
            </a:r>
            <a:r>
              <a:rPr lang="en-GB" sz="800">
                <a:solidFill>
                  <a:srgbClr val="24292E"/>
                </a:solidFill>
                <a:latin typeface="Courier New"/>
                <a:ea typeface="Courier New"/>
                <a:cs typeface="Courier New"/>
                <a:sym typeface="Courier New"/>
              </a:rPr>
              <a:t> Subscription </a:t>
            </a:r>
            <a:r>
              <a:rPr lang="en-GB" sz="800">
                <a:solidFill>
                  <a:srgbClr val="555555"/>
                </a:solidFill>
                <a:latin typeface="Courier New"/>
                <a:ea typeface="Courier New"/>
                <a:cs typeface="Courier New"/>
                <a:sym typeface="Courier New"/>
              </a:rPr>
              <a:t>{</a:t>
            </a:r>
            <a:endParaRPr sz="800">
              <a:solidFill>
                <a:srgbClr val="24292E"/>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800">
                <a:solidFill>
                  <a:srgbClr val="24292E"/>
                </a:solidFill>
                <a:latin typeface="Courier New"/>
                <a:ea typeface="Courier New"/>
                <a:cs typeface="Courier New"/>
                <a:sym typeface="Courier New"/>
              </a:rPr>
              <a:t> productUpdated: Product</a:t>
            </a:r>
            <a:endParaRPr sz="800">
              <a:solidFill>
                <a:srgbClr val="24292E"/>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GB" sz="800">
                <a:solidFill>
                  <a:srgbClr val="555555"/>
                </a:solidFill>
                <a:latin typeface="Courier New"/>
                <a:ea typeface="Courier New"/>
                <a:cs typeface="Courier New"/>
                <a:sym typeface="Courier New"/>
              </a:rPr>
              <a:t>}</a:t>
            </a:r>
            <a:endParaRPr sz="800">
              <a:solidFill>
                <a:srgbClr val="555555"/>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Subscribers will get real-time updates on every event.</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
        <p:nvSpPr>
          <p:cNvPr id="153" name="Google Shape;153;p24"/>
          <p:cNvSpPr txBox="1"/>
          <p:nvPr/>
        </p:nvSpPr>
        <p:spPr>
          <a:xfrm>
            <a:off x="4804575" y="1568300"/>
            <a:ext cx="4067100" cy="26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rgbClr val="03031C"/>
                </a:solidFill>
                <a:latin typeface="Inter"/>
                <a:ea typeface="Inter"/>
                <a:cs typeface="Inter"/>
                <a:sym typeface="Inter"/>
              </a:rPr>
              <a:t>Example Subscription Query</a:t>
            </a:r>
            <a:endParaRPr b="1" sz="1100">
              <a:solidFill>
                <a:srgbClr val="03031C"/>
              </a:solidFill>
              <a:latin typeface="Inter"/>
              <a:ea typeface="Inter"/>
              <a:cs typeface="Inter"/>
              <a:sym typeface="Inter"/>
            </a:endParaRPr>
          </a:p>
          <a:p>
            <a:pPr indent="0" lvl="0" marL="0" rtl="0" algn="l">
              <a:spcBef>
                <a:spcPts val="0"/>
              </a:spcBef>
              <a:spcAft>
                <a:spcPts val="0"/>
              </a:spcAft>
              <a:buNone/>
            </a:pPr>
            <a:r>
              <a:t/>
            </a:r>
            <a:endParaRPr b="1" sz="1100">
              <a:solidFill>
                <a:srgbClr val="03031C"/>
              </a:solidFill>
              <a:latin typeface="Inter"/>
              <a:ea typeface="Inter"/>
              <a:cs typeface="Inter"/>
              <a:sym typeface="Inter"/>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subscription Products {</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    productUpdated {</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        name</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        price</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        inStock</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    }</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03031C"/>
              </a:solidFill>
              <a:latin typeface="Courier New"/>
              <a:ea typeface="Courier New"/>
              <a:cs typeface="Courier New"/>
              <a:sym typeface="Courier New"/>
            </a:endParaRPr>
          </a:p>
          <a:p>
            <a:pPr indent="-298450" lvl="0" marL="457200" rtl="0" algn="l">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Automatically receives new product data when Kafka publishes an event.</a:t>
            </a:r>
            <a:endParaRPr sz="1100">
              <a:solidFill>
                <a:srgbClr val="03031C"/>
              </a:solidFill>
              <a:latin typeface="Inter"/>
              <a:ea typeface="Inter"/>
              <a:cs typeface="Inter"/>
              <a:sym typeface="Inter"/>
            </a:endParaRPr>
          </a:p>
          <a:p>
            <a:pPr indent="-298450" lvl="0" marL="457200" rtl="0" algn="l">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Compatible with most GraphQL clients.</a:t>
            </a:r>
            <a:endParaRPr sz="1100">
              <a:solidFill>
                <a:srgbClr val="03031C"/>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2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 name="Google Shape;159;p2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60" name="Google Shape;160;p25"/>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61" name="Google Shape;161;p25"/>
          <p:cNvSpPr txBox="1"/>
          <p:nvPr/>
        </p:nvSpPr>
        <p:spPr>
          <a:xfrm>
            <a:off x="398525" y="1075650"/>
            <a:ext cx="6253500" cy="312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Publishing Test Events</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Simulating Kafka Events</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Publish event to product-updates topic:</a:t>
            </a:r>
            <a:endParaRPr sz="1100">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    "productUpdated": {</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        "name": "product1",</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        "price": 1624,</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        "inStock": 219</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GB"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Use any Kafka producer or GUI tool.</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Useful for testing subscriptions and schema mappings.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7" name="Google Shape;167;p2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68" name="Google Shape;168;p26"/>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Kafka Datasource Overview</a:t>
            </a:r>
            <a:endParaRPr b="1" sz="3000">
              <a:solidFill>
                <a:srgbClr val="03031C"/>
              </a:solidFill>
              <a:latin typeface="Inter"/>
              <a:ea typeface="Inter"/>
              <a:cs typeface="Inter"/>
              <a:sym typeface="Inter"/>
            </a:endParaRPr>
          </a:p>
        </p:txBody>
      </p:sp>
      <p:sp>
        <p:nvSpPr>
          <p:cNvPr id="169" name="Google Shape;169;p26"/>
          <p:cNvSpPr txBox="1"/>
          <p:nvPr/>
        </p:nvSpPr>
        <p:spPr>
          <a:xfrm>
            <a:off x="398525" y="1075650"/>
            <a:ext cx="6253500" cy="213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Summary</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Kafka DataSource in Tyk</a:t>
            </a:r>
            <a:endParaRPr b="1"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Seamlessly integrates Kafka with GraphQL APIs.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Allows real-time streaming via GraphQL subscriptions.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Scalable via Kafka consumer groups.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Easy setup via Tyk Dashboard or API Definition.</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2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5" name="Google Shape;175;p2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76" name="Google Shape;176;p27"/>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REST Datasource Overview</a:t>
            </a:r>
            <a:endParaRPr b="1" sz="3000">
              <a:solidFill>
                <a:srgbClr val="03031C"/>
              </a:solidFill>
              <a:latin typeface="Inter"/>
              <a:ea typeface="Inter"/>
              <a:cs typeface="Inter"/>
              <a:sym typeface="Inter"/>
            </a:endParaRPr>
          </a:p>
        </p:txBody>
      </p:sp>
      <p:sp>
        <p:nvSpPr>
          <p:cNvPr id="177" name="Google Shape;177;p27"/>
          <p:cNvSpPr txBox="1"/>
          <p:nvPr/>
        </p:nvSpPr>
        <p:spPr>
          <a:xfrm>
            <a:off x="398525" y="1075650"/>
            <a:ext cx="7305600" cy="8619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REST DataSources connect REST APIs to your GraphQL schema</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Enables field-level resolution via REST endpoints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Supported for both external APIs and Tyk-managed APIs</a:t>
            </a:r>
            <a:endParaRPr sz="1100">
              <a:solidFill>
                <a:srgbClr val="03031C"/>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84" name="Google Shape;184;p28"/>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REST Datasource Overview</a:t>
            </a:r>
            <a:endParaRPr b="1" sz="3000">
              <a:solidFill>
                <a:srgbClr val="03031C"/>
              </a:solidFill>
              <a:latin typeface="Inter"/>
              <a:ea typeface="Inter"/>
              <a:cs typeface="Inter"/>
              <a:sym typeface="Inter"/>
            </a:endParaRPr>
          </a:p>
        </p:txBody>
      </p:sp>
      <p:sp>
        <p:nvSpPr>
          <p:cNvPr id="185" name="Google Shape;185;p28"/>
          <p:cNvSpPr txBox="1"/>
          <p:nvPr/>
        </p:nvSpPr>
        <p:spPr>
          <a:xfrm>
            <a:off x="398525" y="1075650"/>
            <a:ext cx="7305600" cy="21318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Select the field in your schema</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Configure as External REST DataSource</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Name</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URL</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Method (GET, POST, etc.)</a:t>
            </a:r>
            <a:endParaRPr sz="1100">
              <a:solidFill>
                <a:srgbClr val="03031C"/>
              </a:solidFill>
              <a:latin typeface="Inter"/>
              <a:ea typeface="Inter"/>
              <a:cs typeface="Inter"/>
              <a:sym typeface="Inter"/>
            </a:endParaRPr>
          </a:p>
          <a:p>
            <a:pPr indent="-298450" lvl="1" marL="9144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Optional: Headers, Field Mapping</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pic>
        <p:nvPicPr>
          <p:cNvPr id="186" name="Google Shape;186;p28"/>
          <p:cNvPicPr preferRelativeResize="0"/>
          <p:nvPr/>
        </p:nvPicPr>
        <p:blipFill>
          <a:blip r:embed="rId4">
            <a:alphaModFix/>
          </a:blip>
          <a:stretch>
            <a:fillRect/>
          </a:stretch>
        </p:blipFill>
        <p:spPr>
          <a:xfrm>
            <a:off x="4472300" y="1028275"/>
            <a:ext cx="3535324" cy="3476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 name="Google Shape;192;p2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93" name="Google Shape;193;p29"/>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REST Datasource Overview</a:t>
            </a:r>
            <a:endParaRPr b="1" sz="3000">
              <a:solidFill>
                <a:srgbClr val="03031C"/>
              </a:solidFill>
              <a:latin typeface="Inter"/>
              <a:ea typeface="Inter"/>
              <a:cs typeface="Inter"/>
              <a:sym typeface="Inter"/>
            </a:endParaRPr>
          </a:p>
        </p:txBody>
      </p:sp>
      <p:sp>
        <p:nvSpPr>
          <p:cNvPr id="194" name="Google Shape;194;p29"/>
          <p:cNvSpPr txBox="1"/>
          <p:nvPr/>
        </p:nvSpPr>
        <p:spPr>
          <a:xfrm>
            <a:off x="398525" y="1075650"/>
            <a:ext cx="7305600" cy="340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Attaching Tyk REST API</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Select the field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Choose REST | Tyk from the dropdown</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Pick from existing Tyk APIs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Provide endpoint and method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Optional headers and mapping</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Save and Generate Resolver</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Click "Save &amp; Update API"</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Resolver is auto-generated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GraphQL runtime will call the REST endpoint when the field is queried</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pic>
        <p:nvPicPr>
          <p:cNvPr id="195" name="Google Shape;195;p29"/>
          <p:cNvPicPr preferRelativeResize="0"/>
          <p:nvPr/>
        </p:nvPicPr>
        <p:blipFill>
          <a:blip r:embed="rId4">
            <a:alphaModFix/>
          </a:blip>
          <a:stretch>
            <a:fillRect/>
          </a:stretch>
        </p:blipFill>
        <p:spPr>
          <a:xfrm>
            <a:off x="3788850" y="1615313"/>
            <a:ext cx="5166750" cy="16972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3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02" name="Google Shape;202;p30"/>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REST Datasource Overview</a:t>
            </a:r>
            <a:endParaRPr b="1" sz="3000">
              <a:solidFill>
                <a:srgbClr val="03031C"/>
              </a:solidFill>
              <a:latin typeface="Inter"/>
              <a:ea typeface="Inter"/>
              <a:cs typeface="Inter"/>
              <a:sym typeface="Inter"/>
            </a:endParaRPr>
          </a:p>
        </p:txBody>
      </p:sp>
      <p:sp>
        <p:nvSpPr>
          <p:cNvPr id="203" name="Google Shape;203;p30"/>
          <p:cNvSpPr txBox="1"/>
          <p:nvPr/>
        </p:nvSpPr>
        <p:spPr>
          <a:xfrm>
            <a:off x="398525" y="1075650"/>
            <a:ext cx="6173700" cy="4163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Auto-generate REST DataSource via OAS</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Use Tyk Dashboard API</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Endpoint: </a:t>
            </a:r>
            <a:r>
              <a:rPr lang="en-GB" sz="1100">
                <a:solidFill>
                  <a:srgbClr val="03031C"/>
                </a:solidFill>
                <a:latin typeface="Courier New"/>
                <a:ea typeface="Courier New"/>
                <a:cs typeface="Courier New"/>
                <a:sym typeface="Courier New"/>
              </a:rPr>
              <a:t>POST /api/data-graphs/data-sources/import</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Request Body:</a:t>
            </a:r>
            <a:endParaRPr sz="1100">
              <a:solidFill>
                <a:srgbClr val="03031C"/>
              </a:solidFill>
              <a:latin typeface="Inter"/>
              <a:ea typeface="Inter"/>
              <a:cs typeface="Inter"/>
              <a:sym typeface="Inter"/>
            </a:endParaRPr>
          </a:p>
          <a:p>
            <a:pPr indent="0" lvl="0" marL="45720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"type": "string",</a:t>
            </a:r>
            <a:endParaRPr sz="11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    "data": "string"</a:t>
            </a:r>
            <a:endParaRPr sz="1100">
              <a:solidFill>
                <a:srgbClr val="03031C"/>
              </a:solidFill>
              <a:latin typeface="Courier New"/>
              <a:ea typeface="Courier New"/>
              <a:cs typeface="Courier New"/>
              <a:sym typeface="Courier New"/>
            </a:endParaRPr>
          </a:p>
          <a:p>
            <a:pPr indent="0" lvl="0" marL="45720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Courier New"/>
                <a:ea typeface="Courier New"/>
                <a:cs typeface="Courier New"/>
                <a:sym typeface="Courier New"/>
              </a:rPr>
              <a:t>type</a:t>
            </a:r>
            <a:r>
              <a:rPr lang="en-GB" sz="1100">
                <a:solidFill>
                  <a:srgbClr val="03031C"/>
                </a:solidFill>
                <a:latin typeface="Inter"/>
                <a:ea typeface="Inter"/>
                <a:cs typeface="Inter"/>
                <a:sym typeface="Inter"/>
              </a:rPr>
              <a:t> is an enum with the following possible values: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Courier New"/>
              <a:buChar char="●"/>
            </a:pPr>
            <a:r>
              <a:rPr lang="en-GB" sz="1100">
                <a:solidFill>
                  <a:srgbClr val="03031C"/>
                </a:solidFill>
                <a:latin typeface="Courier New"/>
                <a:ea typeface="Courier New"/>
                <a:cs typeface="Courier New"/>
                <a:sym typeface="Courier New"/>
              </a:rPr>
              <a:t>openapi</a:t>
            </a:r>
            <a:endParaRPr sz="1100">
              <a:solidFill>
                <a:srgbClr val="03031C"/>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3031C"/>
              </a:buClr>
              <a:buSzPts val="1100"/>
              <a:buFont typeface="Courier New"/>
              <a:buChar char="●"/>
            </a:pPr>
            <a:r>
              <a:rPr lang="en-GB" sz="1100">
                <a:solidFill>
                  <a:srgbClr val="03031C"/>
                </a:solidFill>
                <a:latin typeface="Courier New"/>
                <a:ea typeface="Courier New"/>
                <a:cs typeface="Courier New"/>
                <a:sym typeface="Courier New"/>
              </a:rPr>
              <a:t>Asyncapi</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t/>
            </a:r>
            <a:endParaRPr sz="1100">
              <a:solidFill>
                <a:srgbClr val="03031C"/>
              </a:solidFill>
              <a:latin typeface="Courier New"/>
              <a:ea typeface="Courier New"/>
              <a:cs typeface="Courier New"/>
              <a:sym typeface="Courier New"/>
            </a:endParaRPr>
          </a:p>
          <a:p>
            <a:pPr indent="0" lvl="0" marL="0" rtl="0" algn="l">
              <a:lnSpc>
                <a:spcPct val="150000"/>
              </a:lnSpc>
              <a:spcBef>
                <a:spcPts val="0"/>
              </a:spcBef>
              <a:spcAft>
                <a:spcPts val="0"/>
              </a:spcAft>
              <a:buNone/>
            </a:pPr>
            <a:r>
              <a:rPr lang="en-GB" sz="1100">
                <a:solidFill>
                  <a:srgbClr val="03031C"/>
                </a:solidFill>
                <a:latin typeface="Inter"/>
                <a:ea typeface="Inter"/>
                <a:cs typeface="Inter"/>
                <a:sym typeface="Inter"/>
              </a:rPr>
              <a:t>To import an OAS specification you need to choose openapi</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3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10" name="Google Shape;210;p31"/>
          <p:cNvSpPr txBox="1"/>
          <p:nvPr/>
        </p:nvSpPr>
        <p:spPr>
          <a:xfrm>
            <a:off x="339000" y="309475"/>
            <a:ext cx="85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000">
                <a:solidFill>
                  <a:srgbClr val="5900CB"/>
                </a:solidFill>
                <a:latin typeface="Inter"/>
                <a:ea typeface="Inter"/>
                <a:cs typeface="Inter"/>
                <a:sym typeface="Inter"/>
              </a:rPr>
              <a:t>REST Datasource Overview</a:t>
            </a:r>
            <a:endParaRPr b="1" sz="3000">
              <a:solidFill>
                <a:srgbClr val="03031C"/>
              </a:solidFill>
              <a:latin typeface="Inter"/>
              <a:ea typeface="Inter"/>
              <a:cs typeface="Inter"/>
              <a:sym typeface="Inter"/>
            </a:endParaRPr>
          </a:p>
        </p:txBody>
      </p:sp>
      <p:sp>
        <p:nvSpPr>
          <p:cNvPr id="211" name="Google Shape;211;p31"/>
          <p:cNvSpPr txBox="1"/>
          <p:nvPr/>
        </p:nvSpPr>
        <p:spPr>
          <a:xfrm>
            <a:off x="398525" y="1075650"/>
            <a:ext cx="6173700" cy="1623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Summary</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REST DataSources make it easy to integrate legacy REST APIs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Both external and internal APIs are supported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Automatic configuration possible with OAS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