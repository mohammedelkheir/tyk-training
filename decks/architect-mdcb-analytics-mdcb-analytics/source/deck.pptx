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nter Light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Inter ExtraBold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454">
          <p15:clr>
            <a:srgbClr val="747775"/>
          </p15:clr>
        </p15:guide>
        <p15:guide id="3" pos="454">
          <p15:clr>
            <a:srgbClr val="747775"/>
          </p15:clr>
        </p15:guide>
        <p15:guide id="4" pos="5329">
          <p15:clr>
            <a:srgbClr val="747775"/>
          </p15:clr>
        </p15:guide>
        <p15:guide id="5" orient="horz" pos="2786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un Kiat Ko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54" orient="horz"/>
        <p:guide pos="454"/>
        <p:guide pos="5329"/>
        <p:guide pos="27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5.xml"/><Relationship Id="rId22" Type="http://schemas.openxmlformats.org/officeDocument/2006/relationships/font" Target="fonts/InterExtraBold-bold.fntdata"/><Relationship Id="rId10" Type="http://schemas.openxmlformats.org/officeDocument/2006/relationships/slide" Target="slides/slide4.xml"/><Relationship Id="rId21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font" Target="fonts/InterLight-bold.fntdata"/><Relationship Id="rId14" Type="http://schemas.openxmlformats.org/officeDocument/2006/relationships/font" Target="fonts/InterLight-regular.fntdata"/><Relationship Id="rId17" Type="http://schemas.openxmlformats.org/officeDocument/2006/relationships/font" Target="fonts/InterLight-boldItalic.fntdata"/><Relationship Id="rId16" Type="http://schemas.openxmlformats.org/officeDocument/2006/relationships/font" Target="fonts/InterLight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09T05:40:44.494">
    <p:pos x="1691" y="38"/>
    <p:text>A use case for running a control plane pump is for the control plane pump to centralize the effort to send all traffic logs to a 3rd party data store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53bf8e78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53bf8e78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96be481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96be481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3bf8e780d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3bf8e780d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3bf8e780d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3bf8e780d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3bf8e780d_0_1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3bf8e780d_0_1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53bf8e780d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53bf8e780d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53bf8e780d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53bf8e780d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438FA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"/>
            <a:ext cx="9144003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/>
        </p:nvSpPr>
        <p:spPr>
          <a:xfrm>
            <a:off x="691675" y="1274800"/>
            <a:ext cx="3233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4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Analytics</a:t>
            </a:r>
            <a:endParaRPr b="1" sz="4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00" y="720001"/>
            <a:ext cx="584925" cy="2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500550" y="0"/>
            <a:ext cx="8520600" cy="11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Handling analytics data</a:t>
            </a:r>
            <a:endParaRPr b="1" sz="3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00550" y="1140600"/>
            <a:ext cx="8520600" cy="3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Gateways record analytics in Redis when they are processing API traffic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Pump processes analytics data, and moves it to the target data stores</a:t>
            </a: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MongoDB/PostgreSQL is the default data store for the Dashboard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Single data centre deployments use this approach: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n-GB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Additional data stores can be targeted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2552400" cy="5143500"/>
          </a:xfrm>
          <a:prstGeom prst="rect">
            <a:avLst/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 flipH="1">
            <a:off x="336375" y="1449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 flipH="1">
            <a:off x="336375" y="60554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 flipH="1">
            <a:off x="336375" y="2289535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 flipH="1">
            <a:off x="336375" y="313039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 flipH="1">
            <a:off x="336375" y="3971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 flipH="1">
            <a:off x="3258950" y="2834014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 flipH="1">
            <a:off x="3258950" y="3922851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 flipH="1">
            <a:off x="3258950" y="2292914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142900" y="1128625"/>
            <a:ext cx="5317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3031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MDCB deployments have four approaches for handling analytics:</a:t>
            </a:r>
            <a:endParaRPr sz="2000">
              <a:solidFill>
                <a:srgbClr val="03031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560200" y="2160625"/>
            <a:ext cx="48621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MDCB Direct</a:t>
            </a:r>
            <a:r>
              <a:rPr lang="en-GB" sz="15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5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Control Plane Pump</a:t>
            </a:r>
            <a:endParaRPr sz="15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Edge Pump</a:t>
            </a:r>
            <a:endParaRPr sz="15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Edge Pump with Hybrid Forward</a:t>
            </a:r>
            <a:endParaRPr sz="15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36375" y="6571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438FA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2000">
              <a:solidFill>
                <a:srgbClr val="8438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966900" y="703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Analytics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36375" y="1499138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36375" y="234142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36375" y="31820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36375" y="402257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966900" y="1545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Direct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966900" y="2387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Control Plane Pump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966900" y="3229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966900" y="4071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 w/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Hybrid Forward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 flipH="1">
            <a:off x="3258950" y="3378426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/>
          </a:blip>
          <a:srcRect b="0" l="2088" r="3847" t="0"/>
          <a:stretch/>
        </p:blipFill>
        <p:spPr>
          <a:xfrm>
            <a:off x="5540800" y="43350"/>
            <a:ext cx="3563350" cy="50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0" y="0"/>
            <a:ext cx="2552400" cy="5143500"/>
          </a:xfrm>
          <a:prstGeom prst="rect">
            <a:avLst/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 flipH="1">
            <a:off x="336375" y="1449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 flipH="1">
            <a:off x="336375" y="60554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 flipH="1">
            <a:off x="336375" y="2289535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 flipH="1">
            <a:off x="336375" y="313039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 flipH="1">
            <a:off x="336375" y="3971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 flipH="1">
            <a:off x="2801750" y="1509914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 flipH="1">
            <a:off x="2801750" y="2149126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 flipH="1">
            <a:off x="2801750" y="833064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2685700" y="61825"/>
            <a:ext cx="531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3031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MDCB Direct</a:t>
            </a:r>
            <a:endParaRPr sz="3000">
              <a:solidFill>
                <a:srgbClr val="03031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103000" y="712825"/>
            <a:ext cx="24378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Original approach for handling MDCB analytics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Does not use Pump component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Gateway sends analytics data directly to MDCB, which processes and sends to Analytics Storage (MongoDB)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Simple, but lacks support for range of target data stores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336375" y="6571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336375" y="1499138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438F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1" sz="2000">
              <a:solidFill>
                <a:srgbClr val="8438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336375" y="234142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36375" y="31820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36375" y="402257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66900" y="703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966900" y="1545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Direct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966900" y="2387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Control Plane Pump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966900" y="3229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966900" y="4071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 w/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Hybrid Forward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6"/>
          <p:cNvSpPr/>
          <p:nvPr/>
        </p:nvSpPr>
        <p:spPr>
          <a:xfrm flipH="1">
            <a:off x="2801750" y="3265651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2613" r="4726" t="0"/>
          <a:stretch/>
        </p:blipFill>
        <p:spPr>
          <a:xfrm>
            <a:off x="5612500" y="43350"/>
            <a:ext cx="3533174" cy="50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0" y="0"/>
            <a:ext cx="2552400" cy="5143500"/>
          </a:xfrm>
          <a:prstGeom prst="rect">
            <a:avLst/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 flipH="1">
            <a:off x="336375" y="1449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 flipH="1">
            <a:off x="336375" y="60554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 flipH="1">
            <a:off x="336375" y="2289535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 flipH="1">
            <a:off x="336375" y="313039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 flipH="1">
            <a:off x="336375" y="3971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336375" y="6571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36375" y="1499138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336375" y="234142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438F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1" sz="2000">
              <a:solidFill>
                <a:srgbClr val="8438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36375" y="31820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36375" y="402257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966900" y="703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966900" y="1545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Direct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966900" y="2387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Control Plane Pump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966900" y="3229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966900" y="4071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 w/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Hybrid Forward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17"/>
          <p:cNvSpPr/>
          <p:nvPr/>
        </p:nvSpPr>
        <p:spPr>
          <a:xfrm flipH="1">
            <a:off x="2822950" y="1550076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 flipH="1">
            <a:off x="2822950" y="2192926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 flipH="1">
            <a:off x="2822950" y="907214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2685700" y="61825"/>
            <a:ext cx="531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3031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CP Pump</a:t>
            </a:r>
            <a:endParaRPr sz="3000">
              <a:solidFill>
                <a:srgbClr val="03031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3026800" y="789025"/>
            <a:ext cx="2833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Reinstates the Pump into analytics workflow, improving storage options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MDCB writes data to Redis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Pump processes analytics data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Sends all analytics across internet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Set </a:t>
            </a: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forward_analytics_to_pump</a:t>
            </a: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lang="en-GB" sz="1200">
                <a:solidFill>
                  <a:srgbClr val="03031C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in MDCB configuration file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1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 flipH="1">
            <a:off x="2822950" y="2653751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2176" r="4454" t="0"/>
          <a:stretch/>
        </p:blipFill>
        <p:spPr>
          <a:xfrm>
            <a:off x="5601925" y="43350"/>
            <a:ext cx="3554350" cy="505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3026800" y="789025"/>
            <a:ext cx="28338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Localises analytics processing in Edge data centres: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Avoids transferring data to Control Plane data centre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Reporting not possible from Dashboard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Operates in same way to single 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data centre deployment: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Set analytics_config.type to empty string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0" y="0"/>
            <a:ext cx="2552400" cy="5143500"/>
          </a:xfrm>
          <a:prstGeom prst="rect">
            <a:avLst/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 flipH="1">
            <a:off x="336375" y="1449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 flipH="1">
            <a:off x="336375" y="60554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 flipH="1">
            <a:off x="336375" y="2289535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 flipH="1">
            <a:off x="336375" y="313039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 flipH="1">
            <a:off x="336375" y="3971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336375" y="6571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336375" y="1499138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336375" y="234142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336375" y="31820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438F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1" sz="2000">
              <a:solidFill>
                <a:srgbClr val="8438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36375" y="402257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1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966900" y="703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966900" y="1545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Direct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966900" y="2387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Control Plane Pump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66900" y="3229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966900" y="4071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 w/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Hybrid Forward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18"/>
          <p:cNvSpPr/>
          <p:nvPr/>
        </p:nvSpPr>
        <p:spPr>
          <a:xfrm flipH="1">
            <a:off x="3336775" y="1566551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 flipH="1">
            <a:off x="3336775" y="1991651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 flipH="1">
            <a:off x="2822950" y="907214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2685700" y="61825"/>
            <a:ext cx="531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3031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Edge Pump</a:t>
            </a:r>
            <a:endParaRPr sz="3000">
              <a:solidFill>
                <a:srgbClr val="03031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80" name="Google Shape;180;p18"/>
          <p:cNvSpPr/>
          <p:nvPr/>
        </p:nvSpPr>
        <p:spPr>
          <a:xfrm flipH="1">
            <a:off x="2822950" y="2653751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 flipH="1">
            <a:off x="3336775" y="3325276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2176" r="4033" t="0"/>
          <a:stretch/>
        </p:blipFill>
        <p:spPr>
          <a:xfrm>
            <a:off x="5601925" y="43350"/>
            <a:ext cx="3570251" cy="505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0" y="0"/>
            <a:ext cx="2552400" cy="5143500"/>
          </a:xfrm>
          <a:prstGeom prst="rect">
            <a:avLst/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 flipH="1">
            <a:off x="336375" y="1449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 flipH="1">
            <a:off x="336375" y="60554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 flipH="1">
            <a:off x="336375" y="2289535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 flipH="1">
            <a:off x="336375" y="3130397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 flipH="1">
            <a:off x="336375" y="3971272"/>
            <a:ext cx="595800" cy="595800"/>
          </a:xfrm>
          <a:prstGeom prst="round2Diag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336375" y="6571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336375" y="1499138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336375" y="234142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336375" y="3182000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336375" y="4022575"/>
            <a:ext cx="5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8438FA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2000">
              <a:solidFill>
                <a:srgbClr val="8438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1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966900" y="703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966900" y="1545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MDCB Direct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966900" y="2387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Control Plane Pump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966900" y="3229350"/>
            <a:ext cx="15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966900" y="4071350"/>
            <a:ext cx="15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Edge Pump w/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Hybrid Forward</a:t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3026800" y="1246225"/>
            <a:ext cx="2575200" cy="3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Edge Pump includes config for a hybrid type pump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Hybrid pump can be configured to send only aggregated analytics: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Set meta.aggregated to true in hybrid pump configuration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Allows non-aggregated analytics to be processed locally with aggregate analytics sent to Control Plane for Dashboard reports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3031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19"/>
          <p:cNvSpPr/>
          <p:nvPr/>
        </p:nvSpPr>
        <p:spPr>
          <a:xfrm flipH="1">
            <a:off x="2822950" y="1364414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2685700" y="61825"/>
            <a:ext cx="531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3031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Edge Pump</a:t>
            </a:r>
            <a:endParaRPr sz="3000">
              <a:solidFill>
                <a:srgbClr val="03031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3031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Hybrid Forward</a:t>
            </a:r>
            <a:endParaRPr sz="3000">
              <a:solidFill>
                <a:srgbClr val="03031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08" name="Google Shape;208;p19"/>
          <p:cNvSpPr/>
          <p:nvPr/>
        </p:nvSpPr>
        <p:spPr>
          <a:xfrm flipH="1">
            <a:off x="2822950" y="3568151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 flipH="1">
            <a:off x="2822950" y="2002539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rgbClr val="843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 flipH="1">
            <a:off x="3314350" y="2677539"/>
            <a:ext cx="148500" cy="148500"/>
          </a:xfrm>
          <a:prstGeom prst="round2Diag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3031C"/>
      </a:dk1>
      <a:lt1>
        <a:srgbClr val="FFFFFF"/>
      </a:lt1>
      <a:dk2>
        <a:srgbClr val="8438FA"/>
      </a:dk2>
      <a:lt2>
        <a:srgbClr val="5900CB"/>
      </a:lt2>
      <a:accent1>
        <a:srgbClr val="FFC743"/>
      </a:accent1>
      <a:accent2>
        <a:srgbClr val="FFF500"/>
      </a:accent2>
      <a:accent3>
        <a:srgbClr val="20EDBA"/>
      </a:accent3>
      <a:accent4>
        <a:srgbClr val="00A3A0"/>
      </a:accent4>
      <a:accent5>
        <a:srgbClr val="BB11FF"/>
      </a:accent5>
      <a:accent6>
        <a:srgbClr val="EA26A9"/>
      </a:accent6>
      <a:hlink>
        <a:srgbClr val="E3C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