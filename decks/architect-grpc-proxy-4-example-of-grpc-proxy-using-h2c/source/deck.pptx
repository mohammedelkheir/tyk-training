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Inter Light"/>
      <p:regular r:id="rId10"/>
      <p:bold r:id="rId11"/>
      <p:italic r:id="rId12"/>
      <p:boldItalic r:id="rId13"/>
    </p:embeddedFont>
    <p:embeddedFont>
      <p:font typeface="Inter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2880">
          <p15:clr>
            <a:srgbClr val="747775"/>
          </p15:clr>
        </p15:guide>
        <p15:guide id="2" orient="horz" pos="454">
          <p15:clr>
            <a:srgbClr val="747775"/>
          </p15:clr>
        </p15:guide>
        <p15:guide id="3" pos="454">
          <p15:clr>
            <a:srgbClr val="747775"/>
          </p15:clr>
        </p15:guide>
        <p15:guide id="4" pos="5329">
          <p15:clr>
            <a:srgbClr val="747775"/>
          </p15:clr>
        </p15:guide>
        <p15:guide id="5" orient="horz" pos="2786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/>
        <p:guide pos="454" orient="horz"/>
        <p:guide pos="454"/>
        <p:guide pos="5329"/>
        <p:guide pos="2786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InterLight-bold.fntdata"/><Relationship Id="rId10" Type="http://schemas.openxmlformats.org/officeDocument/2006/relationships/font" Target="fonts/InterLight-regular.fntdata"/><Relationship Id="rId13" Type="http://schemas.openxmlformats.org/officeDocument/2006/relationships/font" Target="fonts/InterLight-boldItalic.fntdata"/><Relationship Id="rId12" Type="http://schemas.openxmlformats.org/officeDocument/2006/relationships/font" Target="fonts/InterLight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-bold.fntdata"/><Relationship Id="rId14" Type="http://schemas.openxmlformats.org/officeDocument/2006/relationships/font" Target="fonts/Inter-regular.fntdata"/><Relationship Id="rId17" Type="http://schemas.openxmlformats.org/officeDocument/2006/relationships/font" Target="fonts/Inter-boldItalic.fntdata"/><Relationship Id="rId16" Type="http://schemas.openxmlformats.org/officeDocument/2006/relationships/font" Target="fonts/Inter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61282fca9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Google Shape;51;g361282fca9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61282fca91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61282fca91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In this example, we’ll walk through how to set up a gRPC proxy using H2C—HTTP/2 without TLS. This is the most straightforward way to test a gRPC setup with Tyk locally or internally. All you need is a basic gRPC server, a tool like grpcurl to simulate requests, and a running Tyk Gateway and Dashboard.</a:t>
            </a:r>
            <a:endParaRPr>
              <a:solidFill>
                <a:schemeClr val="dk1"/>
              </a:solidFill>
            </a:endParaRPr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6162ae714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6162ae714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"Once the server is up, jump into the Tyk Dashboard to define the API. Tyk needs to know this is an h2c-based backend, so the target_url must use the h2c:// scheme. Also, don’t forget to uncheck the 'Strip listen path' setting—this ensures the full method name is passed along correctly."</a:t>
            </a:r>
            <a:endParaRPr>
              <a:solidFill>
                <a:schemeClr val="dk1"/>
              </a:solidFill>
            </a:endParaRPr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6162ae7142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6162ae7142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"Once the setup is done, you can use grpcurl to send a test request through the Tyk Gateway. The -plaintext flag is important—it tells grpcurl not to use TLS, aligning with our h2c setup. If everything’s configured correctly, you'll see a friendly message returned: 'Hello user'."</a:t>
            </a:r>
            <a:endParaRPr>
              <a:solidFill>
                <a:schemeClr val="dk1"/>
              </a:solidFill>
            </a:endParaRPr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0" y="922550"/>
            <a:ext cx="8520600" cy="16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53155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E9BA"/>
              </a:buClr>
              <a:buSzPts val="2000"/>
              <a:buNone/>
              <a:defRPr sz="2000">
                <a:solidFill>
                  <a:srgbClr val="21E9BA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2" name="Google Shape;22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9" name="Google Shape;29;p7"/>
          <p:cNvSpPr txBox="1"/>
          <p:nvPr>
            <p:ph idx="1" type="body"/>
          </p:nvPr>
        </p:nvSpPr>
        <p:spPr>
          <a:xfrm>
            <a:off x="311700" y="1389600"/>
            <a:ext cx="50364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7" name="Google Shape;37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E9BA"/>
              </a:buClr>
              <a:buSzPts val="1600"/>
              <a:buNone/>
              <a:defRPr sz="1600">
                <a:solidFill>
                  <a:srgbClr val="21E9BA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8" name="Google Shape;38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800"/>
              <a:buChar char="●"/>
              <a:defRPr>
                <a:solidFill>
                  <a:srgbClr val="8438FA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○"/>
              <a:defRPr>
                <a:solidFill>
                  <a:srgbClr val="8438FA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■"/>
              <a:defRPr>
                <a:solidFill>
                  <a:srgbClr val="8438FA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●"/>
              <a:defRPr>
                <a:solidFill>
                  <a:srgbClr val="8438FA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○"/>
              <a:defRPr>
                <a:solidFill>
                  <a:srgbClr val="8438FA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■"/>
              <a:defRPr>
                <a:solidFill>
                  <a:srgbClr val="8438FA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●"/>
              <a:defRPr>
                <a:solidFill>
                  <a:srgbClr val="8438FA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○"/>
              <a:defRPr>
                <a:solidFill>
                  <a:srgbClr val="8438FA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■"/>
              <a:defRPr>
                <a:solidFill>
                  <a:srgbClr val="8438FA"/>
                </a:solidFill>
              </a:defRPr>
            </a:lvl9pPr>
          </a:lstStyle>
          <a:p/>
        </p:txBody>
      </p:sp>
      <p:sp>
        <p:nvSpPr>
          <p:cNvPr id="39" name="Google Shape;39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5" name="Google Shape;45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6" name="Google Shape;46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8438FA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○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■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●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○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■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●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○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■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hyperlink" Target="https://github.com/grpc/grpc-go/tree/master/examples/helloworld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8438FA"/>
            </a:gs>
            <a:gs pos="35000">
              <a:srgbClr val="8438FA"/>
            </a:gs>
            <a:gs pos="100000">
              <a:srgbClr val="BB11FF"/>
            </a:gs>
          </a:gsLst>
          <a:lin ang="2700006" scaled="0"/>
        </a:gra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3"/>
          <p:cNvSpPr txBox="1"/>
          <p:nvPr/>
        </p:nvSpPr>
        <p:spPr>
          <a:xfrm>
            <a:off x="1415550" y="1909950"/>
            <a:ext cx="6312900" cy="13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7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Example of gRPC proxy using H2C</a:t>
            </a:r>
            <a:endParaRPr b="1" sz="37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" name="Google Shape;54;p13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/>
        </p:nvSpPr>
        <p:spPr>
          <a:xfrm>
            <a:off x="415200" y="925600"/>
            <a:ext cx="7738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" name="Google Shape;61;p14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2" name="Google Shape;6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720000" y="233275"/>
            <a:ext cx="78588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3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gRPC Proxy Example Using H2C</a:t>
            </a:r>
            <a:endParaRPr b="1" sz="3300">
              <a:solidFill>
                <a:srgbClr val="5900C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863625" y="1125700"/>
            <a:ext cx="7738200" cy="42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Use case: Local setup for development or internal testing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Tools required: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gRPC Server (e.g., </a:t>
            </a:r>
            <a:r>
              <a:rPr lang="en-GB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/>
              </a:rPr>
              <a:t>HelloWorld example from GitHub</a:t>
            </a: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gRPC Client (e.g., grpcurl)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Tyk Gateway &amp; Dashboard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gRPC client → Tyk Gateway → gRPC server (H2C connection)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/>
          <p:nvPr/>
        </p:nvSpPr>
        <p:spPr>
          <a:xfrm>
            <a:off x="415200" y="925600"/>
            <a:ext cx="7738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0" name="Google Shape;70;p15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1" name="Google Shape;7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5"/>
          <p:cNvSpPr txBox="1"/>
          <p:nvPr/>
        </p:nvSpPr>
        <p:spPr>
          <a:xfrm>
            <a:off x="720000" y="233275"/>
            <a:ext cx="78588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3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Tyk gRPC H2C Proxy Setup Steps</a:t>
            </a:r>
            <a:endParaRPr b="1" sz="3300">
              <a:solidFill>
                <a:srgbClr val="5900C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863625" y="1125700"/>
            <a:ext cx="7738200" cy="42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Start your HellowWorld gRPC server (e.g., at </a:t>
            </a:r>
            <a:r>
              <a:rPr lang="en-GB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localhost:50051</a:t>
            </a: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In Tyk Dashboard, create a new API: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AutoNum type="alphaLcPeriod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Set Protocol to </a:t>
            </a:r>
            <a:r>
              <a:rPr lang="en-GB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HTTP</a:t>
            </a:r>
            <a:endParaRPr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AutoNum type="alphaLcPeriod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Uncheck Strip listen path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AutoNum type="alphaLcPeriod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Set Listen Path to </a:t>
            </a:r>
            <a:r>
              <a:rPr lang="en-GB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/helloworld.Greeter</a:t>
            </a:r>
            <a:endParaRPr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AutoNum type="alphaLcPeriod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Set Target URL to </a:t>
            </a:r>
            <a:r>
              <a:rPr lang="en-GB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h2c://localhost:50051</a:t>
            </a:r>
            <a:endParaRPr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Save and wait for the Gateway to reload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Note: </a:t>
            </a:r>
            <a:r>
              <a:rPr lang="en-GB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h2c://</a:t>
            </a: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prefix is key for enabling non-TLS HTTP/2 routing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/>
          <p:nvPr/>
        </p:nvSpPr>
        <p:spPr>
          <a:xfrm>
            <a:off x="415200" y="925600"/>
            <a:ext cx="7738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9" name="Google Shape;79;p16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80" name="Google Shape;8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6"/>
          <p:cNvSpPr txBox="1"/>
          <p:nvPr/>
        </p:nvSpPr>
        <p:spPr>
          <a:xfrm>
            <a:off x="720000" y="233275"/>
            <a:ext cx="78588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3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Testing the Proxy</a:t>
            </a:r>
            <a:endParaRPr b="1" sz="3300">
              <a:solidFill>
                <a:srgbClr val="5900C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863625" y="1125700"/>
            <a:ext cx="7738200" cy="42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Command Example: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grpcurl -plaintext \</a:t>
            </a:r>
            <a:endParaRPr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-proto helloworld.proto \</a:t>
            </a:r>
            <a:endParaRPr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-d '{"name": "user"}' \</a:t>
            </a:r>
            <a:endParaRPr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tyk-gateway:8080 \</a:t>
            </a:r>
            <a:endParaRPr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helloworld.Greeter/SayHello</a:t>
            </a:r>
            <a:endParaRPr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Expected Response: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{"message": "Hello user"}</a:t>
            </a:r>
            <a:endParaRPr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yk main slide deck">
  <a:themeElements>
    <a:clrScheme name="Simple Light">
      <a:dk1>
        <a:srgbClr val="03031C"/>
      </a:dk1>
      <a:lt1>
        <a:srgbClr val="FFFFFF"/>
      </a:lt1>
      <a:dk2>
        <a:srgbClr val="8438FA"/>
      </a:dk2>
      <a:lt2>
        <a:srgbClr val="5900CB"/>
      </a:lt2>
      <a:accent1>
        <a:srgbClr val="FFC743"/>
      </a:accent1>
      <a:accent2>
        <a:srgbClr val="FFF500"/>
      </a:accent2>
      <a:accent3>
        <a:srgbClr val="20EDBA"/>
      </a:accent3>
      <a:accent4>
        <a:srgbClr val="00A3A0"/>
      </a:accent4>
      <a:accent5>
        <a:srgbClr val="BB11FF"/>
      </a:accent5>
      <a:accent6>
        <a:srgbClr val="EA26A9"/>
      </a:accent6>
      <a:hlink>
        <a:srgbClr val="E3CE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