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Lst>
  <p:sldSz cy="5143500" cx="9144000"/>
  <p:notesSz cx="6858000" cy="9144000"/>
  <p:embeddedFontLst>
    <p:embeddedFont>
      <p:font typeface="Inter Light"/>
      <p:regular r:id="rId11"/>
      <p:bold r:id="rId12"/>
      <p:italic r:id="rId13"/>
      <p:boldItalic r:id="rId14"/>
    </p:embeddedFont>
    <p:embeddedFont>
      <p:font typeface="Roboto"/>
      <p:regular r:id="rId15"/>
      <p:bold r:id="rId16"/>
      <p:italic r:id="rId17"/>
      <p:boldItalic r:id="rId18"/>
    </p:embeddedFont>
    <p:embeddedFont>
      <p:font typeface="Inter"/>
      <p:regular r:id="rId19"/>
      <p:bold r:id="rId20"/>
      <p:italic r:id="rId21"/>
      <p:boldItalic r:id="rId22"/>
    </p:embeddedFont>
    <p:embeddedFont>
      <p:font typeface="Open Sans SemiBold"/>
      <p:regular r:id="rId23"/>
      <p:bold r:id="rId24"/>
      <p:italic r:id="rId25"/>
      <p:boldItalic r:id="rId26"/>
    </p:embeddedFont>
    <p:embeddedFont>
      <p:font typeface="Helvetica Neue"/>
      <p:regular r:id="rId27"/>
      <p:bold r:id="rId28"/>
      <p:italic r:id="rId29"/>
      <p:boldItalic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22" Type="http://schemas.openxmlformats.org/officeDocument/2006/relationships/font" Target="fonts/Inter-boldItalic.fntdata"/><Relationship Id="rId21" Type="http://schemas.openxmlformats.org/officeDocument/2006/relationships/font" Target="fonts/Inter-italic.fntdata"/><Relationship Id="rId24" Type="http://schemas.openxmlformats.org/officeDocument/2006/relationships/font" Target="fonts/OpenSansSemiBold-bold.fntdata"/><Relationship Id="rId23" Type="http://schemas.openxmlformats.org/officeDocument/2006/relationships/font" Target="fonts/OpenSans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penSansSemiBold-boldItalic.fntdata"/><Relationship Id="rId25" Type="http://schemas.openxmlformats.org/officeDocument/2006/relationships/font" Target="fonts/OpenSansSemiBold-italic.fntdata"/><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elveticaNeue-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regular.fntdata"/><Relationship Id="rId30" Type="http://schemas.openxmlformats.org/officeDocument/2006/relationships/font" Target="fonts/HelveticaNeue-boldItalic.fntdata"/><Relationship Id="rId11" Type="http://schemas.openxmlformats.org/officeDocument/2006/relationships/font" Target="fonts/InterLight-regular.fntdata"/><Relationship Id="rId33" Type="http://schemas.openxmlformats.org/officeDocument/2006/relationships/font" Target="fonts/OpenSans-italic.fntdata"/><Relationship Id="rId10" Type="http://schemas.openxmlformats.org/officeDocument/2006/relationships/slide" Target="slides/slide4.xml"/><Relationship Id="rId32" Type="http://schemas.openxmlformats.org/officeDocument/2006/relationships/font" Target="fonts/OpenSans-bold.fntdata"/><Relationship Id="rId13" Type="http://schemas.openxmlformats.org/officeDocument/2006/relationships/font" Target="fonts/InterLight-italic.fntdata"/><Relationship Id="rId12" Type="http://schemas.openxmlformats.org/officeDocument/2006/relationships/font" Target="fonts/InterLight-bold.fntdata"/><Relationship Id="rId34" Type="http://schemas.openxmlformats.org/officeDocument/2006/relationships/font" Target="fonts/OpenSans-boldItalic.fntdata"/><Relationship Id="rId15" Type="http://schemas.openxmlformats.org/officeDocument/2006/relationships/font" Target="fonts/Roboto-regular.fntdata"/><Relationship Id="rId14" Type="http://schemas.openxmlformats.org/officeDocument/2006/relationships/font" Target="fonts/InterLight-boldItalic.fntdata"/><Relationship Id="rId17" Type="http://schemas.openxmlformats.org/officeDocument/2006/relationships/font" Target="fonts/Roboto-italic.fntdata"/><Relationship Id="rId16" Type="http://schemas.openxmlformats.org/officeDocument/2006/relationships/font" Target="fonts/Roboto-bold.fntdata"/><Relationship Id="rId19" Type="http://schemas.openxmlformats.org/officeDocument/2006/relationships/font" Target="fonts/Inter-regular.fntdata"/><Relationship Id="rId18"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1dcdfd4c9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1dcdfd4c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1dcdfd4c9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1dcdfd4c9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7999"/>
              </a:lnSpc>
              <a:spcBef>
                <a:spcPts val="0"/>
              </a:spcBef>
              <a:spcAft>
                <a:spcPts val="0"/>
              </a:spcAft>
              <a:buClr>
                <a:schemeClr val="dk1"/>
              </a:buClr>
              <a:buSzPts val="1400"/>
              <a:buFont typeface="Arial"/>
              <a:buNone/>
            </a:pPr>
            <a:r>
              <a:rPr lang="en-GB" sz="1700">
                <a:solidFill>
                  <a:schemeClr val="dk1"/>
                </a:solidFill>
                <a:latin typeface="Helvetica Neue"/>
                <a:ea typeface="Helvetica Neue"/>
                <a:cs typeface="Helvetica Neue"/>
                <a:sym typeface="Helvetica Neue"/>
              </a:rPr>
              <a:t>Tyk Dashboard requires a database to store and manage various types of data that are essential for its operation and the enhanced features it provides</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1700">
                <a:solidFill>
                  <a:schemeClr val="dk1"/>
                </a:solidFill>
                <a:latin typeface="Helvetica Neue"/>
                <a:ea typeface="Helvetica Neue"/>
                <a:cs typeface="Helvetica Neue"/>
                <a:sym typeface="Helvetica Neue"/>
              </a:rPr>
              <a:t>The database stores API configurations, policies, and user settings. This allows the Dashboard to persistently manage and apply configurations across restarts and updates.</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1700">
                <a:solidFill>
                  <a:schemeClr val="dk1"/>
                </a:solidFill>
                <a:latin typeface="Helvetica Neue"/>
                <a:ea typeface="Helvetica Neue"/>
                <a:cs typeface="Helvetica Neue"/>
                <a:sym typeface="Helvetica Neue"/>
              </a:rPr>
              <a:t>The database is used to store detailed analytics data collected from the Gateway. This data includes API usage statistics, performance metrics, and traffic logs, which the Dashboard processes to generate reports and insights.</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1700">
                <a:solidFill>
                  <a:schemeClr val="dk1"/>
                </a:solidFill>
                <a:latin typeface="Helvetica Neue"/>
                <a:ea typeface="Helvetica Neue"/>
                <a:cs typeface="Helvetica Neue"/>
                <a:sym typeface="Helvetica Neue"/>
              </a:rPr>
              <a:t>Information about users, roles, and permissions is stored in the database. This supports the Dashboard's role-based access control and team collaboration features.</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1700">
                <a:solidFill>
                  <a:schemeClr val="dk1"/>
                </a:solidFill>
                <a:latin typeface="Helvetica Neue"/>
                <a:ea typeface="Helvetica Neue"/>
                <a:cs typeface="Helvetica Neue"/>
                <a:sym typeface="Helvetica Neue"/>
              </a:rPr>
              <a:t>The database maintains audit logs of changes made through the Dashboard, providing a history of configuration changes and user actions for compliance and troubleshooting purposes.</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17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b="1"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b="1"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b="1"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b="1"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b="1"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b="1" lang="en-GB" sz="2200">
                <a:solidFill>
                  <a:schemeClr val="dk1"/>
                </a:solidFill>
                <a:latin typeface="Helvetica Neue"/>
                <a:ea typeface="Helvetica Neue"/>
                <a:cs typeface="Helvetica Neue"/>
                <a:sym typeface="Helvetica Neue"/>
              </a:rPr>
              <a:t>Dashboard data store</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2200">
                <a:solidFill>
                  <a:schemeClr val="dk1"/>
                </a:solidFill>
                <a:latin typeface="Helvetica Neue"/>
                <a:ea typeface="Helvetica Neue"/>
                <a:cs typeface="Helvetica Neue"/>
                <a:sym typeface="Helvetica Neue"/>
              </a:rPr>
              <a:t>Used by the Dashboard for data storage.</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2200"/>
              <a:buFont typeface="Helvetica Neue"/>
              <a:buNone/>
            </a:pPr>
            <a:r>
              <a:rPr lang="en-GB" sz="2200">
                <a:solidFill>
                  <a:schemeClr val="dk1"/>
                </a:solidFill>
                <a:latin typeface="Helvetica Neue"/>
                <a:ea typeface="Helvetica Neue"/>
                <a:cs typeface="Helvetica Neue"/>
                <a:sym typeface="Helvetica Neue"/>
              </a:rPr>
              <a:t>For production environments it is recommended to run MongoDB in a highly available manner e.g. MongoDB replica sets.</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b="1" lang="en-GB" sz="2200">
                <a:solidFill>
                  <a:schemeClr val="dk1"/>
                </a:solidFill>
                <a:latin typeface="Helvetica Neue"/>
                <a:ea typeface="Helvetica Neue"/>
                <a:cs typeface="Helvetica Neue"/>
                <a:sym typeface="Helvetica Neue"/>
              </a:rPr>
              <a:t>API configurations</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2200">
                <a:solidFill>
                  <a:schemeClr val="dk1"/>
                </a:solidFill>
                <a:latin typeface="Helvetica Neue"/>
                <a:ea typeface="Helvetica Neue"/>
                <a:cs typeface="Helvetica Neue"/>
                <a:sym typeface="Helvetica Neue"/>
              </a:rPr>
              <a:t>Stores API configurations, analytics, Dashboard configurations, dashboard users, portal developers, portal configuration, policies, organisations.</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b="1" lang="en-GB" sz="2200">
                <a:solidFill>
                  <a:schemeClr val="dk1"/>
                </a:solidFill>
                <a:latin typeface="Helvetica Neue"/>
                <a:ea typeface="Helvetica Neue"/>
                <a:cs typeface="Helvetica Neue"/>
                <a:sym typeface="Helvetica Neue"/>
              </a:rPr>
              <a:t>Large size</a:t>
            </a:r>
            <a:endParaRPr sz="2200">
              <a:solidFill>
                <a:schemeClr val="dk1"/>
              </a:solidFill>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400"/>
              <a:buFont typeface="Arial"/>
              <a:buNone/>
            </a:pPr>
            <a:r>
              <a:rPr lang="en-GB" sz="2200">
                <a:solidFill>
                  <a:schemeClr val="dk1"/>
                </a:solidFill>
                <a:latin typeface="Helvetica Neue"/>
                <a:ea typeface="Helvetica Neue"/>
                <a:cs typeface="Helvetica Neue"/>
                <a:sym typeface="Helvetica Neue"/>
              </a:rPr>
              <a:t>Collections can grow large due to the amount of data collected.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1dcdfd4c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1dcdfd4c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ensure high availability in a PostgreSQL setup, we can use a combination of </a:t>
            </a:r>
            <a:r>
              <a:rPr b="1" lang="en-GB">
                <a:solidFill>
                  <a:schemeClr val="dk1"/>
                </a:solidFill>
              </a:rPr>
              <a:t>streaming replication</a:t>
            </a:r>
            <a:r>
              <a:rPr lang="en-GB">
                <a:solidFill>
                  <a:schemeClr val="dk1"/>
                </a:solidFill>
              </a:rPr>
              <a:t>, </a:t>
            </a:r>
            <a:r>
              <a:rPr b="1" lang="en-GB">
                <a:solidFill>
                  <a:schemeClr val="dk1"/>
                </a:solidFill>
              </a:rPr>
              <a:t>Patroni</a:t>
            </a:r>
            <a:r>
              <a:rPr lang="en-GB">
                <a:solidFill>
                  <a:schemeClr val="dk1"/>
                </a:solidFill>
              </a:rPr>
              <a:t>, </a:t>
            </a:r>
            <a:r>
              <a:rPr b="1" lang="en-GB">
                <a:solidFill>
                  <a:schemeClr val="dk1"/>
                </a:solidFill>
              </a:rPr>
              <a:t>Etcd</a:t>
            </a:r>
            <a:r>
              <a:rPr lang="en-GB">
                <a:solidFill>
                  <a:schemeClr val="dk1"/>
                </a:solidFill>
              </a:rPr>
              <a:t>, and </a:t>
            </a:r>
            <a:r>
              <a:rPr b="1" lang="en-GB">
                <a:solidFill>
                  <a:schemeClr val="dk1"/>
                </a:solidFill>
              </a:rPr>
              <a:t>HAProxy</a:t>
            </a:r>
            <a:r>
              <a:rPr lang="en-GB">
                <a:solidFill>
                  <a:schemeClr val="dk1"/>
                </a:solidFill>
              </a:rPr>
              <a:t>. Note that you may have a different way of achieving this and this is solely for informational purposes.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Let's start with </a:t>
            </a:r>
            <a:r>
              <a:rPr b="1" lang="en-GB">
                <a:solidFill>
                  <a:schemeClr val="dk1"/>
                </a:solidFill>
              </a:rPr>
              <a:t>streaming replication</a:t>
            </a:r>
            <a:r>
              <a:rPr lang="en-GB">
                <a:solidFill>
                  <a:schemeClr val="dk1"/>
                </a:solidFill>
              </a:rPr>
              <a:t>. This enables </a:t>
            </a:r>
            <a:r>
              <a:rPr b="1" lang="en-GB">
                <a:solidFill>
                  <a:schemeClr val="dk1"/>
                </a:solidFill>
              </a:rPr>
              <a:t>continuous synchronization</a:t>
            </a:r>
            <a:r>
              <a:rPr lang="en-GB">
                <a:solidFill>
                  <a:schemeClr val="dk1"/>
                </a:solidFill>
              </a:rPr>
              <a:t> between the primary and standby PostgreSQL nodes by streaming the </a:t>
            </a:r>
            <a:r>
              <a:rPr b="1" lang="en-GB">
                <a:solidFill>
                  <a:schemeClr val="dk1"/>
                </a:solidFill>
              </a:rPr>
              <a:t>write-ahead logs</a:t>
            </a:r>
            <a:r>
              <a:rPr lang="en-GB">
                <a:solidFill>
                  <a:schemeClr val="dk1"/>
                </a:solidFill>
              </a:rPr>
              <a:t>, or WALs. It ensures that standby nodes are nearly up to date with the primary at all times.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Sitting on top of this is </a:t>
            </a:r>
            <a:r>
              <a:rPr b="1" lang="en-GB">
                <a:solidFill>
                  <a:schemeClr val="dk1"/>
                </a:solidFill>
              </a:rPr>
              <a:t>Patroni</a:t>
            </a:r>
            <a:r>
              <a:rPr lang="en-GB">
                <a:solidFill>
                  <a:schemeClr val="dk1"/>
                </a:solidFill>
              </a:rPr>
              <a:t>, which is responsible for </a:t>
            </a:r>
            <a:r>
              <a:rPr b="1" lang="en-GB">
                <a:solidFill>
                  <a:schemeClr val="dk1"/>
                </a:solidFill>
              </a:rPr>
              <a:t>managing the PostgreSQL cluster</a:t>
            </a:r>
            <a:r>
              <a:rPr lang="en-GB">
                <a:solidFill>
                  <a:schemeClr val="dk1"/>
                </a:solidFill>
              </a:rPr>
              <a:t>, handling </a:t>
            </a:r>
            <a:r>
              <a:rPr b="1" lang="en-GB">
                <a:solidFill>
                  <a:schemeClr val="dk1"/>
                </a:solidFill>
              </a:rPr>
              <a:t>failovers</a:t>
            </a:r>
            <a:r>
              <a:rPr lang="en-GB">
                <a:solidFill>
                  <a:schemeClr val="dk1"/>
                </a:solidFill>
              </a:rPr>
              <a:t>, and </a:t>
            </a:r>
            <a:r>
              <a:rPr b="1" lang="en-GB">
                <a:solidFill>
                  <a:schemeClr val="dk1"/>
                </a:solidFill>
              </a:rPr>
              <a:t>monitoring the health</a:t>
            </a:r>
            <a:r>
              <a:rPr lang="en-GB">
                <a:solidFill>
                  <a:schemeClr val="dk1"/>
                </a:solidFill>
              </a:rPr>
              <a:t> and connectivity of both primary and standby nodes.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the event of an issue with the primary node, Patroni </a:t>
            </a:r>
            <a:r>
              <a:rPr b="1" lang="en-GB">
                <a:solidFill>
                  <a:schemeClr val="dk1"/>
                </a:solidFill>
              </a:rPr>
              <a:t>orchestrates a seamless promotion</a:t>
            </a:r>
            <a:r>
              <a:rPr lang="en-GB">
                <a:solidFill>
                  <a:schemeClr val="dk1"/>
                </a:solidFill>
              </a:rPr>
              <a:t> of a standby node, minimizing downtime.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Etcd</a:t>
            </a:r>
            <a:r>
              <a:rPr lang="en-GB">
                <a:solidFill>
                  <a:schemeClr val="dk1"/>
                </a:solidFill>
              </a:rPr>
              <a:t> supports this setup by acting as a </a:t>
            </a:r>
            <a:r>
              <a:rPr b="1" lang="en-GB">
                <a:solidFill>
                  <a:schemeClr val="dk1"/>
                </a:solidFill>
              </a:rPr>
              <a:t>distributed key-value store</a:t>
            </a:r>
            <a:r>
              <a:rPr lang="en-GB">
                <a:solidFill>
                  <a:schemeClr val="dk1"/>
                </a:solidFill>
              </a:rPr>
              <a:t>. It maintains the cluster state and helps coordinate decisions between nodes, ensuring there's no split-brain scenario during failover.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HAProxy</a:t>
            </a:r>
            <a:r>
              <a:rPr lang="en-GB">
                <a:solidFill>
                  <a:schemeClr val="dk1"/>
                </a:solidFill>
              </a:rPr>
              <a:t> plays the role of a </a:t>
            </a:r>
            <a:r>
              <a:rPr b="1" lang="en-GB">
                <a:solidFill>
                  <a:schemeClr val="dk1"/>
                </a:solidFill>
              </a:rPr>
              <a:t>load balancer</a:t>
            </a:r>
            <a:r>
              <a:rPr lang="en-GB">
                <a:solidFill>
                  <a:schemeClr val="dk1"/>
                </a:solidFill>
              </a:rPr>
              <a:t>. It constantly </a:t>
            </a:r>
            <a:r>
              <a:rPr b="1" lang="en-GB">
                <a:solidFill>
                  <a:schemeClr val="dk1"/>
                </a:solidFill>
              </a:rPr>
              <a:t>monitors server health</a:t>
            </a:r>
            <a:r>
              <a:rPr lang="en-GB">
                <a:solidFill>
                  <a:schemeClr val="dk1"/>
                </a:solidFill>
              </a:rPr>
              <a:t> via Patroni and </a:t>
            </a:r>
            <a:r>
              <a:rPr b="1" lang="en-GB">
                <a:solidFill>
                  <a:schemeClr val="dk1"/>
                </a:solidFill>
              </a:rPr>
              <a:t>distributes incoming database connections</a:t>
            </a:r>
            <a:r>
              <a:rPr lang="en-GB">
                <a:solidFill>
                  <a:schemeClr val="dk1"/>
                </a:solidFill>
              </a:rPr>
              <a:t> accordingly—directing reads and writes to the correct node depending on the cluster's current state.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Together, this setup provides a resilient, self-healing, and highly available PostgreSQL deployment designed to keep your database services running—even when things go wrong.</a:t>
            </a:r>
            <a:endParaRPr>
              <a:solidFill>
                <a:schemeClr val="dk1"/>
              </a:solidFill>
            </a:endParaRPr>
          </a:p>
          <a:p>
            <a:pPr indent="0" lvl="0" marL="0" rtl="0" algn="l">
              <a:lnSpc>
                <a:spcPct val="117999"/>
              </a:lnSpc>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1dcdfd4c9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51dcdfd4c9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7999"/>
              </a:lnSpc>
              <a:spcBef>
                <a:spcPts val="0"/>
              </a:spcBef>
              <a:spcAft>
                <a:spcPts val="0"/>
              </a:spcAft>
              <a:buClr>
                <a:schemeClr val="dk1"/>
              </a:buClr>
              <a:buSzPts val="1100"/>
              <a:buFont typeface="Arial"/>
              <a:buNone/>
            </a:pPr>
            <a:r>
              <a:rPr lang="en-GB" sz="1500">
                <a:solidFill>
                  <a:schemeClr val="dk1"/>
                </a:solidFill>
                <a:latin typeface="Helvetica Neue"/>
                <a:ea typeface="Helvetica Neue"/>
                <a:cs typeface="Helvetica Neue"/>
                <a:sym typeface="Helvetica Neue"/>
              </a:rPr>
              <a:t>MongoDB uses what it calls Replica Sets to enable high availability deployments:</a:t>
            </a:r>
            <a:endParaRPr sz="1500">
              <a:solidFill>
                <a:schemeClr val="dk1"/>
              </a:solidFill>
              <a:latin typeface="Helvetica Neue"/>
              <a:ea typeface="Helvetica Neue"/>
              <a:cs typeface="Helvetica Neue"/>
              <a:sym typeface="Helvetica Neue"/>
            </a:endParaRPr>
          </a:p>
          <a:p>
            <a:pPr indent="-273050" lvl="0" marL="457200" rtl="0" algn="l">
              <a:lnSpc>
                <a:spcPct val="117999"/>
              </a:lnSpc>
              <a:spcBef>
                <a:spcPts val="0"/>
              </a:spcBef>
              <a:spcAft>
                <a:spcPts val="0"/>
              </a:spcAft>
              <a:buClr>
                <a:schemeClr val="dk1"/>
              </a:buClr>
              <a:buSzPts val="700"/>
              <a:buChar char="-"/>
            </a:pPr>
            <a:r>
              <a:rPr lang="en-GB" sz="1500">
                <a:solidFill>
                  <a:schemeClr val="dk1"/>
                </a:solidFill>
                <a:latin typeface="Helvetica Neue"/>
                <a:ea typeface="Helvetica Neue"/>
                <a:cs typeface="Helvetica Neue"/>
                <a:sym typeface="Helvetica Neue"/>
              </a:rPr>
              <a:t>These deployments must consist of at least three hosts in order to be highly available. A three member replica set has a fault tolerance of 1 member, whereas a five member replica set has a fault tolerance of 2 members. </a:t>
            </a:r>
            <a:endParaRPr sz="1500">
              <a:solidFill>
                <a:schemeClr val="dk1"/>
              </a:solidFill>
              <a:latin typeface="Helvetica Neue"/>
              <a:ea typeface="Helvetica Neue"/>
              <a:cs typeface="Helvetica Neue"/>
              <a:sym typeface="Helvetica Neue"/>
            </a:endParaRPr>
          </a:p>
          <a:p>
            <a:pPr indent="-273050" lvl="0" marL="457200" rtl="0" algn="l">
              <a:lnSpc>
                <a:spcPct val="117999"/>
              </a:lnSpc>
              <a:spcBef>
                <a:spcPts val="0"/>
              </a:spcBef>
              <a:spcAft>
                <a:spcPts val="0"/>
              </a:spcAft>
              <a:buClr>
                <a:schemeClr val="dk1"/>
              </a:buClr>
              <a:buSzPts val="700"/>
              <a:buChar char="-"/>
            </a:pPr>
            <a:r>
              <a:rPr lang="en-GB" sz="1500">
                <a:solidFill>
                  <a:schemeClr val="dk1"/>
                </a:solidFill>
                <a:latin typeface="Helvetica Neue"/>
                <a:ea typeface="Helvetica Neue"/>
                <a:cs typeface="Helvetica Neue"/>
                <a:sym typeface="Helvetica Neue"/>
              </a:rPr>
              <a:t>All members of the Replica Set must be able to communicate with each other. The purpose of this is to maintain a heartbeat between members, which provides a means of detecting when a member becomes inaccessible.</a:t>
            </a:r>
            <a:endParaRPr sz="1500">
              <a:solidFill>
                <a:schemeClr val="dk1"/>
              </a:solidFill>
              <a:latin typeface="Helvetica Neue"/>
              <a:ea typeface="Helvetica Neue"/>
              <a:cs typeface="Helvetica Neue"/>
              <a:sym typeface="Helvetica Neue"/>
            </a:endParaRPr>
          </a:p>
          <a:p>
            <a:pPr indent="-273050" lvl="0" marL="457200" rtl="0" algn="l">
              <a:lnSpc>
                <a:spcPct val="117999"/>
              </a:lnSpc>
              <a:spcBef>
                <a:spcPts val="0"/>
              </a:spcBef>
              <a:spcAft>
                <a:spcPts val="0"/>
              </a:spcAft>
              <a:buClr>
                <a:schemeClr val="dk1"/>
              </a:buClr>
              <a:buSzPts val="700"/>
              <a:buChar char="-"/>
            </a:pPr>
            <a:r>
              <a:rPr lang="en-GB" sz="1500">
                <a:solidFill>
                  <a:schemeClr val="dk1"/>
                </a:solidFill>
                <a:latin typeface="Helvetica Neue"/>
                <a:ea typeface="Helvetica Neue"/>
                <a:cs typeface="Helvetica Neue"/>
                <a:sym typeface="Helvetica Neue"/>
              </a:rPr>
              <a:t>If the Primary member becomes inaccessible, then a new primary is elected from the remaining members.</a:t>
            </a:r>
            <a:endParaRPr sz="1500">
              <a:solidFill>
                <a:schemeClr val="dk1"/>
              </a:solidFill>
              <a:latin typeface="Helvetica Neue"/>
              <a:ea typeface="Helvetica Neue"/>
              <a:cs typeface="Helvetica Neue"/>
              <a:sym typeface="Helvetica Neue"/>
            </a:endParaRPr>
          </a:p>
          <a:p>
            <a:pPr indent="-273050" lvl="0" marL="457200" rtl="0" algn="l">
              <a:lnSpc>
                <a:spcPct val="117999"/>
              </a:lnSpc>
              <a:spcBef>
                <a:spcPts val="0"/>
              </a:spcBef>
              <a:spcAft>
                <a:spcPts val="0"/>
              </a:spcAft>
              <a:buClr>
                <a:schemeClr val="dk1"/>
              </a:buClr>
              <a:buSzPts val="700"/>
              <a:buChar char="-"/>
            </a:pPr>
            <a:r>
              <a:rPr lang="en-GB" sz="1500">
                <a:solidFill>
                  <a:schemeClr val="dk1"/>
                </a:solidFill>
                <a:latin typeface="Helvetica Neue"/>
                <a:ea typeface="Helvetica Neue"/>
                <a:cs typeface="Helvetica Neue"/>
                <a:sym typeface="Helvetica Neue"/>
              </a:rPr>
              <a:t>Members can be given a priority, to determine which member is elected the new Primary. This might be useful to keep the Primary in a particular data centre, or on a high performance host.</a:t>
            </a:r>
            <a:endParaRPr sz="1500">
              <a:solidFill>
                <a:schemeClr val="dk1"/>
              </a:solidFill>
              <a:latin typeface="Helvetica Neue"/>
              <a:ea typeface="Helvetica Neue"/>
              <a:cs typeface="Helvetica Neue"/>
              <a:sym typeface="Helvetica Neue"/>
            </a:endParaRPr>
          </a:p>
          <a:p>
            <a:pPr indent="-273050" lvl="0" marL="457200" rtl="0" algn="l">
              <a:lnSpc>
                <a:spcPct val="117999"/>
              </a:lnSpc>
              <a:spcBef>
                <a:spcPts val="0"/>
              </a:spcBef>
              <a:spcAft>
                <a:spcPts val="0"/>
              </a:spcAft>
              <a:buClr>
                <a:schemeClr val="dk1"/>
              </a:buClr>
              <a:buSzPts val="700"/>
              <a:buChar char="-"/>
            </a:pPr>
            <a:r>
              <a:rPr lang="en-GB" sz="1500">
                <a:solidFill>
                  <a:schemeClr val="dk1"/>
                </a:solidFill>
                <a:latin typeface="Helvetica Neue"/>
                <a:ea typeface="Helvetica Neue"/>
                <a:cs typeface="Helvetica Neue"/>
                <a:sym typeface="Helvetica Neue"/>
              </a:rPr>
              <a:t>In order to hold an election, a majority of members are required. This means that in the event of a network partition, the members on the minority side will not hold an election, and if the primary is within the minority group it will automatically step down as primary and become a secondary. This also means that replica sets must consist of an odd number of members, so that in the event of network partitions there will be majority and minority groups.</a:t>
            </a:r>
            <a:endParaRPr b="1" sz="1500">
              <a:solidFill>
                <a:schemeClr val="dk1"/>
              </a:solidFill>
              <a:latin typeface="Helvetica Neue"/>
              <a:ea typeface="Helvetica Neue"/>
              <a:cs typeface="Helvetica Neue"/>
              <a:sym typeface="Helvetica Neue"/>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4" name="Shape 64"/>
        <p:cNvGrpSpPr/>
        <p:nvPr/>
      </p:nvGrpSpPr>
      <p:grpSpPr>
        <a:xfrm>
          <a:off x="0" y="0"/>
          <a:ext cx="0" cy="0"/>
          <a:chOff x="0" y="0"/>
          <a:chExt cx="0" cy="0"/>
        </a:xfrm>
      </p:grpSpPr>
      <p:sp>
        <p:nvSpPr>
          <p:cNvPr id="65" name="Google Shape;65;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66" name="Google Shape;66;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 name="Google Shape;67;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71" name="Google Shape;7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2" name="Shape 72"/>
        <p:cNvGrpSpPr/>
        <p:nvPr/>
      </p:nvGrpSpPr>
      <p:grpSpPr>
        <a:xfrm>
          <a:off x="0" y="0"/>
          <a:ext cx="0" cy="0"/>
          <a:chOff x="0" y="0"/>
          <a:chExt cx="0" cy="0"/>
        </a:xfrm>
      </p:grpSpPr>
      <p:sp>
        <p:nvSpPr>
          <p:cNvPr id="73" name="Google Shape;73;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19"/>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5" name="Google Shape;75;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8" name="Google Shape;7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9" name="Shape 79"/>
        <p:cNvGrpSpPr/>
        <p:nvPr/>
      </p:nvGrpSpPr>
      <p:grpSpPr>
        <a:xfrm>
          <a:off x="0" y="0"/>
          <a:ext cx="0" cy="0"/>
          <a:chOff x="0" y="0"/>
          <a:chExt cx="0" cy="0"/>
        </a:xfrm>
      </p:grpSpPr>
      <p:sp>
        <p:nvSpPr>
          <p:cNvPr id="80" name="Google Shape;80;p21"/>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2" name="Google Shape;82;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3" name="Google Shape;83;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84" name="Google Shape;8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5" name="Shape 85"/>
        <p:cNvGrpSpPr/>
        <p:nvPr/>
      </p:nvGrpSpPr>
      <p:grpSpPr>
        <a:xfrm>
          <a:off x="0" y="0"/>
          <a:ext cx="0" cy="0"/>
          <a:chOff x="0" y="0"/>
          <a:chExt cx="0" cy="0"/>
        </a:xfrm>
      </p:grpSpPr>
      <p:sp>
        <p:nvSpPr>
          <p:cNvPr id="86" name="Google Shape;86;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7" name="Google Shape;8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8" name="Shape 88"/>
        <p:cNvGrpSpPr/>
        <p:nvPr/>
      </p:nvGrpSpPr>
      <p:grpSpPr>
        <a:xfrm>
          <a:off x="0" y="0"/>
          <a:ext cx="0" cy="0"/>
          <a:chOff x="0" y="0"/>
          <a:chExt cx="0" cy="0"/>
        </a:xfrm>
      </p:grpSpPr>
      <p:sp>
        <p:nvSpPr>
          <p:cNvPr id="89" name="Google Shape;89;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0" name="Google Shape;90;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1" name="Google Shape;9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slide" showMasterSp="0">
  <p:cSld name="Light slide">
    <p:bg>
      <p:bgPr>
        <a:solidFill>
          <a:srgbClr val="FFFFFF"/>
        </a:solidFill>
      </p:bgPr>
    </p:bg>
    <p:spTree>
      <p:nvGrpSpPr>
        <p:cNvPr id="94" name="Shape 94"/>
        <p:cNvGrpSpPr/>
        <p:nvPr/>
      </p:nvGrpSpPr>
      <p:grpSpPr>
        <a:xfrm>
          <a:off x="0" y="0"/>
          <a:ext cx="0" cy="0"/>
          <a:chOff x="0" y="0"/>
          <a:chExt cx="0" cy="0"/>
        </a:xfrm>
      </p:grpSpPr>
      <p:sp>
        <p:nvSpPr>
          <p:cNvPr id="95" name="Google Shape;95;p25"/>
          <p:cNvSpPr txBox="1"/>
          <p:nvPr>
            <p:ph idx="1" type="body"/>
          </p:nvPr>
        </p:nvSpPr>
        <p:spPr>
          <a:xfrm>
            <a:off x="951731" y="1115566"/>
            <a:ext cx="5302200" cy="887700"/>
          </a:xfrm>
          <a:prstGeom prst="rect">
            <a:avLst/>
          </a:prstGeom>
          <a:noFill/>
          <a:ln>
            <a:noFill/>
          </a:ln>
        </p:spPr>
        <p:txBody>
          <a:bodyPr anchorCtr="0" anchor="t" bIns="0" lIns="0" spcFirstLastPara="1" rIns="0" wrap="square" tIns="0">
            <a:normAutofit/>
          </a:bodyPr>
          <a:lstStyle>
            <a:lvl1pPr indent="-419100" lvl="0" marL="457200" algn="l">
              <a:lnSpc>
                <a:spcPct val="100000"/>
              </a:lnSpc>
              <a:spcBef>
                <a:spcPts val="0"/>
              </a:spcBef>
              <a:spcAft>
                <a:spcPts val="0"/>
              </a:spcAft>
              <a:buClr>
                <a:srgbClr val="505071"/>
              </a:buClr>
              <a:buSzPts val="3000"/>
              <a:buFont typeface="Arial"/>
              <a:buChar char="●"/>
              <a:defRPr b="1" sz="3000">
                <a:solidFill>
                  <a:srgbClr val="505071"/>
                </a:solidFill>
                <a:latin typeface="Arial"/>
                <a:ea typeface="Arial"/>
                <a:cs typeface="Arial"/>
                <a:sym typeface="Arial"/>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96" name="Google Shape;96;p25"/>
          <p:cNvSpPr txBox="1"/>
          <p:nvPr>
            <p:ph idx="2" type="body"/>
          </p:nvPr>
        </p:nvSpPr>
        <p:spPr>
          <a:xfrm>
            <a:off x="934600" y="858391"/>
            <a:ext cx="2825700" cy="200100"/>
          </a:xfrm>
          <a:prstGeom prst="rect">
            <a:avLst/>
          </a:prstGeom>
          <a:noFill/>
          <a:ln>
            <a:noFill/>
          </a:ln>
        </p:spPr>
        <p:txBody>
          <a:bodyPr anchorCtr="0" anchor="t" bIns="19050" lIns="19050" spcFirstLastPara="1" rIns="19050" wrap="square" tIns="19050">
            <a:normAutofit/>
          </a:bodyPr>
          <a:lstStyle>
            <a:lvl1pPr indent="-273050" lvl="0" marL="457200" algn="l">
              <a:lnSpc>
                <a:spcPct val="10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pic>
        <p:nvPicPr>
          <p:cNvPr descr="logo_RGB-Transparent1-WEB.png" id="97" name="Google Shape;97;p25"/>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98" name="Google Shape;98;p25"/>
          <p:cNvSpPr txBox="1"/>
          <p:nvPr>
            <p:ph idx="3" type="body"/>
          </p:nvPr>
        </p:nvSpPr>
        <p:spPr>
          <a:xfrm>
            <a:off x="951731" y="2296477"/>
            <a:ext cx="3860100" cy="550500"/>
          </a:xfrm>
          <a:prstGeom prst="rect">
            <a:avLst/>
          </a:prstGeom>
          <a:noFill/>
          <a:ln>
            <a:noFill/>
          </a:ln>
        </p:spPr>
        <p:txBody>
          <a:bodyPr anchorCtr="0" anchor="t" bIns="0" lIns="0" spcFirstLastPara="1" rIns="0" wrap="square" tIns="0">
            <a:normAutofit/>
          </a:bodyPr>
          <a:lstStyle>
            <a:lvl1pPr indent="-273050" lvl="0" marL="457200" algn="l">
              <a:lnSpc>
                <a:spcPct val="12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99" name="Google Shape;99;p25"/>
          <p:cNvSpPr txBox="1"/>
          <p:nvPr>
            <p:ph idx="12" type="sldNum"/>
          </p:nvPr>
        </p:nvSpPr>
        <p:spPr>
          <a:xfrm>
            <a:off x="8543920" y="4773806"/>
            <a:ext cx="351600" cy="162000"/>
          </a:xfrm>
          <a:prstGeom prst="rect">
            <a:avLst/>
          </a:prstGeom>
          <a:noFill/>
          <a:ln>
            <a:noFill/>
          </a:ln>
        </p:spPr>
        <p:txBody>
          <a:bodyPr anchorCtr="0" anchor="b" bIns="0" lIns="0" spcFirstLastPara="1" rIns="0" wrap="square" tIns="0">
            <a:normAutofit/>
          </a:bodyPr>
          <a:lstStyle>
            <a:lvl1pPr indent="0" lvl="0"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1pPr>
            <a:lvl2pPr indent="0" lvl="1"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2pPr>
            <a:lvl3pPr indent="0" lvl="2"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3pPr>
            <a:lvl4pPr indent="0" lvl="3"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4pPr>
            <a:lvl5pPr indent="0" lvl="4"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5pPr>
            <a:lvl6pPr indent="0" lvl="5"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6pPr>
            <a:lvl7pPr indent="0" lvl="6"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7pPr>
            <a:lvl8pPr indent="0" lvl="7"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8pPr>
            <a:lvl9pPr indent="0" lvl="8"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dark">
  <p:cSld name="SECTION_HEADER_1_1">
    <p:bg>
      <p:bgPr>
        <a:blipFill>
          <a:blip r:embed="rId2">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ph type="title"/>
          </p:nvPr>
        </p:nvSpPr>
        <p:spPr>
          <a:xfrm>
            <a:off x="500550" y="0"/>
            <a:ext cx="8520600" cy="11406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1E1E1"/>
              </a:buClr>
              <a:buSzPts val="3000"/>
              <a:buNone/>
              <a:defRPr b="1" sz="3000">
                <a:solidFill>
                  <a:srgbClr val="E1E1E1"/>
                </a:solidFill>
              </a:defRPr>
            </a:lvl1pPr>
            <a:lvl2pPr lvl="1">
              <a:spcBef>
                <a:spcPts val="0"/>
              </a:spcBef>
              <a:spcAft>
                <a:spcPts val="0"/>
              </a:spcAft>
              <a:buClr>
                <a:srgbClr val="E1E1E1"/>
              </a:buClr>
              <a:buSzPts val="3000"/>
              <a:buNone/>
              <a:defRPr b="1" sz="3000">
                <a:solidFill>
                  <a:srgbClr val="E1E1E1"/>
                </a:solidFill>
              </a:defRPr>
            </a:lvl2pPr>
            <a:lvl3pPr lvl="2">
              <a:spcBef>
                <a:spcPts val="0"/>
              </a:spcBef>
              <a:spcAft>
                <a:spcPts val="0"/>
              </a:spcAft>
              <a:buClr>
                <a:srgbClr val="E1E1E1"/>
              </a:buClr>
              <a:buSzPts val="3000"/>
              <a:buNone/>
              <a:defRPr b="1" sz="3000">
                <a:solidFill>
                  <a:srgbClr val="E1E1E1"/>
                </a:solidFill>
              </a:defRPr>
            </a:lvl3pPr>
            <a:lvl4pPr lvl="3">
              <a:spcBef>
                <a:spcPts val="0"/>
              </a:spcBef>
              <a:spcAft>
                <a:spcPts val="0"/>
              </a:spcAft>
              <a:buClr>
                <a:srgbClr val="E1E1E1"/>
              </a:buClr>
              <a:buSzPts val="3000"/>
              <a:buNone/>
              <a:defRPr b="1" sz="3000">
                <a:solidFill>
                  <a:srgbClr val="E1E1E1"/>
                </a:solidFill>
              </a:defRPr>
            </a:lvl4pPr>
            <a:lvl5pPr lvl="4">
              <a:spcBef>
                <a:spcPts val="0"/>
              </a:spcBef>
              <a:spcAft>
                <a:spcPts val="0"/>
              </a:spcAft>
              <a:buClr>
                <a:srgbClr val="E1E1E1"/>
              </a:buClr>
              <a:buSzPts val="3000"/>
              <a:buNone/>
              <a:defRPr b="1" sz="3000">
                <a:solidFill>
                  <a:srgbClr val="E1E1E1"/>
                </a:solidFill>
              </a:defRPr>
            </a:lvl5pPr>
            <a:lvl6pPr lvl="5">
              <a:spcBef>
                <a:spcPts val="0"/>
              </a:spcBef>
              <a:spcAft>
                <a:spcPts val="0"/>
              </a:spcAft>
              <a:buClr>
                <a:srgbClr val="E1E1E1"/>
              </a:buClr>
              <a:buSzPts val="3000"/>
              <a:buNone/>
              <a:defRPr b="1" sz="3000">
                <a:solidFill>
                  <a:srgbClr val="E1E1E1"/>
                </a:solidFill>
              </a:defRPr>
            </a:lvl6pPr>
            <a:lvl7pPr lvl="6">
              <a:spcBef>
                <a:spcPts val="0"/>
              </a:spcBef>
              <a:spcAft>
                <a:spcPts val="0"/>
              </a:spcAft>
              <a:buClr>
                <a:srgbClr val="E1E1E1"/>
              </a:buClr>
              <a:buSzPts val="3000"/>
              <a:buNone/>
              <a:defRPr b="1" sz="3000">
                <a:solidFill>
                  <a:srgbClr val="E1E1E1"/>
                </a:solidFill>
              </a:defRPr>
            </a:lvl7pPr>
            <a:lvl8pPr lvl="7">
              <a:spcBef>
                <a:spcPts val="0"/>
              </a:spcBef>
              <a:spcAft>
                <a:spcPts val="0"/>
              </a:spcAft>
              <a:buClr>
                <a:srgbClr val="E1E1E1"/>
              </a:buClr>
              <a:buSzPts val="3000"/>
              <a:buNone/>
              <a:defRPr b="1" sz="3000">
                <a:solidFill>
                  <a:srgbClr val="E1E1E1"/>
                </a:solidFill>
              </a:defRPr>
            </a:lvl8pPr>
            <a:lvl9pPr lvl="8">
              <a:spcBef>
                <a:spcPts val="0"/>
              </a:spcBef>
              <a:spcAft>
                <a:spcPts val="0"/>
              </a:spcAft>
              <a:buClr>
                <a:srgbClr val="E1E1E1"/>
              </a:buClr>
              <a:buSzPts val="3000"/>
              <a:buNone/>
              <a:defRPr b="1" sz="3000">
                <a:solidFill>
                  <a:srgbClr val="E1E1E1"/>
                </a:solidFill>
              </a:defRPr>
            </a:lvl9pPr>
          </a:lstStyle>
          <a:p/>
        </p:txBody>
      </p:sp>
      <p:sp>
        <p:nvSpPr>
          <p:cNvPr id="102" name="Google Shape;102;p26"/>
          <p:cNvSpPr txBox="1"/>
          <p:nvPr>
            <p:ph idx="2" type="title"/>
          </p:nvPr>
        </p:nvSpPr>
        <p:spPr>
          <a:xfrm>
            <a:off x="500550" y="1140600"/>
            <a:ext cx="8520600" cy="3916200"/>
          </a:xfrm>
          <a:prstGeom prst="rect">
            <a:avLst/>
          </a:prstGeom>
        </p:spPr>
        <p:txBody>
          <a:bodyPr anchorCtr="0" anchor="t" bIns="91425" lIns="91425" spcFirstLastPara="1" rIns="91425" wrap="square" tIns="91425">
            <a:normAutofit/>
          </a:bodyPr>
          <a:lstStyle>
            <a:lvl1pPr lvl="0">
              <a:lnSpc>
                <a:spcPct val="150000"/>
              </a:lnSpc>
              <a:spcBef>
                <a:spcPts val="0"/>
              </a:spcBef>
              <a:spcAft>
                <a:spcPts val="0"/>
              </a:spcAft>
              <a:buClr>
                <a:srgbClr val="E1E1E1"/>
              </a:buClr>
              <a:buSzPts val="1800"/>
              <a:buNone/>
              <a:defRPr sz="1800">
                <a:solidFill>
                  <a:srgbClr val="E1E1E1"/>
                </a:solidFill>
              </a:defRPr>
            </a:lvl1pPr>
            <a:lvl2pPr lvl="1">
              <a:lnSpc>
                <a:spcPct val="150000"/>
              </a:lnSpc>
              <a:spcBef>
                <a:spcPts val="1000"/>
              </a:spcBef>
              <a:spcAft>
                <a:spcPts val="0"/>
              </a:spcAft>
              <a:buClr>
                <a:srgbClr val="E1E1E1"/>
              </a:buClr>
              <a:buSzPts val="1800"/>
              <a:buNone/>
              <a:defRPr b="1" sz="1800">
                <a:solidFill>
                  <a:srgbClr val="E1E1E1"/>
                </a:solidFill>
              </a:defRPr>
            </a:lvl2pPr>
            <a:lvl3pPr lvl="2">
              <a:lnSpc>
                <a:spcPct val="150000"/>
              </a:lnSpc>
              <a:spcBef>
                <a:spcPts val="1000"/>
              </a:spcBef>
              <a:spcAft>
                <a:spcPts val="0"/>
              </a:spcAft>
              <a:buClr>
                <a:srgbClr val="E1E1E1"/>
              </a:buClr>
              <a:buSzPts val="1800"/>
              <a:buNone/>
              <a:defRPr b="1" sz="1800">
                <a:solidFill>
                  <a:srgbClr val="E1E1E1"/>
                </a:solidFill>
              </a:defRPr>
            </a:lvl3pPr>
            <a:lvl4pPr lvl="3">
              <a:lnSpc>
                <a:spcPct val="150000"/>
              </a:lnSpc>
              <a:spcBef>
                <a:spcPts val="1000"/>
              </a:spcBef>
              <a:spcAft>
                <a:spcPts val="0"/>
              </a:spcAft>
              <a:buClr>
                <a:srgbClr val="E1E1E1"/>
              </a:buClr>
              <a:buSzPts val="1800"/>
              <a:buNone/>
              <a:defRPr b="1" sz="1800">
                <a:solidFill>
                  <a:srgbClr val="E1E1E1"/>
                </a:solidFill>
              </a:defRPr>
            </a:lvl4pPr>
            <a:lvl5pPr lvl="4">
              <a:lnSpc>
                <a:spcPct val="150000"/>
              </a:lnSpc>
              <a:spcBef>
                <a:spcPts val="1000"/>
              </a:spcBef>
              <a:spcAft>
                <a:spcPts val="0"/>
              </a:spcAft>
              <a:buClr>
                <a:srgbClr val="E1E1E1"/>
              </a:buClr>
              <a:buSzPts val="1800"/>
              <a:buNone/>
              <a:defRPr b="1" sz="1800">
                <a:solidFill>
                  <a:srgbClr val="E1E1E1"/>
                </a:solidFill>
              </a:defRPr>
            </a:lvl5pPr>
            <a:lvl6pPr lvl="5">
              <a:lnSpc>
                <a:spcPct val="150000"/>
              </a:lnSpc>
              <a:spcBef>
                <a:spcPts val="1000"/>
              </a:spcBef>
              <a:spcAft>
                <a:spcPts val="0"/>
              </a:spcAft>
              <a:buClr>
                <a:srgbClr val="E1E1E1"/>
              </a:buClr>
              <a:buSzPts val="1800"/>
              <a:buNone/>
              <a:defRPr b="1" sz="1800">
                <a:solidFill>
                  <a:srgbClr val="E1E1E1"/>
                </a:solidFill>
              </a:defRPr>
            </a:lvl6pPr>
            <a:lvl7pPr lvl="6">
              <a:lnSpc>
                <a:spcPct val="150000"/>
              </a:lnSpc>
              <a:spcBef>
                <a:spcPts val="1000"/>
              </a:spcBef>
              <a:spcAft>
                <a:spcPts val="0"/>
              </a:spcAft>
              <a:buClr>
                <a:srgbClr val="E1E1E1"/>
              </a:buClr>
              <a:buSzPts val="1800"/>
              <a:buNone/>
              <a:defRPr b="1" sz="1800">
                <a:solidFill>
                  <a:srgbClr val="E1E1E1"/>
                </a:solidFill>
              </a:defRPr>
            </a:lvl7pPr>
            <a:lvl8pPr lvl="7">
              <a:lnSpc>
                <a:spcPct val="150000"/>
              </a:lnSpc>
              <a:spcBef>
                <a:spcPts val="1000"/>
              </a:spcBef>
              <a:spcAft>
                <a:spcPts val="0"/>
              </a:spcAft>
              <a:buClr>
                <a:srgbClr val="E1E1E1"/>
              </a:buClr>
              <a:buSzPts val="1800"/>
              <a:buNone/>
              <a:defRPr b="1" sz="1800">
                <a:solidFill>
                  <a:srgbClr val="E1E1E1"/>
                </a:solidFill>
              </a:defRPr>
            </a:lvl8pPr>
            <a:lvl9pPr lvl="8">
              <a:lnSpc>
                <a:spcPct val="150000"/>
              </a:lnSpc>
              <a:spcBef>
                <a:spcPts val="1000"/>
              </a:spcBef>
              <a:spcAft>
                <a:spcPts val="1000"/>
              </a:spcAft>
              <a:buClr>
                <a:srgbClr val="E1E1E1"/>
              </a:buClr>
              <a:buSzPts val="1800"/>
              <a:buNone/>
              <a:defRPr b="1" sz="1800">
                <a:solidFill>
                  <a:srgbClr val="E1E1E1"/>
                </a:solidFill>
              </a:defRPr>
            </a:lvl9pPr>
          </a:lstStyle>
          <a:p/>
        </p:txBody>
      </p:sp>
      <p:sp>
        <p:nvSpPr>
          <p:cNvPr id="103" name="Google Shape;103;p26"/>
          <p:cNvSpPr txBox="1"/>
          <p:nvPr/>
        </p:nvSpPr>
        <p:spPr>
          <a:xfrm>
            <a:off x="0" y="0"/>
            <a:ext cx="242100" cy="1140600"/>
          </a:xfrm>
          <a:prstGeom prst="rect">
            <a:avLst/>
          </a:prstGeom>
          <a:gradFill>
            <a:gsLst>
              <a:gs pos="0">
                <a:srgbClr val="109EAE"/>
              </a:gs>
              <a:gs pos="100000">
                <a:srgbClr val="00D9BA"/>
              </a:gs>
            </a:gsLst>
            <a:lin ang="5400012" scaled="0"/>
          </a:gra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white">
  <p:cSld name="SECTION_HEADER_1_1_1_1">
    <p:bg>
      <p:bgPr>
        <a:solidFill>
          <a:srgbClr val="FFFFFF"/>
        </a:solidFill>
      </p:bgPr>
    </p:bg>
    <p:spTree>
      <p:nvGrpSpPr>
        <p:cNvPr id="104" name="Shape 104"/>
        <p:cNvGrpSpPr/>
        <p:nvPr/>
      </p:nvGrpSpPr>
      <p:grpSpPr>
        <a:xfrm>
          <a:off x="0" y="0"/>
          <a:ext cx="0" cy="0"/>
          <a:chOff x="0" y="0"/>
          <a:chExt cx="0" cy="0"/>
        </a:xfrm>
      </p:grpSpPr>
      <p:sp>
        <p:nvSpPr>
          <p:cNvPr id="105" name="Google Shape;105;p27"/>
          <p:cNvSpPr txBox="1"/>
          <p:nvPr>
            <p:ph type="title"/>
          </p:nvPr>
        </p:nvSpPr>
        <p:spPr>
          <a:xfrm>
            <a:off x="500550" y="0"/>
            <a:ext cx="8520600" cy="11406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D0D18"/>
              </a:buClr>
              <a:buSzPts val="3000"/>
              <a:buNone/>
              <a:defRPr b="1" sz="3000">
                <a:solidFill>
                  <a:srgbClr val="0D0D18"/>
                </a:solidFill>
              </a:defRPr>
            </a:lvl1pPr>
            <a:lvl2pPr lvl="1">
              <a:spcBef>
                <a:spcPts val="0"/>
              </a:spcBef>
              <a:spcAft>
                <a:spcPts val="0"/>
              </a:spcAft>
              <a:buClr>
                <a:srgbClr val="0D0D18"/>
              </a:buClr>
              <a:buSzPts val="3000"/>
              <a:buNone/>
              <a:defRPr b="1" sz="3000">
                <a:solidFill>
                  <a:srgbClr val="0D0D18"/>
                </a:solidFill>
              </a:defRPr>
            </a:lvl2pPr>
            <a:lvl3pPr lvl="2">
              <a:spcBef>
                <a:spcPts val="0"/>
              </a:spcBef>
              <a:spcAft>
                <a:spcPts val="0"/>
              </a:spcAft>
              <a:buClr>
                <a:srgbClr val="0D0D18"/>
              </a:buClr>
              <a:buSzPts val="3000"/>
              <a:buNone/>
              <a:defRPr b="1" sz="3000">
                <a:solidFill>
                  <a:srgbClr val="0D0D18"/>
                </a:solidFill>
              </a:defRPr>
            </a:lvl3pPr>
            <a:lvl4pPr lvl="3">
              <a:spcBef>
                <a:spcPts val="0"/>
              </a:spcBef>
              <a:spcAft>
                <a:spcPts val="0"/>
              </a:spcAft>
              <a:buClr>
                <a:srgbClr val="0D0D18"/>
              </a:buClr>
              <a:buSzPts val="3000"/>
              <a:buNone/>
              <a:defRPr b="1" sz="3000">
                <a:solidFill>
                  <a:srgbClr val="0D0D18"/>
                </a:solidFill>
              </a:defRPr>
            </a:lvl4pPr>
            <a:lvl5pPr lvl="4">
              <a:spcBef>
                <a:spcPts val="0"/>
              </a:spcBef>
              <a:spcAft>
                <a:spcPts val="0"/>
              </a:spcAft>
              <a:buClr>
                <a:srgbClr val="0D0D18"/>
              </a:buClr>
              <a:buSzPts val="3000"/>
              <a:buNone/>
              <a:defRPr b="1" sz="3000">
                <a:solidFill>
                  <a:srgbClr val="0D0D18"/>
                </a:solidFill>
              </a:defRPr>
            </a:lvl5pPr>
            <a:lvl6pPr lvl="5">
              <a:spcBef>
                <a:spcPts val="0"/>
              </a:spcBef>
              <a:spcAft>
                <a:spcPts val="0"/>
              </a:spcAft>
              <a:buClr>
                <a:srgbClr val="0D0D18"/>
              </a:buClr>
              <a:buSzPts val="3000"/>
              <a:buNone/>
              <a:defRPr b="1" sz="3000">
                <a:solidFill>
                  <a:srgbClr val="0D0D18"/>
                </a:solidFill>
              </a:defRPr>
            </a:lvl6pPr>
            <a:lvl7pPr lvl="6">
              <a:spcBef>
                <a:spcPts val="0"/>
              </a:spcBef>
              <a:spcAft>
                <a:spcPts val="0"/>
              </a:spcAft>
              <a:buClr>
                <a:srgbClr val="0D0D18"/>
              </a:buClr>
              <a:buSzPts val="3000"/>
              <a:buNone/>
              <a:defRPr b="1" sz="3000">
                <a:solidFill>
                  <a:srgbClr val="0D0D18"/>
                </a:solidFill>
              </a:defRPr>
            </a:lvl7pPr>
            <a:lvl8pPr lvl="7">
              <a:spcBef>
                <a:spcPts val="0"/>
              </a:spcBef>
              <a:spcAft>
                <a:spcPts val="0"/>
              </a:spcAft>
              <a:buClr>
                <a:srgbClr val="0D0D18"/>
              </a:buClr>
              <a:buSzPts val="3000"/>
              <a:buNone/>
              <a:defRPr b="1" sz="3000">
                <a:solidFill>
                  <a:srgbClr val="0D0D18"/>
                </a:solidFill>
              </a:defRPr>
            </a:lvl8pPr>
            <a:lvl9pPr lvl="8">
              <a:spcBef>
                <a:spcPts val="0"/>
              </a:spcBef>
              <a:spcAft>
                <a:spcPts val="0"/>
              </a:spcAft>
              <a:buClr>
                <a:srgbClr val="0D0D18"/>
              </a:buClr>
              <a:buSzPts val="3000"/>
              <a:buNone/>
              <a:defRPr b="1" sz="3000">
                <a:solidFill>
                  <a:srgbClr val="0D0D18"/>
                </a:solidFill>
              </a:defRPr>
            </a:lvl9pPr>
          </a:lstStyle>
          <a:p/>
        </p:txBody>
      </p:sp>
      <p:sp>
        <p:nvSpPr>
          <p:cNvPr id="106" name="Google Shape;106;p27"/>
          <p:cNvSpPr txBox="1"/>
          <p:nvPr>
            <p:ph idx="2" type="title"/>
          </p:nvPr>
        </p:nvSpPr>
        <p:spPr>
          <a:xfrm>
            <a:off x="500550" y="1140600"/>
            <a:ext cx="8520600" cy="3916200"/>
          </a:xfrm>
          <a:prstGeom prst="rect">
            <a:avLst/>
          </a:prstGeom>
        </p:spPr>
        <p:txBody>
          <a:bodyPr anchorCtr="0" anchor="t" bIns="91425" lIns="91425" spcFirstLastPara="1" rIns="91425" wrap="square" tIns="91425">
            <a:normAutofit/>
          </a:bodyPr>
          <a:lstStyle>
            <a:lvl1pPr lvl="0">
              <a:lnSpc>
                <a:spcPct val="150000"/>
              </a:lnSpc>
              <a:spcBef>
                <a:spcPts val="0"/>
              </a:spcBef>
              <a:spcAft>
                <a:spcPts val="0"/>
              </a:spcAft>
              <a:buClr>
                <a:srgbClr val="0D0D18"/>
              </a:buClr>
              <a:buSzPts val="1800"/>
              <a:buNone/>
              <a:defRPr sz="1800">
                <a:solidFill>
                  <a:srgbClr val="0D0D18"/>
                </a:solidFill>
              </a:defRPr>
            </a:lvl1pPr>
            <a:lvl2pPr lvl="1">
              <a:lnSpc>
                <a:spcPct val="150000"/>
              </a:lnSpc>
              <a:spcBef>
                <a:spcPts val="1000"/>
              </a:spcBef>
              <a:spcAft>
                <a:spcPts val="0"/>
              </a:spcAft>
              <a:buClr>
                <a:srgbClr val="0D0D18"/>
              </a:buClr>
              <a:buSzPts val="1800"/>
              <a:buNone/>
              <a:defRPr b="1" sz="1800">
                <a:solidFill>
                  <a:srgbClr val="0D0D18"/>
                </a:solidFill>
              </a:defRPr>
            </a:lvl2pPr>
            <a:lvl3pPr lvl="2">
              <a:lnSpc>
                <a:spcPct val="150000"/>
              </a:lnSpc>
              <a:spcBef>
                <a:spcPts val="1000"/>
              </a:spcBef>
              <a:spcAft>
                <a:spcPts val="0"/>
              </a:spcAft>
              <a:buClr>
                <a:srgbClr val="0D0D18"/>
              </a:buClr>
              <a:buSzPts val="1800"/>
              <a:buNone/>
              <a:defRPr b="1" sz="1800">
                <a:solidFill>
                  <a:srgbClr val="0D0D18"/>
                </a:solidFill>
              </a:defRPr>
            </a:lvl3pPr>
            <a:lvl4pPr lvl="3">
              <a:lnSpc>
                <a:spcPct val="150000"/>
              </a:lnSpc>
              <a:spcBef>
                <a:spcPts val="1000"/>
              </a:spcBef>
              <a:spcAft>
                <a:spcPts val="0"/>
              </a:spcAft>
              <a:buClr>
                <a:srgbClr val="0D0D18"/>
              </a:buClr>
              <a:buSzPts val="1800"/>
              <a:buNone/>
              <a:defRPr b="1" sz="1800">
                <a:solidFill>
                  <a:srgbClr val="0D0D18"/>
                </a:solidFill>
              </a:defRPr>
            </a:lvl4pPr>
            <a:lvl5pPr lvl="4">
              <a:lnSpc>
                <a:spcPct val="150000"/>
              </a:lnSpc>
              <a:spcBef>
                <a:spcPts val="1000"/>
              </a:spcBef>
              <a:spcAft>
                <a:spcPts val="0"/>
              </a:spcAft>
              <a:buClr>
                <a:srgbClr val="0D0D18"/>
              </a:buClr>
              <a:buSzPts val="1800"/>
              <a:buNone/>
              <a:defRPr b="1" sz="1800">
                <a:solidFill>
                  <a:srgbClr val="0D0D18"/>
                </a:solidFill>
              </a:defRPr>
            </a:lvl5pPr>
            <a:lvl6pPr lvl="5">
              <a:lnSpc>
                <a:spcPct val="150000"/>
              </a:lnSpc>
              <a:spcBef>
                <a:spcPts val="1000"/>
              </a:spcBef>
              <a:spcAft>
                <a:spcPts val="0"/>
              </a:spcAft>
              <a:buClr>
                <a:srgbClr val="0D0D18"/>
              </a:buClr>
              <a:buSzPts val="1800"/>
              <a:buNone/>
              <a:defRPr b="1" sz="1800">
                <a:solidFill>
                  <a:srgbClr val="0D0D18"/>
                </a:solidFill>
              </a:defRPr>
            </a:lvl6pPr>
            <a:lvl7pPr lvl="6">
              <a:lnSpc>
                <a:spcPct val="150000"/>
              </a:lnSpc>
              <a:spcBef>
                <a:spcPts val="1000"/>
              </a:spcBef>
              <a:spcAft>
                <a:spcPts val="0"/>
              </a:spcAft>
              <a:buClr>
                <a:srgbClr val="0D0D18"/>
              </a:buClr>
              <a:buSzPts val="1800"/>
              <a:buNone/>
              <a:defRPr b="1" sz="1800">
                <a:solidFill>
                  <a:srgbClr val="0D0D18"/>
                </a:solidFill>
              </a:defRPr>
            </a:lvl7pPr>
            <a:lvl8pPr lvl="7">
              <a:lnSpc>
                <a:spcPct val="150000"/>
              </a:lnSpc>
              <a:spcBef>
                <a:spcPts val="1000"/>
              </a:spcBef>
              <a:spcAft>
                <a:spcPts val="0"/>
              </a:spcAft>
              <a:buClr>
                <a:srgbClr val="0D0D18"/>
              </a:buClr>
              <a:buSzPts val="1800"/>
              <a:buNone/>
              <a:defRPr b="1" sz="1800">
                <a:solidFill>
                  <a:srgbClr val="0D0D18"/>
                </a:solidFill>
              </a:defRPr>
            </a:lvl8pPr>
            <a:lvl9pPr lvl="8">
              <a:lnSpc>
                <a:spcPct val="150000"/>
              </a:lnSpc>
              <a:spcBef>
                <a:spcPts val="1000"/>
              </a:spcBef>
              <a:spcAft>
                <a:spcPts val="1000"/>
              </a:spcAft>
              <a:buClr>
                <a:srgbClr val="0D0D18"/>
              </a:buClr>
              <a:buSzPts val="1800"/>
              <a:buNone/>
              <a:defRPr b="1" sz="1800">
                <a:solidFill>
                  <a:srgbClr val="0D0D18"/>
                </a:solidFill>
              </a:defRPr>
            </a:lvl9pPr>
          </a:lstStyle>
          <a:p/>
        </p:txBody>
      </p:sp>
      <p:sp>
        <p:nvSpPr>
          <p:cNvPr id="107" name="Google Shape;107;p27"/>
          <p:cNvSpPr txBox="1"/>
          <p:nvPr/>
        </p:nvSpPr>
        <p:spPr>
          <a:xfrm>
            <a:off x="0" y="0"/>
            <a:ext cx="242100" cy="1140600"/>
          </a:xfrm>
          <a:prstGeom prst="rect">
            <a:avLst/>
          </a:prstGeom>
          <a:gradFill>
            <a:gsLst>
              <a:gs pos="0">
                <a:srgbClr val="1A237D"/>
              </a:gs>
              <a:gs pos="100000">
                <a:srgbClr val="2F3F9E"/>
              </a:gs>
            </a:gsLst>
            <a:lin ang="5400012" scaled="0"/>
          </a:gra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3.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111" name="Shape 111"/>
        <p:cNvGrpSpPr/>
        <p:nvPr/>
      </p:nvGrpSpPr>
      <p:grpSpPr>
        <a:xfrm>
          <a:off x="0" y="0"/>
          <a:ext cx="0" cy="0"/>
          <a:chOff x="0" y="0"/>
          <a:chExt cx="0" cy="0"/>
        </a:xfrm>
      </p:grpSpPr>
      <p:sp>
        <p:nvSpPr>
          <p:cNvPr id="112" name="Google Shape;112;p28"/>
          <p:cNvSpPr txBox="1"/>
          <p:nvPr/>
        </p:nvSpPr>
        <p:spPr>
          <a:xfrm>
            <a:off x="1622100" y="1343175"/>
            <a:ext cx="5863200" cy="135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800">
                <a:solidFill>
                  <a:schemeClr val="lt1"/>
                </a:solidFill>
                <a:latin typeface="Inter"/>
                <a:ea typeface="Inter"/>
                <a:cs typeface="Inter"/>
                <a:sym typeface="Inter"/>
              </a:rPr>
              <a:t>Tyk Database:</a:t>
            </a:r>
            <a:endParaRPr b="1" sz="3800">
              <a:solidFill>
                <a:schemeClr val="lt1"/>
              </a:solidFill>
              <a:latin typeface="Inter"/>
              <a:ea typeface="Inter"/>
              <a:cs typeface="Inter"/>
              <a:sym typeface="Inter"/>
            </a:endParaRPr>
          </a:p>
          <a:p>
            <a:pPr indent="0" lvl="0" marL="0" rtl="0" algn="ctr">
              <a:spcBef>
                <a:spcPts val="0"/>
              </a:spcBef>
              <a:spcAft>
                <a:spcPts val="0"/>
              </a:spcAft>
              <a:buNone/>
            </a:pPr>
            <a:r>
              <a:rPr b="1" lang="en-GB" sz="3800">
                <a:solidFill>
                  <a:schemeClr val="lt1"/>
                </a:solidFill>
                <a:latin typeface="Inter"/>
                <a:ea typeface="Inter"/>
                <a:cs typeface="Inter"/>
                <a:sym typeface="Inter"/>
              </a:rPr>
              <a:t>MongoDB &amp; PostgreSQL</a:t>
            </a:r>
            <a:endParaRPr b="1" sz="3800">
              <a:solidFill>
                <a:schemeClr val="lt1"/>
              </a:solidFill>
              <a:latin typeface="Inter"/>
              <a:ea typeface="Inter"/>
              <a:cs typeface="Inter"/>
              <a:sym typeface="Inter"/>
            </a:endParaRPr>
          </a:p>
        </p:txBody>
      </p:sp>
      <p:sp>
        <p:nvSpPr>
          <p:cNvPr id="113" name="Google Shape;113;p28"/>
          <p:cNvSpPr txBox="1"/>
          <p:nvPr/>
        </p:nvSpPr>
        <p:spPr>
          <a:xfrm>
            <a:off x="1926900" y="2703375"/>
            <a:ext cx="52902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Understanding the role of Tyk’s primary databases and how they support performance and high availability</a:t>
            </a:r>
            <a:endParaRPr>
              <a:solidFill>
                <a:schemeClr val="lt1"/>
              </a:solidFill>
              <a:latin typeface="Inter"/>
              <a:ea typeface="Inter"/>
              <a:cs typeface="Inter"/>
              <a:sym typeface="Inter"/>
            </a:endParaRPr>
          </a:p>
        </p:txBody>
      </p:sp>
      <p:sp>
        <p:nvSpPr>
          <p:cNvPr id="114" name="Google Shape;114;p2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28"/>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9"/>
          <p:cNvSpPr/>
          <p:nvPr/>
        </p:nvSpPr>
        <p:spPr>
          <a:xfrm>
            <a:off x="4535921" y="1356600"/>
            <a:ext cx="3648000" cy="267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1" name="Google Shape;121;p29"/>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&amp; </a:t>
            </a:r>
            <a:r>
              <a:rPr b="1" lang="en-GB" sz="3800">
                <a:solidFill>
                  <a:srgbClr val="5900CB"/>
                </a:solidFill>
                <a:latin typeface="Inter"/>
                <a:ea typeface="Inter"/>
                <a:cs typeface="Inter"/>
                <a:sym typeface="Inter"/>
              </a:rPr>
              <a:t>Databases</a:t>
            </a:r>
            <a:endParaRPr b="1" sz="3800">
              <a:solidFill>
                <a:srgbClr val="03031C"/>
              </a:solidFill>
              <a:latin typeface="Inter"/>
              <a:ea typeface="Inter"/>
              <a:cs typeface="Inter"/>
              <a:sym typeface="Inter"/>
            </a:endParaRPr>
          </a:p>
        </p:txBody>
      </p:sp>
      <p:sp>
        <p:nvSpPr>
          <p:cNvPr id="122" name="Google Shape;122;p2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29"/>
          <p:cNvPicPr preferRelativeResize="0"/>
          <p:nvPr/>
        </p:nvPicPr>
        <p:blipFill>
          <a:blip r:embed="rId3">
            <a:alphaModFix/>
          </a:blip>
          <a:stretch>
            <a:fillRect/>
          </a:stretch>
        </p:blipFill>
        <p:spPr>
          <a:xfrm>
            <a:off x="8423988" y="4687950"/>
            <a:ext cx="527775" cy="273675"/>
          </a:xfrm>
          <a:prstGeom prst="rect">
            <a:avLst/>
          </a:prstGeom>
          <a:noFill/>
          <a:ln>
            <a:noFill/>
          </a:ln>
        </p:spPr>
      </p:pic>
      <p:pic>
        <p:nvPicPr>
          <p:cNvPr id="124" name="Google Shape;124;p29"/>
          <p:cNvPicPr preferRelativeResize="0"/>
          <p:nvPr/>
        </p:nvPicPr>
        <p:blipFill rotWithShape="1">
          <a:blip r:embed="rId4">
            <a:alphaModFix/>
          </a:blip>
          <a:srcRect b="8949" l="8949" r="8949" t="8949"/>
          <a:stretch/>
        </p:blipFill>
        <p:spPr>
          <a:xfrm rot="5400000">
            <a:off x="4923068" y="2833073"/>
            <a:ext cx="596633" cy="660253"/>
          </a:xfrm>
          <a:prstGeom prst="rect">
            <a:avLst/>
          </a:prstGeom>
          <a:noFill/>
          <a:ln>
            <a:noFill/>
          </a:ln>
        </p:spPr>
      </p:pic>
      <p:sp>
        <p:nvSpPr>
          <p:cNvPr id="125" name="Google Shape;125;p29"/>
          <p:cNvSpPr txBox="1"/>
          <p:nvPr/>
        </p:nvSpPr>
        <p:spPr>
          <a:xfrm>
            <a:off x="4880899" y="3461517"/>
            <a:ext cx="66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Gateway</a:t>
            </a:r>
            <a:endParaRPr sz="900">
              <a:latin typeface="Open Sans"/>
              <a:ea typeface="Open Sans"/>
              <a:cs typeface="Open Sans"/>
              <a:sym typeface="Open Sans"/>
            </a:endParaRPr>
          </a:p>
        </p:txBody>
      </p:sp>
      <p:pic>
        <p:nvPicPr>
          <p:cNvPr id="126" name="Google Shape;126;p29"/>
          <p:cNvPicPr preferRelativeResize="0"/>
          <p:nvPr/>
        </p:nvPicPr>
        <p:blipFill>
          <a:blip r:embed="rId5">
            <a:alphaModFix/>
          </a:blip>
          <a:stretch>
            <a:fillRect/>
          </a:stretch>
        </p:blipFill>
        <p:spPr>
          <a:xfrm>
            <a:off x="6998906" y="2901789"/>
            <a:ext cx="510249" cy="510239"/>
          </a:xfrm>
          <a:prstGeom prst="rect">
            <a:avLst/>
          </a:prstGeom>
          <a:noFill/>
          <a:ln>
            <a:noFill/>
          </a:ln>
        </p:spPr>
      </p:pic>
      <p:sp>
        <p:nvSpPr>
          <p:cNvPr id="127" name="Google Shape;127;p29"/>
          <p:cNvSpPr txBox="1"/>
          <p:nvPr/>
        </p:nvSpPr>
        <p:spPr>
          <a:xfrm>
            <a:off x="6856227" y="3412025"/>
            <a:ext cx="795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Dashboard</a:t>
            </a:r>
            <a:endParaRPr sz="900">
              <a:latin typeface="Open Sans"/>
              <a:ea typeface="Open Sans"/>
              <a:cs typeface="Open Sans"/>
              <a:sym typeface="Open Sans"/>
            </a:endParaRPr>
          </a:p>
        </p:txBody>
      </p:sp>
      <p:cxnSp>
        <p:nvCxnSpPr>
          <p:cNvPr id="128" name="Google Shape;128;p29"/>
          <p:cNvCxnSpPr>
            <a:stCxn id="124" idx="0"/>
            <a:endCxn id="126" idx="1"/>
          </p:cNvCxnSpPr>
          <p:nvPr/>
        </p:nvCxnSpPr>
        <p:spPr>
          <a:xfrm flipH="1" rot="10800000">
            <a:off x="5551511" y="3156899"/>
            <a:ext cx="1447500" cy="6300"/>
          </a:xfrm>
          <a:prstGeom prst="straightConnector1">
            <a:avLst/>
          </a:prstGeom>
          <a:noFill/>
          <a:ln cap="flat" cmpd="sng" w="9525">
            <a:solidFill>
              <a:schemeClr val="dk2"/>
            </a:solidFill>
            <a:prstDash val="solid"/>
            <a:round/>
            <a:headEnd len="med" w="med" type="none"/>
            <a:tailEnd len="med" w="med" type="none"/>
          </a:ln>
        </p:spPr>
      </p:cxnSp>
      <p:pic>
        <p:nvPicPr>
          <p:cNvPr id="129" name="Google Shape;129;p29"/>
          <p:cNvPicPr preferRelativeResize="0"/>
          <p:nvPr/>
        </p:nvPicPr>
        <p:blipFill>
          <a:blip r:embed="rId6">
            <a:alphaModFix/>
          </a:blip>
          <a:stretch>
            <a:fillRect/>
          </a:stretch>
        </p:blipFill>
        <p:spPr>
          <a:xfrm>
            <a:off x="4927467" y="1759044"/>
            <a:ext cx="587811" cy="531171"/>
          </a:xfrm>
          <a:prstGeom prst="rect">
            <a:avLst/>
          </a:prstGeom>
          <a:noFill/>
          <a:ln>
            <a:noFill/>
          </a:ln>
        </p:spPr>
      </p:pic>
      <p:sp>
        <p:nvSpPr>
          <p:cNvPr id="130" name="Google Shape;130;p29"/>
          <p:cNvSpPr txBox="1"/>
          <p:nvPr/>
        </p:nvSpPr>
        <p:spPr>
          <a:xfrm>
            <a:off x="5001532" y="1501225"/>
            <a:ext cx="470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latin typeface="Open Sans"/>
                <a:ea typeface="Open Sans"/>
                <a:cs typeface="Open Sans"/>
                <a:sym typeface="Open Sans"/>
              </a:rPr>
              <a:t>Redis</a:t>
            </a:r>
            <a:endParaRPr sz="800">
              <a:latin typeface="Open Sans"/>
              <a:ea typeface="Open Sans"/>
              <a:cs typeface="Open Sans"/>
              <a:sym typeface="Open Sans"/>
            </a:endParaRPr>
          </a:p>
        </p:txBody>
      </p:sp>
      <p:pic>
        <p:nvPicPr>
          <p:cNvPr id="131" name="Google Shape;131;p29"/>
          <p:cNvPicPr preferRelativeResize="0"/>
          <p:nvPr/>
        </p:nvPicPr>
        <p:blipFill>
          <a:blip r:embed="rId7">
            <a:alphaModFix/>
          </a:blip>
          <a:stretch>
            <a:fillRect/>
          </a:stretch>
        </p:blipFill>
        <p:spPr>
          <a:xfrm>
            <a:off x="6985728" y="1765825"/>
            <a:ext cx="523295" cy="523301"/>
          </a:xfrm>
          <a:prstGeom prst="rect">
            <a:avLst/>
          </a:prstGeom>
          <a:noFill/>
          <a:ln>
            <a:noFill/>
          </a:ln>
        </p:spPr>
      </p:pic>
      <p:sp>
        <p:nvSpPr>
          <p:cNvPr id="132" name="Google Shape;132;p29"/>
          <p:cNvSpPr txBox="1"/>
          <p:nvPr/>
        </p:nvSpPr>
        <p:spPr>
          <a:xfrm>
            <a:off x="6927950" y="1455775"/>
            <a:ext cx="756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latin typeface="Open Sans"/>
                <a:ea typeface="Open Sans"/>
                <a:cs typeface="Open Sans"/>
                <a:sym typeface="Open Sans"/>
              </a:rPr>
              <a:t>Database</a:t>
            </a:r>
            <a:endParaRPr sz="900">
              <a:latin typeface="Open Sans"/>
              <a:ea typeface="Open Sans"/>
              <a:cs typeface="Open Sans"/>
              <a:sym typeface="Open Sans"/>
            </a:endParaRPr>
          </a:p>
        </p:txBody>
      </p:sp>
      <p:cxnSp>
        <p:nvCxnSpPr>
          <p:cNvPr id="133" name="Google Shape;133;p29"/>
          <p:cNvCxnSpPr/>
          <p:nvPr/>
        </p:nvCxnSpPr>
        <p:spPr>
          <a:xfrm rot="10800000">
            <a:off x="5221384" y="2290083"/>
            <a:ext cx="0" cy="574800"/>
          </a:xfrm>
          <a:prstGeom prst="straightConnector1">
            <a:avLst/>
          </a:prstGeom>
          <a:noFill/>
          <a:ln cap="flat" cmpd="sng" w="9525">
            <a:solidFill>
              <a:schemeClr val="dk2"/>
            </a:solidFill>
            <a:prstDash val="solid"/>
            <a:round/>
            <a:headEnd len="med" w="med" type="none"/>
            <a:tailEnd len="med" w="med" type="none"/>
          </a:ln>
        </p:spPr>
      </p:cxnSp>
      <p:cxnSp>
        <p:nvCxnSpPr>
          <p:cNvPr id="134" name="Google Shape;134;p29"/>
          <p:cNvCxnSpPr/>
          <p:nvPr/>
        </p:nvCxnSpPr>
        <p:spPr>
          <a:xfrm rot="10800000">
            <a:off x="7247431" y="2289189"/>
            <a:ext cx="6600" cy="612600"/>
          </a:xfrm>
          <a:prstGeom prst="straightConnector1">
            <a:avLst/>
          </a:prstGeom>
          <a:noFill/>
          <a:ln cap="flat" cmpd="sng" w="9525">
            <a:solidFill>
              <a:schemeClr val="dk2"/>
            </a:solidFill>
            <a:prstDash val="solid"/>
            <a:round/>
            <a:headEnd len="med" w="med" type="none"/>
            <a:tailEnd len="med" w="med" type="none"/>
          </a:ln>
        </p:spPr>
      </p:cxnSp>
      <p:sp>
        <p:nvSpPr>
          <p:cNvPr id="135" name="Google Shape;135;p29"/>
          <p:cNvSpPr txBox="1"/>
          <p:nvPr/>
        </p:nvSpPr>
        <p:spPr>
          <a:xfrm>
            <a:off x="259650" y="1208625"/>
            <a:ext cx="3998100" cy="3081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Inter"/>
              <a:buChar char="●"/>
            </a:pPr>
            <a:r>
              <a:rPr b="1" lang="en-GB" sz="1800">
                <a:solidFill>
                  <a:schemeClr val="dk1"/>
                </a:solidFill>
                <a:latin typeface="Inter"/>
                <a:ea typeface="Inter"/>
                <a:cs typeface="Inter"/>
                <a:sym typeface="Inter"/>
              </a:rPr>
              <a:t>Long-Term Data</a:t>
            </a:r>
            <a:endParaRPr b="1"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API definitions/Policies</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Analytics/Usage Statistics</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Dashboard User and Access Management</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Audit Logs</a:t>
            </a:r>
            <a:endParaRPr sz="1800">
              <a:solidFill>
                <a:schemeClr val="dk1"/>
              </a:solidFill>
              <a:latin typeface="Inter"/>
              <a:ea typeface="Inter"/>
              <a:cs typeface="Inter"/>
              <a:sym typeface="Inter"/>
            </a:endParaRPr>
          </a:p>
          <a:p>
            <a:pPr indent="0" lvl="0" marL="914400" rtl="0" algn="l">
              <a:spcBef>
                <a:spcPts val="0"/>
              </a:spcBef>
              <a:spcAft>
                <a:spcPts val="0"/>
              </a:spcAft>
              <a:buNone/>
            </a:pPr>
            <a:r>
              <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Char char="●"/>
            </a:pPr>
            <a:r>
              <a:rPr b="1" lang="en-GB" sz="1800">
                <a:solidFill>
                  <a:schemeClr val="dk1"/>
                </a:solidFill>
                <a:latin typeface="Inter"/>
                <a:ea typeface="Inter"/>
                <a:cs typeface="Inter"/>
                <a:sym typeface="Inter"/>
              </a:rPr>
              <a:t>Supported Databases</a:t>
            </a:r>
            <a:endParaRPr b="1"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PostgreSQL</a:t>
            </a:r>
            <a:endParaRPr sz="1800">
              <a:solidFill>
                <a:schemeClr val="dk1"/>
              </a:solidFill>
              <a:latin typeface="Inter"/>
              <a:ea typeface="Inter"/>
              <a:cs typeface="Inter"/>
              <a:sym typeface="Inter"/>
            </a:endParaRPr>
          </a:p>
          <a:p>
            <a:pPr indent="-342900" lvl="1" marL="914400" rtl="0" algn="l">
              <a:spcBef>
                <a:spcPts val="0"/>
              </a:spcBef>
              <a:spcAft>
                <a:spcPts val="0"/>
              </a:spcAft>
              <a:buClr>
                <a:schemeClr val="dk1"/>
              </a:buClr>
              <a:buSzPts val="1800"/>
              <a:buFont typeface="Inter"/>
              <a:buChar char="○"/>
            </a:pPr>
            <a:r>
              <a:rPr lang="en-GB" sz="1800">
                <a:solidFill>
                  <a:schemeClr val="dk1"/>
                </a:solidFill>
                <a:latin typeface="Inter"/>
                <a:ea typeface="Inter"/>
                <a:cs typeface="Inter"/>
                <a:sym typeface="Inter"/>
              </a:rPr>
              <a:t>MongoDB</a:t>
            </a:r>
            <a:endParaRPr sz="1800">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30"/>
          <p:cNvSpPr txBox="1"/>
          <p:nvPr/>
        </p:nvSpPr>
        <p:spPr>
          <a:xfrm>
            <a:off x="271775" y="157075"/>
            <a:ext cx="4146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PostgreSQL</a:t>
            </a:r>
            <a:endParaRPr b="1" sz="3800">
              <a:solidFill>
                <a:srgbClr val="5900CB"/>
              </a:solidFill>
              <a:latin typeface="Inter"/>
              <a:ea typeface="Inter"/>
              <a:cs typeface="Inter"/>
              <a:sym typeface="Inter"/>
            </a:endParaRPr>
          </a:p>
        </p:txBody>
      </p:sp>
      <p:sp>
        <p:nvSpPr>
          <p:cNvPr id="141" name="Google Shape;141;p3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2" name="Google Shape;142;p3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43" name="Google Shape;143;p30"/>
          <p:cNvSpPr txBox="1"/>
          <p:nvPr/>
        </p:nvSpPr>
        <p:spPr>
          <a:xfrm>
            <a:off x="271775" y="880125"/>
            <a:ext cx="5100600" cy="39867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Inter"/>
              <a:buChar char="●"/>
            </a:pPr>
            <a:r>
              <a:rPr lang="en-GB" sz="1300">
                <a:latin typeface="Inter"/>
                <a:ea typeface="Inter"/>
                <a:cs typeface="Inter"/>
                <a:sym typeface="Inter"/>
              </a:rPr>
              <a:t>C</a:t>
            </a:r>
            <a:r>
              <a:rPr lang="en-GB" sz="1300">
                <a:latin typeface="Inter"/>
                <a:ea typeface="Inter"/>
                <a:cs typeface="Inter"/>
                <a:sym typeface="Inter"/>
              </a:rPr>
              <a:t>ombination of streaming replication, Patroni &amp; Etcd for automated failover</a:t>
            </a:r>
            <a:endParaRPr sz="1300">
              <a:latin typeface="Inter"/>
              <a:ea typeface="Inter"/>
              <a:cs typeface="Inter"/>
              <a:sym typeface="Inter"/>
            </a:endParaRPr>
          </a:p>
          <a:p>
            <a:pPr indent="-311150" lvl="0" marL="457200" rtl="0" algn="l">
              <a:spcBef>
                <a:spcPts val="0"/>
              </a:spcBef>
              <a:spcAft>
                <a:spcPts val="0"/>
              </a:spcAft>
              <a:buSzPts val="1300"/>
              <a:buFont typeface="Inter"/>
              <a:buChar char="●"/>
            </a:pPr>
            <a:r>
              <a:rPr lang="en-GB" sz="1300">
                <a:latin typeface="Inter"/>
                <a:ea typeface="Inter"/>
                <a:cs typeface="Inter"/>
                <a:sym typeface="Inter"/>
              </a:rPr>
              <a:t>HAProxy for load balancing:</a:t>
            </a:r>
            <a:endParaRPr sz="1300">
              <a:latin typeface="Inter"/>
              <a:ea typeface="Inter"/>
              <a:cs typeface="Inter"/>
              <a:sym typeface="Inter"/>
            </a:endParaRPr>
          </a:p>
          <a:p>
            <a:pPr indent="-311150" lvl="1" marL="914400" rtl="0" algn="l">
              <a:spcBef>
                <a:spcPts val="0"/>
              </a:spcBef>
              <a:spcAft>
                <a:spcPts val="0"/>
              </a:spcAft>
              <a:buSzPts val="1300"/>
              <a:buFont typeface="Inter"/>
              <a:buChar char="○"/>
            </a:pPr>
            <a:r>
              <a:rPr lang="en-GB" sz="1300">
                <a:latin typeface="Inter"/>
                <a:ea typeface="Inter"/>
                <a:cs typeface="Inter"/>
                <a:sym typeface="Inter"/>
              </a:rPr>
              <a:t>Continuous Synchronization by streaming write-ahead logs (WAL) from primary to standby nodes</a:t>
            </a:r>
            <a:endParaRPr sz="1300">
              <a:latin typeface="Inter"/>
              <a:ea typeface="Inter"/>
              <a:cs typeface="Inter"/>
              <a:sym typeface="Inter"/>
            </a:endParaRPr>
          </a:p>
          <a:p>
            <a:pPr indent="-311150" lvl="1" marL="914400" rtl="0" algn="l">
              <a:spcBef>
                <a:spcPts val="0"/>
              </a:spcBef>
              <a:spcAft>
                <a:spcPts val="0"/>
              </a:spcAft>
              <a:buSzPts val="1300"/>
              <a:buFont typeface="Inter"/>
              <a:buChar char="○"/>
            </a:pPr>
            <a:r>
              <a:rPr lang="en-GB" sz="1300">
                <a:latin typeface="Inter"/>
                <a:ea typeface="Inter"/>
                <a:cs typeface="Inter"/>
                <a:sym typeface="Inter"/>
              </a:rPr>
              <a:t>HAProxy </a:t>
            </a:r>
            <a:endParaRPr sz="1300">
              <a:latin typeface="Inter"/>
              <a:ea typeface="Inter"/>
              <a:cs typeface="Inter"/>
              <a:sym typeface="Inter"/>
            </a:endParaRPr>
          </a:p>
          <a:p>
            <a:pPr indent="-311150" lvl="2" marL="1371600" rtl="0" algn="l">
              <a:spcBef>
                <a:spcPts val="0"/>
              </a:spcBef>
              <a:spcAft>
                <a:spcPts val="0"/>
              </a:spcAft>
              <a:buSzPts val="1300"/>
              <a:buFont typeface="Inter"/>
              <a:buChar char="■"/>
            </a:pPr>
            <a:r>
              <a:rPr lang="en-GB" sz="1300">
                <a:latin typeface="Inter"/>
                <a:ea typeface="Inter"/>
                <a:cs typeface="Inter"/>
                <a:sym typeface="Inter"/>
              </a:rPr>
              <a:t>Monitors health of servers via Patroni(Primary &amp; Standby)</a:t>
            </a:r>
            <a:endParaRPr sz="1300">
              <a:latin typeface="Inter"/>
              <a:ea typeface="Inter"/>
              <a:cs typeface="Inter"/>
              <a:sym typeface="Inter"/>
            </a:endParaRPr>
          </a:p>
          <a:p>
            <a:pPr indent="-311150" lvl="2" marL="1371600" rtl="0" algn="l">
              <a:spcBef>
                <a:spcPts val="0"/>
              </a:spcBef>
              <a:spcAft>
                <a:spcPts val="0"/>
              </a:spcAft>
              <a:buSzPts val="1300"/>
              <a:buFont typeface="Inter"/>
              <a:buChar char="■"/>
            </a:pPr>
            <a:r>
              <a:rPr lang="en-GB" sz="1300">
                <a:latin typeface="Inter"/>
                <a:ea typeface="Inter"/>
                <a:cs typeface="Inter"/>
                <a:sym typeface="Inter"/>
              </a:rPr>
              <a:t>Distributes incoming database connections</a:t>
            </a:r>
            <a:endParaRPr sz="1300">
              <a:latin typeface="Inter"/>
              <a:ea typeface="Inter"/>
              <a:cs typeface="Inter"/>
              <a:sym typeface="Inter"/>
            </a:endParaRPr>
          </a:p>
          <a:p>
            <a:pPr indent="-311150" lvl="1" marL="914400" rtl="0" algn="l">
              <a:spcBef>
                <a:spcPts val="0"/>
              </a:spcBef>
              <a:spcAft>
                <a:spcPts val="0"/>
              </a:spcAft>
              <a:buSzPts val="1300"/>
              <a:buFont typeface="Inter"/>
              <a:buChar char="○"/>
            </a:pPr>
            <a:r>
              <a:rPr lang="en-GB" sz="1300">
                <a:latin typeface="Inter"/>
                <a:ea typeface="Inter"/>
                <a:cs typeface="Inter"/>
                <a:sym typeface="Inter"/>
              </a:rPr>
              <a:t>Etcd acts as a distributed key-value store for configuration management</a:t>
            </a:r>
            <a:endParaRPr sz="1300">
              <a:latin typeface="Inter"/>
              <a:ea typeface="Inter"/>
              <a:cs typeface="Inter"/>
              <a:sym typeface="Inter"/>
            </a:endParaRPr>
          </a:p>
          <a:p>
            <a:pPr indent="-311150" lvl="1" marL="914400" rtl="0" algn="l">
              <a:spcBef>
                <a:spcPts val="0"/>
              </a:spcBef>
              <a:spcAft>
                <a:spcPts val="0"/>
              </a:spcAft>
              <a:buSzPts val="1300"/>
              <a:buFont typeface="Inter"/>
              <a:buChar char="○"/>
            </a:pPr>
            <a:r>
              <a:rPr lang="en-GB" sz="1300">
                <a:latin typeface="Inter"/>
                <a:ea typeface="Inter"/>
                <a:cs typeface="Inter"/>
                <a:sym typeface="Inter"/>
              </a:rPr>
              <a:t>Patroni </a:t>
            </a:r>
            <a:endParaRPr sz="1300">
              <a:latin typeface="Inter"/>
              <a:ea typeface="Inter"/>
              <a:cs typeface="Inter"/>
              <a:sym typeface="Inter"/>
            </a:endParaRPr>
          </a:p>
          <a:p>
            <a:pPr indent="-311150" lvl="2" marL="1371600" rtl="0" algn="l">
              <a:spcBef>
                <a:spcPts val="0"/>
              </a:spcBef>
              <a:spcAft>
                <a:spcPts val="0"/>
              </a:spcAft>
              <a:buSzPts val="1300"/>
              <a:buFont typeface="Inter"/>
              <a:buChar char="■"/>
            </a:pPr>
            <a:r>
              <a:rPr lang="en-GB" sz="1300">
                <a:latin typeface="Inter"/>
                <a:ea typeface="Inter"/>
                <a:cs typeface="Inter"/>
                <a:sym typeface="Inter"/>
              </a:rPr>
              <a:t>Manages failover and PostgreSQL cluster management, monitors health of servers &amp; checking status &amp; connectivity</a:t>
            </a:r>
            <a:endParaRPr sz="1300">
              <a:latin typeface="Inter"/>
              <a:ea typeface="Inter"/>
              <a:cs typeface="Inter"/>
              <a:sym typeface="Inter"/>
            </a:endParaRPr>
          </a:p>
          <a:p>
            <a:pPr indent="-311150" lvl="2" marL="1371600" rtl="0" algn="l">
              <a:spcBef>
                <a:spcPts val="0"/>
              </a:spcBef>
              <a:spcAft>
                <a:spcPts val="0"/>
              </a:spcAft>
              <a:buSzPts val="1300"/>
              <a:buFont typeface="Inter"/>
              <a:buChar char="■"/>
            </a:pPr>
            <a:r>
              <a:rPr lang="en-GB" sz="1300">
                <a:latin typeface="Inter"/>
                <a:ea typeface="Inter"/>
                <a:cs typeface="Inter"/>
                <a:sym typeface="Inter"/>
              </a:rPr>
              <a:t>Orchestrates standby promotion if there are issues detected on primary server</a:t>
            </a:r>
            <a:endParaRPr sz="1300">
              <a:latin typeface="Inter"/>
              <a:ea typeface="Inter"/>
              <a:cs typeface="Inter"/>
              <a:sym typeface="Inter"/>
            </a:endParaRPr>
          </a:p>
          <a:p>
            <a:pPr indent="0" lvl="0" marL="0" rtl="0" algn="l">
              <a:spcBef>
                <a:spcPts val="0"/>
              </a:spcBef>
              <a:spcAft>
                <a:spcPts val="0"/>
              </a:spcAft>
              <a:buNone/>
            </a:pPr>
            <a:r>
              <a:t/>
            </a:r>
            <a:endParaRPr sz="1300"/>
          </a:p>
        </p:txBody>
      </p:sp>
      <p:pic>
        <p:nvPicPr>
          <p:cNvPr id="144" name="Google Shape;144;p30"/>
          <p:cNvPicPr preferRelativeResize="0"/>
          <p:nvPr/>
        </p:nvPicPr>
        <p:blipFill>
          <a:blip r:embed="rId4">
            <a:alphaModFix/>
          </a:blip>
          <a:stretch>
            <a:fillRect/>
          </a:stretch>
        </p:blipFill>
        <p:spPr>
          <a:xfrm>
            <a:off x="5372375" y="963450"/>
            <a:ext cx="3466824" cy="310858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31"/>
          <p:cNvSpPr txBox="1"/>
          <p:nvPr/>
        </p:nvSpPr>
        <p:spPr>
          <a:xfrm>
            <a:off x="271775" y="157075"/>
            <a:ext cx="4146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a:t>
            </a:r>
            <a:endParaRPr b="1" sz="3800">
              <a:solidFill>
                <a:srgbClr val="5900CB"/>
              </a:solidFill>
              <a:latin typeface="Inter"/>
              <a:ea typeface="Inter"/>
              <a:cs typeface="Inter"/>
              <a:sym typeface="Inter"/>
            </a:endParaRPr>
          </a:p>
        </p:txBody>
      </p:sp>
      <p:sp>
        <p:nvSpPr>
          <p:cNvPr id="150" name="Google Shape;150;p3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1" name="Google Shape;151;p3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52" name="Google Shape;152;p31"/>
          <p:cNvSpPr txBox="1"/>
          <p:nvPr/>
        </p:nvSpPr>
        <p:spPr>
          <a:xfrm>
            <a:off x="271775" y="1032525"/>
            <a:ext cx="41865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Inter"/>
                <a:ea typeface="Inter"/>
                <a:cs typeface="Inter"/>
                <a:sym typeface="Inter"/>
              </a:rPr>
              <a:t>MongoDB uses Replica Sets for high availability:</a:t>
            </a:r>
            <a:endParaRPr>
              <a:latin typeface="Inter"/>
              <a:ea typeface="Inter"/>
              <a:cs typeface="Inter"/>
              <a:sym typeface="Inter"/>
            </a:endParaRPr>
          </a:p>
          <a:p>
            <a:pPr indent="0" lvl="0" marL="0" rtl="0" algn="l">
              <a:spcBef>
                <a:spcPts val="0"/>
              </a:spcBef>
              <a:spcAft>
                <a:spcPts val="0"/>
              </a:spcAft>
              <a:buNone/>
            </a:pPr>
            <a:r>
              <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Requires a minimum of three separate hosts for high availability</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All members of Replica Set must be able to communicate with each other</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Election occurs if Primary becomes inaccessible</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Members can have different priorities, to determine the new Primary</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A majority of Replica Set members are required for an election</a:t>
            </a:r>
            <a:endParaRPr>
              <a:latin typeface="Inter"/>
              <a:ea typeface="Inter"/>
              <a:cs typeface="Inter"/>
              <a:sym typeface="Inter"/>
            </a:endParaRPr>
          </a:p>
          <a:p>
            <a:pPr indent="0" lvl="0" marL="0" rtl="0" algn="l">
              <a:spcBef>
                <a:spcPts val="0"/>
              </a:spcBef>
              <a:spcAft>
                <a:spcPts val="0"/>
              </a:spcAft>
              <a:buNone/>
            </a:pPr>
            <a:r>
              <a:t/>
            </a:r>
            <a:endParaRPr/>
          </a:p>
        </p:txBody>
      </p:sp>
      <p:pic>
        <p:nvPicPr>
          <p:cNvPr id="153" name="Google Shape;153;p31"/>
          <p:cNvPicPr preferRelativeResize="0"/>
          <p:nvPr/>
        </p:nvPicPr>
        <p:blipFill>
          <a:blip r:embed="rId4">
            <a:alphaModFix/>
          </a:blip>
          <a:stretch>
            <a:fillRect/>
          </a:stretch>
        </p:blipFill>
        <p:spPr>
          <a:xfrm>
            <a:off x="4774875" y="978175"/>
            <a:ext cx="3720450" cy="318715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yk main slide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