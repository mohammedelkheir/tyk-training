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Inter Light"/>
      <p:regular r:id="rId11"/>
      <p:bold r:id="rId12"/>
      <p:italic r:id="rId13"/>
      <p:boldItalic r:id="rId14"/>
    </p:embeddedFont>
    <p:embeddedFont>
      <p:font typeface="Inter"/>
      <p:regular r:id="rId15"/>
      <p:bold r:id="rId16"/>
      <p:italic r:id="rId17"/>
      <p:boldItalic r:id="rId18"/>
    </p:embeddedFont>
    <p:embeddedFont>
      <p:font typeface="Roboto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11" Type="http://schemas.openxmlformats.org/officeDocument/2006/relationships/font" Target="fonts/InterLight-regular.fntdata"/><Relationship Id="rId22" Type="http://schemas.openxmlformats.org/officeDocument/2006/relationships/font" Target="fonts/RobotoMono-boldItalic.fntdata"/><Relationship Id="rId10" Type="http://schemas.openxmlformats.org/officeDocument/2006/relationships/slide" Target="slides/slide5.xml"/><Relationship Id="rId21" Type="http://schemas.openxmlformats.org/officeDocument/2006/relationships/font" Target="fonts/RobotoMono-italic.fntdata"/><Relationship Id="rId13" Type="http://schemas.openxmlformats.org/officeDocument/2006/relationships/font" Target="fonts/InterLight-italic.fntdata"/><Relationship Id="rId12" Type="http://schemas.openxmlformats.org/officeDocument/2006/relationships/font" Target="fonts/Inter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font" Target="fonts/InterLight-boldItalic.fntdata"/><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RobotoMono-regular.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282fca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282fca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282fca9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282fca9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example demonstrates how to set up a secure gRPC proxy using HTTPS via Tyk. This is particularly useful for production environments or when exposing your gRPC services externally. We’ll use a gRPC server that supports TLS, connect it to Tyk Gateway over HTTPS, and expose it to a client using the grpcurl tool."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162ae71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6162ae71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ensure your gRPC server is up and running with TLS. In our case, we’re using the </a:t>
            </a:r>
            <a:r>
              <a:rPr lang="en-GB">
                <a:solidFill>
                  <a:srgbClr val="188038"/>
                </a:solidFill>
                <a:latin typeface="Roboto Mono"/>
                <a:ea typeface="Roboto Mono"/>
                <a:cs typeface="Roboto Mono"/>
                <a:sym typeface="Roboto Mono"/>
              </a:rPr>
              <a:t>route_guide</a:t>
            </a:r>
            <a:r>
              <a:rPr lang="en-GB">
                <a:solidFill>
                  <a:schemeClr val="dk1"/>
                </a:solidFill>
              </a:rPr>
              <a:t> example server which accepts a </a:t>
            </a:r>
            <a:r>
              <a:rPr lang="en-GB">
                <a:solidFill>
                  <a:srgbClr val="188038"/>
                </a:solidFill>
                <a:latin typeface="Roboto Mono"/>
                <a:ea typeface="Roboto Mono"/>
                <a:cs typeface="Roboto Mono"/>
                <a:sym typeface="Roboto Mono"/>
              </a:rPr>
              <a:t>-tls=true</a:t>
            </a:r>
            <a:r>
              <a:rPr lang="en-GB">
                <a:solidFill>
                  <a:schemeClr val="dk1"/>
                </a:solidFill>
              </a:rPr>
              <a:t> flag. This server listens at </a:t>
            </a:r>
            <a:r>
              <a:rPr lang="en-GB">
                <a:solidFill>
                  <a:srgbClr val="188038"/>
                </a:solidFill>
                <a:latin typeface="Roboto Mono"/>
                <a:ea typeface="Roboto Mono"/>
                <a:cs typeface="Roboto Mono"/>
                <a:sym typeface="Roboto Mono"/>
              </a:rPr>
              <a:t>grpc.test.example.com:10000</a:t>
            </a:r>
            <a:r>
              <a:rPr lang="en-GB">
                <a:solidFill>
                  <a:schemeClr val="dk1"/>
                </a:solidFill>
              </a:rPr>
              <a:t>. Also, make sure Tyk Gateway is up and that you have a valid certificate available for HTTPS termination."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162ae714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162ae714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"Inside the Tyk Dashboard, define a new API. Set the protocol to HTTPS and upload the certificate that will be used to secure this API. Uncheck 'strip listen path' to preserve the full gRPC method name. Then point the target URL to your gRPC server's secure endpoint."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61640dd93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61640dd93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test the setup, use </a:t>
            </a:r>
            <a:r>
              <a:rPr lang="en-GB">
                <a:solidFill>
                  <a:srgbClr val="188038"/>
                </a:solidFill>
                <a:latin typeface="Roboto Mono"/>
                <a:ea typeface="Roboto Mono"/>
                <a:cs typeface="Roboto Mono"/>
                <a:sym typeface="Roboto Mono"/>
              </a:rPr>
              <a:t>grpcurl</a:t>
            </a:r>
            <a:r>
              <a:rPr lang="en-GB">
                <a:solidFill>
                  <a:schemeClr val="dk1"/>
                </a:solidFill>
              </a:rPr>
              <a:t> without the </a:t>
            </a:r>
            <a:r>
              <a:rPr lang="en-GB">
                <a:solidFill>
                  <a:srgbClr val="188038"/>
                </a:solidFill>
                <a:latin typeface="Roboto Mono"/>
                <a:ea typeface="Roboto Mono"/>
                <a:cs typeface="Roboto Mono"/>
                <a:sym typeface="Roboto Mono"/>
              </a:rPr>
              <a:t>-plaintext</a:t>
            </a:r>
            <a:r>
              <a:rPr lang="en-GB">
                <a:solidFill>
                  <a:schemeClr val="dk1"/>
                </a:solidFill>
              </a:rPr>
              <a:t> flag. This ensures you're connecting over TLS. If everything is configured properly, you'll get a successful response from the gRPC server through the Tyk Gateway, confirming your secure proxy is working."</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github.com/grpc/grpc-go/tree/master/examples/route_guid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415550" y="1909950"/>
            <a:ext cx="63129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gRPC Proxy Example Using HTTPS</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233275"/>
            <a:ext cx="7858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600">
                <a:solidFill>
                  <a:srgbClr val="5900CB"/>
                </a:solidFill>
                <a:latin typeface="Inter"/>
                <a:ea typeface="Inter"/>
                <a:cs typeface="Inter"/>
                <a:sym typeface="Inter"/>
              </a:rPr>
              <a:t>Secure gRPC Proxy Setup with Tyk and HTTPS</a:t>
            </a:r>
            <a:endParaRPr b="1" sz="2600">
              <a:solidFill>
                <a:srgbClr val="5900CB"/>
              </a:solidFill>
              <a:latin typeface="Inter"/>
              <a:ea typeface="Inter"/>
              <a:cs typeface="Inter"/>
              <a:sym typeface="Inter"/>
            </a:endParaRPr>
          </a:p>
        </p:txBody>
      </p:sp>
      <p:sp>
        <p:nvSpPr>
          <p:cNvPr id="64" name="Google Shape;64;p14"/>
          <p:cNvSpPr txBox="1"/>
          <p:nvPr/>
        </p:nvSpPr>
        <p:spPr>
          <a:xfrm>
            <a:off x="863625" y="1125700"/>
            <a:ext cx="7738200" cy="4265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Leverages HTTPS (TLS) for encrypted transport</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Useful for production or public-facing services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Required components:</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gRPC server with TLS enabled</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gRPC client (</a:t>
            </a:r>
            <a:r>
              <a:rPr lang="en-GB">
                <a:solidFill>
                  <a:schemeClr val="dk1"/>
                </a:solidFill>
                <a:latin typeface="Courier New"/>
                <a:ea typeface="Courier New"/>
                <a:cs typeface="Courier New"/>
                <a:sym typeface="Courier New"/>
              </a:rPr>
              <a:t>grpcurl</a:t>
            </a:r>
            <a:r>
              <a:rPr lang="en-GB">
                <a:solidFill>
                  <a:schemeClr val="dk1"/>
                </a:solidFill>
                <a:latin typeface="Inter"/>
                <a:ea typeface="Inter"/>
                <a:cs typeface="Inter"/>
                <a:sym typeface="Inter"/>
              </a:rPr>
              <a:t> or app)</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SSL certificate</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Gateway and Dashboard</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t/>
            </a:r>
            <a:endParaRPr>
              <a:solidFill>
                <a:schemeClr val="dk1"/>
              </a:solidFill>
              <a:latin typeface="Inter"/>
              <a:ea typeface="Inter"/>
              <a:cs typeface="Inter"/>
              <a:sym typeface="Inter"/>
            </a:endParaRPr>
          </a:p>
          <a:p>
            <a:pPr indent="0" lvl="0" marL="0" rtl="0" algn="l">
              <a:lnSpc>
                <a:spcPct val="115000"/>
              </a:lnSpc>
              <a:spcBef>
                <a:spcPts val="0"/>
              </a:spcBef>
              <a:spcAft>
                <a:spcPts val="0"/>
              </a:spcAft>
              <a:buNone/>
            </a:pPr>
            <a:r>
              <a:rPr lang="en-GB">
                <a:solidFill>
                  <a:schemeClr val="dk1"/>
                </a:solidFill>
                <a:latin typeface="Inter"/>
                <a:ea typeface="Inter"/>
                <a:cs typeface="Inter"/>
                <a:sym typeface="Inter"/>
              </a:rPr>
              <a:t>gRPC client → Tyk Gateway (HTTPS) → gRPC server (H2C connection)</a:t>
            </a:r>
            <a:endParaRPr>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5"/>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70" name="Google Shape;70;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 name="Google Shape;71;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2" name="Google Shape;72;p15"/>
          <p:cNvSpPr txBox="1"/>
          <p:nvPr/>
        </p:nvSpPr>
        <p:spPr>
          <a:xfrm>
            <a:off x="720000" y="2332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Prerequisites for Secure gRPC Proxy</a:t>
            </a:r>
            <a:endParaRPr b="1" sz="3300">
              <a:solidFill>
                <a:srgbClr val="5900CB"/>
              </a:solidFill>
              <a:latin typeface="Inter"/>
              <a:ea typeface="Inter"/>
              <a:cs typeface="Inter"/>
              <a:sym typeface="Inter"/>
            </a:endParaRPr>
          </a:p>
        </p:txBody>
      </p:sp>
      <p:sp>
        <p:nvSpPr>
          <p:cNvPr id="73" name="Google Shape;73;p15"/>
          <p:cNvSpPr txBox="1"/>
          <p:nvPr/>
        </p:nvSpPr>
        <p:spPr>
          <a:xfrm>
            <a:off x="863625" y="1125700"/>
            <a:ext cx="7738200" cy="4265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Start the </a:t>
            </a:r>
            <a:r>
              <a:rPr lang="en-GB" u="sng">
                <a:solidFill>
                  <a:schemeClr val="dk2"/>
                </a:solidFill>
                <a:latin typeface="Inter"/>
                <a:ea typeface="Inter"/>
                <a:cs typeface="Inter"/>
                <a:sym typeface="Inter"/>
                <a:hlinkClick r:id="rId4">
                  <a:extLst>
                    <a:ext uri="{A12FA001-AC4F-418D-AE19-62706E023703}">
                      <ahyp:hlinkClr val="tx"/>
                    </a:ext>
                  </a:extLst>
                </a:hlinkClick>
              </a:rPr>
              <a:t>gRPC server</a:t>
            </a:r>
            <a:r>
              <a:rPr lang="en-GB">
                <a:solidFill>
                  <a:schemeClr val="dk1"/>
                </a:solidFill>
                <a:latin typeface="Inter"/>
                <a:ea typeface="Inter"/>
                <a:cs typeface="Inter"/>
                <a:sym typeface="Inter"/>
              </a:rPr>
              <a:t> with TLS support</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For example: </a:t>
            </a:r>
            <a:r>
              <a:rPr lang="en-GB">
                <a:solidFill>
                  <a:schemeClr val="dk1"/>
                </a:solidFill>
                <a:latin typeface="Courier New"/>
                <a:ea typeface="Courier New"/>
                <a:cs typeface="Courier New"/>
                <a:sym typeface="Courier New"/>
              </a:rPr>
              <a:t>go run server.go -tls=true</a:t>
            </a:r>
            <a:endParaRPr>
              <a:solidFill>
                <a:schemeClr val="dk1"/>
              </a:solidFill>
              <a:latin typeface="Courier New"/>
              <a:ea typeface="Courier New"/>
              <a:cs typeface="Courier New"/>
              <a:sym typeface="Courier New"/>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Expose at: </a:t>
            </a:r>
            <a:r>
              <a:rPr lang="en-GB">
                <a:solidFill>
                  <a:schemeClr val="dk1"/>
                </a:solidFill>
                <a:latin typeface="Courier New"/>
                <a:ea typeface="Courier New"/>
                <a:cs typeface="Courier New"/>
                <a:sym typeface="Courier New"/>
              </a:rPr>
              <a:t>grpc.test.example.com:10000</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Have a valid certificate for HTTPS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Gateway &amp; Dashboard running</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gRPC client installed (</a:t>
            </a:r>
            <a:r>
              <a:rPr lang="en-GB">
                <a:solidFill>
                  <a:schemeClr val="dk1"/>
                </a:solidFill>
                <a:latin typeface="Courier New"/>
                <a:ea typeface="Courier New"/>
                <a:cs typeface="Courier New"/>
                <a:sym typeface="Courier New"/>
              </a:rPr>
              <a:t>grpcurl</a:t>
            </a:r>
            <a:r>
              <a:rPr lang="en-GB">
                <a:solidFill>
                  <a:schemeClr val="dk1"/>
                </a:solidFill>
                <a:latin typeface="Inter"/>
                <a:ea typeface="Inter"/>
                <a:cs typeface="Inter"/>
                <a:sym typeface="Inter"/>
              </a:rPr>
              <a:t> or equivalent)</a:t>
            </a:r>
            <a:endParaRPr>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6"/>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79" name="Google Shape;79;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 name="Google Shape;80;p1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1" name="Google Shape;81;p16"/>
          <p:cNvSpPr txBox="1"/>
          <p:nvPr/>
        </p:nvSpPr>
        <p:spPr>
          <a:xfrm>
            <a:off x="720000" y="2332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Configure Secure gRPC Proxy in Tyk</a:t>
            </a:r>
            <a:endParaRPr b="1" sz="3300">
              <a:solidFill>
                <a:srgbClr val="5900CB"/>
              </a:solidFill>
              <a:latin typeface="Inter"/>
              <a:ea typeface="Inter"/>
              <a:cs typeface="Inter"/>
              <a:sym typeface="Inter"/>
            </a:endParaRPr>
          </a:p>
        </p:txBody>
      </p:sp>
      <p:sp>
        <p:nvSpPr>
          <p:cNvPr id="82" name="Google Shape;82;p16"/>
          <p:cNvSpPr txBox="1"/>
          <p:nvPr/>
        </p:nvSpPr>
        <p:spPr>
          <a:xfrm>
            <a:off x="863625" y="1125700"/>
            <a:ext cx="7738200" cy="4265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Create a new API in the Tyk Dashboard</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Set Protocol to </a:t>
            </a:r>
            <a:r>
              <a:rPr lang="en-GB">
                <a:solidFill>
                  <a:schemeClr val="dk1"/>
                </a:solidFill>
                <a:latin typeface="Courier New"/>
                <a:ea typeface="Courier New"/>
                <a:cs typeface="Courier New"/>
                <a:sym typeface="Courier New"/>
              </a:rPr>
              <a:t>HTTPS</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Uncheck </a:t>
            </a:r>
            <a:r>
              <a:rPr lang="en-GB">
                <a:solidFill>
                  <a:schemeClr val="dk1"/>
                </a:solidFill>
                <a:latin typeface="Courier New"/>
                <a:ea typeface="Courier New"/>
                <a:cs typeface="Courier New"/>
                <a:sym typeface="Courier New"/>
              </a:rPr>
              <a:t>Strip Listen Path</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Upload the SSL certificate</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Set Custom Domain (e.g., </a:t>
            </a:r>
            <a:r>
              <a:rPr lang="en-GB">
                <a:solidFill>
                  <a:schemeClr val="dk1"/>
                </a:solidFill>
                <a:latin typeface="Courier New"/>
                <a:ea typeface="Courier New"/>
                <a:cs typeface="Courier New"/>
                <a:sym typeface="Courier New"/>
              </a:rPr>
              <a:t>tyk</a:t>
            </a:r>
            <a:r>
              <a:rPr lang="en-GB">
                <a:solidFill>
                  <a:schemeClr val="dk1"/>
                </a:solidFill>
                <a:latin typeface="Inter"/>
                <a:ea typeface="Inter"/>
                <a:cs typeface="Inter"/>
                <a:sym typeface="Inter"/>
              </a:rPr>
              <a:t>)</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Set Listen Path: </a:t>
            </a:r>
            <a:r>
              <a:rPr lang="en-GB">
                <a:solidFill>
                  <a:schemeClr val="dk1"/>
                </a:solidFill>
                <a:latin typeface="Courier New"/>
                <a:ea typeface="Courier New"/>
                <a:cs typeface="Courier New"/>
                <a:sym typeface="Courier New"/>
              </a:rPr>
              <a:t>/routeguide.RouteGuide</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Set Target URL: </a:t>
            </a:r>
            <a:r>
              <a:rPr lang="en-GB">
                <a:solidFill>
                  <a:schemeClr val="dk1"/>
                </a:solidFill>
                <a:latin typeface="Courier New"/>
                <a:ea typeface="Courier New"/>
                <a:cs typeface="Courier New"/>
                <a:sym typeface="Courier New"/>
              </a:rPr>
              <a:t>https://grpc.test.example.com:10000</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AutoNum type="arabicPeriod"/>
            </a:pPr>
            <a:r>
              <a:rPr lang="en-GB">
                <a:solidFill>
                  <a:schemeClr val="dk1"/>
                </a:solidFill>
                <a:latin typeface="Inter"/>
                <a:ea typeface="Inter"/>
                <a:cs typeface="Inter"/>
                <a:sym typeface="Inter"/>
              </a:rPr>
              <a:t>Save and reload Gateway</a:t>
            </a:r>
            <a:endParaRPr>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17"/>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88" name="Google Shape;88;p17"/>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7"/>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90" name="Google Shape;90;p17"/>
          <p:cNvSpPr txBox="1"/>
          <p:nvPr/>
        </p:nvSpPr>
        <p:spPr>
          <a:xfrm>
            <a:off x="720000" y="2332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Verifying gRPC Proxy Over HTTPS</a:t>
            </a:r>
            <a:endParaRPr b="1" sz="3300">
              <a:solidFill>
                <a:srgbClr val="5900CB"/>
              </a:solidFill>
              <a:latin typeface="Inter"/>
              <a:ea typeface="Inter"/>
              <a:cs typeface="Inter"/>
              <a:sym typeface="Inter"/>
            </a:endParaRPr>
          </a:p>
        </p:txBody>
      </p:sp>
      <p:sp>
        <p:nvSpPr>
          <p:cNvPr id="91" name="Google Shape;91;p17"/>
          <p:cNvSpPr txBox="1"/>
          <p:nvPr/>
        </p:nvSpPr>
        <p:spPr>
          <a:xfrm>
            <a:off x="863625" y="1125700"/>
            <a:ext cx="7738200" cy="4265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Inter"/>
              <a:buChar char="●"/>
            </a:pPr>
            <a:r>
              <a:rPr b="1" lang="en-GB" sz="1100"/>
              <a:t>Command Example:</a:t>
            </a:r>
            <a:endParaRPr b="1" sz="1100"/>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grpcurl \</a:t>
            </a:r>
            <a:endParaRPr sz="1100">
              <a:latin typeface="Courier New"/>
              <a:ea typeface="Courier New"/>
              <a:cs typeface="Courier New"/>
              <a:sym typeface="Courier New"/>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  -proto route_guide.proto \</a:t>
            </a:r>
            <a:endParaRPr sz="1100">
              <a:latin typeface="Courier New"/>
              <a:ea typeface="Courier New"/>
              <a:cs typeface="Courier New"/>
              <a:sym typeface="Courier New"/>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  -d '{"latitude": 1, "longitude": 2}' \</a:t>
            </a:r>
            <a:endParaRPr sz="1100">
              <a:latin typeface="Courier New"/>
              <a:ea typeface="Courier New"/>
              <a:cs typeface="Courier New"/>
              <a:sym typeface="Courier New"/>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  tyk:8080 \</a:t>
            </a:r>
            <a:endParaRPr sz="1100">
              <a:latin typeface="Courier New"/>
              <a:ea typeface="Courier New"/>
              <a:cs typeface="Courier New"/>
              <a:sym typeface="Courier New"/>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  routeguide.RouteGuide/GetFeature</a:t>
            </a:r>
            <a:endParaRPr sz="1100">
              <a:latin typeface="Courier New"/>
              <a:ea typeface="Courier New"/>
              <a:cs typeface="Courier New"/>
              <a:sym typeface="Courier New"/>
            </a:endParaRPr>
          </a:p>
          <a:p>
            <a:pPr indent="-298450" lvl="0" marL="457200" rtl="0" algn="l">
              <a:lnSpc>
                <a:spcPct val="115000"/>
              </a:lnSpc>
              <a:spcBef>
                <a:spcPts val="1200"/>
              </a:spcBef>
              <a:spcAft>
                <a:spcPts val="0"/>
              </a:spcAft>
              <a:buSzPts val="1100"/>
              <a:buFont typeface="Inter"/>
              <a:buChar char="●"/>
            </a:pPr>
            <a:r>
              <a:rPr b="1" lang="en-GB" sz="1100">
                <a:latin typeface="Inter"/>
                <a:ea typeface="Inter"/>
                <a:cs typeface="Inter"/>
                <a:sym typeface="Inter"/>
              </a:rPr>
              <a:t>Expected Output:</a:t>
            </a:r>
            <a:endParaRPr b="1" sz="1100">
              <a:latin typeface="Inter"/>
              <a:ea typeface="Inter"/>
              <a:cs typeface="Inter"/>
              <a:sym typeface="Inter"/>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a:t>
            </a:r>
            <a:endParaRPr sz="1100">
              <a:latin typeface="Courier New"/>
              <a:ea typeface="Courier New"/>
              <a:cs typeface="Courier New"/>
              <a:sym typeface="Courier New"/>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  "name": "Some Place",</a:t>
            </a:r>
            <a:endParaRPr sz="1100">
              <a:latin typeface="Courier New"/>
              <a:ea typeface="Courier New"/>
              <a:cs typeface="Courier New"/>
              <a:sym typeface="Courier New"/>
            </a:endParaRPr>
          </a:p>
          <a:p>
            <a:pPr indent="0" lvl="0" marL="457200" rtl="0" algn="l">
              <a:lnSpc>
                <a:spcPct val="100000"/>
              </a:lnSpc>
              <a:spcBef>
                <a:spcPts val="1200"/>
              </a:spcBef>
              <a:spcAft>
                <a:spcPts val="0"/>
              </a:spcAft>
              <a:buNone/>
            </a:pPr>
            <a:r>
              <a:rPr lang="en-GB" sz="1100">
                <a:latin typeface="Courier New"/>
                <a:ea typeface="Courier New"/>
                <a:cs typeface="Courier New"/>
                <a:sym typeface="Courier New"/>
              </a:rPr>
              <a:t>  "location": { "latitude": 1, "longitude": 2 }</a:t>
            </a:r>
            <a:endParaRPr sz="1100">
              <a:latin typeface="Courier New"/>
              <a:ea typeface="Courier New"/>
              <a:cs typeface="Courier New"/>
              <a:sym typeface="Courier New"/>
            </a:endParaRPr>
          </a:p>
          <a:p>
            <a:pPr indent="0" lvl="0" marL="457200" rtl="0" algn="l">
              <a:lnSpc>
                <a:spcPct val="100000"/>
              </a:lnSpc>
              <a:spcBef>
                <a:spcPts val="1200"/>
              </a:spcBef>
              <a:spcAft>
                <a:spcPts val="1200"/>
              </a:spcAft>
              <a:buNone/>
            </a:pPr>
            <a:r>
              <a:rPr lang="en-GB" sz="1100">
                <a:latin typeface="Courier New"/>
                <a:ea typeface="Courier New"/>
                <a:cs typeface="Courier New"/>
                <a:sym typeface="Courier New"/>
              </a:rPr>
              <a:t>}</a:t>
            </a:r>
            <a:endParaRPr sz="1100">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