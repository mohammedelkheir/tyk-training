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Inter"/>
      <p:regular r:id="rId12"/>
      <p:bold r:id="rId13"/>
      <p:italic r:id="rId14"/>
      <p:boldItalic r:id="rId15"/>
    </p:embeddedFont>
    <p:embeddedFont>
      <p:font typeface="Open Sans SemiBold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-bold.fntdata"/><Relationship Id="rId12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Italic.fntdata"/><Relationship Id="rId14" Type="http://schemas.openxmlformats.org/officeDocument/2006/relationships/font" Target="fonts/Inter-italic.fntdata"/><Relationship Id="rId17" Type="http://schemas.openxmlformats.org/officeDocument/2006/relationships/font" Target="fonts/OpenSansSemiBold-bold.fntdata"/><Relationship Id="rId16" Type="http://schemas.openxmlformats.org/officeDocument/2006/relationships/font" Target="fonts/OpenSansSemiBold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SemiBold-boldItalic.fntdata"/><Relationship Id="rId6" Type="http://schemas.openxmlformats.org/officeDocument/2006/relationships/slide" Target="slides/slide1.xml"/><Relationship Id="rId18" Type="http://schemas.openxmlformats.org/officeDocument/2006/relationships/font" Target="fonts/OpenSans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1dcb0dd5c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1dcb0dd5c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a121277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a121277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a121277e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a121277e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a121277e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a121277e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a121277e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a121277e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a121277e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6a121277e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slide" showMasterSp="0">
  <p:cSld name="Light slide"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951731" y="1115566"/>
            <a:ext cx="5302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3000"/>
              <a:buFont typeface="Arial"/>
              <a:buChar char="●"/>
              <a:defRPr b="1" sz="3000">
                <a:solidFill>
                  <a:srgbClr val="5050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2" type="body"/>
          </p:nvPr>
        </p:nvSpPr>
        <p:spPr>
          <a:xfrm>
            <a:off x="934600" y="858391"/>
            <a:ext cx="282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pic>
        <p:nvPicPr>
          <p:cNvPr descr="logo_RGB-Transparent1-WEB.png" id="53" name="Google Shape;53;p13"/>
          <p:cNvPicPr preferRelativeResize="0"/>
          <p:nvPr/>
        </p:nvPicPr>
        <p:blipFill rotWithShape="1">
          <a:blip r:embed="rId2">
            <a:alphaModFix/>
          </a:blip>
          <a:srcRect b="40" l="0" r="0" t="40"/>
          <a:stretch/>
        </p:blipFill>
        <p:spPr>
          <a:xfrm>
            <a:off x="243186" y="4749582"/>
            <a:ext cx="2798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idx="3" type="body"/>
          </p:nvPr>
        </p:nvSpPr>
        <p:spPr>
          <a:xfrm>
            <a:off x="951731" y="2296477"/>
            <a:ext cx="3860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543920" y="4773806"/>
            <a:ext cx="351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376425" y="962175"/>
            <a:ext cx="84252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API </a:t>
            </a: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Security with Tyk:</a:t>
            </a:r>
            <a:endParaRPr b="1" sz="3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Rate Limiting in Tyk</a:t>
            </a:r>
            <a:endParaRPr b="1" sz="3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1738950" y="2246175"/>
            <a:ext cx="56793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Learn how to control how often clients can call your APIs to prevent abuse, ensure fair usage, and protect backend systems.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14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Rate-Limiting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869950" y="1366849"/>
            <a:ext cx="7659600" cy="3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•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rate limit is a short-term restriction on the number of requests an API client can make to an API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•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Defined as a number of requests over a number of seconds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•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Exceeding the rate limit results in the request being blocked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•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Can be applied in three ways, to suit different needs: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Keys, for individual rate limits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Policies, for centralised control of rate limits across many Keys and APIs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APIs, for aggregated rate limits across all API clients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Rate-Limiting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869950" y="1366849"/>
            <a:ext cx="7659600" cy="3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•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Key and Policy configuration is via the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rate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per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properties: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rate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is the number of requests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per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is the number seconds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•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Per-API rate limits can also be defined, with separate rate and per properties for each API, stored within the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access_rights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section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•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API Definition configuration uses the same properties, but stores them within the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global_rate_limit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property: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global_rate_limit.rate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global_rate_limit.per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Rate-Limiting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869950" y="1366849"/>
            <a:ext cx="7659600" cy="3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•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Rate limiting can be disabled in two ways: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Via the API definition: Set disable_rate_limit to true to disable rate limiting for all requests for the API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Via the Key or Policy: Set rate to a value less than 1 to disable rate limiting for the individual Key or all keys related to the Policy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•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either of these conditions is set then the related requests will no be subject to rate limiting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Rate-Limiting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869950" y="1366849"/>
            <a:ext cx="7659600" cy="3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•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Rate limit calculation is based on the datetime of the request: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Previous requests within the rate limit period are totalled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total exceeds the maximum allowed in the period, the request is blocked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•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API clients which exceed the rate limit receive this response: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HTTP status code: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429 Too Many Requests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Body: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rate limit exceeded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Tyk ‘rate limit exceeded’ system event is also triggered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Rate-Limiting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869950" y="1366849"/>
            <a:ext cx="7659600" cy="3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For situations where a rate limit is defined on both a Key/Policy and also the API Definition: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the request causes any of the various rate limits to be exceed, the Gateway will block the request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This means that an API client may be within their Key/Policy rate limit, but if their request causes the API Definition’s global rate limit to be exceeded, then the request is blocked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