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y="5143500" cx="9144000"/>
  <p:notesSz cx="6858000" cy="9144000"/>
  <p:embeddedFontLst>
    <p:embeddedFont>
      <p:font typeface="Inter Light"/>
      <p:regular r:id="rId30"/>
      <p:bold r:id="rId31"/>
      <p:italic r:id="rId32"/>
      <p:boldItalic r:id="rId33"/>
    </p:embeddedFont>
    <p:embeddedFont>
      <p:font typeface="Inter"/>
      <p:regular r:id="rId34"/>
      <p:bold r:id="rId35"/>
      <p:italic r:id="rId36"/>
      <p:boldItalic r:id="rId37"/>
    </p:embeddedFont>
    <p:embeddedFont>
      <p:font typeface="Source Code Pro"/>
      <p:regular r:id="rId38"/>
      <p:bold r:id="rId39"/>
      <p:italic r:id="rId40"/>
      <p:boldItalic r:id="rId41"/>
    </p:embeddedFont>
    <p:embeddedFont>
      <p:font typeface="Open Sans SemiBold"/>
      <p:regular r:id="rId42"/>
      <p:bold r:id="rId43"/>
      <p:italic r:id="rId44"/>
      <p:boldItalic r:id="rId45"/>
    </p:embeddedFont>
    <p:embeddedFont>
      <p:font typeface="Roboto Mono"/>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A417D30-B4AA-45EF-81D9-36D5679D716F}">
  <a:tblStyle styleId="{0A417D30-B4AA-45EF-81D9-36D5679D716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ourceCodePro-italic.fntdata"/><Relationship Id="rId42" Type="http://schemas.openxmlformats.org/officeDocument/2006/relationships/font" Target="fonts/OpenSansSemiBold-regular.fntdata"/><Relationship Id="rId41" Type="http://schemas.openxmlformats.org/officeDocument/2006/relationships/font" Target="fonts/SourceCodePro-boldItalic.fntdata"/><Relationship Id="rId44" Type="http://schemas.openxmlformats.org/officeDocument/2006/relationships/font" Target="fonts/OpenSansSemiBold-italic.fntdata"/><Relationship Id="rId43" Type="http://schemas.openxmlformats.org/officeDocument/2006/relationships/font" Target="fonts/OpenSansSemiBold-bold.fntdata"/><Relationship Id="rId46" Type="http://schemas.openxmlformats.org/officeDocument/2006/relationships/font" Target="fonts/RobotoMono-regular.fntdata"/><Relationship Id="rId45" Type="http://schemas.openxmlformats.org/officeDocument/2006/relationships/font" Target="fonts/OpenSans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RobotoMono-italic.fntdata"/><Relationship Id="rId47" Type="http://schemas.openxmlformats.org/officeDocument/2006/relationships/font" Target="fonts/RobotoMono-bold.fntdata"/><Relationship Id="rId49" Type="http://schemas.openxmlformats.org/officeDocument/2006/relationships/font" Target="fonts/RobotoMono-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InterLight-bold.fntdata"/><Relationship Id="rId30" Type="http://schemas.openxmlformats.org/officeDocument/2006/relationships/font" Target="fonts/InterLight-regular.fntdata"/><Relationship Id="rId33" Type="http://schemas.openxmlformats.org/officeDocument/2006/relationships/font" Target="fonts/InterLight-boldItalic.fntdata"/><Relationship Id="rId32" Type="http://schemas.openxmlformats.org/officeDocument/2006/relationships/font" Target="fonts/InterLight-italic.fntdata"/><Relationship Id="rId35" Type="http://schemas.openxmlformats.org/officeDocument/2006/relationships/font" Target="fonts/Inter-bold.fntdata"/><Relationship Id="rId34" Type="http://schemas.openxmlformats.org/officeDocument/2006/relationships/font" Target="fonts/Inter-regular.fntdata"/><Relationship Id="rId37" Type="http://schemas.openxmlformats.org/officeDocument/2006/relationships/font" Target="fonts/Inter-boldItalic.fntdata"/><Relationship Id="rId36" Type="http://schemas.openxmlformats.org/officeDocument/2006/relationships/font" Target="fonts/Inter-italic.fntdata"/><Relationship Id="rId39" Type="http://schemas.openxmlformats.org/officeDocument/2006/relationships/font" Target="fonts/SourceCodePro-bold.fntdata"/><Relationship Id="rId38" Type="http://schemas.openxmlformats.org/officeDocument/2006/relationships/font" Target="fonts/SourceCodePro-regular.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51dcb0dd5c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51dcb0dd5c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945e27dc63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945e27dc63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945e27dc63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945e27dc63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945e27dc63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945e27dc63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"Bearer tokens offer a simple and flexible way to manage API access. However, their simplicity also makes them vulnerable if not protected properly. In this slide, we’re looking at what a bearer token is and why secure handling in both storage and transmission is critical. Tyk gives you flexibility to accept tokens from headers, query parameters, or cookies."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we can aslo see how Tyk provides advanced configuration options - configure dynamic mTLS or request signing to support legacy systems like Mashery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945e27dc63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945e27dc63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t>While OpenAPI limits you to one location for a token, Tyk allows the securityScheme defined in the OAS to multiple locations for the authentication token — headers, query strings, cookies.</a:t>
            </a:r>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945e27dc63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945e27dc63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t>"Let's talk about Basic Authentication, one of the oldest and simplest forms of API authentication. It works by taking a user’s credentials—just a username and a password—combining them with a colon in between, and base64 encoding the result. This string is then sent in the Authorization header of the request.</a:t>
            </a:r>
            <a:endParaRPr/>
          </a:p>
          <a:p>
            <a:pPr indent="0" lvl="0" marL="0" rtl="0" algn="l">
              <a:lnSpc>
                <a:spcPct val="115000"/>
              </a:lnSpc>
              <a:spcBef>
                <a:spcPts val="1200"/>
              </a:spcBef>
              <a:spcAft>
                <a:spcPts val="0"/>
              </a:spcAft>
              <a:buClr>
                <a:schemeClr val="dk1"/>
              </a:buClr>
              <a:buSzPts val="1100"/>
              <a:buFont typeface="Arial"/>
              <a:buNone/>
            </a:pPr>
            <a:r>
              <a:rPr lang="en-GB"/>
              <a:t>As shown in the example here, anyone with access to that string could decode it and gain access, so the main risk is that it’s essentially plain text over the wire.</a:t>
            </a:r>
            <a:endParaRPr/>
          </a:p>
          <a:p>
            <a:pPr indent="0" lvl="0" marL="0" rtl="0" algn="l">
              <a:lnSpc>
                <a:spcPct val="115000"/>
              </a:lnSpc>
              <a:spcBef>
                <a:spcPts val="1200"/>
              </a:spcBef>
              <a:spcAft>
                <a:spcPts val="0"/>
              </a:spcAft>
              <a:buClr>
                <a:schemeClr val="dk1"/>
              </a:buClr>
              <a:buSzPts val="1100"/>
              <a:buFont typeface="Arial"/>
              <a:buNone/>
            </a:pPr>
            <a:r>
              <a:rPr lang="en-GB"/>
              <a:t>Because of this, we strongly advise using Basic Auth only over secure channels like TLS, and ideally combine it with additional security layers like mutual TLS (mTLS) for client certificate verification.</a:t>
            </a:r>
            <a:endParaRPr/>
          </a:p>
          <a:p>
            <a:pPr indent="0" lvl="0" marL="0" rtl="0" algn="l">
              <a:lnSpc>
                <a:spcPct val="115000"/>
              </a:lnSpc>
              <a:spcBef>
                <a:spcPts val="1200"/>
              </a:spcBef>
              <a:spcAft>
                <a:spcPts val="1200"/>
              </a:spcAft>
              <a:buNone/>
            </a:pPr>
            <a:r>
              <a:rPr lang="en-GB"/>
              <a:t>In most modern use cases, we prefer more secure alternatives like OAuth2 or JWT, but Basic Auth can still be useful for simple internal integrations where risk is minimal and the communication is secure."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945e27dc63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945e27dc63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a:solidFill>
                  <a:schemeClr val="dk1"/>
                </a:solidFill>
              </a:rPr>
              <a:t>"In some legacy or specialized API use cases—like SOAP—credentials might be passed in the </a:t>
            </a:r>
            <a:r>
              <a:rPr b="1" lang="en-GB">
                <a:solidFill>
                  <a:schemeClr val="dk1"/>
                </a:solidFill>
              </a:rPr>
              <a:t>body</a:t>
            </a:r>
            <a:r>
              <a:rPr lang="en-GB">
                <a:solidFill>
                  <a:schemeClr val="dk1"/>
                </a:solidFill>
              </a:rPr>
              <a:t> of the request rather than in the headers. While this is non-standard from a RESTful perspective, Tyk supports it through regex-based extraction.</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With this feature, you define patterns that match the username and password in the request payload. For example, if the request XML body includes tags like </a:t>
            </a:r>
            <a:r>
              <a:rPr lang="en-GB">
                <a:solidFill>
                  <a:srgbClr val="188038"/>
                </a:solidFill>
                <a:latin typeface="Roboto Mono"/>
                <a:ea typeface="Roboto Mono"/>
                <a:cs typeface="Roboto Mono"/>
                <a:sym typeface="Roboto Mono"/>
              </a:rPr>
              <a:t>&lt;User&gt;</a:t>
            </a:r>
            <a:r>
              <a:rPr lang="en-GB">
                <a:solidFill>
                  <a:schemeClr val="dk1"/>
                </a:solidFill>
              </a:rPr>
              <a:t> and </a:t>
            </a:r>
            <a:r>
              <a:rPr lang="en-GB">
                <a:solidFill>
                  <a:srgbClr val="188038"/>
                </a:solidFill>
                <a:latin typeface="Roboto Mono"/>
                <a:ea typeface="Roboto Mono"/>
                <a:cs typeface="Roboto Mono"/>
                <a:sym typeface="Roboto Mono"/>
              </a:rPr>
              <a:t>&lt;Password&gt;</a:t>
            </a:r>
            <a:r>
              <a:rPr lang="en-GB">
                <a:solidFill>
                  <a:schemeClr val="dk1"/>
                </a:solidFill>
              </a:rPr>
              <a:t>, we use regular expressions to extract the values within those tags.</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The </a:t>
            </a:r>
            <a:r>
              <a:rPr lang="en-GB">
                <a:solidFill>
                  <a:srgbClr val="188038"/>
                </a:solidFill>
                <a:latin typeface="Roboto Mono"/>
                <a:ea typeface="Roboto Mono"/>
                <a:cs typeface="Roboto Mono"/>
                <a:sym typeface="Roboto Mono"/>
              </a:rPr>
              <a:t>extractCredentialsFromBody</a:t>
            </a:r>
            <a:r>
              <a:rPr lang="en-GB">
                <a:solidFill>
                  <a:schemeClr val="dk1"/>
                </a:solidFill>
              </a:rPr>
              <a:t> field in the Tyk configuration allows us to enable this functionality and specify the regex patterns.</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Just make sure each regex has exactly </a:t>
            </a:r>
            <a:r>
              <a:rPr b="1" lang="en-GB">
                <a:solidFill>
                  <a:schemeClr val="dk1"/>
                </a:solidFill>
              </a:rPr>
              <a:t>one match group</a:t>
            </a:r>
            <a:r>
              <a:rPr lang="en-GB">
                <a:solidFill>
                  <a:schemeClr val="dk1"/>
                </a:solidFill>
              </a:rPr>
              <a:t> — that’s the part Tyk will use as the actual credential.</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This makes Tyk flexible enough to support a wide range of API formats, including those that don’t follow modern standards."</a:t>
            </a:r>
            <a:endParaRPr>
              <a:solidFill>
                <a:schemeClr val="dk1"/>
              </a:solidFill>
            </a:endParaRPr>
          </a:p>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45e27dc63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945e27dc63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a:solidFill>
                  <a:schemeClr val="dk1"/>
                </a:solidFill>
              </a:rPr>
              <a:t>"When using Basic Authentication with Tyk, the process is slightly different from token-based auth. Tyk does not issue the actual credentials. Instead, </a:t>
            </a:r>
            <a:r>
              <a:rPr b="1" lang="en-GB">
                <a:solidFill>
                  <a:schemeClr val="dk1"/>
                </a:solidFill>
              </a:rPr>
              <a:t>you are responsible for creating and registering the users' usernames and passwords</a:t>
            </a:r>
            <a:r>
              <a:rPr lang="en-GB">
                <a:solidFill>
                  <a:schemeClr val="dk1"/>
                </a:solidFill>
              </a:rPr>
              <a:t>.</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To implement this, you create a standard Tyk access key, just like you would for an API token, but you also define a username and password as part of that key.</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At runtime, Tyk doesn't expect clients to use the access key itself. Instead, the client must send the </a:t>
            </a:r>
            <a:r>
              <a:rPr b="1" lang="en-GB">
                <a:solidFill>
                  <a:schemeClr val="dk1"/>
                </a:solidFill>
              </a:rPr>
              <a:t>Base64-encoded username and password</a:t>
            </a:r>
            <a:r>
              <a:rPr lang="en-GB">
                <a:solidFill>
                  <a:schemeClr val="dk1"/>
                </a:solidFill>
              </a:rPr>
              <a:t> via the Authorization header. Tyk then looks up the provided credentials and validates them against the registered key data.</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This approach offers centralized control and aligns with Tyk’s usual access control methods, even for Basic Auth."</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945e27dc63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945e27dc63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a:solidFill>
                  <a:schemeClr val="dk1"/>
                </a:solidFill>
              </a:rPr>
              <a:t>HMAC</a:t>
            </a:r>
            <a:r>
              <a:rPr lang="en-GB">
                <a:solidFill>
                  <a:schemeClr val="dk1"/>
                </a:solidFill>
              </a:rPr>
              <a:t> stands for </a:t>
            </a:r>
            <a:r>
              <a:rPr b="1" lang="en-GB">
                <a:solidFill>
                  <a:schemeClr val="dk1"/>
                </a:solidFill>
              </a:rPr>
              <a:t>Hash-Based Message Authentication Code</a:t>
            </a:r>
            <a:r>
              <a:rPr lang="en-GB">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It adds an extra layer of security by requiring the client to send a </a:t>
            </a:r>
            <a:r>
              <a:rPr b="1" lang="en-GB">
                <a:solidFill>
                  <a:schemeClr val="dk1"/>
                </a:solidFill>
              </a:rPr>
              <a:t>signature</a:t>
            </a:r>
            <a:r>
              <a:rPr lang="en-GB">
                <a:solidFill>
                  <a:schemeClr val="dk1"/>
                </a:solidFill>
              </a:rPr>
              <a:t> with every request.</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This signature proves the request is authentic, using a </a:t>
            </a:r>
            <a:r>
              <a:rPr b="1" lang="en-GB">
                <a:solidFill>
                  <a:schemeClr val="dk1"/>
                </a:solidFill>
              </a:rPr>
              <a:t>secret key</a:t>
            </a:r>
            <a:r>
              <a:rPr lang="en-GB">
                <a:solidFill>
                  <a:schemeClr val="dk1"/>
                </a:solidFill>
              </a:rPr>
              <a:t> that’s </a:t>
            </a:r>
            <a:r>
              <a:rPr i="1" lang="en-GB">
                <a:solidFill>
                  <a:schemeClr val="dk1"/>
                </a:solidFill>
              </a:rPr>
              <a:t>never</a:t>
            </a:r>
            <a:r>
              <a:rPr lang="en-GB">
                <a:solidFill>
                  <a:schemeClr val="dk1"/>
                </a:solidFill>
              </a:rPr>
              <a:t> sent over the network.</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GB"/>
              <a:t>“How does it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client generates a signature, using the Date header and their secret key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client sends the request to Tyk, including an Authorization header that looks like this</a:t>
            </a:r>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“Tyk then validates the signature by recreating it using the same secret key.”</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If the signatures match, the request is trusted and processed.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If not, it’s rejected</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945e27dc63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945e27dc63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Let’s look at little deeper how Tyk authenticates using HMAC</a:t>
            </a:r>
            <a:endParaRPr>
              <a:solidFill>
                <a:schemeClr val="dk1"/>
              </a:solidFill>
            </a:endParaRPr>
          </a:p>
          <a:p>
            <a:pPr indent="-298450" lvl="0" marL="457200" rtl="0" algn="l">
              <a:spcBef>
                <a:spcPts val="0"/>
              </a:spcBef>
              <a:spcAft>
                <a:spcPts val="0"/>
              </a:spcAft>
              <a:buSzPts val="1100"/>
              <a:buChar char="●"/>
            </a:pPr>
            <a:r>
              <a:rPr lang="en-GB">
                <a:solidFill>
                  <a:schemeClr val="dk1"/>
                </a:solidFill>
              </a:rPr>
              <a:t>Tyk </a:t>
            </a:r>
            <a:r>
              <a:rPr b="1" lang="en-GB">
                <a:solidFill>
                  <a:schemeClr val="dk1"/>
                </a:solidFill>
              </a:rPr>
              <a:t>extracts the keyId</a:t>
            </a:r>
            <a:r>
              <a:rPr lang="en-GB">
                <a:solidFill>
                  <a:schemeClr val="dk1"/>
                </a:solidFill>
              </a:rPr>
              <a:t> from the </a:t>
            </a:r>
            <a:r>
              <a:rPr lang="en-GB">
                <a:solidFill>
                  <a:srgbClr val="188038"/>
                </a:solidFill>
                <a:latin typeface="Roboto Mono"/>
                <a:ea typeface="Roboto Mono"/>
                <a:cs typeface="Roboto Mono"/>
                <a:sym typeface="Roboto Mono"/>
              </a:rPr>
              <a:t>Authorization</a:t>
            </a:r>
            <a:r>
              <a:rPr lang="en-GB">
                <a:solidFill>
                  <a:schemeClr val="dk1"/>
                </a:solidFill>
              </a:rPr>
              <a:t> header.</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It then </a:t>
            </a:r>
            <a:r>
              <a:rPr b="1" lang="en-GB">
                <a:solidFill>
                  <a:schemeClr val="dk1"/>
                </a:solidFill>
              </a:rPr>
              <a:t>retrieves the secret key</a:t>
            </a:r>
            <a:r>
              <a:rPr lang="en-GB">
                <a:solidFill>
                  <a:schemeClr val="dk1"/>
                </a:solidFill>
              </a:rPr>
              <a:t> from Redis, linked to that keyId.</a:t>
            </a:r>
            <a:endParaRPr>
              <a:solidFill>
                <a:schemeClr val="dk1"/>
              </a:solidFill>
            </a:endParaRPr>
          </a:p>
          <a:p>
            <a:pPr indent="-298450" lvl="0" marL="457200" rtl="0" algn="l">
              <a:spcBef>
                <a:spcPts val="0"/>
              </a:spcBef>
              <a:spcAft>
                <a:spcPts val="0"/>
              </a:spcAft>
              <a:buSzPts val="1100"/>
              <a:buChar char="●"/>
            </a:pPr>
            <a:r>
              <a:rPr lang="en-GB">
                <a:solidFill>
                  <a:schemeClr val="dk1"/>
                </a:solidFill>
              </a:rPr>
              <a:t>Tyk </a:t>
            </a:r>
            <a:r>
              <a:rPr b="1" lang="en-GB">
                <a:solidFill>
                  <a:schemeClr val="dk1"/>
                </a:solidFill>
              </a:rPr>
              <a:t>recreates the HMAC signature</a:t>
            </a:r>
            <a:r>
              <a:rPr lang="en-GB">
                <a:solidFill>
                  <a:schemeClr val="dk1"/>
                </a:solidFill>
              </a:rPr>
              <a:t>, using the request’s </a:t>
            </a:r>
            <a:r>
              <a:rPr lang="en-GB">
                <a:solidFill>
                  <a:srgbClr val="188038"/>
                </a:solidFill>
                <a:latin typeface="Roboto Mono"/>
                <a:ea typeface="Roboto Mono"/>
                <a:cs typeface="Roboto Mono"/>
                <a:sym typeface="Roboto Mono"/>
              </a:rPr>
              <a:t>Date</a:t>
            </a:r>
            <a:r>
              <a:rPr lang="en-GB">
                <a:solidFill>
                  <a:schemeClr val="dk1"/>
                </a:solidFill>
              </a:rPr>
              <a:t> header and the secret key.</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If Tyk’s signature </a:t>
            </a:r>
            <a:r>
              <a:rPr b="1" lang="en-GB">
                <a:solidFill>
                  <a:schemeClr val="dk1"/>
                </a:solidFill>
              </a:rPr>
              <a:t>matches</a:t>
            </a:r>
            <a:r>
              <a:rPr lang="en-GB">
                <a:solidFill>
                  <a:schemeClr val="dk1"/>
                </a:solidFill>
              </a:rPr>
              <a:t> the one sent in the request, the request is trusted and access is </a:t>
            </a:r>
            <a:r>
              <a:rPr b="1" lang="en-GB">
                <a:solidFill>
                  <a:schemeClr val="dk1"/>
                </a:solidFill>
              </a:rPr>
              <a:t>granted</a:t>
            </a:r>
            <a:r>
              <a:rPr lang="en-GB">
                <a:solidFill>
                  <a:schemeClr val="dk1"/>
                </a:solidFill>
              </a:rPr>
              <a:t>.</a:t>
            </a:r>
            <a:endParaRPr>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GB">
                <a:solidFill>
                  <a:schemeClr val="dk1"/>
                </a:solidFill>
              </a:rPr>
              <a:t>HMAC keys</a:t>
            </a:r>
            <a:r>
              <a:rPr lang="en-GB">
                <a:solidFill>
                  <a:schemeClr val="dk1"/>
                </a:solidFill>
              </a:rPr>
              <a:t> in Tyk are created the same way as regular access tokens.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When a key is created, Tyk also generates a </a:t>
            </a:r>
            <a:r>
              <a:rPr b="1" lang="en-GB">
                <a:solidFill>
                  <a:schemeClr val="dk1"/>
                </a:solidFill>
              </a:rPr>
              <a:t>secret key</a:t>
            </a:r>
            <a:r>
              <a:rPr lang="en-GB">
                <a:solidFill>
                  <a:schemeClr val="dk1"/>
                </a:solidFill>
              </a:rPr>
              <a:t> for the key owner, and that key is securely stored.</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945e27dc63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945e27dc63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"Let’s talk about Upstream HMAC Signing in Tyk."</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After Tyk authenticates and processes a client’s request, it’s ready to send it upstream to your backend service.</a:t>
            </a:r>
            <a:endParaRPr/>
          </a:p>
          <a:p>
            <a:pPr indent="0" lvl="0" marL="0" rtl="0" algn="l">
              <a:spcBef>
                <a:spcPts val="0"/>
              </a:spcBef>
              <a:spcAft>
                <a:spcPts val="0"/>
              </a:spcAft>
              <a:buNone/>
            </a:pPr>
            <a:r>
              <a:rPr lang="en-GB"/>
              <a:t>Before it does, Tyk creates an HMAC signature of key parts of that outgoing request.</a:t>
            </a:r>
            <a:endParaRPr/>
          </a:p>
          <a:p>
            <a:pPr indent="0" lvl="0" marL="0" rtl="0" algn="l">
              <a:spcBef>
                <a:spcPts val="0"/>
              </a:spcBef>
              <a:spcAft>
                <a:spcPts val="0"/>
              </a:spcAft>
              <a:buNone/>
            </a:pPr>
            <a:r>
              <a:rPr lang="en-GB"/>
              <a:t>It signs:</a:t>
            </a:r>
            <a:endParaRPr/>
          </a:p>
          <a:p>
            <a:pPr indent="0" lvl="0" marL="0" rtl="0" algn="l">
              <a:spcBef>
                <a:spcPts val="0"/>
              </a:spcBef>
              <a:spcAft>
                <a:spcPts val="0"/>
              </a:spcAft>
              <a:buNone/>
            </a:pPr>
            <a:r>
              <a:rPr lang="en-GB"/>
              <a:t>The request-target, which includes the HTTP method and path.</a:t>
            </a:r>
            <a:endParaRPr/>
          </a:p>
          <a:p>
            <a:pPr indent="0" lvl="0" marL="0" rtl="0" algn="l">
              <a:spcBef>
                <a:spcPts val="0"/>
              </a:spcBef>
              <a:spcAft>
                <a:spcPts val="0"/>
              </a:spcAft>
              <a:buNone/>
            </a:pPr>
            <a:r>
              <a:rPr lang="en-GB"/>
              <a:t>All the headers in the request.</a:t>
            </a:r>
            <a:endParaRPr/>
          </a:p>
          <a:p>
            <a:pPr indent="0" lvl="0" marL="0" rtl="0" algn="l">
              <a:spcBef>
                <a:spcPts val="0"/>
              </a:spcBef>
              <a:spcAft>
                <a:spcPts val="0"/>
              </a:spcAft>
              <a:buNone/>
            </a:pPr>
            <a:r>
              <a:rPr lang="en-GB"/>
              <a:t>If the request doesn’t already have a Date header, Tyk automatically adds one—because it’s required by the HMAC signing standard.</a:t>
            </a:r>
            <a:endParaRPr/>
          </a:p>
          <a:p>
            <a:pPr indent="0" lvl="0" marL="0" rtl="0" algn="l">
              <a:spcBef>
                <a:spcPts val="0"/>
              </a:spcBef>
              <a:spcAft>
                <a:spcPts val="0"/>
              </a:spcAft>
              <a:buNone/>
            </a:pPr>
            <a:r>
              <a:rPr lang="en-GB"/>
              <a:t>This ensures that the upstream service can verify the request and trust that it came through Tyk.</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945e27dc63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945e27dc63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JWTs are a widely used method for securely transmitting information between parties. They are cryptographically signed, ensuring that the claims they carry haven’t been altered.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In many cases, the claims are signed by a trusted third party, such as an authentication provider. This means that when a user presents a JWT, Tyk doesn’t need to call the provider again—it can simply verify the signature and extract the claims.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Now, within Tyk, we can configure to extract specific claims, such as: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User ID – Identifies the user making the request.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Policy ID – Determines access control and rate limits.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By doing this, Tyk can enforce security policies dynamically, ensuring the right users have the right level of access, all without additional database lookups or API calls.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945e27dc63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945e27dc63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(EXPLAIN JWT FLOW WITH TYK)</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945e27dc63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945e27dc63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In the Tyk dashboard, when JWT authentication is selected, you have the option to configure:</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GB"/>
              <a:t>What signing method - Tyk supports RSA public key, HMAC shared secret, ECDSA or JWKS URI</a:t>
            </a:r>
            <a:endParaRPr/>
          </a:p>
          <a:p>
            <a:pPr indent="-298450" lvl="0" marL="457200" rtl="0" algn="l">
              <a:spcBef>
                <a:spcPts val="0"/>
              </a:spcBef>
              <a:spcAft>
                <a:spcPts val="0"/>
              </a:spcAft>
              <a:buSzPts val="1100"/>
              <a:buChar char="●"/>
            </a:pPr>
            <a:r>
              <a:rPr lang="en-GB"/>
              <a:t>The subject identity claim which is the claim within the JWT token to represent the client. This could be a name, userID etc.</a:t>
            </a:r>
            <a:endParaRPr/>
          </a:p>
          <a:p>
            <a:pPr indent="-298450" lvl="0" marL="457200" rtl="0" algn="l">
              <a:spcBef>
                <a:spcPts val="0"/>
              </a:spcBef>
              <a:spcAft>
                <a:spcPts val="0"/>
              </a:spcAft>
              <a:buSzPts val="1100"/>
              <a:buChar char="●"/>
            </a:pPr>
            <a:r>
              <a:rPr lang="en-GB"/>
              <a:t>Public key - if you’re using a third party IDP and have a JWKS URI or a public key, you can add it in the field for Tyk to validate the tokens. When using shared secret, the secret added in this field will need to match the one on the JWT signature</a:t>
            </a:r>
            <a:endParaRPr/>
          </a:p>
          <a:p>
            <a:pPr indent="-298450" lvl="0" marL="457200" rtl="0" algn="l">
              <a:spcBef>
                <a:spcPts val="0"/>
              </a:spcBef>
              <a:spcAft>
                <a:spcPts val="0"/>
              </a:spcAft>
              <a:buSzPts val="1100"/>
              <a:buChar char="●"/>
            </a:pPr>
            <a:r>
              <a:rPr lang="en-GB"/>
              <a:t>Policy claim - The policy ID for Tyk to retrieve and apply access rights etc to the token. The policy ID ties the JWT token which is externally generated to Tyk and provides the Gateway with the correct access rights to enforce on the token</a:t>
            </a:r>
            <a:endParaRPr/>
          </a:p>
          <a:p>
            <a:pPr indent="-298450" lvl="0" marL="457200" rtl="0" algn="l">
              <a:spcBef>
                <a:spcPts val="0"/>
              </a:spcBef>
              <a:spcAft>
                <a:spcPts val="0"/>
              </a:spcAft>
              <a:buSzPts val="1100"/>
              <a:buChar char="●"/>
            </a:pPr>
            <a:r>
              <a:rPr lang="en-GB"/>
              <a:t>Default policy - If a policy ID is not found on the JWT token, it will fallback to a default policy which is usually a NoOp policy that disallows access to all APIs.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945e27dc63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945e27dc63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A JWT consists of three parts: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Header – Specifies the algorithm used for signing.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Payload – Contains claims, which are statements about the user, such as their ID or permissions. As we can see in the payload, the ‘sub’ and ‘pol’ claims are in the payload which will contain the identifier for the client and the policy ID of the policy that is to be enforced on the token.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Signature – This is created using a secret key or private key, making the token tamper-proof. In the example, we are using a HMAC shared secret. We’ve added tyk-shared-secret in the secret field and this should match the secret found on the API definition on the Tyk Dashboard</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945e27dc63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945e27dc63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this slide, we're introducing OAuth 2.0—one of the most widely used frameworks for API authorization.</a:t>
            </a:r>
            <a:br>
              <a:rPr lang="en-GB">
                <a:solidFill>
                  <a:schemeClr val="dk1"/>
                </a:solidFill>
              </a:rPr>
            </a:br>
            <a:r>
              <a:rPr lang="en-GB">
                <a:solidFill>
                  <a:schemeClr val="dk1"/>
                </a:solidFill>
              </a:rPr>
              <a:t> At its core, OAuth 2.0 allows applications to access user data </a:t>
            </a:r>
            <a:r>
              <a:rPr b="1" lang="en-GB">
                <a:solidFill>
                  <a:schemeClr val="dk1"/>
                </a:solidFill>
              </a:rPr>
              <a:t>without exposing sensitive information like passwords</a:t>
            </a:r>
            <a:r>
              <a:rPr lang="en-GB">
                <a:solidFill>
                  <a:schemeClr val="dk1"/>
                </a:solidFill>
              </a:rPr>
              <a:t>.</a:t>
            </a:r>
            <a:br>
              <a:rPr lang="en-GB">
                <a:solidFill>
                  <a:schemeClr val="dk1"/>
                </a:solidFill>
              </a:rPr>
            </a:br>
            <a:r>
              <a:rPr lang="en-GB">
                <a:solidFill>
                  <a:schemeClr val="dk1"/>
                </a:solidFill>
              </a:rPr>
              <a:t> This is achieved using access tokens that represent the user's authorization. These tokens are issued by an </a:t>
            </a:r>
            <a:r>
              <a:rPr b="1" lang="en-GB">
                <a:solidFill>
                  <a:schemeClr val="dk1"/>
                </a:solidFill>
              </a:rPr>
              <a:t>Authorization Server</a:t>
            </a:r>
            <a:r>
              <a:rPr lang="en-GB">
                <a:solidFill>
                  <a:schemeClr val="dk1"/>
                </a:solidFill>
              </a:rPr>
              <a:t> once the user has authenticated and granted permission.</a:t>
            </a:r>
            <a:endParaRPr>
              <a:solidFill>
                <a:schemeClr val="dk1"/>
              </a:solidFill>
            </a:endParaRPr>
          </a:p>
          <a:p>
            <a:pPr indent="0" lvl="0" marL="0" rtl="0" algn="l">
              <a:lnSpc>
                <a:spcPct val="115000"/>
              </a:lnSpc>
              <a:spcBef>
                <a:spcPts val="1200"/>
              </a:spcBef>
              <a:spcAft>
                <a:spcPts val="1200"/>
              </a:spcAft>
              <a:buNone/>
            </a:pPr>
            <a:r>
              <a:rPr lang="en-GB">
                <a:solidFill>
                  <a:schemeClr val="dk1"/>
                </a:solidFill>
              </a:rPr>
              <a:t>The real power of OAuth is in </a:t>
            </a:r>
            <a:r>
              <a:rPr b="1" lang="en-GB">
                <a:solidFill>
                  <a:schemeClr val="dk1"/>
                </a:solidFill>
              </a:rPr>
              <a:t>delegation</a:t>
            </a:r>
            <a:r>
              <a:rPr lang="en-GB">
                <a:solidFill>
                  <a:schemeClr val="dk1"/>
                </a:solidFill>
              </a:rPr>
              <a:t>. For example, your app can access a user's calendar or contacts with their consent—but without ever seeing their credentials.</a:t>
            </a:r>
            <a:br>
              <a:rPr lang="en-GB">
                <a:solidFill>
                  <a:schemeClr val="dk1"/>
                </a:solidFill>
              </a:rPr>
            </a:br>
            <a:r>
              <a:rPr lang="en-GB">
                <a:solidFill>
                  <a:schemeClr val="dk1"/>
                </a:solidFill>
              </a:rPr>
              <a:t> As defined in </a:t>
            </a:r>
            <a:r>
              <a:rPr b="1" lang="en-GB">
                <a:solidFill>
                  <a:schemeClr val="dk1"/>
                </a:solidFill>
              </a:rPr>
              <a:t>RFC 6749</a:t>
            </a:r>
            <a:r>
              <a:rPr lang="en-GB">
                <a:solidFill>
                  <a:schemeClr val="dk1"/>
                </a:solidFill>
              </a:rPr>
              <a:t>, OAuth works for both </a:t>
            </a:r>
            <a:r>
              <a:rPr b="1" lang="en-GB">
                <a:solidFill>
                  <a:schemeClr val="dk1"/>
                </a:solidFill>
              </a:rPr>
              <a:t>user-based</a:t>
            </a:r>
            <a:r>
              <a:rPr lang="en-GB">
                <a:solidFill>
                  <a:schemeClr val="dk1"/>
                </a:solidFill>
              </a:rPr>
              <a:t> access and </a:t>
            </a:r>
            <a:r>
              <a:rPr b="1" lang="en-GB">
                <a:solidFill>
                  <a:schemeClr val="dk1"/>
                </a:solidFill>
              </a:rPr>
              <a:t>machine-to-machine</a:t>
            </a:r>
            <a:r>
              <a:rPr lang="en-GB">
                <a:solidFill>
                  <a:schemeClr val="dk1"/>
                </a:solidFill>
              </a:rPr>
              <a:t> communication.</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945e27dc63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945e27dc63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a:solidFill>
                  <a:schemeClr val="dk1"/>
                </a:solidFill>
              </a:rPr>
              <a:t>In this slide, we're introducing OAuth 2.0—one of the most widely used frameworks for API authorization.</a:t>
            </a:r>
            <a:br>
              <a:rPr lang="en-GB">
                <a:solidFill>
                  <a:schemeClr val="dk1"/>
                </a:solidFill>
              </a:rPr>
            </a:br>
            <a:r>
              <a:rPr lang="en-GB">
                <a:solidFill>
                  <a:schemeClr val="dk1"/>
                </a:solidFill>
              </a:rPr>
              <a:t> At its core, OAuth 2.0 allows applications to access user data </a:t>
            </a:r>
            <a:r>
              <a:rPr b="1" lang="en-GB">
                <a:solidFill>
                  <a:schemeClr val="dk1"/>
                </a:solidFill>
              </a:rPr>
              <a:t>without exposing sensitive information like passwords</a:t>
            </a:r>
            <a:r>
              <a:rPr lang="en-GB">
                <a:solidFill>
                  <a:schemeClr val="dk1"/>
                </a:solidFill>
              </a:rPr>
              <a:t>.</a:t>
            </a:r>
            <a:br>
              <a:rPr lang="en-GB">
                <a:solidFill>
                  <a:schemeClr val="dk1"/>
                </a:solidFill>
              </a:rPr>
            </a:br>
            <a:r>
              <a:rPr lang="en-GB">
                <a:solidFill>
                  <a:schemeClr val="dk1"/>
                </a:solidFill>
              </a:rPr>
              <a:t> This is achieved using access tokens that represent the user's authorization. These tokens are issued by an </a:t>
            </a:r>
            <a:r>
              <a:rPr b="1" lang="en-GB">
                <a:solidFill>
                  <a:schemeClr val="dk1"/>
                </a:solidFill>
              </a:rPr>
              <a:t>Authorization Server</a:t>
            </a:r>
            <a:r>
              <a:rPr lang="en-GB">
                <a:solidFill>
                  <a:schemeClr val="dk1"/>
                </a:solidFill>
              </a:rPr>
              <a:t> once the user has authenticated and granted permission.</a:t>
            </a:r>
            <a:endParaRPr>
              <a:solidFill>
                <a:schemeClr val="dk1"/>
              </a:solidFill>
            </a:endParaRPr>
          </a:p>
          <a:p>
            <a:pPr indent="0" lvl="0" marL="0" rtl="0" algn="l">
              <a:lnSpc>
                <a:spcPct val="115000"/>
              </a:lnSpc>
              <a:spcBef>
                <a:spcPts val="1200"/>
              </a:spcBef>
              <a:spcAft>
                <a:spcPts val="1200"/>
              </a:spcAft>
              <a:buNone/>
            </a:pPr>
            <a:r>
              <a:rPr lang="en-GB">
                <a:solidFill>
                  <a:schemeClr val="dk1"/>
                </a:solidFill>
              </a:rPr>
              <a:t>The real power of OAuth is in </a:t>
            </a:r>
            <a:r>
              <a:rPr b="1" lang="en-GB">
                <a:solidFill>
                  <a:schemeClr val="dk1"/>
                </a:solidFill>
              </a:rPr>
              <a:t>delegation</a:t>
            </a:r>
            <a:r>
              <a:rPr lang="en-GB">
                <a:solidFill>
                  <a:schemeClr val="dk1"/>
                </a:solidFill>
              </a:rPr>
              <a:t>. For example, your app can access a user's calendar or contacts with their consent—but without ever seeing their credentials.</a:t>
            </a:r>
            <a:br>
              <a:rPr lang="en-GB">
                <a:solidFill>
                  <a:schemeClr val="dk1"/>
                </a:solidFill>
              </a:rPr>
            </a:br>
            <a:r>
              <a:rPr lang="en-GB">
                <a:solidFill>
                  <a:schemeClr val="dk1"/>
                </a:solidFill>
              </a:rPr>
              <a:t> As defined in </a:t>
            </a:r>
            <a:r>
              <a:rPr b="1" lang="en-GB">
                <a:solidFill>
                  <a:schemeClr val="dk1"/>
                </a:solidFill>
              </a:rPr>
              <a:t>RFC 6749</a:t>
            </a:r>
            <a:r>
              <a:rPr lang="en-GB">
                <a:solidFill>
                  <a:schemeClr val="dk1"/>
                </a:solidFill>
              </a:rPr>
              <a:t>, OAuth works for both </a:t>
            </a:r>
            <a:r>
              <a:rPr b="1" lang="en-GB">
                <a:solidFill>
                  <a:schemeClr val="dk1"/>
                </a:solidFill>
              </a:rPr>
              <a:t>user-based</a:t>
            </a:r>
            <a:r>
              <a:rPr lang="en-GB">
                <a:solidFill>
                  <a:schemeClr val="dk1"/>
                </a:solidFill>
              </a:rPr>
              <a:t> access and </a:t>
            </a:r>
            <a:r>
              <a:rPr b="1" lang="en-GB">
                <a:solidFill>
                  <a:schemeClr val="dk1"/>
                </a:solidFill>
              </a:rPr>
              <a:t>machine-to-machine</a:t>
            </a:r>
            <a:r>
              <a:rPr lang="en-GB">
                <a:solidFill>
                  <a:schemeClr val="dk1"/>
                </a:solidFill>
              </a:rPr>
              <a:t> communication.</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945e27dc63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945e27dc63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None/>
            </a:pPr>
            <a:r>
              <a:rPr lang="en-GB">
                <a:solidFill>
                  <a:schemeClr val="dk1"/>
                </a:solidFill>
              </a:rPr>
              <a:t>Now that we’ve covered the high-level concept, let’s define the core building blocks of OAuth 2.0.</a:t>
            </a:r>
            <a:endParaRPr>
              <a:solidFill>
                <a:schemeClr val="dk1"/>
              </a:solidFill>
            </a:endParaRPr>
          </a:p>
          <a:p>
            <a:pPr indent="0" lvl="0" marL="381000" marR="381000" rtl="0" algn="l">
              <a:lnSpc>
                <a:spcPct val="115000"/>
              </a:lnSpc>
              <a:spcBef>
                <a:spcPts val="1200"/>
              </a:spcBef>
              <a:spcAft>
                <a:spcPts val="0"/>
              </a:spcAft>
              <a:buNone/>
            </a:pPr>
            <a:r>
              <a:rPr lang="en-GB">
                <a:solidFill>
                  <a:schemeClr val="dk1"/>
                </a:solidFill>
              </a:rPr>
              <a:t>Think of the </a:t>
            </a:r>
            <a:r>
              <a:rPr b="1" lang="en-GB">
                <a:solidFill>
                  <a:schemeClr val="dk1"/>
                </a:solidFill>
              </a:rPr>
              <a:t>Protected Resource</a:t>
            </a:r>
            <a:r>
              <a:rPr lang="en-GB">
                <a:solidFill>
                  <a:schemeClr val="dk1"/>
                </a:solidFill>
              </a:rPr>
              <a:t> as your API—the thing we want to control access to.</a:t>
            </a:r>
            <a:br>
              <a:rPr lang="en-GB">
                <a:solidFill>
                  <a:schemeClr val="dk1"/>
                </a:solidFill>
              </a:rPr>
            </a:br>
            <a:r>
              <a:rPr lang="en-GB">
                <a:solidFill>
                  <a:schemeClr val="dk1"/>
                </a:solidFill>
              </a:rPr>
              <a:t> The </a:t>
            </a:r>
            <a:r>
              <a:rPr b="1" lang="en-GB">
                <a:solidFill>
                  <a:schemeClr val="dk1"/>
                </a:solidFill>
              </a:rPr>
              <a:t>Resource Owner</a:t>
            </a:r>
            <a:r>
              <a:rPr lang="en-GB">
                <a:solidFill>
                  <a:schemeClr val="dk1"/>
                </a:solidFill>
              </a:rPr>
              <a:t> is typically the end user.</a:t>
            </a:r>
            <a:br>
              <a:rPr lang="en-GB">
                <a:solidFill>
                  <a:schemeClr val="dk1"/>
                </a:solidFill>
              </a:rPr>
            </a:br>
            <a:r>
              <a:rPr lang="en-GB">
                <a:solidFill>
                  <a:schemeClr val="dk1"/>
                </a:solidFill>
              </a:rPr>
              <a:t> The </a:t>
            </a:r>
            <a:r>
              <a:rPr b="1" lang="en-GB">
                <a:solidFill>
                  <a:schemeClr val="dk1"/>
                </a:solidFill>
              </a:rPr>
              <a:t>Client</a:t>
            </a:r>
            <a:r>
              <a:rPr lang="en-GB">
                <a:solidFill>
                  <a:schemeClr val="dk1"/>
                </a:solidFill>
              </a:rPr>
              <a:t> is the app trying to access the API on behalf of that user.</a:t>
            </a:r>
            <a:endParaRPr>
              <a:solidFill>
                <a:schemeClr val="dk1"/>
              </a:solidFill>
            </a:endParaRPr>
          </a:p>
          <a:p>
            <a:pPr indent="0" lvl="0" marL="381000" marR="381000" rtl="0" algn="l">
              <a:lnSpc>
                <a:spcPct val="115000"/>
              </a:lnSpc>
              <a:spcBef>
                <a:spcPts val="1200"/>
              </a:spcBef>
              <a:spcAft>
                <a:spcPts val="0"/>
              </a:spcAft>
              <a:buNone/>
            </a:pPr>
            <a:r>
              <a:rPr lang="en-GB">
                <a:solidFill>
                  <a:schemeClr val="dk1"/>
                </a:solidFill>
              </a:rPr>
              <a:t>When the user grants permission, the </a:t>
            </a:r>
            <a:r>
              <a:rPr b="1" lang="en-GB">
                <a:solidFill>
                  <a:schemeClr val="dk1"/>
                </a:solidFill>
              </a:rPr>
              <a:t>Authorization Server</a:t>
            </a:r>
            <a:r>
              <a:rPr lang="en-GB">
                <a:solidFill>
                  <a:schemeClr val="dk1"/>
                </a:solidFill>
              </a:rPr>
              <a:t> issues an </a:t>
            </a:r>
            <a:r>
              <a:rPr b="1" lang="en-GB">
                <a:solidFill>
                  <a:schemeClr val="dk1"/>
                </a:solidFill>
              </a:rPr>
              <a:t>Access Token</a:t>
            </a:r>
            <a:r>
              <a:rPr lang="en-GB">
                <a:solidFill>
                  <a:schemeClr val="dk1"/>
                </a:solidFill>
              </a:rPr>
              <a:t>, which the </a:t>
            </a:r>
            <a:r>
              <a:rPr b="1" lang="en-GB">
                <a:solidFill>
                  <a:schemeClr val="dk1"/>
                </a:solidFill>
              </a:rPr>
              <a:t>Client</a:t>
            </a:r>
            <a:r>
              <a:rPr lang="en-GB">
                <a:solidFill>
                  <a:schemeClr val="dk1"/>
                </a:solidFill>
              </a:rPr>
              <a:t> presents to the </a:t>
            </a:r>
            <a:r>
              <a:rPr b="1" lang="en-GB">
                <a:solidFill>
                  <a:schemeClr val="dk1"/>
                </a:solidFill>
              </a:rPr>
              <a:t>Resource Server</a:t>
            </a:r>
            <a:r>
              <a:rPr lang="en-GB">
                <a:solidFill>
                  <a:schemeClr val="dk1"/>
                </a:solidFill>
              </a:rPr>
              <a:t>.</a:t>
            </a:r>
            <a:br>
              <a:rPr lang="en-GB">
                <a:solidFill>
                  <a:schemeClr val="dk1"/>
                </a:solidFill>
              </a:rPr>
            </a:br>
            <a:r>
              <a:rPr lang="en-GB">
                <a:solidFill>
                  <a:schemeClr val="dk1"/>
                </a:solidFill>
              </a:rPr>
              <a:t> The </a:t>
            </a:r>
            <a:r>
              <a:rPr b="1" lang="en-GB">
                <a:solidFill>
                  <a:schemeClr val="dk1"/>
                </a:solidFill>
              </a:rPr>
              <a:t>Scope</a:t>
            </a:r>
            <a:r>
              <a:rPr lang="en-GB">
                <a:solidFill>
                  <a:schemeClr val="dk1"/>
                </a:solidFill>
              </a:rPr>
              <a:t> parameter allows the user or admin to limit what the Client can access—like read-only or full access.</a:t>
            </a:r>
            <a:br>
              <a:rPr lang="en-GB">
                <a:solidFill>
                  <a:schemeClr val="dk1"/>
                </a:solidFill>
              </a:rPr>
            </a:br>
            <a:r>
              <a:rPr lang="en-GB">
                <a:solidFill>
                  <a:schemeClr val="dk1"/>
                </a:solidFill>
              </a:rPr>
              <a:t> And finally, different </a:t>
            </a:r>
            <a:r>
              <a:rPr b="1" lang="en-GB">
                <a:solidFill>
                  <a:schemeClr val="dk1"/>
                </a:solidFill>
              </a:rPr>
              <a:t>Grant Types</a:t>
            </a:r>
            <a:r>
              <a:rPr lang="en-GB">
                <a:solidFill>
                  <a:schemeClr val="dk1"/>
                </a:solidFill>
              </a:rPr>
              <a:t> support different scenarios—interactive login, background jobs, or legacy systems.</a:t>
            </a:r>
            <a:endParaRPr>
              <a:solidFill>
                <a:schemeClr val="dk1"/>
              </a:solidFill>
            </a:endParaRPr>
          </a:p>
          <a:p>
            <a:pPr indent="0" lvl="0" marL="381000" marR="381000" rtl="0" algn="l">
              <a:lnSpc>
                <a:spcPct val="115000"/>
              </a:lnSpc>
              <a:spcBef>
                <a:spcPts val="1200"/>
              </a:spcBef>
              <a:spcAft>
                <a:spcPts val="0"/>
              </a:spcAft>
              <a:buNone/>
            </a:pPr>
            <a:r>
              <a:rPr lang="en-GB">
                <a:solidFill>
                  <a:schemeClr val="dk1"/>
                </a:solidFill>
              </a:rPr>
              <a:t>Understanding these terms is key before diving into the actual implementation with Tyk.</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945e27dc63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945e27dc63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a:solidFill>
                  <a:schemeClr val="dk1"/>
                </a:solidFill>
              </a:rPr>
              <a:t>In this slide, we look deeper at the role of access tokens and how client applications are authenticated in an OAuth 2.0 flow.</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First, </a:t>
            </a:r>
            <a:r>
              <a:rPr b="1" lang="en-GB">
                <a:solidFill>
                  <a:schemeClr val="dk1"/>
                </a:solidFill>
              </a:rPr>
              <a:t>access tokens</a:t>
            </a:r>
            <a:r>
              <a:rPr lang="en-GB">
                <a:solidFill>
                  <a:schemeClr val="dk1"/>
                </a:solidFill>
              </a:rPr>
              <a:t> are used to represent delegated access to resources. They're passed with API requests and can be simple opaque strings or structured JWTs containing user data, scopes, and expiry details. Importantly, these tokens typically </a:t>
            </a:r>
            <a:r>
              <a:rPr b="1" lang="en-GB">
                <a:solidFill>
                  <a:schemeClr val="dk1"/>
                </a:solidFill>
              </a:rPr>
              <a:t>expire</a:t>
            </a:r>
            <a:r>
              <a:rPr lang="en-GB">
                <a:solidFill>
                  <a:schemeClr val="dk1"/>
                </a:solidFill>
              </a:rPr>
              <a:t> for security reasons, and long-term access can be handled via a </a:t>
            </a:r>
            <a:r>
              <a:rPr b="1" lang="en-GB">
                <a:solidFill>
                  <a:schemeClr val="dk1"/>
                </a:solidFill>
              </a:rPr>
              <a:t>refresh token</a:t>
            </a:r>
            <a:r>
              <a:rPr lang="en-GB">
                <a:solidFill>
                  <a:schemeClr val="dk1"/>
                </a:solidFill>
              </a:rPr>
              <a:t>.</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On the client side, before a token can be issued, the client must </a:t>
            </a:r>
            <a:r>
              <a:rPr b="1" lang="en-GB">
                <a:solidFill>
                  <a:schemeClr val="dk1"/>
                </a:solidFill>
              </a:rPr>
              <a:t>register</a:t>
            </a:r>
            <a:r>
              <a:rPr lang="en-GB">
                <a:solidFill>
                  <a:schemeClr val="dk1"/>
                </a:solidFill>
              </a:rPr>
              <a:t> with the Authorization Server. This means providing a </a:t>
            </a:r>
            <a:r>
              <a:rPr b="1" lang="en-GB">
                <a:solidFill>
                  <a:schemeClr val="dk1"/>
                </a:solidFill>
              </a:rPr>
              <a:t>Client ID</a:t>
            </a:r>
            <a:r>
              <a:rPr lang="en-GB">
                <a:solidFill>
                  <a:schemeClr val="dk1"/>
                </a:solidFill>
              </a:rPr>
              <a:t>, a </a:t>
            </a:r>
            <a:r>
              <a:rPr b="1" lang="en-GB">
                <a:solidFill>
                  <a:schemeClr val="dk1"/>
                </a:solidFill>
              </a:rPr>
              <a:t>Client Secret</a:t>
            </a:r>
            <a:r>
              <a:rPr lang="en-GB">
                <a:solidFill>
                  <a:schemeClr val="dk1"/>
                </a:solidFill>
              </a:rPr>
              <a:t>, and a </a:t>
            </a:r>
            <a:r>
              <a:rPr b="1" lang="en-GB">
                <a:solidFill>
                  <a:schemeClr val="dk1"/>
                </a:solidFill>
              </a:rPr>
              <a:t>Redirect URI</a:t>
            </a:r>
            <a:r>
              <a:rPr lang="en-GB">
                <a:solidFill>
                  <a:schemeClr val="dk1"/>
                </a:solidFill>
              </a:rPr>
              <a:t>. The redirect URI is important—it tells the server where to send the user after authorization.</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Once registered, the client can use its credentials to request an access token. The server verifies the credentials and, if valid, responds with a token that the client can use to access the resource server securely.</a:t>
            </a:r>
            <a:endParaRPr>
              <a:solidFill>
                <a:schemeClr val="dk1"/>
              </a:solidFill>
            </a:endParaRPr>
          </a:p>
          <a:p>
            <a:pPr indent="0" lvl="0" marL="381000" marR="38100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945e27dc63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945e27dc63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"Tyk supports OAuth 2.0 by functioning as a full authorization server. This means it can handle the </a:t>
            </a:r>
            <a:r>
              <a:rPr b="1" lang="en-GB">
                <a:solidFill>
                  <a:schemeClr val="dk1"/>
                </a:solidFill>
              </a:rPr>
              <a:t>generation, validation, and lifecycle of tokens</a:t>
            </a:r>
            <a:r>
              <a:rPr lang="en-GB">
                <a:solidFill>
                  <a:schemeClr val="dk1"/>
                </a:solidFill>
              </a:rPr>
              <a:t> that clients use to access your protected APIs.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There are several key advantages when using Tyk in this role. First, you get </a:t>
            </a:r>
            <a:r>
              <a:rPr b="1" lang="en-GB">
                <a:solidFill>
                  <a:schemeClr val="dk1"/>
                </a:solidFill>
              </a:rPr>
              <a:t>fine-grained access control</a:t>
            </a:r>
            <a:r>
              <a:rPr lang="en-GB">
                <a:solidFill>
                  <a:schemeClr val="dk1"/>
                </a:solidFill>
              </a:rPr>
              <a:t> — so you can limit access not just by endpoint, but by API version or a specific named API.</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Second, you get full visibility into how your APIs are used thanks to </a:t>
            </a:r>
            <a:r>
              <a:rPr b="1" lang="en-GB">
                <a:solidFill>
                  <a:schemeClr val="dk1"/>
                </a:solidFill>
              </a:rPr>
              <a:t>Tyk’s built-in analytics</a:t>
            </a:r>
            <a:r>
              <a:rPr lang="en-GB">
                <a:solidFill>
                  <a:schemeClr val="dk1"/>
                </a:solidFill>
              </a:rPr>
              <a:t>. These can be grouped by Client ID, giving you insights into who is calling what, and how often.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Finally, Tyk allows a single OAuth token to be used across </a:t>
            </a:r>
            <a:r>
              <a:rPr b="1" lang="en-GB">
                <a:solidFill>
                  <a:schemeClr val="dk1"/>
                </a:solidFill>
              </a:rPr>
              <a:t>multiple APIs</a:t>
            </a:r>
            <a:r>
              <a:rPr lang="en-GB">
                <a:solidFill>
                  <a:schemeClr val="dk1"/>
                </a:solidFill>
              </a:rPr>
              <a:t>. For example, you could issue a token through one API configured for OAuth, and allow that token to be recognized by others using the Auth Token method — all managed through </a:t>
            </a:r>
            <a:r>
              <a:rPr b="1" lang="en-GB">
                <a:solidFill>
                  <a:schemeClr val="dk1"/>
                </a:solidFill>
              </a:rPr>
              <a:t>shared policies</a:t>
            </a:r>
            <a:r>
              <a:rPr lang="en-GB">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makes Tyk not only standards-compliant, but also flexible and efficient for real-world OAuth deployments."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945e27dc63_0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945e27dc63_0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a:solidFill>
                  <a:schemeClr val="dk1"/>
                </a:solidFill>
              </a:rPr>
              <a:t>we’ll walk through the OAuth 2.0 grant types that Tyk supports when it’s used as an authorization server.</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First, we have the </a:t>
            </a:r>
            <a:r>
              <a:rPr b="1" lang="en-GB">
                <a:solidFill>
                  <a:schemeClr val="dk1"/>
                </a:solidFill>
              </a:rPr>
              <a:t>Authorization Code Grant</a:t>
            </a:r>
            <a:r>
              <a:rPr lang="en-GB">
                <a:solidFill>
                  <a:schemeClr val="dk1"/>
                </a:solidFill>
              </a:rPr>
              <a:t>. This is the most common and secure flow for user-based access. In this flow, the user is redirected to a login page hosted by the identity provider. After the user authenticates and approves the access, an authorization code is issued, which the client can exchange for an access token. This flow is typically used in web and mobile apps.</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Next is the </a:t>
            </a:r>
            <a:r>
              <a:rPr b="1" lang="en-GB">
                <a:solidFill>
                  <a:schemeClr val="dk1"/>
                </a:solidFill>
              </a:rPr>
              <a:t>Client Credentials Grant</a:t>
            </a:r>
            <a:r>
              <a:rPr lang="en-GB">
                <a:solidFill>
                  <a:schemeClr val="dk1"/>
                </a:solidFill>
              </a:rPr>
              <a:t>. This is used in machine-to-machine communication where no user is involved. Here, the client authenticates using a client ID and a client secret. This is suitable for service-to-service integrations.</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Finally, Tyk also supports the </a:t>
            </a:r>
            <a:r>
              <a:rPr b="1" lang="en-GB">
                <a:solidFill>
                  <a:schemeClr val="dk1"/>
                </a:solidFill>
              </a:rPr>
              <a:t>Resource Owner Password Grant</a:t>
            </a:r>
            <a:r>
              <a:rPr lang="en-GB">
                <a:solidFill>
                  <a:schemeClr val="dk1"/>
                </a:solidFill>
              </a:rPr>
              <a:t>, where the client application collects the user’s credentials (username and password) and exchanges them directly for an access token.</a:t>
            </a:r>
            <a:br>
              <a:rPr lang="en-GB">
                <a:solidFill>
                  <a:schemeClr val="dk1"/>
                </a:solidFill>
              </a:rPr>
            </a:br>
            <a:r>
              <a:rPr lang="en-GB">
                <a:solidFill>
                  <a:schemeClr val="dk1"/>
                </a:solidFill>
              </a:rPr>
              <a:t> However, it’s important to note that this flow is discouraged and considered insecure, as the client has full access to the user’s password. Tyk supports it mainly for backward compatibility with legacy systems. We generally advise against using this method for new implementations.</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Keep in mind that Tyk's OAuth implementation gives you the flexibility to use different flows based on the type of client and your specific use case.</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945e27dc63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945e27dc63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a:solidFill>
                  <a:schemeClr val="dk1"/>
                </a:solidFill>
              </a:rPr>
              <a:t>This slide covers two important concepts: how we manage client access and how we register client applications in Tyk.</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First, when an access token is issued by the Tyk Authorization Server, it's treated just like any other Tyk session object. This means we can assign it a </a:t>
            </a:r>
            <a:r>
              <a:rPr b="1" lang="en-GB">
                <a:solidFill>
                  <a:schemeClr val="dk1"/>
                </a:solidFill>
              </a:rPr>
              <a:t>security policy</a:t>
            </a:r>
            <a:r>
              <a:rPr lang="en-GB">
                <a:solidFill>
                  <a:schemeClr val="dk1"/>
                </a:solidFill>
              </a:rPr>
              <a:t>. These policies allow us to enforce </a:t>
            </a:r>
            <a:r>
              <a:rPr b="1" lang="en-GB">
                <a:solidFill>
                  <a:schemeClr val="dk1"/>
                </a:solidFill>
              </a:rPr>
              <a:t>rate limits</a:t>
            </a:r>
            <a:r>
              <a:rPr lang="en-GB">
                <a:solidFill>
                  <a:schemeClr val="dk1"/>
                </a:solidFill>
              </a:rPr>
              <a:t>, </a:t>
            </a:r>
            <a:r>
              <a:rPr b="1" lang="en-GB">
                <a:solidFill>
                  <a:schemeClr val="dk1"/>
                </a:solidFill>
              </a:rPr>
              <a:t>quotas</a:t>
            </a:r>
            <a:r>
              <a:rPr lang="en-GB">
                <a:solidFill>
                  <a:schemeClr val="dk1"/>
                </a:solidFill>
              </a:rPr>
              <a:t>, and control </a:t>
            </a:r>
            <a:r>
              <a:rPr b="1" lang="en-GB">
                <a:solidFill>
                  <a:schemeClr val="dk1"/>
                </a:solidFill>
              </a:rPr>
              <a:t>API access levels</a:t>
            </a:r>
            <a:r>
              <a:rPr lang="en-GB">
                <a:solidFill>
                  <a:schemeClr val="dk1"/>
                </a:solidFill>
              </a:rPr>
              <a:t> — critical for managing client behavior and ensuring system stability.</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Second, before a client can request tokens using any OAuth grant type, it must first be </a:t>
            </a:r>
            <a:r>
              <a:rPr b="1" lang="en-GB">
                <a:solidFill>
                  <a:schemeClr val="dk1"/>
                </a:solidFill>
              </a:rPr>
              <a:t>registered</a:t>
            </a:r>
            <a:r>
              <a:rPr lang="en-GB">
                <a:solidFill>
                  <a:schemeClr val="dk1"/>
                </a:solidFill>
              </a:rPr>
              <a:t> via the Tyk Dashboard. This process creates a </a:t>
            </a:r>
            <a:r>
              <a:rPr b="1" lang="en-GB">
                <a:solidFill>
                  <a:schemeClr val="dk1"/>
                </a:solidFill>
              </a:rPr>
              <a:t>Client App</a:t>
            </a:r>
            <a:r>
              <a:rPr lang="en-GB">
                <a:solidFill>
                  <a:schemeClr val="dk1"/>
                </a:solidFill>
              </a:rPr>
              <a:t>, generating a </a:t>
            </a:r>
            <a:r>
              <a:rPr b="1" lang="en-GB">
                <a:solidFill>
                  <a:schemeClr val="dk1"/>
                </a:solidFill>
              </a:rPr>
              <a:t>Client ID and Secret</a:t>
            </a:r>
            <a:r>
              <a:rPr lang="en-GB">
                <a:solidFill>
                  <a:schemeClr val="dk1"/>
                </a:solidFill>
              </a:rPr>
              <a:t>, which are used to authenticate the client during token exchange.</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This central registration mechanism allows you to standardize and secure access control across your API ecosystem.</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slide" showMasterSp="0">
  <p:cSld name="Light slide">
    <p:bg>
      <p:bgPr>
        <a:solidFill>
          <a:srgbClr val="FFFFFF"/>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951731" y="1115566"/>
            <a:ext cx="5302200" cy="887700"/>
          </a:xfrm>
          <a:prstGeom prst="rect">
            <a:avLst/>
          </a:prstGeom>
          <a:noFill/>
          <a:ln>
            <a:noFill/>
          </a:ln>
        </p:spPr>
        <p:txBody>
          <a:bodyPr anchorCtr="0" anchor="t" bIns="0" lIns="0" spcFirstLastPara="1" rIns="0" wrap="square" tIns="0">
            <a:normAutofit/>
          </a:bodyPr>
          <a:lstStyle>
            <a:lvl1pPr indent="-419100" lvl="0" marL="457200" algn="l">
              <a:lnSpc>
                <a:spcPct val="100000"/>
              </a:lnSpc>
              <a:spcBef>
                <a:spcPts val="0"/>
              </a:spcBef>
              <a:spcAft>
                <a:spcPts val="0"/>
              </a:spcAft>
              <a:buClr>
                <a:srgbClr val="505071"/>
              </a:buClr>
              <a:buSzPts val="3000"/>
              <a:buFont typeface="Arial"/>
              <a:buChar char="●"/>
              <a:defRPr b="1" sz="3000">
                <a:solidFill>
                  <a:srgbClr val="505071"/>
                </a:solidFill>
                <a:latin typeface="Arial"/>
                <a:ea typeface="Arial"/>
                <a:cs typeface="Arial"/>
                <a:sym typeface="Arial"/>
              </a:defRPr>
            </a:lvl1pPr>
            <a:lvl2pPr indent="-273050" lvl="1" marL="914400" algn="l">
              <a:lnSpc>
                <a:spcPct val="120000"/>
              </a:lnSpc>
              <a:spcBef>
                <a:spcPts val="0"/>
              </a:spcBef>
              <a:spcAft>
                <a:spcPts val="0"/>
              </a:spcAft>
              <a:buClr>
                <a:srgbClr val="7A79A1"/>
              </a:buClr>
              <a:buSzPts val="700"/>
              <a:buChar char="○"/>
              <a:defRPr/>
            </a:lvl2pPr>
            <a:lvl3pPr indent="-273050" lvl="2" marL="1371600" algn="l">
              <a:lnSpc>
                <a:spcPct val="120000"/>
              </a:lnSpc>
              <a:spcBef>
                <a:spcPts val="0"/>
              </a:spcBef>
              <a:spcAft>
                <a:spcPts val="0"/>
              </a:spcAft>
              <a:buClr>
                <a:srgbClr val="7A79A1"/>
              </a:buClr>
              <a:buSzPts val="700"/>
              <a:buChar char="■"/>
              <a:defRPr/>
            </a:lvl3pPr>
            <a:lvl4pPr indent="-273050" lvl="3" marL="1828800" algn="l">
              <a:lnSpc>
                <a:spcPct val="120000"/>
              </a:lnSpc>
              <a:spcBef>
                <a:spcPts val="0"/>
              </a:spcBef>
              <a:spcAft>
                <a:spcPts val="0"/>
              </a:spcAft>
              <a:buClr>
                <a:srgbClr val="7A79A1"/>
              </a:buClr>
              <a:buSzPts val="700"/>
              <a:buChar char="●"/>
              <a:defRPr/>
            </a:lvl4pPr>
            <a:lvl5pPr indent="-273050" lvl="4" marL="2286000" algn="l">
              <a:lnSpc>
                <a:spcPct val="120000"/>
              </a:lnSpc>
              <a:spcBef>
                <a:spcPts val="0"/>
              </a:spcBef>
              <a:spcAft>
                <a:spcPts val="0"/>
              </a:spcAft>
              <a:buClr>
                <a:srgbClr val="7A79A1"/>
              </a:buClr>
              <a:buSzPts val="700"/>
              <a:buChar char="○"/>
              <a:defRPr/>
            </a:lvl5pPr>
            <a:lvl6pPr indent="-273050" lvl="5" marL="2743200" algn="l">
              <a:lnSpc>
                <a:spcPct val="120000"/>
              </a:lnSpc>
              <a:spcBef>
                <a:spcPts val="0"/>
              </a:spcBef>
              <a:spcAft>
                <a:spcPts val="0"/>
              </a:spcAft>
              <a:buClr>
                <a:srgbClr val="7A79A1"/>
              </a:buClr>
              <a:buSzPts val="700"/>
              <a:buChar char="■"/>
              <a:defRPr/>
            </a:lvl6pPr>
            <a:lvl7pPr indent="-273050" lvl="6" marL="3200400" algn="l">
              <a:lnSpc>
                <a:spcPct val="120000"/>
              </a:lnSpc>
              <a:spcBef>
                <a:spcPts val="0"/>
              </a:spcBef>
              <a:spcAft>
                <a:spcPts val="0"/>
              </a:spcAft>
              <a:buClr>
                <a:srgbClr val="7A79A1"/>
              </a:buClr>
              <a:buSzPts val="700"/>
              <a:buChar char="●"/>
              <a:defRPr/>
            </a:lvl7pPr>
            <a:lvl8pPr indent="-273050" lvl="7" marL="3657600" algn="l">
              <a:lnSpc>
                <a:spcPct val="120000"/>
              </a:lnSpc>
              <a:spcBef>
                <a:spcPts val="0"/>
              </a:spcBef>
              <a:spcAft>
                <a:spcPts val="0"/>
              </a:spcAft>
              <a:buClr>
                <a:srgbClr val="7A79A1"/>
              </a:buClr>
              <a:buSzPts val="700"/>
              <a:buChar char="○"/>
              <a:defRPr/>
            </a:lvl8pPr>
            <a:lvl9pPr indent="-273050" lvl="8" marL="4114800" algn="l">
              <a:lnSpc>
                <a:spcPct val="120000"/>
              </a:lnSpc>
              <a:spcBef>
                <a:spcPts val="0"/>
              </a:spcBef>
              <a:spcAft>
                <a:spcPts val="0"/>
              </a:spcAft>
              <a:buClr>
                <a:srgbClr val="7A79A1"/>
              </a:buClr>
              <a:buSzPts val="700"/>
              <a:buChar char="■"/>
              <a:defRPr/>
            </a:lvl9pPr>
          </a:lstStyle>
          <a:p/>
        </p:txBody>
      </p:sp>
      <p:sp>
        <p:nvSpPr>
          <p:cNvPr id="52" name="Google Shape;52;p13"/>
          <p:cNvSpPr txBox="1"/>
          <p:nvPr>
            <p:ph idx="2" type="body"/>
          </p:nvPr>
        </p:nvSpPr>
        <p:spPr>
          <a:xfrm>
            <a:off x="934600" y="858391"/>
            <a:ext cx="2825700" cy="200100"/>
          </a:xfrm>
          <a:prstGeom prst="rect">
            <a:avLst/>
          </a:prstGeom>
          <a:noFill/>
          <a:ln>
            <a:noFill/>
          </a:ln>
        </p:spPr>
        <p:txBody>
          <a:bodyPr anchorCtr="0" anchor="t" bIns="19050" lIns="19050" spcFirstLastPara="1" rIns="19050" wrap="square" tIns="19050">
            <a:normAutofit/>
          </a:bodyPr>
          <a:lstStyle>
            <a:lvl1pPr indent="-273050" lvl="0" marL="457200" algn="l">
              <a:lnSpc>
                <a:spcPct val="100000"/>
              </a:lnSpc>
              <a:spcBef>
                <a:spcPts val="0"/>
              </a:spcBef>
              <a:spcAft>
                <a:spcPts val="0"/>
              </a:spcAft>
              <a:buClr>
                <a:srgbClr val="7A79A1"/>
              </a:buClr>
              <a:buSzPts val="700"/>
              <a:buChar char="●"/>
              <a:defRPr/>
            </a:lvl1pPr>
            <a:lvl2pPr indent="-273050" lvl="1" marL="914400" algn="l">
              <a:lnSpc>
                <a:spcPct val="120000"/>
              </a:lnSpc>
              <a:spcBef>
                <a:spcPts val="0"/>
              </a:spcBef>
              <a:spcAft>
                <a:spcPts val="0"/>
              </a:spcAft>
              <a:buClr>
                <a:srgbClr val="7A79A1"/>
              </a:buClr>
              <a:buSzPts val="700"/>
              <a:buChar char="○"/>
              <a:defRPr/>
            </a:lvl2pPr>
            <a:lvl3pPr indent="-273050" lvl="2" marL="1371600" algn="l">
              <a:lnSpc>
                <a:spcPct val="120000"/>
              </a:lnSpc>
              <a:spcBef>
                <a:spcPts val="0"/>
              </a:spcBef>
              <a:spcAft>
                <a:spcPts val="0"/>
              </a:spcAft>
              <a:buClr>
                <a:srgbClr val="7A79A1"/>
              </a:buClr>
              <a:buSzPts val="700"/>
              <a:buChar char="■"/>
              <a:defRPr/>
            </a:lvl3pPr>
            <a:lvl4pPr indent="-273050" lvl="3" marL="1828800" algn="l">
              <a:lnSpc>
                <a:spcPct val="120000"/>
              </a:lnSpc>
              <a:spcBef>
                <a:spcPts val="0"/>
              </a:spcBef>
              <a:spcAft>
                <a:spcPts val="0"/>
              </a:spcAft>
              <a:buClr>
                <a:srgbClr val="7A79A1"/>
              </a:buClr>
              <a:buSzPts val="700"/>
              <a:buChar char="●"/>
              <a:defRPr/>
            </a:lvl4pPr>
            <a:lvl5pPr indent="-273050" lvl="4" marL="2286000" algn="l">
              <a:lnSpc>
                <a:spcPct val="120000"/>
              </a:lnSpc>
              <a:spcBef>
                <a:spcPts val="0"/>
              </a:spcBef>
              <a:spcAft>
                <a:spcPts val="0"/>
              </a:spcAft>
              <a:buClr>
                <a:srgbClr val="7A79A1"/>
              </a:buClr>
              <a:buSzPts val="700"/>
              <a:buChar char="○"/>
              <a:defRPr/>
            </a:lvl5pPr>
            <a:lvl6pPr indent="-273050" lvl="5" marL="2743200" algn="l">
              <a:lnSpc>
                <a:spcPct val="120000"/>
              </a:lnSpc>
              <a:spcBef>
                <a:spcPts val="0"/>
              </a:spcBef>
              <a:spcAft>
                <a:spcPts val="0"/>
              </a:spcAft>
              <a:buClr>
                <a:srgbClr val="7A79A1"/>
              </a:buClr>
              <a:buSzPts val="700"/>
              <a:buChar char="■"/>
              <a:defRPr/>
            </a:lvl6pPr>
            <a:lvl7pPr indent="-273050" lvl="6" marL="3200400" algn="l">
              <a:lnSpc>
                <a:spcPct val="120000"/>
              </a:lnSpc>
              <a:spcBef>
                <a:spcPts val="0"/>
              </a:spcBef>
              <a:spcAft>
                <a:spcPts val="0"/>
              </a:spcAft>
              <a:buClr>
                <a:srgbClr val="7A79A1"/>
              </a:buClr>
              <a:buSzPts val="700"/>
              <a:buChar char="●"/>
              <a:defRPr/>
            </a:lvl7pPr>
            <a:lvl8pPr indent="-273050" lvl="7" marL="3657600" algn="l">
              <a:lnSpc>
                <a:spcPct val="120000"/>
              </a:lnSpc>
              <a:spcBef>
                <a:spcPts val="0"/>
              </a:spcBef>
              <a:spcAft>
                <a:spcPts val="0"/>
              </a:spcAft>
              <a:buClr>
                <a:srgbClr val="7A79A1"/>
              </a:buClr>
              <a:buSzPts val="700"/>
              <a:buChar char="○"/>
              <a:defRPr/>
            </a:lvl8pPr>
            <a:lvl9pPr indent="-273050" lvl="8" marL="4114800" algn="l">
              <a:lnSpc>
                <a:spcPct val="120000"/>
              </a:lnSpc>
              <a:spcBef>
                <a:spcPts val="0"/>
              </a:spcBef>
              <a:spcAft>
                <a:spcPts val="0"/>
              </a:spcAft>
              <a:buClr>
                <a:srgbClr val="7A79A1"/>
              </a:buClr>
              <a:buSzPts val="700"/>
              <a:buChar char="■"/>
              <a:defRPr/>
            </a:lvl9pPr>
          </a:lstStyle>
          <a:p/>
        </p:txBody>
      </p:sp>
      <p:pic>
        <p:nvPicPr>
          <p:cNvPr descr="logo_RGB-Transparent1-WEB.png" id="53" name="Google Shape;53;p13"/>
          <p:cNvPicPr preferRelativeResize="0"/>
          <p:nvPr/>
        </p:nvPicPr>
        <p:blipFill rotWithShape="1">
          <a:blip r:embed="rId2">
            <a:alphaModFix/>
          </a:blip>
          <a:srcRect b="40" l="0" r="0" t="40"/>
          <a:stretch/>
        </p:blipFill>
        <p:spPr>
          <a:xfrm>
            <a:off x="243186" y="4749582"/>
            <a:ext cx="279847" cy="142875"/>
          </a:xfrm>
          <a:prstGeom prst="rect">
            <a:avLst/>
          </a:prstGeom>
          <a:noFill/>
          <a:ln>
            <a:noFill/>
          </a:ln>
        </p:spPr>
      </p:pic>
      <p:sp>
        <p:nvSpPr>
          <p:cNvPr id="54" name="Google Shape;54;p13"/>
          <p:cNvSpPr txBox="1"/>
          <p:nvPr>
            <p:ph idx="3" type="body"/>
          </p:nvPr>
        </p:nvSpPr>
        <p:spPr>
          <a:xfrm>
            <a:off x="951731" y="2296477"/>
            <a:ext cx="3860100" cy="550500"/>
          </a:xfrm>
          <a:prstGeom prst="rect">
            <a:avLst/>
          </a:prstGeom>
          <a:noFill/>
          <a:ln>
            <a:noFill/>
          </a:ln>
        </p:spPr>
        <p:txBody>
          <a:bodyPr anchorCtr="0" anchor="t" bIns="0" lIns="0" spcFirstLastPara="1" rIns="0" wrap="square" tIns="0">
            <a:normAutofit/>
          </a:bodyPr>
          <a:lstStyle>
            <a:lvl1pPr indent="-273050" lvl="0" marL="457200" algn="l">
              <a:lnSpc>
                <a:spcPct val="120000"/>
              </a:lnSpc>
              <a:spcBef>
                <a:spcPts val="0"/>
              </a:spcBef>
              <a:spcAft>
                <a:spcPts val="0"/>
              </a:spcAft>
              <a:buClr>
                <a:srgbClr val="7A79A1"/>
              </a:buClr>
              <a:buSzPts val="700"/>
              <a:buChar char="●"/>
              <a:defRPr/>
            </a:lvl1pPr>
            <a:lvl2pPr indent="-273050" lvl="1" marL="914400" algn="l">
              <a:lnSpc>
                <a:spcPct val="120000"/>
              </a:lnSpc>
              <a:spcBef>
                <a:spcPts val="0"/>
              </a:spcBef>
              <a:spcAft>
                <a:spcPts val="0"/>
              </a:spcAft>
              <a:buClr>
                <a:srgbClr val="7A79A1"/>
              </a:buClr>
              <a:buSzPts val="700"/>
              <a:buChar char="○"/>
              <a:defRPr/>
            </a:lvl2pPr>
            <a:lvl3pPr indent="-273050" lvl="2" marL="1371600" algn="l">
              <a:lnSpc>
                <a:spcPct val="120000"/>
              </a:lnSpc>
              <a:spcBef>
                <a:spcPts val="0"/>
              </a:spcBef>
              <a:spcAft>
                <a:spcPts val="0"/>
              </a:spcAft>
              <a:buClr>
                <a:srgbClr val="7A79A1"/>
              </a:buClr>
              <a:buSzPts val="700"/>
              <a:buChar char="■"/>
              <a:defRPr/>
            </a:lvl3pPr>
            <a:lvl4pPr indent="-273050" lvl="3" marL="1828800" algn="l">
              <a:lnSpc>
                <a:spcPct val="120000"/>
              </a:lnSpc>
              <a:spcBef>
                <a:spcPts val="0"/>
              </a:spcBef>
              <a:spcAft>
                <a:spcPts val="0"/>
              </a:spcAft>
              <a:buClr>
                <a:srgbClr val="7A79A1"/>
              </a:buClr>
              <a:buSzPts val="700"/>
              <a:buChar char="●"/>
              <a:defRPr/>
            </a:lvl4pPr>
            <a:lvl5pPr indent="-273050" lvl="4" marL="2286000" algn="l">
              <a:lnSpc>
                <a:spcPct val="120000"/>
              </a:lnSpc>
              <a:spcBef>
                <a:spcPts val="0"/>
              </a:spcBef>
              <a:spcAft>
                <a:spcPts val="0"/>
              </a:spcAft>
              <a:buClr>
                <a:srgbClr val="7A79A1"/>
              </a:buClr>
              <a:buSzPts val="700"/>
              <a:buChar char="○"/>
              <a:defRPr/>
            </a:lvl5pPr>
            <a:lvl6pPr indent="-273050" lvl="5" marL="2743200" algn="l">
              <a:lnSpc>
                <a:spcPct val="120000"/>
              </a:lnSpc>
              <a:spcBef>
                <a:spcPts val="0"/>
              </a:spcBef>
              <a:spcAft>
                <a:spcPts val="0"/>
              </a:spcAft>
              <a:buClr>
                <a:srgbClr val="7A79A1"/>
              </a:buClr>
              <a:buSzPts val="700"/>
              <a:buChar char="■"/>
              <a:defRPr/>
            </a:lvl6pPr>
            <a:lvl7pPr indent="-273050" lvl="6" marL="3200400" algn="l">
              <a:lnSpc>
                <a:spcPct val="120000"/>
              </a:lnSpc>
              <a:spcBef>
                <a:spcPts val="0"/>
              </a:spcBef>
              <a:spcAft>
                <a:spcPts val="0"/>
              </a:spcAft>
              <a:buClr>
                <a:srgbClr val="7A79A1"/>
              </a:buClr>
              <a:buSzPts val="700"/>
              <a:buChar char="●"/>
              <a:defRPr/>
            </a:lvl7pPr>
            <a:lvl8pPr indent="-273050" lvl="7" marL="3657600" algn="l">
              <a:lnSpc>
                <a:spcPct val="120000"/>
              </a:lnSpc>
              <a:spcBef>
                <a:spcPts val="0"/>
              </a:spcBef>
              <a:spcAft>
                <a:spcPts val="0"/>
              </a:spcAft>
              <a:buClr>
                <a:srgbClr val="7A79A1"/>
              </a:buClr>
              <a:buSzPts val="700"/>
              <a:buChar char="○"/>
              <a:defRPr/>
            </a:lvl8pPr>
            <a:lvl9pPr indent="-273050" lvl="8" marL="4114800" algn="l">
              <a:lnSpc>
                <a:spcPct val="120000"/>
              </a:lnSpc>
              <a:spcBef>
                <a:spcPts val="0"/>
              </a:spcBef>
              <a:spcAft>
                <a:spcPts val="0"/>
              </a:spcAft>
              <a:buClr>
                <a:srgbClr val="7A79A1"/>
              </a:buClr>
              <a:buSzPts val="700"/>
              <a:buChar char="■"/>
              <a:defRPr/>
            </a:lvl9pPr>
          </a:lstStyle>
          <a:p/>
        </p:txBody>
      </p:sp>
      <p:sp>
        <p:nvSpPr>
          <p:cNvPr id="55" name="Google Shape;55;p13"/>
          <p:cNvSpPr txBox="1"/>
          <p:nvPr>
            <p:ph idx="12" type="sldNum"/>
          </p:nvPr>
        </p:nvSpPr>
        <p:spPr>
          <a:xfrm>
            <a:off x="8543920" y="4773806"/>
            <a:ext cx="351600" cy="162000"/>
          </a:xfrm>
          <a:prstGeom prst="rect">
            <a:avLst/>
          </a:prstGeom>
          <a:noFill/>
          <a:ln>
            <a:noFill/>
          </a:ln>
        </p:spPr>
        <p:txBody>
          <a:bodyPr anchorCtr="0" anchor="b" bIns="0" lIns="0" spcFirstLastPara="1" rIns="0" wrap="square" tIns="0">
            <a:normAutofit/>
          </a:bodyPr>
          <a:lstStyle>
            <a:lvl1pPr indent="0" lvl="0"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1pPr>
            <a:lvl2pPr indent="0" lvl="1"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2pPr>
            <a:lvl3pPr indent="0" lvl="2"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3pPr>
            <a:lvl4pPr indent="0" lvl="3"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4pPr>
            <a:lvl5pPr indent="0" lvl="4"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5pPr>
            <a:lvl6pPr indent="0" lvl="5"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6pPr>
            <a:lvl7pPr indent="0" lvl="6"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7pPr>
            <a:lvl8pPr indent="0" lvl="7"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8pPr>
            <a:lvl9pPr indent="0" lvl="8" marL="0" algn="r">
              <a:lnSpc>
                <a:spcPct val="100000"/>
              </a:lnSpc>
              <a:spcBef>
                <a:spcPts val="0"/>
              </a:spcBef>
              <a:spcAft>
                <a:spcPts val="0"/>
              </a:spcAft>
              <a:buClr>
                <a:srgbClr val="7A79A1"/>
              </a:buClr>
              <a:buSzPts val="900"/>
              <a:buFont typeface="Open Sans"/>
              <a:buNone/>
              <a:defRPr i="0" sz="800" u="none" cap="none" strike="noStrike">
                <a:latin typeface="Open Sans SemiBold"/>
                <a:ea typeface="Open Sans SemiBold"/>
                <a:cs typeface="Open Sans SemiBold"/>
                <a:sym typeface="Open Sans SemiBold"/>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11700" y="922550"/>
            <a:ext cx="8520600" cy="165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62" name="Google Shape;62;p15"/>
          <p:cNvSpPr txBox="1"/>
          <p:nvPr>
            <p:ph idx="1" type="subTitle"/>
          </p:nvPr>
        </p:nvSpPr>
        <p:spPr>
          <a:xfrm>
            <a:off x="311700" y="2531550"/>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2000"/>
              <a:buNone/>
              <a:defRPr sz="2000">
                <a:solidFill>
                  <a:srgbClr val="21E9BA"/>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3" name="Google Shape;63;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4" name="Shape 64"/>
        <p:cNvGrpSpPr/>
        <p:nvPr/>
      </p:nvGrpSpPr>
      <p:grpSpPr>
        <a:xfrm>
          <a:off x="0" y="0"/>
          <a:ext cx="0" cy="0"/>
          <a:chOff x="0" y="0"/>
          <a:chExt cx="0" cy="0"/>
        </a:xfrm>
      </p:grpSpPr>
      <p:sp>
        <p:nvSpPr>
          <p:cNvPr id="65" name="Google Shape;65;p1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6" name="Google Shape;66;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7" name="Shape 67"/>
        <p:cNvGrpSpPr/>
        <p:nvPr/>
      </p:nvGrpSpPr>
      <p:grpSpPr>
        <a:xfrm>
          <a:off x="0" y="0"/>
          <a:ext cx="0" cy="0"/>
          <a:chOff x="0" y="0"/>
          <a:chExt cx="0" cy="0"/>
        </a:xfrm>
      </p:grpSpPr>
      <p:sp>
        <p:nvSpPr>
          <p:cNvPr id="68" name="Google Shape;68;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69" name="Google Shape;6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72" name="Google Shape;72;p18"/>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3" name="Google Shape;73;p18"/>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4" name="Google Shape;74;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77" name="Google Shape;77;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sp>
        <p:nvSpPr>
          <p:cNvPr id="79" name="Google Shape;79;p20"/>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 name="Google Shape;80;p20"/>
          <p:cNvSpPr txBox="1"/>
          <p:nvPr>
            <p:ph idx="1" type="body"/>
          </p:nvPr>
        </p:nvSpPr>
        <p:spPr>
          <a:xfrm>
            <a:off x="311700" y="1389600"/>
            <a:ext cx="50364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1" name="Google Shape;81;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2" name="Shape 82"/>
        <p:cNvGrpSpPr/>
        <p:nvPr/>
      </p:nvGrpSpPr>
      <p:grpSpPr>
        <a:xfrm>
          <a:off x="0" y="0"/>
          <a:ext cx="0" cy="0"/>
          <a:chOff x="0" y="0"/>
          <a:chExt cx="0" cy="0"/>
        </a:xfrm>
      </p:grpSpPr>
      <p:sp>
        <p:nvSpPr>
          <p:cNvPr id="83" name="Google Shape;83;p21"/>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84" name="Google Shape;84;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5" name="Shape 85"/>
        <p:cNvGrpSpPr/>
        <p:nvPr/>
      </p:nvGrpSpPr>
      <p:grpSpPr>
        <a:xfrm>
          <a:off x="0" y="0"/>
          <a:ext cx="0" cy="0"/>
          <a:chOff x="0" y="0"/>
          <a:chExt cx="0" cy="0"/>
        </a:xfrm>
      </p:grpSpPr>
      <p:sp>
        <p:nvSpPr>
          <p:cNvPr id="86" name="Google Shape;86;p22"/>
          <p:cNvSpPr/>
          <p:nvPr/>
        </p:nvSpPr>
        <p:spPr>
          <a:xfrm>
            <a:off x="4572000" y="-12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2"/>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8" name="Google Shape;88;p22"/>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1600"/>
              <a:buNone/>
              <a:defRPr sz="1600">
                <a:solidFill>
                  <a:srgbClr val="21E9BA"/>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9" name="Google Shape;89;p22"/>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rgbClr val="8438FA"/>
              </a:buClr>
              <a:buSzPts val="1800"/>
              <a:buChar char="●"/>
              <a:defRPr>
                <a:solidFill>
                  <a:srgbClr val="8438FA"/>
                </a:solidFill>
              </a:defRPr>
            </a:lvl1pPr>
            <a:lvl2pPr indent="-317500" lvl="1" marL="914400">
              <a:spcBef>
                <a:spcPts val="0"/>
              </a:spcBef>
              <a:spcAft>
                <a:spcPts val="0"/>
              </a:spcAft>
              <a:buClr>
                <a:srgbClr val="8438FA"/>
              </a:buClr>
              <a:buSzPts val="1400"/>
              <a:buChar char="○"/>
              <a:defRPr>
                <a:solidFill>
                  <a:srgbClr val="8438FA"/>
                </a:solidFill>
              </a:defRPr>
            </a:lvl2pPr>
            <a:lvl3pPr indent="-317500" lvl="2" marL="1371600">
              <a:spcBef>
                <a:spcPts val="0"/>
              </a:spcBef>
              <a:spcAft>
                <a:spcPts val="0"/>
              </a:spcAft>
              <a:buClr>
                <a:srgbClr val="8438FA"/>
              </a:buClr>
              <a:buSzPts val="1400"/>
              <a:buChar char="■"/>
              <a:defRPr>
                <a:solidFill>
                  <a:srgbClr val="8438FA"/>
                </a:solidFill>
              </a:defRPr>
            </a:lvl3pPr>
            <a:lvl4pPr indent="-317500" lvl="3" marL="1828800">
              <a:spcBef>
                <a:spcPts val="0"/>
              </a:spcBef>
              <a:spcAft>
                <a:spcPts val="0"/>
              </a:spcAft>
              <a:buClr>
                <a:srgbClr val="8438FA"/>
              </a:buClr>
              <a:buSzPts val="1400"/>
              <a:buChar char="●"/>
              <a:defRPr>
                <a:solidFill>
                  <a:srgbClr val="8438FA"/>
                </a:solidFill>
              </a:defRPr>
            </a:lvl4pPr>
            <a:lvl5pPr indent="-317500" lvl="4" marL="2286000">
              <a:spcBef>
                <a:spcPts val="0"/>
              </a:spcBef>
              <a:spcAft>
                <a:spcPts val="0"/>
              </a:spcAft>
              <a:buClr>
                <a:srgbClr val="8438FA"/>
              </a:buClr>
              <a:buSzPts val="1400"/>
              <a:buChar char="○"/>
              <a:defRPr>
                <a:solidFill>
                  <a:srgbClr val="8438FA"/>
                </a:solidFill>
              </a:defRPr>
            </a:lvl5pPr>
            <a:lvl6pPr indent="-317500" lvl="5" marL="2743200">
              <a:spcBef>
                <a:spcPts val="0"/>
              </a:spcBef>
              <a:spcAft>
                <a:spcPts val="0"/>
              </a:spcAft>
              <a:buClr>
                <a:srgbClr val="8438FA"/>
              </a:buClr>
              <a:buSzPts val="1400"/>
              <a:buChar char="■"/>
              <a:defRPr>
                <a:solidFill>
                  <a:srgbClr val="8438FA"/>
                </a:solidFill>
              </a:defRPr>
            </a:lvl6pPr>
            <a:lvl7pPr indent="-317500" lvl="6" marL="3200400">
              <a:spcBef>
                <a:spcPts val="0"/>
              </a:spcBef>
              <a:spcAft>
                <a:spcPts val="0"/>
              </a:spcAft>
              <a:buClr>
                <a:srgbClr val="8438FA"/>
              </a:buClr>
              <a:buSzPts val="1400"/>
              <a:buChar char="●"/>
              <a:defRPr>
                <a:solidFill>
                  <a:srgbClr val="8438FA"/>
                </a:solidFill>
              </a:defRPr>
            </a:lvl7pPr>
            <a:lvl8pPr indent="-317500" lvl="7" marL="3657600">
              <a:spcBef>
                <a:spcPts val="0"/>
              </a:spcBef>
              <a:spcAft>
                <a:spcPts val="0"/>
              </a:spcAft>
              <a:buClr>
                <a:srgbClr val="8438FA"/>
              </a:buClr>
              <a:buSzPts val="1400"/>
              <a:buChar char="○"/>
              <a:defRPr>
                <a:solidFill>
                  <a:srgbClr val="8438FA"/>
                </a:solidFill>
              </a:defRPr>
            </a:lvl8pPr>
            <a:lvl9pPr indent="-317500" lvl="8" marL="4114800">
              <a:spcBef>
                <a:spcPts val="0"/>
              </a:spcBef>
              <a:spcAft>
                <a:spcPts val="0"/>
              </a:spcAft>
              <a:buClr>
                <a:srgbClr val="8438FA"/>
              </a:buClr>
              <a:buSzPts val="1400"/>
              <a:buChar char="■"/>
              <a:defRPr>
                <a:solidFill>
                  <a:srgbClr val="8438FA"/>
                </a:solidFill>
              </a:defRPr>
            </a:lvl9pPr>
          </a:lstStyle>
          <a:p/>
        </p:txBody>
      </p:sp>
      <p:sp>
        <p:nvSpPr>
          <p:cNvPr id="90" name="Google Shape;90;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1" name="Shape 91"/>
        <p:cNvGrpSpPr/>
        <p:nvPr/>
      </p:nvGrpSpPr>
      <p:grpSpPr>
        <a:xfrm>
          <a:off x="0" y="0"/>
          <a:ext cx="0" cy="0"/>
          <a:chOff x="0" y="0"/>
          <a:chExt cx="0" cy="0"/>
        </a:xfrm>
      </p:grpSpPr>
      <p:sp>
        <p:nvSpPr>
          <p:cNvPr id="92" name="Google Shape;92;p23"/>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93" name="Google Shape;93;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4" name="Shape 94"/>
        <p:cNvGrpSpPr/>
        <p:nvPr/>
      </p:nvGrpSpPr>
      <p:grpSpPr>
        <a:xfrm>
          <a:off x="0" y="0"/>
          <a:ext cx="0" cy="0"/>
          <a:chOff x="0" y="0"/>
          <a:chExt cx="0" cy="0"/>
        </a:xfrm>
      </p:grpSpPr>
      <p:sp>
        <p:nvSpPr>
          <p:cNvPr id="95" name="Google Shape;95;p2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6" name="Google Shape;96;p24"/>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7" name="Google Shape;97;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3.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8438FA"/>
        </a:solidFill>
      </p:bgPr>
    </p:bg>
    <p:spTree>
      <p:nvGrpSpPr>
        <p:cNvPr id="56" name="Shape 56"/>
        <p:cNvGrpSpPr/>
        <p:nvPr/>
      </p:nvGrpSpPr>
      <p:grpSpPr>
        <a:xfrm>
          <a:off x="0" y="0"/>
          <a:ext cx="0" cy="0"/>
          <a:chOff x="0" y="0"/>
          <a:chExt cx="0" cy="0"/>
        </a:xfrm>
      </p:grpSpPr>
      <p:sp>
        <p:nvSpPr>
          <p:cNvPr id="57" name="Google Shape;57;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1pPr>
            <a:lvl2pPr lvl="1">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2pPr>
            <a:lvl3pPr lvl="2">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3pPr>
            <a:lvl4pPr lvl="3">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4pPr>
            <a:lvl5pPr lvl="4">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5pPr>
            <a:lvl6pPr lvl="5">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6pPr>
            <a:lvl7pPr lvl="6">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7pPr>
            <a:lvl8pPr lvl="7">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8pPr>
            <a:lvl9pPr lvl="8">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9pPr>
          </a:lstStyle>
          <a:p/>
        </p:txBody>
      </p:sp>
      <p:sp>
        <p:nvSpPr>
          <p:cNvPr id="58" name="Google Shape;58;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1"/>
              </a:buClr>
              <a:buSzPts val="1800"/>
              <a:buFont typeface="Inter"/>
              <a:buChar char="●"/>
              <a:defRPr sz="1800">
                <a:solidFill>
                  <a:schemeClr val="lt1"/>
                </a:solidFill>
                <a:latin typeface="Inter"/>
                <a:ea typeface="Inter"/>
                <a:cs typeface="Inter"/>
                <a:sym typeface="Inter"/>
              </a:defRPr>
            </a:lvl1pPr>
            <a:lvl2pPr indent="-317500" lvl="1" marL="914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2pPr>
            <a:lvl3pPr indent="-317500" lvl="2" marL="1371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3pPr>
            <a:lvl4pPr indent="-317500" lvl="3" marL="1828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4pPr>
            <a:lvl5pPr indent="-317500" lvl="4" marL="22860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5pPr>
            <a:lvl6pPr indent="-317500" lvl="5" marL="27432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6pPr>
            <a:lvl7pPr indent="-317500" lvl="6" marL="3200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7pPr>
            <a:lvl8pPr indent="-317500" lvl="7" marL="3657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8pPr>
            <a:lvl9pPr indent="-317500" lvl="8" marL="4114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9pPr>
          </a:lstStyle>
          <a:p/>
        </p:txBody>
      </p:sp>
      <p:sp>
        <p:nvSpPr>
          <p:cNvPr id="59" name="Google Shape;59;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Inter Light"/>
                <a:ea typeface="Inter Light"/>
                <a:cs typeface="Inter Light"/>
                <a:sym typeface="Inter Light"/>
              </a:defRPr>
            </a:lvl1pPr>
            <a:lvl2pPr lvl="1" algn="r">
              <a:buNone/>
              <a:defRPr sz="1000">
                <a:solidFill>
                  <a:schemeClr val="lt1"/>
                </a:solidFill>
                <a:latin typeface="Inter Light"/>
                <a:ea typeface="Inter Light"/>
                <a:cs typeface="Inter Light"/>
                <a:sym typeface="Inter Light"/>
              </a:defRPr>
            </a:lvl2pPr>
            <a:lvl3pPr lvl="2" algn="r">
              <a:buNone/>
              <a:defRPr sz="1000">
                <a:solidFill>
                  <a:schemeClr val="lt1"/>
                </a:solidFill>
                <a:latin typeface="Inter Light"/>
                <a:ea typeface="Inter Light"/>
                <a:cs typeface="Inter Light"/>
                <a:sym typeface="Inter Light"/>
              </a:defRPr>
            </a:lvl3pPr>
            <a:lvl4pPr lvl="3" algn="r">
              <a:buNone/>
              <a:defRPr sz="1000">
                <a:solidFill>
                  <a:schemeClr val="lt1"/>
                </a:solidFill>
                <a:latin typeface="Inter Light"/>
                <a:ea typeface="Inter Light"/>
                <a:cs typeface="Inter Light"/>
                <a:sym typeface="Inter Light"/>
              </a:defRPr>
            </a:lvl4pPr>
            <a:lvl5pPr lvl="4" algn="r">
              <a:buNone/>
              <a:defRPr sz="1000">
                <a:solidFill>
                  <a:schemeClr val="lt1"/>
                </a:solidFill>
                <a:latin typeface="Inter Light"/>
                <a:ea typeface="Inter Light"/>
                <a:cs typeface="Inter Light"/>
                <a:sym typeface="Inter Light"/>
              </a:defRPr>
            </a:lvl5pPr>
            <a:lvl6pPr lvl="5" algn="r">
              <a:buNone/>
              <a:defRPr sz="1000">
                <a:solidFill>
                  <a:schemeClr val="lt1"/>
                </a:solidFill>
                <a:latin typeface="Inter Light"/>
                <a:ea typeface="Inter Light"/>
                <a:cs typeface="Inter Light"/>
                <a:sym typeface="Inter Light"/>
              </a:defRPr>
            </a:lvl6pPr>
            <a:lvl7pPr lvl="6" algn="r">
              <a:buNone/>
              <a:defRPr sz="1000">
                <a:solidFill>
                  <a:schemeClr val="lt1"/>
                </a:solidFill>
                <a:latin typeface="Inter Light"/>
                <a:ea typeface="Inter Light"/>
                <a:cs typeface="Inter Light"/>
                <a:sym typeface="Inter Light"/>
              </a:defRPr>
            </a:lvl7pPr>
            <a:lvl8pPr lvl="7" algn="r">
              <a:buNone/>
              <a:defRPr sz="1000">
                <a:solidFill>
                  <a:schemeClr val="lt1"/>
                </a:solidFill>
                <a:latin typeface="Inter Light"/>
                <a:ea typeface="Inter Light"/>
                <a:cs typeface="Inter Light"/>
                <a:sym typeface="Inter Light"/>
              </a:defRPr>
            </a:lvl8pPr>
            <a:lvl9pPr lvl="8" algn="r">
              <a:buNone/>
              <a:defRPr sz="1000">
                <a:solidFill>
                  <a:schemeClr val="lt1"/>
                </a:solidFill>
                <a:latin typeface="Inter Light"/>
                <a:ea typeface="Inter Light"/>
                <a:cs typeface="Inter Light"/>
                <a:sym typeface="Inter Light"/>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438FA"/>
            </a:gs>
            <a:gs pos="35000">
              <a:srgbClr val="8438FA"/>
            </a:gs>
            <a:gs pos="100000">
              <a:srgbClr val="BB11FF"/>
            </a:gs>
          </a:gsLst>
          <a:lin ang="2700006" scaled="0"/>
        </a:gradFill>
      </p:bgPr>
    </p:bg>
    <p:spTree>
      <p:nvGrpSpPr>
        <p:cNvPr id="103" name="Shape 103"/>
        <p:cNvGrpSpPr/>
        <p:nvPr/>
      </p:nvGrpSpPr>
      <p:grpSpPr>
        <a:xfrm>
          <a:off x="0" y="0"/>
          <a:ext cx="0" cy="0"/>
          <a:chOff x="0" y="0"/>
          <a:chExt cx="0" cy="0"/>
        </a:xfrm>
      </p:grpSpPr>
      <p:sp>
        <p:nvSpPr>
          <p:cNvPr id="104" name="Google Shape;104;p26"/>
          <p:cNvSpPr txBox="1"/>
          <p:nvPr/>
        </p:nvSpPr>
        <p:spPr>
          <a:xfrm>
            <a:off x="376425" y="962175"/>
            <a:ext cx="8425200" cy="135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800">
                <a:solidFill>
                  <a:schemeClr val="lt1"/>
                </a:solidFill>
                <a:latin typeface="Inter"/>
                <a:ea typeface="Inter"/>
                <a:cs typeface="Inter"/>
                <a:sym typeface="Inter"/>
              </a:rPr>
              <a:t>API </a:t>
            </a:r>
            <a:r>
              <a:rPr b="1" lang="en-GB" sz="3800">
                <a:solidFill>
                  <a:schemeClr val="lt1"/>
                </a:solidFill>
                <a:latin typeface="Inter"/>
                <a:ea typeface="Inter"/>
                <a:cs typeface="Inter"/>
                <a:sym typeface="Inter"/>
              </a:rPr>
              <a:t>Security with Tyk:</a:t>
            </a:r>
            <a:endParaRPr b="1" sz="3800">
              <a:solidFill>
                <a:schemeClr val="lt1"/>
              </a:solidFill>
              <a:latin typeface="Inter"/>
              <a:ea typeface="Inter"/>
              <a:cs typeface="Inter"/>
              <a:sym typeface="Inter"/>
            </a:endParaRPr>
          </a:p>
          <a:p>
            <a:pPr indent="0" lvl="0" marL="0" rtl="0" algn="ctr">
              <a:spcBef>
                <a:spcPts val="0"/>
              </a:spcBef>
              <a:spcAft>
                <a:spcPts val="0"/>
              </a:spcAft>
              <a:buNone/>
            </a:pPr>
            <a:r>
              <a:rPr b="1" lang="en-GB" sz="3800">
                <a:solidFill>
                  <a:schemeClr val="lt1"/>
                </a:solidFill>
                <a:latin typeface="Inter"/>
                <a:ea typeface="Inter"/>
                <a:cs typeface="Inter"/>
                <a:sym typeface="Inter"/>
              </a:rPr>
              <a:t>Authentication Methods</a:t>
            </a:r>
            <a:endParaRPr b="1" sz="3800">
              <a:solidFill>
                <a:schemeClr val="lt1"/>
              </a:solidFill>
              <a:latin typeface="Inter"/>
              <a:ea typeface="Inter"/>
              <a:cs typeface="Inter"/>
              <a:sym typeface="Inter"/>
            </a:endParaRPr>
          </a:p>
        </p:txBody>
      </p:sp>
      <p:sp>
        <p:nvSpPr>
          <p:cNvPr id="105" name="Google Shape;105;p26"/>
          <p:cNvSpPr txBox="1"/>
          <p:nvPr/>
        </p:nvSpPr>
        <p:spPr>
          <a:xfrm>
            <a:off x="1738950" y="2246175"/>
            <a:ext cx="5679300" cy="64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GB">
                <a:solidFill>
                  <a:schemeClr val="lt1"/>
                </a:solidFill>
                <a:latin typeface="Inter"/>
                <a:ea typeface="Inter"/>
                <a:cs typeface="Inter"/>
                <a:sym typeface="Inter"/>
              </a:rPr>
              <a:t>Learn the different ways to verify and secure access to your APIs in Tyk</a:t>
            </a:r>
            <a:endParaRPr>
              <a:solidFill>
                <a:schemeClr val="lt1"/>
              </a:solidFill>
              <a:latin typeface="Inter"/>
              <a:ea typeface="Inter"/>
              <a:cs typeface="Inter"/>
              <a:sym typeface="Inter"/>
            </a:endParaRPr>
          </a:p>
        </p:txBody>
      </p:sp>
      <p:sp>
        <p:nvSpPr>
          <p:cNvPr id="106" name="Google Shape;106;p26"/>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7" name="Google Shape;107;p26"/>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sp>
        <p:nvSpPr>
          <p:cNvPr id="112" name="Google Shape;112;p27"/>
          <p:cNvSpPr txBox="1"/>
          <p:nvPr/>
        </p:nvSpPr>
        <p:spPr>
          <a:xfrm>
            <a:off x="186600" y="1078000"/>
            <a:ext cx="8415000" cy="3147600"/>
          </a:xfrm>
          <a:prstGeom prst="rect">
            <a:avLst/>
          </a:prstGeom>
          <a:noFill/>
          <a:ln>
            <a:noFill/>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Tyk Gateway acts as a secure intermediary between clients and services</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Each API proxy can define authentication requirements</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Controls request routing and access enforcement</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rPr b="1" lang="en-GB" sz="1100">
                <a:solidFill>
                  <a:srgbClr val="03031C"/>
                </a:solidFill>
                <a:latin typeface="Inter"/>
                <a:ea typeface="Inter"/>
                <a:cs typeface="Inter"/>
                <a:sym typeface="Inter"/>
              </a:rPr>
              <a:t>Authentication vs. Authorization</a:t>
            </a:r>
            <a:endParaRPr b="1"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Authentication (AuthN): Confirms identity (who)</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Authorization (AuthZ): Grants permissions (what)</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Work together to secure access</a:t>
            </a:r>
            <a:endParaRPr sz="1100">
              <a:solidFill>
                <a:srgbClr val="03031C"/>
              </a:solidFill>
              <a:latin typeface="Inter"/>
              <a:ea typeface="Inter"/>
              <a:cs typeface="Inter"/>
              <a:sym typeface="Inter"/>
            </a:endParaRPr>
          </a:p>
          <a:p>
            <a:pPr indent="0" lvl="0" marL="0" rtl="0" algn="l">
              <a:lnSpc>
                <a:spcPct val="150000"/>
              </a:lnSpc>
              <a:spcBef>
                <a:spcPts val="0"/>
              </a:spcBef>
              <a:spcAft>
                <a:spcPts val="0"/>
              </a:spcAft>
              <a:buNone/>
            </a:pPr>
            <a:r>
              <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Prevent unauthorized access</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Protect data integrity</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Meet compliance requirements</a:t>
            </a:r>
            <a:endParaRPr sz="1100">
              <a:solidFill>
                <a:srgbClr val="03031C"/>
              </a:solidFill>
              <a:latin typeface="Inter"/>
              <a:ea typeface="Inter"/>
              <a:cs typeface="Inter"/>
              <a:sym typeface="Inter"/>
            </a:endParaRPr>
          </a:p>
        </p:txBody>
      </p:sp>
      <p:sp>
        <p:nvSpPr>
          <p:cNvPr id="113" name="Google Shape;113;p27"/>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4" name="Google Shape;114;p27"/>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15" name="Google Shape;115;p27"/>
          <p:cNvSpPr txBox="1"/>
          <p:nvPr/>
        </p:nvSpPr>
        <p:spPr>
          <a:xfrm>
            <a:off x="720000" y="309475"/>
            <a:ext cx="80355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300">
                <a:solidFill>
                  <a:srgbClr val="5900CB"/>
                </a:solidFill>
                <a:latin typeface="Inter"/>
                <a:ea typeface="Inter"/>
                <a:cs typeface="Inter"/>
                <a:sym typeface="Inter"/>
              </a:rPr>
              <a:t>AuthN and AuthZ</a:t>
            </a:r>
            <a:endParaRPr b="1" sz="3300">
              <a:solidFill>
                <a:srgbClr val="03031C"/>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9" name="Shape 119"/>
        <p:cNvGrpSpPr/>
        <p:nvPr/>
      </p:nvGrpSpPr>
      <p:grpSpPr>
        <a:xfrm>
          <a:off x="0" y="0"/>
          <a:ext cx="0" cy="0"/>
          <a:chOff x="0" y="0"/>
          <a:chExt cx="0" cy="0"/>
        </a:xfrm>
      </p:grpSpPr>
      <p:sp>
        <p:nvSpPr>
          <p:cNvPr id="120" name="Google Shape;120;p28"/>
          <p:cNvSpPr txBox="1"/>
          <p:nvPr/>
        </p:nvSpPr>
        <p:spPr>
          <a:xfrm>
            <a:off x="186600" y="1078000"/>
            <a:ext cx="8415000" cy="1116000"/>
          </a:xfrm>
          <a:prstGeom prst="rect">
            <a:avLst/>
          </a:prstGeom>
          <a:noFill/>
          <a:ln>
            <a:noFill/>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Middleware chain processes each request</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Multiple authentication methods supported</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Custom authentication plugins supported</a:t>
            </a:r>
            <a:endParaRPr sz="1100">
              <a:solidFill>
                <a:srgbClr val="03031C"/>
              </a:solidFill>
              <a:latin typeface="Inter"/>
              <a:ea typeface="Inter"/>
              <a:cs typeface="Inter"/>
              <a:sym typeface="Inter"/>
            </a:endParaRPr>
          </a:p>
          <a:p>
            <a:pPr indent="-298450" lvl="0" marL="457200" rtl="0" algn="l">
              <a:lnSpc>
                <a:spcPct val="150000"/>
              </a:lnSpc>
              <a:spcBef>
                <a:spcPts val="0"/>
              </a:spcBef>
              <a:spcAft>
                <a:spcPts val="0"/>
              </a:spcAft>
              <a:buClr>
                <a:srgbClr val="03031C"/>
              </a:buClr>
              <a:buSzPts val="1100"/>
              <a:buFont typeface="Inter"/>
              <a:buChar char="●"/>
            </a:pPr>
            <a:r>
              <a:rPr lang="en-GB" sz="1100">
                <a:solidFill>
                  <a:srgbClr val="03031C"/>
                </a:solidFill>
                <a:latin typeface="Inter"/>
                <a:ea typeface="Inter"/>
                <a:cs typeface="Inter"/>
                <a:sym typeface="Inter"/>
              </a:rPr>
              <a:t>Auth methods can be chained, though order is not configurable</a:t>
            </a:r>
            <a:endParaRPr sz="1100">
              <a:solidFill>
                <a:srgbClr val="03031C"/>
              </a:solidFill>
              <a:latin typeface="Inter"/>
              <a:ea typeface="Inter"/>
              <a:cs typeface="Inter"/>
              <a:sym typeface="Inter"/>
            </a:endParaRPr>
          </a:p>
        </p:txBody>
      </p:sp>
      <p:sp>
        <p:nvSpPr>
          <p:cNvPr id="121" name="Google Shape;121;p28"/>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2" name="Google Shape;122;p28"/>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23" name="Google Shape;123;p28"/>
          <p:cNvSpPr txBox="1"/>
          <p:nvPr/>
        </p:nvSpPr>
        <p:spPr>
          <a:xfrm>
            <a:off x="720000" y="309475"/>
            <a:ext cx="80355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300">
                <a:solidFill>
                  <a:srgbClr val="5900CB"/>
                </a:solidFill>
                <a:latin typeface="Inter"/>
                <a:ea typeface="Inter"/>
                <a:cs typeface="Inter"/>
                <a:sym typeface="Inter"/>
              </a:rPr>
              <a:t>How AuthN and AuthZ Works in Tyk</a:t>
            </a:r>
            <a:endParaRPr b="1" sz="3300">
              <a:solidFill>
                <a:srgbClr val="03031C"/>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sp>
        <p:nvSpPr>
          <p:cNvPr id="128" name="Google Shape;128;p29"/>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9" name="Google Shape;129;p29"/>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30" name="Google Shape;130;p29"/>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Auth Tokens</a:t>
            </a:r>
            <a:endParaRPr b="1" sz="3800">
              <a:solidFill>
                <a:srgbClr val="03031C"/>
              </a:solidFill>
              <a:latin typeface="Inter"/>
              <a:ea typeface="Inter"/>
              <a:cs typeface="Inter"/>
              <a:sym typeface="Inter"/>
            </a:endParaRPr>
          </a:p>
        </p:txBody>
      </p:sp>
      <p:sp>
        <p:nvSpPr>
          <p:cNvPr id="131" name="Google Shape;131;p29"/>
          <p:cNvSpPr/>
          <p:nvPr/>
        </p:nvSpPr>
        <p:spPr>
          <a:xfrm>
            <a:off x="870275" y="985250"/>
            <a:ext cx="7660200" cy="4064400"/>
          </a:xfrm>
          <a:prstGeom prst="rect">
            <a:avLst/>
          </a:prstGeom>
          <a:noFill/>
          <a:ln>
            <a:noFill/>
          </a:ln>
        </p:spPr>
        <p:txBody>
          <a:bodyPr anchorCtr="0" anchor="t" bIns="45700" lIns="45700" spcFirstLastPara="1" rIns="45700" wrap="square" tIns="45700">
            <a:noAutofit/>
          </a:bodyPr>
          <a:lstStyle/>
          <a:p>
            <a:pPr indent="-273050" lvl="0" marL="285750" marR="0" rtl="0" algn="l">
              <a:lnSpc>
                <a:spcPct val="150000"/>
              </a:lnSpc>
              <a:spcBef>
                <a:spcPts val="0"/>
              </a:spcBef>
              <a:spcAft>
                <a:spcPts val="0"/>
              </a:spcAft>
              <a:buClr>
                <a:schemeClr val="dk1"/>
              </a:buClr>
              <a:buSzPts val="1200"/>
              <a:buFont typeface="Roboto"/>
              <a:buChar char="•"/>
            </a:pPr>
            <a:r>
              <a:rPr lang="en-GB" sz="1200">
                <a:solidFill>
                  <a:schemeClr val="dk1"/>
                </a:solidFill>
                <a:latin typeface="Inter"/>
                <a:ea typeface="Inter"/>
                <a:cs typeface="Inter"/>
                <a:sym typeface="Inter"/>
              </a:rPr>
              <a:t>A bearer token is an access token that allows any party in possession of it (a “bearer”) to access associated resources.</a:t>
            </a:r>
            <a:endParaRPr sz="1200">
              <a:solidFill>
                <a:schemeClr val="dk1"/>
              </a:solidFill>
              <a:latin typeface="Inter"/>
              <a:ea typeface="Inter"/>
              <a:cs typeface="Inter"/>
              <a:sym typeface="Inter"/>
            </a:endParaRPr>
          </a:p>
          <a:p>
            <a:pPr indent="-273050" lvl="0" marL="285750" marR="0" rtl="0" algn="l">
              <a:lnSpc>
                <a:spcPct val="150000"/>
              </a:lnSpc>
              <a:spcBef>
                <a:spcPts val="0"/>
              </a:spcBef>
              <a:spcAft>
                <a:spcPts val="0"/>
              </a:spcAft>
              <a:buClr>
                <a:schemeClr val="dk1"/>
              </a:buClr>
              <a:buSzPts val="1200"/>
              <a:buFont typeface="Roboto"/>
              <a:buChar char="•"/>
            </a:pPr>
            <a:r>
              <a:rPr lang="en-GB" sz="1200">
                <a:solidFill>
                  <a:schemeClr val="dk1"/>
                </a:solidFill>
                <a:latin typeface="Inter"/>
                <a:ea typeface="Inter"/>
                <a:cs typeface="Inter"/>
                <a:sym typeface="Inter"/>
              </a:rPr>
              <a:t>No cryptographic proof of ownership is required — possession is sufficient for access.</a:t>
            </a:r>
            <a:endParaRPr sz="1200">
              <a:solidFill>
                <a:schemeClr val="dk1"/>
              </a:solidFill>
              <a:latin typeface="Inter"/>
              <a:ea typeface="Inter"/>
              <a:cs typeface="Inter"/>
              <a:sym typeface="Inter"/>
            </a:endParaRPr>
          </a:p>
          <a:p>
            <a:pPr indent="-273050" lvl="0" marL="285750" marR="0" rtl="0" algn="l">
              <a:lnSpc>
                <a:spcPct val="150000"/>
              </a:lnSpc>
              <a:spcBef>
                <a:spcPts val="0"/>
              </a:spcBef>
              <a:spcAft>
                <a:spcPts val="0"/>
              </a:spcAft>
              <a:buClr>
                <a:schemeClr val="dk1"/>
              </a:buClr>
              <a:buSzPts val="1200"/>
              <a:buFont typeface="Roboto"/>
              <a:buChar char="•"/>
            </a:pPr>
            <a:r>
              <a:rPr lang="en-GB" sz="1200">
                <a:solidFill>
                  <a:schemeClr val="dk1"/>
                </a:solidFill>
                <a:latin typeface="Inter"/>
                <a:ea typeface="Inter"/>
                <a:cs typeface="Inter"/>
                <a:sym typeface="Inter"/>
              </a:rPr>
              <a:t>Because of this, bearer tokens must be handled securely:</a:t>
            </a:r>
            <a:endParaRPr sz="1200">
              <a:solidFill>
                <a:schemeClr val="dk1"/>
              </a:solidFill>
              <a:latin typeface="Inter"/>
              <a:ea typeface="Inter"/>
              <a:cs typeface="Inter"/>
              <a:sym typeface="Inter"/>
            </a:endParaRPr>
          </a:p>
          <a:p>
            <a:pPr indent="-304800" lvl="1" marL="914400" marR="0" rtl="0" algn="l">
              <a:lnSpc>
                <a:spcPct val="150000"/>
              </a:lnSpc>
              <a:spcBef>
                <a:spcPts val="0"/>
              </a:spcBef>
              <a:spcAft>
                <a:spcPts val="0"/>
              </a:spcAft>
              <a:buClr>
                <a:schemeClr val="dk1"/>
              </a:buClr>
              <a:buSzPts val="1200"/>
              <a:buFont typeface="Roboto"/>
              <a:buChar char="○"/>
            </a:pPr>
            <a:r>
              <a:rPr lang="en-GB" sz="1200">
                <a:solidFill>
                  <a:schemeClr val="dk1"/>
                </a:solidFill>
                <a:latin typeface="Inter"/>
                <a:ea typeface="Inter"/>
                <a:cs typeface="Inter"/>
                <a:sym typeface="Inter"/>
              </a:rPr>
              <a:t>In transit: Use HTTPS to protect against interception.</a:t>
            </a:r>
            <a:endParaRPr sz="1200">
              <a:solidFill>
                <a:schemeClr val="dk1"/>
              </a:solidFill>
              <a:latin typeface="Inter"/>
              <a:ea typeface="Inter"/>
              <a:cs typeface="Inter"/>
              <a:sym typeface="Inter"/>
            </a:endParaRPr>
          </a:p>
          <a:p>
            <a:pPr indent="-304800" lvl="1" marL="914400" marR="0" rtl="0" algn="l">
              <a:lnSpc>
                <a:spcPct val="150000"/>
              </a:lnSpc>
              <a:spcBef>
                <a:spcPts val="0"/>
              </a:spcBef>
              <a:spcAft>
                <a:spcPts val="0"/>
              </a:spcAft>
              <a:buClr>
                <a:schemeClr val="dk1"/>
              </a:buClr>
              <a:buSzPts val="1200"/>
              <a:buFont typeface="Roboto"/>
              <a:buChar char="○"/>
            </a:pPr>
            <a:r>
              <a:rPr lang="en-GB" sz="1200">
                <a:solidFill>
                  <a:schemeClr val="dk1"/>
                </a:solidFill>
                <a:latin typeface="Inter"/>
                <a:ea typeface="Inter"/>
                <a:cs typeface="Inter"/>
                <a:sym typeface="Inter"/>
              </a:rPr>
              <a:t>At rest: Avoid logging or persisting in storage unless properly encrypted.</a:t>
            </a:r>
            <a:endParaRPr sz="1200">
              <a:solidFill>
                <a:schemeClr val="dk1"/>
              </a:solidFill>
              <a:latin typeface="Inter"/>
              <a:ea typeface="Inter"/>
              <a:cs typeface="Inter"/>
              <a:sym typeface="Inter"/>
            </a:endParaRPr>
          </a:p>
          <a:p>
            <a:pPr indent="-273050" lvl="0" marL="285750" marR="0" rtl="0" algn="l">
              <a:lnSpc>
                <a:spcPct val="150000"/>
              </a:lnSpc>
              <a:spcBef>
                <a:spcPts val="0"/>
              </a:spcBef>
              <a:spcAft>
                <a:spcPts val="0"/>
              </a:spcAft>
              <a:buClr>
                <a:schemeClr val="dk1"/>
              </a:buClr>
              <a:buSzPts val="1200"/>
              <a:buFont typeface="Roboto"/>
              <a:buChar char="•"/>
            </a:pPr>
            <a:r>
              <a:rPr lang="en-GB" sz="1200">
                <a:solidFill>
                  <a:schemeClr val="dk1"/>
                </a:solidFill>
                <a:latin typeface="Inter"/>
                <a:ea typeface="Inter"/>
                <a:cs typeface="Inter"/>
                <a:sym typeface="Inter"/>
              </a:rPr>
              <a:t>Typically transmitted in the Authorization </a:t>
            </a:r>
            <a:r>
              <a:rPr b="1" lang="en-GB" sz="1200">
                <a:solidFill>
                  <a:schemeClr val="dk1"/>
                </a:solidFill>
                <a:latin typeface="Inter"/>
                <a:ea typeface="Inter"/>
                <a:cs typeface="Inter"/>
                <a:sym typeface="Inter"/>
              </a:rPr>
              <a:t>header</a:t>
            </a:r>
            <a:r>
              <a:rPr lang="en-GB" sz="1200">
                <a:solidFill>
                  <a:schemeClr val="dk1"/>
                </a:solidFill>
                <a:latin typeface="Inter"/>
                <a:ea typeface="Inter"/>
                <a:cs typeface="Inter"/>
                <a:sym typeface="Inter"/>
              </a:rPr>
              <a:t>, possibly prefixed with Bearer, but can also be sent via </a:t>
            </a:r>
            <a:r>
              <a:rPr b="1" lang="en-GB" sz="1200">
                <a:solidFill>
                  <a:schemeClr val="dk1"/>
                </a:solidFill>
                <a:latin typeface="Inter"/>
                <a:ea typeface="Inter"/>
                <a:cs typeface="Inter"/>
                <a:sym typeface="Inter"/>
              </a:rPr>
              <a:t>query parameters</a:t>
            </a:r>
            <a:r>
              <a:rPr lang="en-GB" sz="1200">
                <a:solidFill>
                  <a:schemeClr val="dk1"/>
                </a:solidFill>
                <a:latin typeface="Inter"/>
                <a:ea typeface="Inter"/>
                <a:cs typeface="Inter"/>
                <a:sym typeface="Inter"/>
              </a:rPr>
              <a:t> or </a:t>
            </a:r>
            <a:r>
              <a:rPr b="1" lang="en-GB" sz="1200">
                <a:solidFill>
                  <a:schemeClr val="dk1"/>
                </a:solidFill>
                <a:latin typeface="Inter"/>
                <a:ea typeface="Inter"/>
                <a:cs typeface="Inter"/>
                <a:sym typeface="Inter"/>
              </a:rPr>
              <a:t>cookies</a:t>
            </a:r>
            <a:r>
              <a:rPr lang="en-GB" sz="1200">
                <a:solidFill>
                  <a:schemeClr val="dk1"/>
                </a:solidFill>
                <a:latin typeface="Inter"/>
                <a:ea typeface="Inter"/>
                <a:cs typeface="Inter"/>
                <a:sym typeface="Inter"/>
              </a:rPr>
              <a:t>.</a:t>
            </a:r>
            <a:endParaRPr sz="1200">
              <a:solidFill>
                <a:schemeClr val="dk1"/>
              </a:solidFill>
              <a:latin typeface="Inter"/>
              <a:ea typeface="Inter"/>
              <a:cs typeface="Inter"/>
              <a:sym typeface="Inter"/>
            </a:endParaRPr>
          </a:p>
          <a:p>
            <a:pPr indent="-273050" lvl="0" marL="285750" marR="0" rtl="0" algn="l">
              <a:lnSpc>
                <a:spcPct val="150000"/>
              </a:lnSpc>
              <a:spcBef>
                <a:spcPts val="0"/>
              </a:spcBef>
              <a:spcAft>
                <a:spcPts val="0"/>
              </a:spcAft>
              <a:buClr>
                <a:schemeClr val="dk1"/>
              </a:buClr>
              <a:buSzPts val="1200"/>
              <a:buFont typeface="Inter"/>
              <a:buChar char="•"/>
            </a:pPr>
            <a:r>
              <a:rPr b="1" lang="en-GB" sz="1200">
                <a:solidFill>
                  <a:schemeClr val="dk1"/>
                </a:solidFill>
                <a:latin typeface="Inter"/>
                <a:ea typeface="Inter"/>
                <a:cs typeface="Inter"/>
                <a:sym typeface="Inter"/>
              </a:rPr>
              <a:t>Optional Enhancements:</a:t>
            </a:r>
            <a:endParaRPr b="1" sz="1200">
              <a:solidFill>
                <a:schemeClr val="dk1"/>
              </a:solidFill>
              <a:latin typeface="Inter"/>
              <a:ea typeface="Inter"/>
              <a:cs typeface="Inter"/>
              <a:sym typeface="Inter"/>
            </a:endParaRPr>
          </a:p>
          <a:p>
            <a:pPr indent="-304800" lvl="1" marL="914400" marR="0" rtl="0" algn="l">
              <a:lnSpc>
                <a:spcPct val="150000"/>
              </a:lnSpc>
              <a:spcBef>
                <a:spcPts val="0"/>
              </a:spcBef>
              <a:spcAft>
                <a:spcPts val="0"/>
              </a:spcAft>
              <a:buClr>
                <a:schemeClr val="dk1"/>
              </a:buClr>
              <a:buSzPts val="1200"/>
              <a:buFont typeface="Inter"/>
              <a:buChar char="○"/>
            </a:pPr>
            <a:r>
              <a:rPr b="1" lang="en-GB" sz="1200">
                <a:solidFill>
                  <a:schemeClr val="dk1"/>
                </a:solidFill>
                <a:latin typeface="Inter"/>
                <a:ea typeface="Inter"/>
                <a:cs typeface="Inter"/>
                <a:sym typeface="Inter"/>
              </a:rPr>
              <a:t>Dynamic mTLS</a:t>
            </a:r>
            <a:r>
              <a:rPr lang="en-GB" sz="1200">
                <a:solidFill>
                  <a:schemeClr val="dk1"/>
                </a:solidFill>
                <a:latin typeface="Inter"/>
                <a:ea typeface="Inter"/>
                <a:cs typeface="Inter"/>
                <a:sym typeface="Inter"/>
              </a:rPr>
              <a:t>: Clients can provide TLS certificates instead of tokens.</a:t>
            </a:r>
            <a:endParaRPr sz="1200">
              <a:solidFill>
                <a:schemeClr val="dk1"/>
              </a:solidFill>
              <a:latin typeface="Inter"/>
              <a:ea typeface="Inter"/>
              <a:cs typeface="Inter"/>
              <a:sym typeface="Inter"/>
            </a:endParaRPr>
          </a:p>
          <a:p>
            <a:pPr indent="-304800" lvl="1" marL="914400" marR="0" rtl="0" algn="l">
              <a:lnSpc>
                <a:spcPct val="150000"/>
              </a:lnSpc>
              <a:spcBef>
                <a:spcPts val="0"/>
              </a:spcBef>
              <a:spcAft>
                <a:spcPts val="0"/>
              </a:spcAft>
              <a:buClr>
                <a:schemeClr val="dk1"/>
              </a:buClr>
              <a:buSzPts val="1200"/>
              <a:buFont typeface="Inter"/>
              <a:buChar char="○"/>
            </a:pPr>
            <a:r>
              <a:rPr b="1" lang="en-GB" sz="1200">
                <a:solidFill>
                  <a:schemeClr val="dk1"/>
                </a:solidFill>
                <a:latin typeface="Inter"/>
                <a:ea typeface="Inter"/>
                <a:cs typeface="Inter"/>
                <a:sym typeface="Inter"/>
              </a:rPr>
              <a:t>Signature Validation</a:t>
            </a:r>
            <a:r>
              <a:rPr lang="en-GB" sz="1200">
                <a:solidFill>
                  <a:schemeClr val="dk1"/>
                </a:solidFill>
                <a:latin typeface="Inter"/>
                <a:ea typeface="Inter"/>
                <a:cs typeface="Inter"/>
                <a:sym typeface="Inter"/>
              </a:rPr>
              <a:t>: Add signature-based validation for backwards compatibility (e.g., MasherySHA256/MD5).</a:t>
            </a:r>
            <a:endParaRPr sz="1200">
              <a:solidFill>
                <a:schemeClr val="dk1"/>
              </a:solidFill>
              <a:latin typeface="Inter"/>
              <a:ea typeface="Inter"/>
              <a:cs typeface="Inter"/>
              <a:sym typeface="Inter"/>
            </a:endParaRPr>
          </a:p>
        </p:txBody>
      </p:sp>
      <p:sp>
        <p:nvSpPr>
          <p:cNvPr id="132" name="Google Shape;132;p29"/>
          <p:cNvSpPr/>
          <p:nvPr/>
        </p:nvSpPr>
        <p:spPr>
          <a:xfrm>
            <a:off x="1515976" y="4439350"/>
            <a:ext cx="6332100" cy="548100"/>
          </a:xfrm>
          <a:prstGeom prst="rect">
            <a:avLst/>
          </a:prstGeom>
          <a:solidFill>
            <a:srgbClr val="FFFFFF"/>
          </a:solidFill>
          <a:ln cap="flat" cmpd="sng" w="9525">
            <a:solidFill>
              <a:srgbClr val="BFBFBF"/>
            </a:solidFill>
            <a:prstDash val="solid"/>
            <a:round/>
            <a:headEnd len="sm" w="sm" type="none"/>
            <a:tailEnd len="sm" w="sm" type="none"/>
          </a:ln>
        </p:spPr>
        <p:txBody>
          <a:bodyPr anchorCtr="0" anchor="ctr" bIns="180000" lIns="180000" spcFirstLastPara="1" rIns="180000" wrap="square" tIns="180000">
            <a:noAutofit/>
          </a:bodyPr>
          <a:lstStyle/>
          <a:p>
            <a:pPr indent="0" lvl="0" marL="0" marR="0" rtl="0" algn="l">
              <a:spcBef>
                <a:spcPts val="0"/>
              </a:spcBef>
              <a:spcAft>
                <a:spcPts val="0"/>
              </a:spcAft>
              <a:buNone/>
            </a:pPr>
            <a:r>
              <a:rPr lang="en-GB" sz="1200">
                <a:solidFill>
                  <a:srgbClr val="0569A9"/>
                </a:solidFill>
                <a:latin typeface="Source Code Pro"/>
                <a:ea typeface="Source Code Pro"/>
                <a:cs typeface="Source Code Pro"/>
                <a:sym typeface="Source Code Pro"/>
              </a:rPr>
              <a:t>Authorization: 58dbe0dbfe2f5a0b7af7f7d08cd4e31304414e994ff724126</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6" name="Shape 136"/>
        <p:cNvGrpSpPr/>
        <p:nvPr/>
      </p:nvGrpSpPr>
      <p:grpSpPr>
        <a:xfrm>
          <a:off x="0" y="0"/>
          <a:ext cx="0" cy="0"/>
          <a:chOff x="0" y="0"/>
          <a:chExt cx="0" cy="0"/>
        </a:xfrm>
      </p:grpSpPr>
      <p:sp>
        <p:nvSpPr>
          <p:cNvPr id="137" name="Google Shape;137;p30"/>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8" name="Google Shape;138;p30"/>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39" name="Google Shape;139;p30"/>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Auth Tokens</a:t>
            </a:r>
            <a:endParaRPr b="1" sz="3800">
              <a:solidFill>
                <a:srgbClr val="03031C"/>
              </a:solidFill>
              <a:latin typeface="Inter"/>
              <a:ea typeface="Inter"/>
              <a:cs typeface="Inter"/>
              <a:sym typeface="Inter"/>
            </a:endParaRPr>
          </a:p>
        </p:txBody>
      </p:sp>
      <p:sp>
        <p:nvSpPr>
          <p:cNvPr id="140" name="Google Shape;140;p30"/>
          <p:cNvSpPr/>
          <p:nvPr/>
        </p:nvSpPr>
        <p:spPr>
          <a:xfrm>
            <a:off x="870275" y="985250"/>
            <a:ext cx="7660200" cy="350700"/>
          </a:xfrm>
          <a:prstGeom prst="rect">
            <a:avLst/>
          </a:prstGeom>
          <a:noFill/>
          <a:ln>
            <a:noFill/>
          </a:ln>
        </p:spPr>
        <p:txBody>
          <a:bodyPr anchorCtr="0" anchor="t" bIns="45700" lIns="45700" spcFirstLastPara="1" rIns="45700" wrap="square" tIns="45700">
            <a:noAutofit/>
          </a:bodyPr>
          <a:lstStyle/>
          <a:p>
            <a:pPr indent="0" lvl="0" marL="0" marR="0" rtl="0" algn="l">
              <a:lnSpc>
                <a:spcPct val="150000"/>
              </a:lnSpc>
              <a:spcBef>
                <a:spcPts val="0"/>
              </a:spcBef>
              <a:spcAft>
                <a:spcPts val="0"/>
              </a:spcAft>
              <a:buNone/>
            </a:pPr>
            <a:r>
              <a:rPr b="1" lang="en-GB">
                <a:solidFill>
                  <a:schemeClr val="dk1"/>
                </a:solidFill>
                <a:latin typeface="Inter"/>
                <a:ea typeface="Inter"/>
                <a:cs typeface="Inter"/>
                <a:sym typeface="Inter"/>
              </a:rPr>
              <a:t>Auth Token Location and Advanced Options in Tyk</a:t>
            </a:r>
            <a:endParaRPr b="1">
              <a:solidFill>
                <a:schemeClr val="dk1"/>
              </a:solidFill>
              <a:latin typeface="Inter"/>
              <a:ea typeface="Inter"/>
              <a:cs typeface="Inter"/>
              <a:sym typeface="Inter"/>
            </a:endParaRPr>
          </a:p>
          <a:p>
            <a:pPr indent="0" lvl="0" marL="0" marR="0" rtl="0" algn="l">
              <a:lnSpc>
                <a:spcPct val="150000"/>
              </a:lnSpc>
              <a:spcBef>
                <a:spcPts val="0"/>
              </a:spcBef>
              <a:spcAft>
                <a:spcPts val="0"/>
              </a:spcAft>
              <a:buNone/>
            </a:pPr>
            <a:r>
              <a:t/>
            </a:r>
            <a:endParaRPr>
              <a:solidFill>
                <a:schemeClr val="dk1"/>
              </a:solidFill>
              <a:latin typeface="Inter"/>
              <a:ea typeface="Inter"/>
              <a:cs typeface="Inter"/>
              <a:sym typeface="Inter"/>
            </a:endParaRPr>
          </a:p>
        </p:txBody>
      </p:sp>
      <p:sp>
        <p:nvSpPr>
          <p:cNvPr id="141" name="Google Shape;141;p30"/>
          <p:cNvSpPr txBox="1"/>
          <p:nvPr/>
        </p:nvSpPr>
        <p:spPr>
          <a:xfrm>
            <a:off x="462825" y="1405950"/>
            <a:ext cx="3562800" cy="340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latin typeface="Inter"/>
                <a:ea typeface="Inter"/>
                <a:cs typeface="Inter"/>
                <a:sym typeface="Inter"/>
              </a:rPr>
              <a:t>OpenAPI’s </a:t>
            </a:r>
            <a:r>
              <a:rPr lang="en-GB" sz="1200">
                <a:solidFill>
                  <a:schemeClr val="dk1"/>
                </a:solidFill>
                <a:latin typeface="Courier New"/>
                <a:ea typeface="Courier New"/>
                <a:cs typeface="Courier New"/>
                <a:sym typeface="Courier New"/>
              </a:rPr>
              <a:t>securitySchemes</a:t>
            </a:r>
            <a:r>
              <a:rPr lang="en-GB" sz="1200">
                <a:solidFill>
                  <a:schemeClr val="dk1"/>
                </a:solidFill>
                <a:latin typeface="Inter"/>
                <a:ea typeface="Inter"/>
                <a:cs typeface="Inter"/>
                <a:sym typeface="Inter"/>
              </a:rPr>
              <a:t> defines a single token location:</a:t>
            </a:r>
            <a:endParaRPr sz="1200">
              <a:solidFill>
                <a:schemeClr val="dk1"/>
              </a:solidFill>
              <a:latin typeface="Inter"/>
              <a:ea typeface="Inter"/>
              <a:cs typeface="Inter"/>
              <a:sym typeface="Inter"/>
            </a:endParaRPr>
          </a:p>
          <a:p>
            <a:pPr indent="0" lvl="0" marL="0" rtl="0" algn="l">
              <a:spcBef>
                <a:spcPts val="0"/>
              </a:spcBef>
              <a:spcAft>
                <a:spcPts val="0"/>
              </a:spcAft>
              <a:buNone/>
            </a:pPr>
            <a:r>
              <a:t/>
            </a:r>
            <a:endParaRPr sz="1800">
              <a:solidFill>
                <a:schemeClr val="dk1"/>
              </a:solidFill>
              <a:latin typeface="Inter"/>
              <a:ea typeface="Inter"/>
              <a:cs typeface="Inter"/>
              <a:sym typeface="Inter"/>
            </a:endParaRPr>
          </a:p>
          <a:p>
            <a:pPr indent="0" lvl="0" marL="0" rtl="0" algn="l">
              <a:spcBef>
                <a:spcPts val="0"/>
              </a:spcBef>
              <a:spcAft>
                <a:spcPts val="0"/>
              </a:spcAft>
              <a:buNone/>
            </a:pPr>
            <a:r>
              <a:rPr lang="en-GB" sz="1300">
                <a:solidFill>
                  <a:schemeClr val="dk1"/>
                </a:solidFill>
                <a:latin typeface="Courier New"/>
                <a:ea typeface="Courier New"/>
                <a:cs typeface="Courier New"/>
                <a:sym typeface="Courier New"/>
              </a:rPr>
              <a:t>components:</a:t>
            </a:r>
            <a:endParaRPr sz="13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300">
                <a:solidFill>
                  <a:schemeClr val="dk1"/>
                </a:solidFill>
                <a:latin typeface="Courier New"/>
                <a:ea typeface="Courier New"/>
                <a:cs typeface="Courier New"/>
                <a:sym typeface="Courier New"/>
              </a:rPr>
              <a:t>  securitySchemes:</a:t>
            </a:r>
            <a:endParaRPr sz="13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300">
                <a:solidFill>
                  <a:schemeClr val="dk1"/>
                </a:solidFill>
                <a:latin typeface="Courier New"/>
                <a:ea typeface="Courier New"/>
                <a:cs typeface="Courier New"/>
                <a:sym typeface="Courier New"/>
              </a:rPr>
              <a:t>    myAuthScheme:</a:t>
            </a:r>
            <a:endParaRPr sz="13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300">
                <a:solidFill>
                  <a:schemeClr val="dk1"/>
                </a:solidFill>
                <a:latin typeface="Courier New"/>
                <a:ea typeface="Courier New"/>
                <a:cs typeface="Courier New"/>
                <a:sym typeface="Courier New"/>
              </a:rPr>
              <a:t>      type: apiKey</a:t>
            </a:r>
            <a:endParaRPr sz="13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300">
                <a:solidFill>
                  <a:schemeClr val="dk1"/>
                </a:solidFill>
                <a:latin typeface="Courier New"/>
                <a:ea typeface="Courier New"/>
                <a:cs typeface="Courier New"/>
                <a:sym typeface="Courier New"/>
              </a:rPr>
              <a:t>      </a:t>
            </a:r>
            <a:r>
              <a:rPr b="1" lang="en-GB" sz="1300">
                <a:solidFill>
                  <a:schemeClr val="dk1"/>
                </a:solidFill>
                <a:latin typeface="Courier New"/>
                <a:ea typeface="Courier New"/>
                <a:cs typeface="Courier New"/>
                <a:sym typeface="Courier New"/>
              </a:rPr>
              <a:t>in: header</a:t>
            </a:r>
            <a:endParaRPr b="1" sz="13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300">
                <a:solidFill>
                  <a:schemeClr val="dk1"/>
                </a:solidFill>
                <a:latin typeface="Courier New"/>
                <a:ea typeface="Courier New"/>
                <a:cs typeface="Courier New"/>
                <a:sym typeface="Courier New"/>
              </a:rPr>
              <a:t>      name: Authorization</a:t>
            </a:r>
            <a:endParaRPr sz="1300">
              <a:solidFill>
                <a:schemeClr val="dk1"/>
              </a:solidFill>
              <a:latin typeface="Courier New"/>
              <a:ea typeface="Courier New"/>
              <a:cs typeface="Courier New"/>
              <a:sym typeface="Courier New"/>
            </a:endParaRPr>
          </a:p>
        </p:txBody>
      </p:sp>
      <p:sp>
        <p:nvSpPr>
          <p:cNvPr id="142" name="Google Shape;142;p30"/>
          <p:cNvSpPr txBox="1"/>
          <p:nvPr/>
        </p:nvSpPr>
        <p:spPr>
          <a:xfrm>
            <a:off x="4577625" y="1405950"/>
            <a:ext cx="3562800" cy="340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latin typeface="Inter"/>
                <a:ea typeface="Inter"/>
                <a:cs typeface="Inter"/>
                <a:sym typeface="Inter"/>
              </a:rPr>
              <a:t>Tyk expands this by allowing additional token locations:</a:t>
            </a:r>
            <a:endParaRPr sz="1200">
              <a:solidFill>
                <a:schemeClr val="dk1"/>
              </a:solidFill>
              <a:latin typeface="Inter"/>
              <a:ea typeface="Inter"/>
              <a:cs typeface="Inter"/>
              <a:sym typeface="Inter"/>
            </a:endParaRPr>
          </a:p>
          <a:p>
            <a:pPr indent="0" lvl="0" marL="0" rtl="0" algn="l">
              <a:spcBef>
                <a:spcPts val="0"/>
              </a:spcBef>
              <a:spcAft>
                <a:spcPts val="0"/>
              </a:spcAft>
              <a:buNone/>
            </a:pPr>
            <a:r>
              <a:t/>
            </a:r>
            <a:endParaRPr sz="1800">
              <a:solidFill>
                <a:schemeClr val="dk1"/>
              </a:solidFill>
              <a:latin typeface="Inter"/>
              <a:ea typeface="Inter"/>
              <a:cs typeface="Inter"/>
              <a:sym typeface="Inter"/>
            </a:endParaRPr>
          </a:p>
          <a:p>
            <a:pPr indent="0" lvl="0" marL="0" rtl="0" algn="l">
              <a:spcBef>
                <a:spcPts val="0"/>
              </a:spcBef>
              <a:spcAft>
                <a:spcPts val="0"/>
              </a:spcAft>
              <a:buNone/>
            </a:pPr>
            <a:r>
              <a:rPr lang="en-GB" sz="1300">
                <a:solidFill>
                  <a:schemeClr val="dk1"/>
                </a:solidFill>
                <a:latin typeface="Courier New"/>
                <a:ea typeface="Courier New"/>
                <a:cs typeface="Courier New"/>
                <a:sym typeface="Courier New"/>
              </a:rPr>
              <a:t>x-tyk-api-gateway:</a:t>
            </a:r>
            <a:endParaRPr sz="13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300">
                <a:solidFill>
                  <a:schemeClr val="dk1"/>
                </a:solidFill>
                <a:latin typeface="Courier New"/>
                <a:ea typeface="Courier New"/>
                <a:cs typeface="Courier New"/>
                <a:sym typeface="Courier New"/>
              </a:rPr>
              <a:t>  server:</a:t>
            </a:r>
            <a:endParaRPr sz="13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300">
                <a:solidFill>
                  <a:schemeClr val="dk1"/>
                </a:solidFill>
                <a:latin typeface="Courier New"/>
                <a:ea typeface="Courier New"/>
                <a:cs typeface="Courier New"/>
                <a:sym typeface="Courier New"/>
              </a:rPr>
              <a:t>    authentication:</a:t>
            </a:r>
            <a:endParaRPr sz="13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300">
                <a:solidFill>
                  <a:schemeClr val="dk1"/>
                </a:solidFill>
                <a:latin typeface="Courier New"/>
                <a:ea typeface="Courier New"/>
                <a:cs typeface="Courier New"/>
                <a:sym typeface="Courier New"/>
              </a:rPr>
              <a:t>      enabled: true</a:t>
            </a:r>
            <a:endParaRPr sz="13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300">
                <a:solidFill>
                  <a:schemeClr val="dk1"/>
                </a:solidFill>
                <a:latin typeface="Courier New"/>
                <a:ea typeface="Courier New"/>
                <a:cs typeface="Courier New"/>
                <a:sym typeface="Courier New"/>
              </a:rPr>
              <a:t>      securitySchemes:</a:t>
            </a:r>
            <a:endParaRPr sz="13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300">
                <a:solidFill>
                  <a:schemeClr val="dk1"/>
                </a:solidFill>
                <a:latin typeface="Courier New"/>
                <a:ea typeface="Courier New"/>
                <a:cs typeface="Courier New"/>
                <a:sym typeface="Courier New"/>
              </a:rPr>
              <a:t>        myAuthScheme:</a:t>
            </a:r>
            <a:endParaRPr sz="13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300">
                <a:solidFill>
                  <a:schemeClr val="dk1"/>
                </a:solidFill>
                <a:latin typeface="Courier New"/>
                <a:ea typeface="Courier New"/>
                <a:cs typeface="Courier New"/>
                <a:sym typeface="Courier New"/>
              </a:rPr>
              <a:t>          enabled: true</a:t>
            </a:r>
            <a:endParaRPr sz="13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300">
                <a:solidFill>
                  <a:schemeClr val="dk1"/>
                </a:solidFill>
                <a:latin typeface="Courier New"/>
                <a:ea typeface="Courier New"/>
                <a:cs typeface="Courier New"/>
                <a:sym typeface="Courier New"/>
              </a:rPr>
              <a:t>          query:</a:t>
            </a:r>
            <a:endParaRPr sz="13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300">
                <a:solidFill>
                  <a:schemeClr val="dk1"/>
                </a:solidFill>
                <a:latin typeface="Courier New"/>
                <a:ea typeface="Courier New"/>
                <a:cs typeface="Courier New"/>
                <a:sym typeface="Courier New"/>
              </a:rPr>
              <a:t>            enabled: true</a:t>
            </a:r>
            <a:endParaRPr sz="13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300">
                <a:solidFill>
                  <a:schemeClr val="dk1"/>
                </a:solidFill>
                <a:latin typeface="Courier New"/>
                <a:ea typeface="Courier New"/>
                <a:cs typeface="Courier New"/>
                <a:sym typeface="Courier New"/>
              </a:rPr>
              <a:t>            </a:t>
            </a:r>
            <a:r>
              <a:rPr b="1" lang="en-GB" sz="1300">
                <a:solidFill>
                  <a:schemeClr val="dk1"/>
                </a:solidFill>
                <a:latin typeface="Courier New"/>
                <a:ea typeface="Courier New"/>
                <a:cs typeface="Courier New"/>
                <a:sym typeface="Courier New"/>
              </a:rPr>
              <a:t>name: query-auth</a:t>
            </a:r>
            <a:endParaRPr b="1" sz="13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300">
                <a:solidFill>
                  <a:schemeClr val="dk1"/>
                </a:solidFill>
                <a:latin typeface="Courier New"/>
                <a:ea typeface="Courier New"/>
                <a:cs typeface="Courier New"/>
                <a:sym typeface="Courier New"/>
              </a:rPr>
              <a:t>          cookie:</a:t>
            </a:r>
            <a:endParaRPr sz="13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300">
                <a:solidFill>
                  <a:schemeClr val="dk1"/>
                </a:solidFill>
                <a:latin typeface="Courier New"/>
                <a:ea typeface="Courier New"/>
                <a:cs typeface="Courier New"/>
                <a:sym typeface="Courier New"/>
              </a:rPr>
              <a:t>            enabled: true</a:t>
            </a:r>
            <a:endParaRPr sz="13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300">
                <a:solidFill>
                  <a:schemeClr val="dk1"/>
                </a:solidFill>
                <a:latin typeface="Courier New"/>
                <a:ea typeface="Courier New"/>
                <a:cs typeface="Courier New"/>
                <a:sym typeface="Courier New"/>
              </a:rPr>
              <a:t>            </a:t>
            </a:r>
            <a:r>
              <a:rPr b="1" lang="en-GB" sz="1300">
                <a:solidFill>
                  <a:schemeClr val="dk1"/>
                </a:solidFill>
                <a:latin typeface="Courier New"/>
                <a:ea typeface="Courier New"/>
                <a:cs typeface="Courier New"/>
                <a:sym typeface="Courier New"/>
              </a:rPr>
              <a:t>name: cookie-auth</a:t>
            </a:r>
            <a:endParaRPr b="1" sz="1300">
              <a:solidFill>
                <a:schemeClr val="dk1"/>
              </a:solidFill>
              <a:latin typeface="Courier New"/>
              <a:ea typeface="Courier New"/>
              <a:cs typeface="Courier New"/>
              <a:sym typeface="Courier New"/>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6" name="Shape 146"/>
        <p:cNvGrpSpPr/>
        <p:nvPr/>
      </p:nvGrpSpPr>
      <p:grpSpPr>
        <a:xfrm>
          <a:off x="0" y="0"/>
          <a:ext cx="0" cy="0"/>
          <a:chOff x="0" y="0"/>
          <a:chExt cx="0" cy="0"/>
        </a:xfrm>
      </p:grpSpPr>
      <p:sp>
        <p:nvSpPr>
          <p:cNvPr id="147" name="Google Shape;147;p31"/>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 name="Google Shape;148;p31"/>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49" name="Google Shape;149;p31"/>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Basic Authentication</a:t>
            </a:r>
            <a:endParaRPr b="1" sz="3800">
              <a:solidFill>
                <a:srgbClr val="03031C"/>
              </a:solidFill>
              <a:latin typeface="Inter"/>
              <a:ea typeface="Inter"/>
              <a:cs typeface="Inter"/>
              <a:sym typeface="Inter"/>
            </a:endParaRPr>
          </a:p>
        </p:txBody>
      </p:sp>
      <p:sp>
        <p:nvSpPr>
          <p:cNvPr id="150" name="Google Shape;150;p31"/>
          <p:cNvSpPr/>
          <p:nvPr/>
        </p:nvSpPr>
        <p:spPr>
          <a:xfrm>
            <a:off x="870275" y="985250"/>
            <a:ext cx="7660200" cy="3365700"/>
          </a:xfrm>
          <a:prstGeom prst="rect">
            <a:avLst/>
          </a:prstGeom>
          <a:noFill/>
          <a:ln>
            <a:noFill/>
          </a:ln>
        </p:spPr>
        <p:txBody>
          <a:bodyPr anchorCtr="0" anchor="t" bIns="45700" lIns="45700" spcFirstLastPara="1" rIns="45700" wrap="square" tIns="45700">
            <a:noAutofit/>
          </a:bodyPr>
          <a:lstStyle/>
          <a:p>
            <a:pPr indent="0" lvl="0" marL="0" marR="0" rtl="0" algn="l">
              <a:lnSpc>
                <a:spcPct val="150000"/>
              </a:lnSpc>
              <a:spcBef>
                <a:spcPts val="0"/>
              </a:spcBef>
              <a:spcAft>
                <a:spcPts val="0"/>
              </a:spcAft>
              <a:buNone/>
            </a:pPr>
            <a:r>
              <a:rPr lang="en-GB" sz="1200">
                <a:solidFill>
                  <a:schemeClr val="dk1"/>
                </a:solidFill>
                <a:latin typeface="Inter"/>
                <a:ea typeface="Inter"/>
                <a:cs typeface="Inter"/>
                <a:sym typeface="Inter"/>
              </a:rPr>
              <a:t>Basic Authentication is a simple method where credentials (username and password) are sent to the server, typically via an HTTP header.</a:t>
            </a:r>
            <a:endParaRPr sz="1200">
              <a:solidFill>
                <a:schemeClr val="dk1"/>
              </a:solidFill>
              <a:latin typeface="Inter"/>
              <a:ea typeface="Inter"/>
              <a:cs typeface="Inter"/>
              <a:sym typeface="Inter"/>
            </a:endParaRPr>
          </a:p>
          <a:p>
            <a:pPr indent="0" lvl="0" marL="0" marR="0" rtl="0" algn="l">
              <a:lnSpc>
                <a:spcPct val="150000"/>
              </a:lnSpc>
              <a:spcBef>
                <a:spcPts val="0"/>
              </a:spcBef>
              <a:spcAft>
                <a:spcPts val="0"/>
              </a:spcAft>
              <a:buNone/>
            </a:pPr>
            <a:r>
              <a:t/>
            </a:r>
            <a:endParaRPr b="1" sz="1200">
              <a:solidFill>
                <a:schemeClr val="dk1"/>
              </a:solidFill>
              <a:latin typeface="Inter"/>
              <a:ea typeface="Inter"/>
              <a:cs typeface="Inter"/>
              <a:sym typeface="Inter"/>
            </a:endParaRPr>
          </a:p>
          <a:p>
            <a:pPr indent="0" lvl="0" marL="0" marR="0" rtl="0" algn="l">
              <a:lnSpc>
                <a:spcPct val="150000"/>
              </a:lnSpc>
              <a:spcBef>
                <a:spcPts val="0"/>
              </a:spcBef>
              <a:spcAft>
                <a:spcPts val="0"/>
              </a:spcAft>
              <a:buNone/>
            </a:pPr>
            <a:r>
              <a:rPr lang="en-GB" sz="1200">
                <a:solidFill>
                  <a:schemeClr val="dk1"/>
                </a:solidFill>
                <a:latin typeface="Inter"/>
                <a:ea typeface="Inter"/>
                <a:cs typeface="Inter"/>
                <a:sym typeface="Inter"/>
              </a:rPr>
              <a:t>Credentials are combined as username:password, then base64 encoded:</a:t>
            </a:r>
            <a:endParaRPr sz="1200">
              <a:solidFill>
                <a:schemeClr val="dk1"/>
              </a:solidFill>
              <a:latin typeface="Inter"/>
              <a:ea typeface="Inter"/>
              <a:cs typeface="Inter"/>
              <a:sym typeface="Inter"/>
            </a:endParaRPr>
          </a:p>
          <a:p>
            <a:pPr indent="0" lvl="0" marL="0" marR="0" rtl="0" algn="l">
              <a:lnSpc>
                <a:spcPct val="150000"/>
              </a:lnSpc>
              <a:spcBef>
                <a:spcPts val="0"/>
              </a:spcBef>
              <a:spcAft>
                <a:spcPts val="0"/>
              </a:spcAft>
              <a:buNone/>
            </a:pPr>
            <a:r>
              <a:rPr lang="en-GB" sz="1200">
                <a:solidFill>
                  <a:schemeClr val="dk1"/>
                </a:solidFill>
                <a:latin typeface="Courier New"/>
                <a:ea typeface="Courier New"/>
                <a:cs typeface="Courier New"/>
                <a:sym typeface="Courier New"/>
              </a:rPr>
              <a:t>Basic base64Encode(username:password)</a:t>
            </a:r>
            <a:endParaRPr sz="1200">
              <a:solidFill>
                <a:schemeClr val="dk1"/>
              </a:solidFill>
              <a:latin typeface="Courier New"/>
              <a:ea typeface="Courier New"/>
              <a:cs typeface="Courier New"/>
              <a:sym typeface="Courier New"/>
            </a:endParaRPr>
          </a:p>
          <a:p>
            <a:pPr indent="0" lvl="0" marL="0" marR="0" rtl="0" algn="l">
              <a:lnSpc>
                <a:spcPct val="150000"/>
              </a:lnSpc>
              <a:spcBef>
                <a:spcPts val="0"/>
              </a:spcBef>
              <a:spcAft>
                <a:spcPts val="0"/>
              </a:spcAft>
              <a:buNone/>
            </a:pPr>
            <a:r>
              <a:rPr lang="en-GB" sz="1200">
                <a:solidFill>
                  <a:schemeClr val="dk1"/>
                </a:solidFill>
                <a:latin typeface="Courier New"/>
                <a:ea typeface="Courier New"/>
                <a:cs typeface="Courier New"/>
                <a:sym typeface="Courier New"/>
              </a:rPr>
              <a:t>Authorization: Basic am9obkBzbWl0aC5jb206MTIzNDU2Nw==</a:t>
            </a:r>
            <a:endParaRPr sz="1200">
              <a:solidFill>
                <a:schemeClr val="dk1"/>
              </a:solidFill>
              <a:latin typeface="Courier New"/>
              <a:ea typeface="Courier New"/>
              <a:cs typeface="Courier New"/>
              <a:sym typeface="Courier New"/>
            </a:endParaRPr>
          </a:p>
          <a:p>
            <a:pPr indent="0" lvl="0" marL="0" marR="0" rtl="0" algn="l">
              <a:lnSpc>
                <a:spcPct val="150000"/>
              </a:lnSpc>
              <a:spcBef>
                <a:spcPts val="0"/>
              </a:spcBef>
              <a:spcAft>
                <a:spcPts val="0"/>
              </a:spcAft>
              <a:buNone/>
            </a:pPr>
            <a:r>
              <a:t/>
            </a:r>
            <a:endParaRPr sz="1200">
              <a:solidFill>
                <a:schemeClr val="dk1"/>
              </a:solidFill>
              <a:latin typeface="Courier New"/>
              <a:ea typeface="Courier New"/>
              <a:cs typeface="Courier New"/>
              <a:sym typeface="Courier New"/>
            </a:endParaRPr>
          </a:p>
          <a:p>
            <a:pPr indent="0" lvl="0" marL="0" marR="0" rtl="0" algn="l">
              <a:lnSpc>
                <a:spcPct val="150000"/>
              </a:lnSpc>
              <a:spcBef>
                <a:spcPts val="0"/>
              </a:spcBef>
              <a:spcAft>
                <a:spcPts val="0"/>
              </a:spcAft>
              <a:buNone/>
            </a:pPr>
            <a:r>
              <a:rPr lang="en-GB" sz="1200">
                <a:solidFill>
                  <a:schemeClr val="dk1"/>
                </a:solidFill>
                <a:latin typeface="Inter"/>
                <a:ea typeface="Inter"/>
                <a:cs typeface="Inter"/>
                <a:sym typeface="Inter"/>
              </a:rPr>
              <a:t>Security Warning:</a:t>
            </a:r>
            <a:endParaRPr sz="1200">
              <a:solidFill>
                <a:schemeClr val="dk1"/>
              </a:solidFill>
              <a:latin typeface="Inter"/>
              <a:ea typeface="Inter"/>
              <a:cs typeface="Inter"/>
              <a:sym typeface="Inter"/>
            </a:endParaRPr>
          </a:p>
          <a:p>
            <a:pPr indent="-304800" lvl="0" marL="457200" marR="0" rtl="0" algn="l">
              <a:lnSpc>
                <a:spcPct val="150000"/>
              </a:lnSpc>
              <a:spcBef>
                <a:spcPts val="0"/>
              </a:spcBef>
              <a:spcAft>
                <a:spcPts val="0"/>
              </a:spcAft>
              <a:buClr>
                <a:schemeClr val="dk1"/>
              </a:buClr>
              <a:buSzPts val="1200"/>
              <a:buFont typeface="Inter"/>
              <a:buChar char="●"/>
            </a:pPr>
            <a:r>
              <a:rPr lang="en-GB" sz="1200">
                <a:solidFill>
                  <a:schemeClr val="dk1"/>
                </a:solidFill>
                <a:latin typeface="Inter"/>
                <a:ea typeface="Inter"/>
                <a:cs typeface="Inter"/>
                <a:sym typeface="Inter"/>
              </a:rPr>
              <a:t>Credentials are sent as base64-encoded plain text</a:t>
            </a:r>
            <a:endParaRPr sz="1200">
              <a:solidFill>
                <a:schemeClr val="dk1"/>
              </a:solidFill>
              <a:latin typeface="Inter"/>
              <a:ea typeface="Inter"/>
              <a:cs typeface="Inter"/>
              <a:sym typeface="Inter"/>
            </a:endParaRPr>
          </a:p>
          <a:p>
            <a:pPr indent="-304800" lvl="0" marL="457200" marR="0" rtl="0" algn="l">
              <a:lnSpc>
                <a:spcPct val="150000"/>
              </a:lnSpc>
              <a:spcBef>
                <a:spcPts val="0"/>
              </a:spcBef>
              <a:spcAft>
                <a:spcPts val="0"/>
              </a:spcAft>
              <a:buClr>
                <a:schemeClr val="dk1"/>
              </a:buClr>
              <a:buSzPts val="1200"/>
              <a:buFont typeface="Inter"/>
              <a:buChar char="●"/>
            </a:pPr>
            <a:r>
              <a:rPr lang="en-GB" sz="1200">
                <a:solidFill>
                  <a:schemeClr val="dk1"/>
                </a:solidFill>
                <a:latin typeface="Inter"/>
                <a:ea typeface="Inter"/>
                <a:cs typeface="Inter"/>
                <a:sym typeface="Inter"/>
              </a:rPr>
              <a:t>Susceptible to interception</a:t>
            </a:r>
            <a:endParaRPr sz="1200">
              <a:solidFill>
                <a:schemeClr val="dk1"/>
              </a:solidFill>
              <a:latin typeface="Inter"/>
              <a:ea typeface="Inter"/>
              <a:cs typeface="Inter"/>
              <a:sym typeface="Inter"/>
            </a:endParaRPr>
          </a:p>
          <a:p>
            <a:pPr indent="-323850" lvl="0" marL="457200" marR="0" rtl="0" algn="l">
              <a:lnSpc>
                <a:spcPct val="150000"/>
              </a:lnSpc>
              <a:spcBef>
                <a:spcPts val="0"/>
              </a:spcBef>
              <a:spcAft>
                <a:spcPts val="0"/>
              </a:spcAft>
              <a:buClr>
                <a:schemeClr val="dk1"/>
              </a:buClr>
              <a:buSzPts val="1500"/>
              <a:buFont typeface="Inter"/>
              <a:buChar char="●"/>
            </a:pPr>
            <a:r>
              <a:rPr b="1" lang="en-GB" sz="1500">
                <a:solidFill>
                  <a:schemeClr val="dk1"/>
                </a:solidFill>
                <a:latin typeface="Inter"/>
                <a:ea typeface="Inter"/>
                <a:cs typeface="Inter"/>
                <a:sym typeface="Inter"/>
              </a:rPr>
              <a:t>Use only with TLS/mTLS for additional protection</a:t>
            </a:r>
            <a:endParaRPr b="1" sz="1500">
              <a:solidFill>
                <a:schemeClr val="dk1"/>
              </a:solidFill>
              <a:latin typeface="Inter"/>
              <a:ea typeface="Inter"/>
              <a:cs typeface="Inter"/>
              <a:sym typeface="Inter"/>
            </a:endParaRPr>
          </a:p>
          <a:p>
            <a:pPr indent="0" lvl="0" marL="0" marR="0" rtl="0" algn="l">
              <a:lnSpc>
                <a:spcPct val="150000"/>
              </a:lnSpc>
              <a:spcBef>
                <a:spcPts val="0"/>
              </a:spcBef>
              <a:spcAft>
                <a:spcPts val="0"/>
              </a:spcAft>
              <a:buNone/>
            </a:pPr>
            <a:r>
              <a:t/>
            </a:r>
            <a:endParaRPr sz="1200">
              <a:solidFill>
                <a:schemeClr val="dk1"/>
              </a:solidFill>
              <a:latin typeface="Courier New"/>
              <a:ea typeface="Courier New"/>
              <a:cs typeface="Courier New"/>
              <a:sym typeface="Courier New"/>
            </a:endParaRPr>
          </a:p>
          <a:p>
            <a:pPr indent="0" lvl="0" marL="0" marR="0" rtl="0" algn="l">
              <a:lnSpc>
                <a:spcPct val="150000"/>
              </a:lnSpc>
              <a:spcBef>
                <a:spcPts val="0"/>
              </a:spcBef>
              <a:spcAft>
                <a:spcPts val="0"/>
              </a:spcAft>
              <a:buNone/>
            </a:pPr>
            <a:r>
              <a:t/>
            </a:r>
            <a:endParaRPr sz="1200">
              <a:solidFill>
                <a:schemeClr val="dk1"/>
              </a:solidFill>
              <a:latin typeface="Courier New"/>
              <a:ea typeface="Courier New"/>
              <a:cs typeface="Courier New"/>
              <a:sym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4" name="Shape 154"/>
        <p:cNvGrpSpPr/>
        <p:nvPr/>
      </p:nvGrpSpPr>
      <p:grpSpPr>
        <a:xfrm>
          <a:off x="0" y="0"/>
          <a:ext cx="0" cy="0"/>
          <a:chOff x="0" y="0"/>
          <a:chExt cx="0" cy="0"/>
        </a:xfrm>
      </p:grpSpPr>
      <p:sp>
        <p:nvSpPr>
          <p:cNvPr id="155" name="Google Shape;155;p32"/>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6" name="Google Shape;156;p32"/>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57" name="Google Shape;157;p32"/>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Basic Authentication</a:t>
            </a:r>
            <a:endParaRPr b="1" sz="3800">
              <a:solidFill>
                <a:srgbClr val="03031C"/>
              </a:solidFill>
              <a:latin typeface="Inter"/>
              <a:ea typeface="Inter"/>
              <a:cs typeface="Inter"/>
              <a:sym typeface="Inter"/>
            </a:endParaRPr>
          </a:p>
        </p:txBody>
      </p:sp>
      <p:sp>
        <p:nvSpPr>
          <p:cNvPr id="158" name="Google Shape;158;p32"/>
          <p:cNvSpPr/>
          <p:nvPr/>
        </p:nvSpPr>
        <p:spPr>
          <a:xfrm>
            <a:off x="870275" y="985250"/>
            <a:ext cx="7660200" cy="3365700"/>
          </a:xfrm>
          <a:prstGeom prst="rect">
            <a:avLst/>
          </a:prstGeom>
          <a:noFill/>
          <a:ln>
            <a:noFill/>
          </a:ln>
        </p:spPr>
        <p:txBody>
          <a:bodyPr anchorCtr="0" anchor="t" bIns="45700" lIns="45700" spcFirstLastPara="1" rIns="45700" wrap="square" tIns="45700">
            <a:noAutofit/>
          </a:bodyPr>
          <a:lstStyle/>
          <a:p>
            <a:pPr indent="0" lvl="0" marL="0" marR="0" rtl="0" algn="l">
              <a:lnSpc>
                <a:spcPct val="150000"/>
              </a:lnSpc>
              <a:spcBef>
                <a:spcPts val="0"/>
              </a:spcBef>
              <a:spcAft>
                <a:spcPts val="0"/>
              </a:spcAft>
              <a:buNone/>
            </a:pPr>
            <a:r>
              <a:rPr lang="en-GB" sz="1200">
                <a:solidFill>
                  <a:schemeClr val="dk1"/>
                </a:solidFill>
                <a:latin typeface="Inter"/>
                <a:ea typeface="Inter"/>
                <a:cs typeface="Inter"/>
                <a:sym typeface="Inter"/>
              </a:rPr>
              <a:t>Extracting Credentials from the Request Payload</a:t>
            </a:r>
            <a:endParaRPr sz="1200">
              <a:solidFill>
                <a:schemeClr val="dk1"/>
              </a:solidFill>
              <a:latin typeface="Inter"/>
              <a:ea typeface="Inter"/>
              <a:cs typeface="Inter"/>
              <a:sym typeface="Inter"/>
            </a:endParaRPr>
          </a:p>
          <a:p>
            <a:pPr indent="-304800" lvl="0" marL="457200" marR="0" rtl="0" algn="l">
              <a:lnSpc>
                <a:spcPct val="150000"/>
              </a:lnSpc>
              <a:spcBef>
                <a:spcPts val="0"/>
              </a:spcBef>
              <a:spcAft>
                <a:spcPts val="0"/>
              </a:spcAft>
              <a:buClr>
                <a:schemeClr val="dk1"/>
              </a:buClr>
              <a:buSzPts val="1200"/>
              <a:buFont typeface="Inter"/>
              <a:buChar char="●"/>
            </a:pPr>
            <a:r>
              <a:rPr lang="en-GB" sz="1200">
                <a:solidFill>
                  <a:schemeClr val="dk1"/>
                </a:solidFill>
                <a:latin typeface="Inter"/>
                <a:ea typeface="Inter"/>
                <a:cs typeface="Inter"/>
                <a:sym typeface="Inter"/>
              </a:rPr>
              <a:t>Some APIs, like SOAP, may include credentials in the request body instead of the HTTP headers.</a:t>
            </a:r>
            <a:endParaRPr sz="1200">
              <a:solidFill>
                <a:schemeClr val="dk1"/>
              </a:solidFill>
              <a:latin typeface="Inter"/>
              <a:ea typeface="Inter"/>
              <a:cs typeface="Inter"/>
              <a:sym typeface="Inter"/>
            </a:endParaRPr>
          </a:p>
          <a:p>
            <a:pPr indent="-304800" lvl="0" marL="457200" marR="0" rtl="0" algn="l">
              <a:lnSpc>
                <a:spcPct val="150000"/>
              </a:lnSpc>
              <a:spcBef>
                <a:spcPts val="0"/>
              </a:spcBef>
              <a:spcAft>
                <a:spcPts val="0"/>
              </a:spcAft>
              <a:buClr>
                <a:schemeClr val="dk1"/>
              </a:buClr>
              <a:buSzPts val="1200"/>
              <a:buFont typeface="Inter"/>
              <a:buChar char="●"/>
            </a:pPr>
            <a:r>
              <a:rPr lang="en-GB" sz="1200">
                <a:solidFill>
                  <a:schemeClr val="dk1"/>
                </a:solidFill>
                <a:latin typeface="Inter"/>
                <a:ea typeface="Inter"/>
                <a:cs typeface="Inter"/>
                <a:sym typeface="Inter"/>
              </a:rPr>
              <a:t>Tyk can handle this using regular expressions to extract credentials directly from the body.</a:t>
            </a:r>
            <a:endParaRPr sz="1200">
              <a:solidFill>
                <a:schemeClr val="dk1"/>
              </a:solidFill>
              <a:latin typeface="Inter"/>
              <a:ea typeface="Inter"/>
              <a:cs typeface="Inter"/>
              <a:sym typeface="Inter"/>
            </a:endParaRPr>
          </a:p>
          <a:p>
            <a:pPr indent="0" lvl="0" marL="0" marR="0" rtl="0" algn="l">
              <a:lnSpc>
                <a:spcPct val="150000"/>
              </a:lnSpc>
              <a:spcBef>
                <a:spcPts val="0"/>
              </a:spcBef>
              <a:spcAft>
                <a:spcPts val="0"/>
              </a:spcAft>
              <a:buNone/>
            </a:pPr>
            <a:r>
              <a:t/>
            </a:r>
            <a:endParaRPr sz="1200">
              <a:solidFill>
                <a:schemeClr val="dk1"/>
              </a:solidFill>
              <a:latin typeface="Inter"/>
              <a:ea typeface="Inter"/>
              <a:cs typeface="Inter"/>
              <a:sym typeface="Inter"/>
            </a:endParaRPr>
          </a:p>
          <a:p>
            <a:pPr indent="0" lvl="0" marL="0" marR="0" rtl="0" algn="l">
              <a:lnSpc>
                <a:spcPct val="150000"/>
              </a:lnSpc>
              <a:spcBef>
                <a:spcPts val="0"/>
              </a:spcBef>
              <a:spcAft>
                <a:spcPts val="0"/>
              </a:spcAft>
              <a:buNone/>
            </a:pPr>
            <a:r>
              <a:rPr lang="en-GB" sz="1000">
                <a:solidFill>
                  <a:schemeClr val="dk1"/>
                </a:solidFill>
                <a:latin typeface="Courier New"/>
                <a:ea typeface="Courier New"/>
                <a:cs typeface="Courier New"/>
                <a:sym typeface="Courier New"/>
              </a:rPr>
              <a:t>x-tyk-api-gateway:</a:t>
            </a:r>
            <a:endParaRPr sz="1000">
              <a:solidFill>
                <a:schemeClr val="dk1"/>
              </a:solidFill>
              <a:latin typeface="Courier New"/>
              <a:ea typeface="Courier New"/>
              <a:cs typeface="Courier New"/>
              <a:sym typeface="Courier New"/>
            </a:endParaRPr>
          </a:p>
          <a:p>
            <a:pPr indent="0" lvl="0" marL="0" marR="0" rtl="0" algn="l">
              <a:lnSpc>
                <a:spcPct val="150000"/>
              </a:lnSpc>
              <a:spcBef>
                <a:spcPts val="0"/>
              </a:spcBef>
              <a:spcAft>
                <a:spcPts val="0"/>
              </a:spcAft>
              <a:buNone/>
            </a:pPr>
            <a:r>
              <a:rPr lang="en-GB" sz="1000">
                <a:solidFill>
                  <a:schemeClr val="dk1"/>
                </a:solidFill>
                <a:latin typeface="Courier New"/>
                <a:ea typeface="Courier New"/>
                <a:cs typeface="Courier New"/>
                <a:sym typeface="Courier New"/>
              </a:rPr>
              <a:t>  server:</a:t>
            </a:r>
            <a:endParaRPr sz="1000">
              <a:solidFill>
                <a:schemeClr val="dk1"/>
              </a:solidFill>
              <a:latin typeface="Courier New"/>
              <a:ea typeface="Courier New"/>
              <a:cs typeface="Courier New"/>
              <a:sym typeface="Courier New"/>
            </a:endParaRPr>
          </a:p>
          <a:p>
            <a:pPr indent="0" lvl="0" marL="0" marR="0" rtl="0" algn="l">
              <a:lnSpc>
                <a:spcPct val="150000"/>
              </a:lnSpc>
              <a:spcBef>
                <a:spcPts val="0"/>
              </a:spcBef>
              <a:spcAft>
                <a:spcPts val="0"/>
              </a:spcAft>
              <a:buNone/>
            </a:pPr>
            <a:r>
              <a:rPr lang="en-GB" sz="1000">
                <a:solidFill>
                  <a:schemeClr val="dk1"/>
                </a:solidFill>
                <a:latin typeface="Courier New"/>
                <a:ea typeface="Courier New"/>
                <a:cs typeface="Courier New"/>
                <a:sym typeface="Courier New"/>
              </a:rPr>
              <a:t>    authentication:</a:t>
            </a:r>
            <a:endParaRPr sz="1000">
              <a:solidFill>
                <a:schemeClr val="dk1"/>
              </a:solidFill>
              <a:latin typeface="Courier New"/>
              <a:ea typeface="Courier New"/>
              <a:cs typeface="Courier New"/>
              <a:sym typeface="Courier New"/>
            </a:endParaRPr>
          </a:p>
          <a:p>
            <a:pPr indent="0" lvl="0" marL="0" marR="0" rtl="0" algn="l">
              <a:lnSpc>
                <a:spcPct val="150000"/>
              </a:lnSpc>
              <a:spcBef>
                <a:spcPts val="0"/>
              </a:spcBef>
              <a:spcAft>
                <a:spcPts val="0"/>
              </a:spcAft>
              <a:buNone/>
            </a:pPr>
            <a:r>
              <a:rPr lang="en-GB" sz="1000">
                <a:solidFill>
                  <a:schemeClr val="dk1"/>
                </a:solidFill>
                <a:latin typeface="Courier New"/>
                <a:ea typeface="Courier New"/>
                <a:cs typeface="Courier New"/>
                <a:sym typeface="Courier New"/>
              </a:rPr>
              <a:t>      enabled: true</a:t>
            </a:r>
            <a:endParaRPr sz="1000">
              <a:solidFill>
                <a:schemeClr val="dk1"/>
              </a:solidFill>
              <a:latin typeface="Courier New"/>
              <a:ea typeface="Courier New"/>
              <a:cs typeface="Courier New"/>
              <a:sym typeface="Courier New"/>
            </a:endParaRPr>
          </a:p>
          <a:p>
            <a:pPr indent="0" lvl="0" marL="0" marR="0" rtl="0" algn="l">
              <a:lnSpc>
                <a:spcPct val="150000"/>
              </a:lnSpc>
              <a:spcBef>
                <a:spcPts val="0"/>
              </a:spcBef>
              <a:spcAft>
                <a:spcPts val="0"/>
              </a:spcAft>
              <a:buNone/>
            </a:pPr>
            <a:r>
              <a:rPr lang="en-GB" sz="1000">
                <a:solidFill>
                  <a:schemeClr val="dk1"/>
                </a:solidFill>
                <a:latin typeface="Courier New"/>
                <a:ea typeface="Courier New"/>
                <a:cs typeface="Courier New"/>
                <a:sym typeface="Courier New"/>
              </a:rPr>
              <a:t>      securitySchemes:</a:t>
            </a:r>
            <a:endParaRPr sz="1000">
              <a:solidFill>
                <a:schemeClr val="dk1"/>
              </a:solidFill>
              <a:latin typeface="Courier New"/>
              <a:ea typeface="Courier New"/>
              <a:cs typeface="Courier New"/>
              <a:sym typeface="Courier New"/>
            </a:endParaRPr>
          </a:p>
          <a:p>
            <a:pPr indent="0" lvl="0" marL="0" marR="0" rtl="0" algn="l">
              <a:lnSpc>
                <a:spcPct val="150000"/>
              </a:lnSpc>
              <a:spcBef>
                <a:spcPts val="0"/>
              </a:spcBef>
              <a:spcAft>
                <a:spcPts val="0"/>
              </a:spcAft>
              <a:buNone/>
            </a:pPr>
            <a:r>
              <a:rPr lang="en-GB" sz="1000">
                <a:solidFill>
                  <a:schemeClr val="dk1"/>
                </a:solidFill>
                <a:latin typeface="Courier New"/>
                <a:ea typeface="Courier New"/>
                <a:cs typeface="Courier New"/>
                <a:sym typeface="Courier New"/>
              </a:rPr>
              <a:t>        myAuthScheme:</a:t>
            </a:r>
            <a:endParaRPr sz="1000">
              <a:solidFill>
                <a:schemeClr val="dk1"/>
              </a:solidFill>
              <a:latin typeface="Courier New"/>
              <a:ea typeface="Courier New"/>
              <a:cs typeface="Courier New"/>
              <a:sym typeface="Courier New"/>
            </a:endParaRPr>
          </a:p>
          <a:p>
            <a:pPr indent="0" lvl="0" marL="0" marR="0" rtl="0" algn="l">
              <a:lnSpc>
                <a:spcPct val="150000"/>
              </a:lnSpc>
              <a:spcBef>
                <a:spcPts val="0"/>
              </a:spcBef>
              <a:spcAft>
                <a:spcPts val="0"/>
              </a:spcAft>
              <a:buNone/>
            </a:pPr>
            <a:r>
              <a:rPr lang="en-GB" sz="1000">
                <a:solidFill>
                  <a:schemeClr val="dk1"/>
                </a:solidFill>
                <a:latin typeface="Courier New"/>
                <a:ea typeface="Courier New"/>
                <a:cs typeface="Courier New"/>
                <a:sym typeface="Courier New"/>
              </a:rPr>
              <a:t>          enabled: true</a:t>
            </a:r>
            <a:endParaRPr sz="1000">
              <a:solidFill>
                <a:schemeClr val="dk1"/>
              </a:solidFill>
              <a:latin typeface="Courier New"/>
              <a:ea typeface="Courier New"/>
              <a:cs typeface="Courier New"/>
              <a:sym typeface="Courier New"/>
            </a:endParaRPr>
          </a:p>
          <a:p>
            <a:pPr indent="0" lvl="0" marL="0" marR="0" rtl="0" algn="l">
              <a:lnSpc>
                <a:spcPct val="150000"/>
              </a:lnSpc>
              <a:spcBef>
                <a:spcPts val="0"/>
              </a:spcBef>
              <a:spcAft>
                <a:spcPts val="0"/>
              </a:spcAft>
              <a:buNone/>
            </a:pPr>
            <a:r>
              <a:rPr lang="en-GB" sz="1000">
                <a:solidFill>
                  <a:schemeClr val="dk1"/>
                </a:solidFill>
                <a:latin typeface="Courier New"/>
                <a:ea typeface="Courier New"/>
                <a:cs typeface="Courier New"/>
                <a:sym typeface="Courier New"/>
              </a:rPr>
              <a:t>        </a:t>
            </a:r>
            <a:r>
              <a:rPr b="1" lang="en-GB" sz="1000">
                <a:solidFill>
                  <a:schemeClr val="dk1"/>
                </a:solidFill>
                <a:latin typeface="Courier New"/>
                <a:ea typeface="Courier New"/>
                <a:cs typeface="Courier New"/>
                <a:sym typeface="Courier New"/>
              </a:rPr>
              <a:t>extractCredentialsFromBody:</a:t>
            </a:r>
            <a:endParaRPr b="1" sz="1000">
              <a:solidFill>
                <a:schemeClr val="dk1"/>
              </a:solidFill>
              <a:latin typeface="Courier New"/>
              <a:ea typeface="Courier New"/>
              <a:cs typeface="Courier New"/>
              <a:sym typeface="Courier New"/>
            </a:endParaRPr>
          </a:p>
          <a:p>
            <a:pPr indent="0" lvl="0" marL="0" marR="0" rtl="0" algn="l">
              <a:lnSpc>
                <a:spcPct val="150000"/>
              </a:lnSpc>
              <a:spcBef>
                <a:spcPts val="0"/>
              </a:spcBef>
              <a:spcAft>
                <a:spcPts val="0"/>
              </a:spcAft>
              <a:buNone/>
            </a:pPr>
            <a:r>
              <a:rPr b="1" lang="en-GB" sz="1000">
                <a:solidFill>
                  <a:schemeClr val="dk1"/>
                </a:solidFill>
                <a:latin typeface="Courier New"/>
                <a:ea typeface="Courier New"/>
                <a:cs typeface="Courier New"/>
                <a:sym typeface="Courier New"/>
              </a:rPr>
              <a:t>          enabled: true</a:t>
            </a:r>
            <a:endParaRPr b="1" sz="1000">
              <a:solidFill>
                <a:schemeClr val="dk1"/>
              </a:solidFill>
              <a:latin typeface="Courier New"/>
              <a:ea typeface="Courier New"/>
              <a:cs typeface="Courier New"/>
              <a:sym typeface="Courier New"/>
            </a:endParaRPr>
          </a:p>
          <a:p>
            <a:pPr indent="0" lvl="0" marL="0" marR="0" rtl="0" algn="l">
              <a:lnSpc>
                <a:spcPct val="150000"/>
              </a:lnSpc>
              <a:spcBef>
                <a:spcPts val="0"/>
              </a:spcBef>
              <a:spcAft>
                <a:spcPts val="0"/>
              </a:spcAft>
              <a:buNone/>
            </a:pPr>
            <a:r>
              <a:rPr b="1" lang="en-GB" sz="1000">
                <a:solidFill>
                  <a:schemeClr val="dk1"/>
                </a:solidFill>
                <a:latin typeface="Courier New"/>
                <a:ea typeface="Courier New"/>
                <a:cs typeface="Courier New"/>
                <a:sym typeface="Courier New"/>
              </a:rPr>
              <a:t>          userRegexp: '&lt;User&gt;(.*)&lt;/User&gt;'</a:t>
            </a:r>
            <a:endParaRPr b="1" sz="1000">
              <a:solidFill>
                <a:schemeClr val="dk1"/>
              </a:solidFill>
              <a:latin typeface="Courier New"/>
              <a:ea typeface="Courier New"/>
              <a:cs typeface="Courier New"/>
              <a:sym typeface="Courier New"/>
            </a:endParaRPr>
          </a:p>
          <a:p>
            <a:pPr indent="0" lvl="0" marL="0" marR="0" rtl="0" algn="l">
              <a:lnSpc>
                <a:spcPct val="150000"/>
              </a:lnSpc>
              <a:spcBef>
                <a:spcPts val="0"/>
              </a:spcBef>
              <a:spcAft>
                <a:spcPts val="0"/>
              </a:spcAft>
              <a:buNone/>
            </a:pPr>
            <a:r>
              <a:rPr b="1" lang="en-GB" sz="1000">
                <a:solidFill>
                  <a:schemeClr val="dk1"/>
                </a:solidFill>
                <a:latin typeface="Courier New"/>
                <a:ea typeface="Courier New"/>
                <a:cs typeface="Courier New"/>
                <a:sym typeface="Courier New"/>
              </a:rPr>
              <a:t>          passwordRegexp: '&lt;Password&gt;(.*)&lt;/Password&gt;'</a:t>
            </a:r>
            <a:endParaRPr b="1" sz="1000">
              <a:solidFill>
                <a:schemeClr val="dk1"/>
              </a:solidFill>
              <a:latin typeface="Courier New"/>
              <a:ea typeface="Courier New"/>
              <a:cs typeface="Courier New"/>
              <a:sym typeface="Courier New"/>
            </a:endParaRPr>
          </a:p>
          <a:p>
            <a:pPr indent="0" lvl="0" marL="0" marR="0" rtl="0" algn="l">
              <a:lnSpc>
                <a:spcPct val="150000"/>
              </a:lnSpc>
              <a:spcBef>
                <a:spcPts val="0"/>
              </a:spcBef>
              <a:spcAft>
                <a:spcPts val="0"/>
              </a:spcAft>
              <a:buNone/>
            </a:pPr>
            <a:r>
              <a:t/>
            </a:r>
            <a:endParaRPr sz="1200">
              <a:solidFill>
                <a:schemeClr val="dk1"/>
              </a:solidFill>
              <a:latin typeface="Courier New"/>
              <a:ea typeface="Courier New"/>
              <a:cs typeface="Courier New"/>
              <a:sym typeface="Courier New"/>
            </a:endParaRPr>
          </a:p>
          <a:p>
            <a:pPr indent="0" lvl="0" marL="0" marR="0" rtl="0" algn="l">
              <a:lnSpc>
                <a:spcPct val="150000"/>
              </a:lnSpc>
              <a:spcBef>
                <a:spcPts val="0"/>
              </a:spcBef>
              <a:spcAft>
                <a:spcPts val="0"/>
              </a:spcAft>
              <a:buNone/>
            </a:pPr>
            <a:r>
              <a:t/>
            </a:r>
            <a:endParaRPr sz="1200">
              <a:solidFill>
                <a:schemeClr val="dk1"/>
              </a:solidFill>
              <a:latin typeface="Courier New"/>
              <a:ea typeface="Courier New"/>
              <a:cs typeface="Courier New"/>
              <a:sym typeface="Courier New"/>
            </a:endParaRPr>
          </a:p>
        </p:txBody>
      </p:sp>
      <p:sp>
        <p:nvSpPr>
          <p:cNvPr id="159" name="Google Shape;159;p32"/>
          <p:cNvSpPr txBox="1"/>
          <p:nvPr/>
        </p:nvSpPr>
        <p:spPr>
          <a:xfrm>
            <a:off x="4716350" y="3414475"/>
            <a:ext cx="4235400" cy="55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latin typeface="Inter"/>
                <a:ea typeface="Inter"/>
                <a:cs typeface="Inter"/>
                <a:sym typeface="Inter"/>
              </a:rPr>
              <a:t>Regex patterns must capture only one group — the actual value of the username and password.</a:t>
            </a:r>
            <a:endParaRPr sz="1200">
              <a:solidFill>
                <a:schemeClr val="dk1"/>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 name="Shape 163"/>
        <p:cNvGrpSpPr/>
        <p:nvPr/>
      </p:nvGrpSpPr>
      <p:grpSpPr>
        <a:xfrm>
          <a:off x="0" y="0"/>
          <a:ext cx="0" cy="0"/>
          <a:chOff x="0" y="0"/>
          <a:chExt cx="0" cy="0"/>
        </a:xfrm>
      </p:grpSpPr>
      <p:sp>
        <p:nvSpPr>
          <p:cNvPr id="164" name="Google Shape;164;p33"/>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5" name="Google Shape;165;p33"/>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66" name="Google Shape;166;p33"/>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Basic Authentication</a:t>
            </a:r>
            <a:endParaRPr b="1" sz="3800">
              <a:solidFill>
                <a:srgbClr val="03031C"/>
              </a:solidFill>
              <a:latin typeface="Inter"/>
              <a:ea typeface="Inter"/>
              <a:cs typeface="Inter"/>
              <a:sym typeface="Inter"/>
            </a:endParaRPr>
          </a:p>
        </p:txBody>
      </p:sp>
      <p:sp>
        <p:nvSpPr>
          <p:cNvPr id="167" name="Google Shape;167;p33"/>
          <p:cNvSpPr/>
          <p:nvPr/>
        </p:nvSpPr>
        <p:spPr>
          <a:xfrm>
            <a:off x="870275" y="985250"/>
            <a:ext cx="7660200" cy="3365700"/>
          </a:xfrm>
          <a:prstGeom prst="rect">
            <a:avLst/>
          </a:prstGeom>
          <a:noFill/>
          <a:ln>
            <a:noFill/>
          </a:ln>
        </p:spPr>
        <p:txBody>
          <a:bodyPr anchorCtr="0" anchor="t" bIns="45700" lIns="45700" spcFirstLastPara="1" rIns="45700" wrap="square" tIns="45700">
            <a:noAutofit/>
          </a:bodyPr>
          <a:lstStyle/>
          <a:p>
            <a:pPr indent="0" lvl="0" marL="0" marR="0" rtl="0" algn="l">
              <a:lnSpc>
                <a:spcPct val="150000"/>
              </a:lnSpc>
              <a:spcBef>
                <a:spcPts val="0"/>
              </a:spcBef>
              <a:spcAft>
                <a:spcPts val="0"/>
              </a:spcAft>
              <a:buNone/>
            </a:pPr>
            <a:r>
              <a:rPr lang="en-GB" sz="1300">
                <a:solidFill>
                  <a:schemeClr val="dk1"/>
                </a:solidFill>
                <a:latin typeface="Inter"/>
                <a:ea typeface="Inter"/>
                <a:cs typeface="Inter"/>
                <a:sym typeface="Inter"/>
              </a:rPr>
              <a:t>Tyk does not generate Basic Auth credentials.</a:t>
            </a:r>
            <a:endParaRPr sz="1300">
              <a:solidFill>
                <a:schemeClr val="dk1"/>
              </a:solidFill>
              <a:latin typeface="Inter"/>
              <a:ea typeface="Inter"/>
              <a:cs typeface="Inter"/>
              <a:sym typeface="Inter"/>
            </a:endParaRPr>
          </a:p>
          <a:p>
            <a:pPr indent="-311150" lvl="0" marL="457200" marR="0" rtl="0" algn="l">
              <a:lnSpc>
                <a:spcPct val="150000"/>
              </a:lnSpc>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You must manually create and register usernames and passwords.</a:t>
            </a:r>
            <a:endParaRPr sz="1300">
              <a:solidFill>
                <a:schemeClr val="dk1"/>
              </a:solidFill>
              <a:latin typeface="Inter"/>
              <a:ea typeface="Inter"/>
              <a:cs typeface="Inter"/>
              <a:sym typeface="Inter"/>
            </a:endParaRPr>
          </a:p>
          <a:p>
            <a:pPr indent="0" lvl="0" marL="0" marR="0" rtl="0" algn="l">
              <a:lnSpc>
                <a:spcPct val="150000"/>
              </a:lnSpc>
              <a:spcBef>
                <a:spcPts val="0"/>
              </a:spcBef>
              <a:spcAft>
                <a:spcPts val="0"/>
              </a:spcAft>
              <a:buNone/>
            </a:pPr>
            <a:r>
              <a:t/>
            </a:r>
            <a:endParaRPr sz="1300">
              <a:solidFill>
                <a:schemeClr val="dk1"/>
              </a:solidFill>
              <a:latin typeface="Inter"/>
              <a:ea typeface="Inter"/>
              <a:cs typeface="Inter"/>
              <a:sym typeface="Inter"/>
            </a:endParaRPr>
          </a:p>
          <a:p>
            <a:pPr indent="0" lvl="0" marL="0" marR="0" rtl="0" algn="l">
              <a:lnSpc>
                <a:spcPct val="150000"/>
              </a:lnSpc>
              <a:spcBef>
                <a:spcPts val="0"/>
              </a:spcBef>
              <a:spcAft>
                <a:spcPts val="0"/>
              </a:spcAft>
              <a:buNone/>
            </a:pPr>
            <a:r>
              <a:rPr lang="en-GB" sz="1300">
                <a:solidFill>
                  <a:schemeClr val="dk1"/>
                </a:solidFill>
                <a:latin typeface="Inter"/>
                <a:ea typeface="Inter"/>
                <a:cs typeface="Inter"/>
                <a:sym typeface="Inter"/>
              </a:rPr>
              <a:t>This is done by creating a Tyk key:</a:t>
            </a:r>
            <a:endParaRPr sz="1300">
              <a:solidFill>
                <a:schemeClr val="dk1"/>
              </a:solidFill>
              <a:latin typeface="Inter"/>
              <a:ea typeface="Inter"/>
              <a:cs typeface="Inter"/>
              <a:sym typeface="Inter"/>
            </a:endParaRPr>
          </a:p>
          <a:p>
            <a:pPr indent="-311150" lvl="0" marL="457200" marR="0" rtl="0" algn="l">
              <a:lnSpc>
                <a:spcPct val="150000"/>
              </a:lnSpc>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Includes a username and password</a:t>
            </a:r>
            <a:endParaRPr sz="1300">
              <a:solidFill>
                <a:schemeClr val="dk1"/>
              </a:solidFill>
              <a:latin typeface="Inter"/>
              <a:ea typeface="Inter"/>
              <a:cs typeface="Inter"/>
              <a:sym typeface="Inter"/>
            </a:endParaRPr>
          </a:p>
          <a:p>
            <a:pPr indent="-311150" lvl="0" marL="457200" marR="0" rtl="0" algn="l">
              <a:lnSpc>
                <a:spcPct val="150000"/>
              </a:lnSpc>
              <a:spcBef>
                <a:spcPts val="0"/>
              </a:spcBef>
              <a:spcAft>
                <a:spcPts val="0"/>
              </a:spcAft>
              <a:buClr>
                <a:schemeClr val="dk1"/>
              </a:buClr>
              <a:buSzPts val="1300"/>
              <a:buFont typeface="Inter"/>
              <a:buChar char="●"/>
            </a:pPr>
            <a:r>
              <a:rPr lang="en-GB" sz="1300">
                <a:solidFill>
                  <a:schemeClr val="dk1"/>
                </a:solidFill>
                <a:latin typeface="Inter"/>
                <a:ea typeface="Inter"/>
                <a:cs typeface="Inter"/>
                <a:sym typeface="Inter"/>
              </a:rPr>
              <a:t>Grants access to the protected API</a:t>
            </a:r>
            <a:endParaRPr sz="1300">
              <a:solidFill>
                <a:schemeClr val="dk1"/>
              </a:solidFill>
              <a:latin typeface="Inter"/>
              <a:ea typeface="Inter"/>
              <a:cs typeface="Inter"/>
              <a:sym typeface="Inter"/>
            </a:endParaRPr>
          </a:p>
          <a:p>
            <a:pPr indent="0" lvl="0" marL="0" marR="0" rtl="0" algn="l">
              <a:lnSpc>
                <a:spcPct val="150000"/>
              </a:lnSpc>
              <a:spcBef>
                <a:spcPts val="0"/>
              </a:spcBef>
              <a:spcAft>
                <a:spcPts val="0"/>
              </a:spcAft>
              <a:buNone/>
            </a:pPr>
            <a:r>
              <a:t/>
            </a:r>
            <a:endParaRPr sz="1300">
              <a:solidFill>
                <a:schemeClr val="dk1"/>
              </a:solidFill>
              <a:latin typeface="Inter"/>
              <a:ea typeface="Inter"/>
              <a:cs typeface="Inter"/>
              <a:sym typeface="Inter"/>
            </a:endParaRPr>
          </a:p>
          <a:p>
            <a:pPr indent="0" lvl="0" marL="0" marR="0" rtl="0" algn="l">
              <a:lnSpc>
                <a:spcPct val="150000"/>
              </a:lnSpc>
              <a:spcBef>
                <a:spcPts val="0"/>
              </a:spcBef>
              <a:spcAft>
                <a:spcPts val="0"/>
              </a:spcAft>
              <a:buNone/>
            </a:pPr>
            <a:r>
              <a:rPr lang="en-GB" sz="1300">
                <a:solidFill>
                  <a:schemeClr val="dk1"/>
                </a:solidFill>
                <a:latin typeface="Inter"/>
                <a:ea typeface="Inter"/>
                <a:cs typeface="Inter"/>
                <a:sym typeface="Inter"/>
              </a:rPr>
              <a:t>Important:</a:t>
            </a:r>
            <a:endParaRPr sz="1300">
              <a:solidFill>
                <a:schemeClr val="dk1"/>
              </a:solidFill>
              <a:latin typeface="Inter"/>
              <a:ea typeface="Inter"/>
              <a:cs typeface="Inter"/>
              <a:sym typeface="Inter"/>
            </a:endParaRPr>
          </a:p>
          <a:p>
            <a:pPr indent="0" lvl="0" marL="0" marR="0" rtl="0" algn="l">
              <a:lnSpc>
                <a:spcPct val="150000"/>
              </a:lnSpc>
              <a:spcBef>
                <a:spcPts val="0"/>
              </a:spcBef>
              <a:spcAft>
                <a:spcPts val="0"/>
              </a:spcAft>
              <a:buNone/>
            </a:pPr>
            <a:r>
              <a:rPr b="1" lang="en-GB" sz="1300">
                <a:solidFill>
                  <a:schemeClr val="dk1"/>
                </a:solidFill>
                <a:latin typeface="Inter"/>
                <a:ea typeface="Inter"/>
                <a:cs typeface="Inter"/>
                <a:sym typeface="Inter"/>
              </a:rPr>
              <a:t>The API key itself is not used directly by the client.</a:t>
            </a:r>
            <a:endParaRPr b="1" sz="1300">
              <a:solidFill>
                <a:schemeClr val="dk1"/>
              </a:solidFill>
              <a:latin typeface="Inter"/>
              <a:ea typeface="Inter"/>
              <a:cs typeface="Inter"/>
              <a:sym typeface="Inter"/>
            </a:endParaRPr>
          </a:p>
          <a:p>
            <a:pPr indent="0" lvl="0" marL="0" marR="0" rtl="0" algn="l">
              <a:lnSpc>
                <a:spcPct val="150000"/>
              </a:lnSpc>
              <a:spcBef>
                <a:spcPts val="0"/>
              </a:spcBef>
              <a:spcAft>
                <a:spcPts val="0"/>
              </a:spcAft>
              <a:buNone/>
            </a:pPr>
            <a:r>
              <a:rPr b="1" lang="en-GB" sz="1300">
                <a:solidFill>
                  <a:schemeClr val="dk1"/>
                </a:solidFill>
                <a:latin typeface="Inter"/>
                <a:ea typeface="Inter"/>
                <a:cs typeface="Inter"/>
                <a:sym typeface="Inter"/>
              </a:rPr>
              <a:t>Clients must send Basic Auth credentials (username:password) in the request.</a:t>
            </a:r>
            <a:endParaRPr b="1" sz="1300">
              <a:solidFill>
                <a:schemeClr val="dk1"/>
              </a:solidFill>
              <a:latin typeface="Inter"/>
              <a:ea typeface="Inter"/>
              <a:cs typeface="Inter"/>
              <a:sym typeface="Inter"/>
            </a:endParaRPr>
          </a:p>
          <a:p>
            <a:pPr indent="0" lvl="0" marL="0" marR="0" rtl="0" algn="l">
              <a:lnSpc>
                <a:spcPct val="150000"/>
              </a:lnSpc>
              <a:spcBef>
                <a:spcPts val="0"/>
              </a:spcBef>
              <a:spcAft>
                <a:spcPts val="0"/>
              </a:spcAft>
              <a:buNone/>
            </a:pPr>
            <a:r>
              <a:t/>
            </a:r>
            <a:endParaRPr sz="1200">
              <a:solidFill>
                <a:schemeClr val="dk1"/>
              </a:solidFill>
              <a:latin typeface="Courier New"/>
              <a:ea typeface="Courier New"/>
              <a:cs typeface="Courier New"/>
              <a:sym typeface="Courier New"/>
            </a:endParaRPr>
          </a:p>
          <a:p>
            <a:pPr indent="0" lvl="0" marL="0" marR="0" rtl="0" algn="l">
              <a:lnSpc>
                <a:spcPct val="150000"/>
              </a:lnSpc>
              <a:spcBef>
                <a:spcPts val="0"/>
              </a:spcBef>
              <a:spcAft>
                <a:spcPts val="0"/>
              </a:spcAft>
              <a:buNone/>
            </a:pPr>
            <a:r>
              <a:t/>
            </a:r>
            <a:endParaRPr sz="1200">
              <a:solidFill>
                <a:schemeClr val="dk1"/>
              </a:solidFill>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1" name="Shape 171"/>
        <p:cNvGrpSpPr/>
        <p:nvPr/>
      </p:nvGrpSpPr>
      <p:grpSpPr>
        <a:xfrm>
          <a:off x="0" y="0"/>
          <a:ext cx="0" cy="0"/>
          <a:chOff x="0" y="0"/>
          <a:chExt cx="0" cy="0"/>
        </a:xfrm>
      </p:grpSpPr>
      <p:sp>
        <p:nvSpPr>
          <p:cNvPr id="172" name="Google Shape;172;p34"/>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3" name="Google Shape;173;p34"/>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74" name="Google Shape;174;p34"/>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HMAC</a:t>
            </a:r>
            <a:endParaRPr b="1" sz="3800">
              <a:solidFill>
                <a:srgbClr val="03031C"/>
              </a:solidFill>
              <a:latin typeface="Inter"/>
              <a:ea typeface="Inter"/>
              <a:cs typeface="Inter"/>
              <a:sym typeface="Inter"/>
            </a:endParaRPr>
          </a:p>
        </p:txBody>
      </p:sp>
      <p:sp>
        <p:nvSpPr>
          <p:cNvPr id="175" name="Google Shape;175;p34"/>
          <p:cNvSpPr/>
          <p:nvPr/>
        </p:nvSpPr>
        <p:spPr>
          <a:xfrm>
            <a:off x="849250" y="814425"/>
            <a:ext cx="7660200" cy="1133700"/>
          </a:xfrm>
          <a:prstGeom prst="rect">
            <a:avLst/>
          </a:prstGeom>
          <a:noFill/>
          <a:ln>
            <a:noFill/>
          </a:ln>
        </p:spPr>
        <p:txBody>
          <a:bodyPr anchorCtr="0" anchor="t" bIns="45700" lIns="45700" spcFirstLastPara="1" rIns="45700" wrap="square" tIns="45700">
            <a:noAutofit/>
          </a:bodyPr>
          <a:lstStyle/>
          <a:p>
            <a:pPr indent="0" lvl="0" marL="0" marR="0" rtl="0" algn="l">
              <a:lnSpc>
                <a:spcPct val="150000"/>
              </a:lnSpc>
              <a:spcBef>
                <a:spcPts val="0"/>
              </a:spcBef>
              <a:spcAft>
                <a:spcPts val="0"/>
              </a:spcAft>
              <a:buNone/>
            </a:pPr>
            <a:r>
              <a:t/>
            </a:r>
            <a:endParaRPr>
              <a:solidFill>
                <a:schemeClr val="dk1"/>
              </a:solidFill>
              <a:latin typeface="Inter"/>
              <a:ea typeface="Inter"/>
              <a:cs typeface="Inter"/>
              <a:sym typeface="Inter"/>
            </a:endParaRPr>
          </a:p>
          <a:p>
            <a:pPr indent="-285750" lvl="0" marL="28575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Stands for Hash-Based Message Authentication Code</a:t>
            </a:r>
            <a:endParaRPr>
              <a:solidFill>
                <a:schemeClr val="dk1"/>
              </a:solidFill>
              <a:latin typeface="Inter"/>
              <a:ea typeface="Inter"/>
              <a:cs typeface="Inter"/>
              <a:sym typeface="Inter"/>
            </a:endParaRPr>
          </a:p>
          <a:p>
            <a:pPr indent="-285750" lvl="0" marL="28575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Adds security by requiring a signature with each request</a:t>
            </a:r>
            <a:endParaRPr>
              <a:solidFill>
                <a:schemeClr val="dk1"/>
              </a:solidFill>
              <a:latin typeface="Inter"/>
              <a:ea typeface="Inter"/>
              <a:cs typeface="Inter"/>
              <a:sym typeface="Inter"/>
            </a:endParaRPr>
          </a:p>
          <a:p>
            <a:pPr indent="-285750" lvl="0" marL="28575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Uses a secret key that is never sent over the network</a:t>
            </a:r>
            <a:endParaRPr>
              <a:solidFill>
                <a:schemeClr val="dk1"/>
              </a:solidFill>
              <a:latin typeface="Inter"/>
              <a:ea typeface="Inter"/>
              <a:cs typeface="Inter"/>
              <a:sym typeface="Inter"/>
            </a:endParaRPr>
          </a:p>
        </p:txBody>
      </p:sp>
      <p:sp>
        <p:nvSpPr>
          <p:cNvPr id="176" name="Google Shape;176;p34"/>
          <p:cNvSpPr/>
          <p:nvPr/>
        </p:nvSpPr>
        <p:spPr>
          <a:xfrm>
            <a:off x="599459" y="3447734"/>
            <a:ext cx="8237700" cy="917400"/>
          </a:xfrm>
          <a:prstGeom prst="rect">
            <a:avLst/>
          </a:prstGeom>
          <a:solidFill>
            <a:srgbClr val="FFFFFF"/>
          </a:solidFill>
          <a:ln cap="flat" cmpd="sng" w="9525">
            <a:solidFill>
              <a:srgbClr val="BFBFBF"/>
            </a:solidFill>
            <a:prstDash val="solid"/>
            <a:round/>
            <a:headEnd len="sm" w="sm" type="none"/>
            <a:tailEnd len="sm" w="sm" type="none"/>
          </a:ln>
        </p:spPr>
        <p:txBody>
          <a:bodyPr anchorCtr="0" anchor="ctr" bIns="180000" lIns="180000" spcFirstLastPara="1" rIns="180000" wrap="square" tIns="180000">
            <a:noAutofit/>
          </a:bodyPr>
          <a:lstStyle/>
          <a:p>
            <a:pPr indent="0" lvl="0" marL="0" marR="0" rtl="0" algn="l">
              <a:lnSpc>
                <a:spcPct val="150000"/>
              </a:lnSpc>
              <a:spcBef>
                <a:spcPts val="0"/>
              </a:spcBef>
              <a:spcAft>
                <a:spcPts val="0"/>
              </a:spcAft>
              <a:buNone/>
            </a:pPr>
            <a:r>
              <a:rPr lang="en-GB" sz="1200">
                <a:solidFill>
                  <a:schemeClr val="dk1"/>
                </a:solidFill>
                <a:latin typeface="Inter"/>
                <a:ea typeface="Inter"/>
                <a:cs typeface="Inter"/>
                <a:sym typeface="Inter"/>
              </a:rPr>
              <a:t>request is sent with an Authorization header:</a:t>
            </a:r>
            <a:endParaRPr sz="1200">
              <a:solidFill>
                <a:schemeClr val="dk1"/>
              </a:solidFill>
              <a:latin typeface="Inter"/>
              <a:ea typeface="Inter"/>
              <a:cs typeface="Inter"/>
              <a:sym typeface="Inter"/>
            </a:endParaRPr>
          </a:p>
          <a:p>
            <a:pPr indent="0" lvl="0" marL="0" marR="0" rtl="0" algn="l">
              <a:lnSpc>
                <a:spcPct val="150000"/>
              </a:lnSpc>
              <a:spcBef>
                <a:spcPts val="0"/>
              </a:spcBef>
              <a:spcAft>
                <a:spcPts val="0"/>
              </a:spcAft>
              <a:buNone/>
            </a:pPr>
            <a:r>
              <a:rPr lang="en-GB" sz="1200">
                <a:solidFill>
                  <a:srgbClr val="0569A9"/>
                </a:solidFill>
                <a:latin typeface="Source Code Pro"/>
                <a:ea typeface="Source Code Pro"/>
                <a:cs typeface="Source Code Pro"/>
                <a:sym typeface="Source Code Pro"/>
              </a:rPr>
              <a:t>Authorization: Signature keyId="hmac-key-1",algorithm="hmac-sha1",signature="Base64(HMAC-SHA1(signing string))“</a:t>
            </a:r>
            <a:endParaRPr/>
          </a:p>
        </p:txBody>
      </p:sp>
      <p:sp>
        <p:nvSpPr>
          <p:cNvPr id="177" name="Google Shape;177;p34"/>
          <p:cNvSpPr/>
          <p:nvPr/>
        </p:nvSpPr>
        <p:spPr>
          <a:xfrm>
            <a:off x="599459" y="2380834"/>
            <a:ext cx="8237700" cy="917400"/>
          </a:xfrm>
          <a:prstGeom prst="rect">
            <a:avLst/>
          </a:prstGeom>
          <a:solidFill>
            <a:srgbClr val="FFFFFF"/>
          </a:solidFill>
          <a:ln cap="flat" cmpd="sng" w="9525">
            <a:solidFill>
              <a:srgbClr val="BFBFBF"/>
            </a:solidFill>
            <a:prstDash val="solid"/>
            <a:round/>
            <a:headEnd len="sm" w="sm" type="none"/>
            <a:tailEnd len="sm" w="sm" type="none"/>
          </a:ln>
        </p:spPr>
        <p:txBody>
          <a:bodyPr anchorCtr="0" anchor="ctr" bIns="180000" lIns="180000" spcFirstLastPara="1" rIns="180000" wrap="square" tIns="180000">
            <a:noAutofit/>
          </a:bodyPr>
          <a:lstStyle/>
          <a:p>
            <a:pPr indent="0" lvl="0" marL="0" marR="0" rtl="0" algn="l">
              <a:lnSpc>
                <a:spcPct val="150000"/>
              </a:lnSpc>
              <a:spcBef>
                <a:spcPts val="0"/>
              </a:spcBef>
              <a:spcAft>
                <a:spcPts val="0"/>
              </a:spcAft>
              <a:buNone/>
            </a:pPr>
            <a:r>
              <a:rPr lang="en-GB" sz="1200">
                <a:solidFill>
                  <a:schemeClr val="dk1"/>
                </a:solidFill>
                <a:latin typeface="Inter"/>
                <a:ea typeface="Inter"/>
                <a:cs typeface="Inter"/>
                <a:sym typeface="Inter"/>
              </a:rPr>
              <a:t>Client creates a signature using a date header and a secret key:</a:t>
            </a:r>
            <a:endParaRPr sz="1200">
              <a:solidFill>
                <a:schemeClr val="dk1"/>
              </a:solidFill>
              <a:latin typeface="Inter"/>
              <a:ea typeface="Inter"/>
              <a:cs typeface="Inter"/>
              <a:sym typeface="Inter"/>
            </a:endParaRPr>
          </a:p>
          <a:p>
            <a:pPr indent="0" lvl="0" marL="0" marR="0" rtl="0" algn="l">
              <a:lnSpc>
                <a:spcPct val="150000"/>
              </a:lnSpc>
              <a:spcBef>
                <a:spcPts val="0"/>
              </a:spcBef>
              <a:spcAft>
                <a:spcPts val="0"/>
              </a:spcAft>
              <a:buNone/>
            </a:pPr>
            <a:r>
              <a:rPr lang="en-GB" sz="1200">
                <a:solidFill>
                  <a:srgbClr val="0569A9"/>
                </a:solidFill>
                <a:latin typeface="Source Code Pro"/>
                <a:ea typeface="Source Code Pro"/>
                <a:cs typeface="Source Code Pro"/>
                <a:sym typeface="Source Code Pro"/>
              </a:rPr>
              <a:t>Base64Encode(HMAC-SHA1("date: Mon, 02 Jan 2006 15:04:05 MST", secret_key))</a:t>
            </a:r>
            <a:endParaRPr sz="1200">
              <a:solidFill>
                <a:srgbClr val="0569A9"/>
              </a:solidFill>
              <a:latin typeface="Source Code Pro"/>
              <a:ea typeface="Source Code Pro"/>
              <a:cs typeface="Source Code Pro"/>
              <a:sym typeface="Source Code Pr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1" name="Shape 181"/>
        <p:cNvGrpSpPr/>
        <p:nvPr/>
      </p:nvGrpSpPr>
      <p:grpSpPr>
        <a:xfrm>
          <a:off x="0" y="0"/>
          <a:ext cx="0" cy="0"/>
          <a:chOff x="0" y="0"/>
          <a:chExt cx="0" cy="0"/>
        </a:xfrm>
      </p:grpSpPr>
      <p:sp>
        <p:nvSpPr>
          <p:cNvPr id="182" name="Google Shape;182;p35"/>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 name="Google Shape;183;p35"/>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84" name="Google Shape;184;p35"/>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HMAC</a:t>
            </a:r>
            <a:endParaRPr b="1" sz="3800">
              <a:solidFill>
                <a:srgbClr val="03031C"/>
              </a:solidFill>
              <a:latin typeface="Inter"/>
              <a:ea typeface="Inter"/>
              <a:cs typeface="Inter"/>
              <a:sym typeface="Inter"/>
            </a:endParaRPr>
          </a:p>
        </p:txBody>
      </p:sp>
      <p:sp>
        <p:nvSpPr>
          <p:cNvPr id="185" name="Google Shape;185;p35"/>
          <p:cNvSpPr txBox="1"/>
          <p:nvPr/>
        </p:nvSpPr>
        <p:spPr>
          <a:xfrm>
            <a:off x="826875" y="1023100"/>
            <a:ext cx="7890600" cy="2964300"/>
          </a:xfrm>
          <a:prstGeom prst="rect">
            <a:avLst/>
          </a:prstGeom>
          <a:noFill/>
          <a:ln>
            <a:noFill/>
          </a:ln>
        </p:spPr>
        <p:txBody>
          <a:bodyPr anchorCtr="0" anchor="t" bIns="91425" lIns="91425" spcFirstLastPara="1" rIns="91425" wrap="square" tIns="91425">
            <a:noAutofit/>
          </a:bodyPr>
          <a:lstStyle/>
          <a:p>
            <a:pPr indent="-285750" lvl="0" marL="28575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Tyk verifies the request:</a:t>
            </a:r>
            <a:endParaRPr>
              <a:solidFill>
                <a:schemeClr val="dk1"/>
              </a:solidFill>
              <a:latin typeface="Inter"/>
              <a:ea typeface="Inter"/>
              <a:cs typeface="Inter"/>
              <a:sym typeface="Inter"/>
            </a:endParaRPr>
          </a:p>
          <a:p>
            <a:pPr indent="-317500" lvl="1" marL="91440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Extracts the keyId from the header</a:t>
            </a:r>
            <a:endParaRPr>
              <a:solidFill>
                <a:schemeClr val="dk1"/>
              </a:solidFill>
              <a:latin typeface="Inter"/>
              <a:ea typeface="Inter"/>
              <a:cs typeface="Inter"/>
              <a:sym typeface="Inter"/>
            </a:endParaRPr>
          </a:p>
          <a:p>
            <a:pPr indent="-317500" lvl="1" marL="91440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Retrieves the secret key from Redis</a:t>
            </a:r>
            <a:endParaRPr>
              <a:solidFill>
                <a:schemeClr val="dk1"/>
              </a:solidFill>
              <a:latin typeface="Inter"/>
              <a:ea typeface="Inter"/>
              <a:cs typeface="Inter"/>
              <a:sym typeface="Inter"/>
            </a:endParaRPr>
          </a:p>
          <a:p>
            <a:pPr indent="-317500" lvl="1" marL="91440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Recreates the HMAC signature based on the request’s date header</a:t>
            </a:r>
            <a:endParaRPr>
              <a:solidFill>
                <a:schemeClr val="dk1"/>
              </a:solidFill>
              <a:latin typeface="Inter"/>
              <a:ea typeface="Inter"/>
              <a:cs typeface="Inter"/>
              <a:sym typeface="Inter"/>
            </a:endParaRPr>
          </a:p>
          <a:p>
            <a:pPr indent="-317500" lvl="1" marL="91440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If the generated signature matches the one in the request, access is granted</a:t>
            </a:r>
            <a:endParaRPr>
              <a:solidFill>
                <a:schemeClr val="dk1"/>
              </a:solidFill>
              <a:latin typeface="Inter"/>
              <a:ea typeface="Inter"/>
              <a:cs typeface="Inter"/>
              <a:sym typeface="Inter"/>
            </a:endParaRPr>
          </a:p>
          <a:p>
            <a:pPr indent="-285750" lvl="0" marL="28575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Creating HMAC keys is the same as creating regular access tokens</a:t>
            </a:r>
            <a:endParaRPr>
              <a:solidFill>
                <a:schemeClr val="dk1"/>
              </a:solidFill>
              <a:latin typeface="Inter"/>
              <a:ea typeface="Inter"/>
              <a:cs typeface="Inter"/>
              <a:sym typeface="Inter"/>
            </a:endParaRPr>
          </a:p>
          <a:p>
            <a:pPr indent="-285750" lvl="0" marL="28575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Tyk generates a secret key for the key owner to be stored</a:t>
            </a:r>
            <a:endParaRPr>
              <a:solidFill>
                <a:schemeClr val="dk1"/>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9" name="Shape 189"/>
        <p:cNvGrpSpPr/>
        <p:nvPr/>
      </p:nvGrpSpPr>
      <p:grpSpPr>
        <a:xfrm>
          <a:off x="0" y="0"/>
          <a:ext cx="0" cy="0"/>
          <a:chOff x="0" y="0"/>
          <a:chExt cx="0" cy="0"/>
        </a:xfrm>
      </p:grpSpPr>
      <p:sp>
        <p:nvSpPr>
          <p:cNvPr id="190" name="Google Shape;190;p36"/>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1" name="Google Shape;191;p36"/>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192" name="Google Shape;192;p36"/>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HMAC</a:t>
            </a:r>
            <a:endParaRPr b="1" sz="3800">
              <a:solidFill>
                <a:srgbClr val="03031C"/>
              </a:solidFill>
              <a:latin typeface="Inter"/>
              <a:ea typeface="Inter"/>
              <a:cs typeface="Inter"/>
              <a:sym typeface="Inter"/>
            </a:endParaRPr>
          </a:p>
        </p:txBody>
      </p:sp>
      <p:sp>
        <p:nvSpPr>
          <p:cNvPr id="193" name="Google Shape;193;p36"/>
          <p:cNvSpPr txBox="1"/>
          <p:nvPr/>
        </p:nvSpPr>
        <p:spPr>
          <a:xfrm>
            <a:off x="826875" y="1023100"/>
            <a:ext cx="7890600" cy="2964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GB">
                <a:solidFill>
                  <a:schemeClr val="dk1"/>
                </a:solidFill>
                <a:latin typeface="Inter"/>
                <a:ea typeface="Inter"/>
                <a:cs typeface="Inter"/>
                <a:sym typeface="Inter"/>
              </a:rPr>
              <a:t>Upstream Signing</a:t>
            </a:r>
            <a:endParaRPr>
              <a:solidFill>
                <a:schemeClr val="dk1"/>
              </a:solidFill>
              <a:latin typeface="Inter"/>
              <a:ea typeface="Inter"/>
              <a:cs typeface="Inter"/>
              <a:sym typeface="Inter"/>
            </a:endParaRPr>
          </a:p>
          <a:p>
            <a:pPr indent="-317500" lvl="0" marL="45720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Tyk takes the request it’s about to send upstream.</a:t>
            </a:r>
            <a:endParaRPr>
              <a:solidFill>
                <a:schemeClr val="dk1"/>
              </a:solidFill>
              <a:latin typeface="Inter"/>
              <a:ea typeface="Inter"/>
              <a:cs typeface="Inter"/>
              <a:sym typeface="Inter"/>
            </a:endParaRPr>
          </a:p>
          <a:p>
            <a:pPr indent="-317500" lvl="0" marL="45720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It creates an HMAC signature of key parts of that request:</a:t>
            </a:r>
            <a:endParaRPr>
              <a:solidFill>
                <a:schemeClr val="dk1"/>
              </a:solidFill>
              <a:latin typeface="Inter"/>
              <a:ea typeface="Inter"/>
              <a:cs typeface="Inter"/>
              <a:sym typeface="Inter"/>
            </a:endParaRPr>
          </a:p>
          <a:p>
            <a:pPr indent="-317500" lvl="1" marL="91440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(request-target) → the method and path.</a:t>
            </a:r>
            <a:endParaRPr>
              <a:solidFill>
                <a:schemeClr val="dk1"/>
              </a:solidFill>
              <a:latin typeface="Inter"/>
              <a:ea typeface="Inter"/>
              <a:cs typeface="Inter"/>
              <a:sym typeface="Inter"/>
            </a:endParaRPr>
          </a:p>
          <a:p>
            <a:pPr indent="-317500" lvl="1" marL="91440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All the headers in the request.</a:t>
            </a:r>
            <a:endParaRPr>
              <a:solidFill>
                <a:schemeClr val="dk1"/>
              </a:solidFill>
              <a:latin typeface="Inter"/>
              <a:ea typeface="Inter"/>
              <a:cs typeface="Inter"/>
              <a:sym typeface="Inter"/>
            </a:endParaRPr>
          </a:p>
          <a:p>
            <a:pPr indent="-317500" lvl="0" marL="45720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If there’s no Date header, Tyk adds one automatically (because it’s required by the HMAC signing standard).</a:t>
            </a:r>
            <a:endParaRPr>
              <a:solidFill>
                <a:schemeClr val="dk1"/>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7" name="Shape 197"/>
        <p:cNvGrpSpPr/>
        <p:nvPr/>
      </p:nvGrpSpPr>
      <p:grpSpPr>
        <a:xfrm>
          <a:off x="0" y="0"/>
          <a:ext cx="0" cy="0"/>
          <a:chOff x="0" y="0"/>
          <a:chExt cx="0" cy="0"/>
        </a:xfrm>
      </p:grpSpPr>
      <p:sp>
        <p:nvSpPr>
          <p:cNvPr id="198" name="Google Shape;198;p37"/>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9" name="Google Shape;199;p37"/>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200" name="Google Shape;200;p37"/>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JSON Web Tokens</a:t>
            </a:r>
            <a:endParaRPr b="1" sz="3800">
              <a:solidFill>
                <a:srgbClr val="03031C"/>
              </a:solidFill>
              <a:latin typeface="Inter"/>
              <a:ea typeface="Inter"/>
              <a:cs typeface="Inter"/>
              <a:sym typeface="Inter"/>
            </a:endParaRPr>
          </a:p>
        </p:txBody>
      </p:sp>
      <p:sp>
        <p:nvSpPr>
          <p:cNvPr id="201" name="Google Shape;201;p37"/>
          <p:cNvSpPr/>
          <p:nvPr/>
        </p:nvSpPr>
        <p:spPr>
          <a:xfrm>
            <a:off x="870284" y="1366254"/>
            <a:ext cx="7660200" cy="1385100"/>
          </a:xfrm>
          <a:prstGeom prst="rect">
            <a:avLst/>
          </a:prstGeom>
          <a:noFill/>
          <a:ln>
            <a:noFill/>
          </a:ln>
        </p:spPr>
        <p:txBody>
          <a:bodyPr anchorCtr="0" anchor="t" bIns="45700" lIns="45700" spcFirstLastPara="1" rIns="45700" wrap="square" tIns="45700">
            <a:noAutofit/>
          </a:bodyPr>
          <a:lstStyle/>
          <a:p>
            <a:pPr indent="0" lvl="0" marL="0" marR="0" rtl="0" algn="l">
              <a:lnSpc>
                <a:spcPct val="150000"/>
              </a:lnSpc>
              <a:spcBef>
                <a:spcPts val="0"/>
              </a:spcBef>
              <a:spcAft>
                <a:spcPts val="0"/>
              </a:spcAft>
              <a:buNone/>
            </a:pPr>
            <a:r>
              <a:rPr lang="en-GB" sz="1400">
                <a:solidFill>
                  <a:schemeClr val="dk1"/>
                </a:solidFill>
                <a:latin typeface="Inter"/>
                <a:ea typeface="Inter"/>
                <a:cs typeface="Inter"/>
                <a:sym typeface="Inter"/>
              </a:rPr>
              <a:t>JSON web tokens</a:t>
            </a:r>
            <a:endParaRPr>
              <a:solidFill>
                <a:schemeClr val="dk1"/>
              </a:solidFill>
              <a:latin typeface="Inter"/>
              <a:ea typeface="Inter"/>
              <a:cs typeface="Inter"/>
              <a:sym typeface="Inter"/>
            </a:endParaRPr>
          </a:p>
          <a:p>
            <a:pPr indent="-285750" lvl="0" marL="285750" marR="0" rtl="0" algn="l">
              <a:lnSpc>
                <a:spcPct val="150000"/>
              </a:lnSpc>
              <a:spcBef>
                <a:spcPts val="0"/>
              </a:spcBef>
              <a:spcAft>
                <a:spcPts val="0"/>
              </a:spcAft>
              <a:buClr>
                <a:schemeClr val="dk1"/>
              </a:buClr>
              <a:buSzPts val="1400"/>
              <a:buFont typeface="Inter"/>
              <a:buChar char="•"/>
            </a:pPr>
            <a:r>
              <a:rPr lang="en-GB" sz="1400">
                <a:solidFill>
                  <a:schemeClr val="dk1"/>
                </a:solidFill>
                <a:latin typeface="Inter"/>
                <a:ea typeface="Inter"/>
                <a:cs typeface="Inter"/>
                <a:sym typeface="Inter"/>
              </a:rPr>
              <a:t>Cryptographically signed</a:t>
            </a:r>
            <a:endParaRPr>
              <a:solidFill>
                <a:schemeClr val="dk1"/>
              </a:solidFill>
              <a:latin typeface="Inter"/>
              <a:ea typeface="Inter"/>
              <a:cs typeface="Inter"/>
              <a:sym typeface="Inter"/>
            </a:endParaRPr>
          </a:p>
          <a:p>
            <a:pPr indent="-285750" lvl="0" marL="285750" marR="0" rtl="0" algn="l">
              <a:lnSpc>
                <a:spcPct val="150000"/>
              </a:lnSpc>
              <a:spcBef>
                <a:spcPts val="0"/>
              </a:spcBef>
              <a:spcAft>
                <a:spcPts val="0"/>
              </a:spcAft>
              <a:buClr>
                <a:schemeClr val="dk1"/>
              </a:buClr>
              <a:buSzPts val="1400"/>
              <a:buFont typeface="Inter"/>
              <a:buChar char="•"/>
            </a:pPr>
            <a:r>
              <a:rPr lang="en-GB" sz="1400">
                <a:solidFill>
                  <a:schemeClr val="dk1"/>
                </a:solidFill>
                <a:latin typeface="Inter"/>
                <a:ea typeface="Inter"/>
                <a:cs typeface="Inter"/>
                <a:sym typeface="Inter"/>
              </a:rPr>
              <a:t>Claims signed by 3rd party</a:t>
            </a:r>
            <a:endParaRPr>
              <a:solidFill>
                <a:schemeClr val="dk1"/>
              </a:solidFill>
              <a:latin typeface="Inter"/>
              <a:ea typeface="Inter"/>
              <a:cs typeface="Inter"/>
              <a:sym typeface="Inter"/>
            </a:endParaRPr>
          </a:p>
          <a:p>
            <a:pPr indent="-285750" lvl="0" marL="285750" marR="0" rtl="0" algn="l">
              <a:lnSpc>
                <a:spcPct val="150000"/>
              </a:lnSpc>
              <a:spcBef>
                <a:spcPts val="0"/>
              </a:spcBef>
              <a:spcAft>
                <a:spcPts val="0"/>
              </a:spcAft>
              <a:buClr>
                <a:schemeClr val="dk1"/>
              </a:buClr>
              <a:buSzPts val="1400"/>
              <a:buFont typeface="Inter"/>
              <a:buChar char="•"/>
            </a:pPr>
            <a:r>
              <a:rPr lang="en-GB" sz="1400">
                <a:solidFill>
                  <a:schemeClr val="dk1"/>
                </a:solidFill>
                <a:latin typeface="Inter"/>
                <a:ea typeface="Inter"/>
                <a:cs typeface="Inter"/>
                <a:sym typeface="Inter"/>
              </a:rPr>
              <a:t>Configure Tyk to extract user id and policy id</a:t>
            </a:r>
            <a:endParaRPr sz="1400">
              <a:solidFill>
                <a:schemeClr val="dk1"/>
              </a:solidFill>
              <a:highlight>
                <a:srgbClr val="F6F6E9"/>
              </a:highlight>
              <a:latin typeface="Inter"/>
              <a:ea typeface="Inter"/>
              <a:cs typeface="Inter"/>
              <a:sym typeface="Inter"/>
            </a:endParaRPr>
          </a:p>
        </p:txBody>
      </p:sp>
      <p:sp>
        <p:nvSpPr>
          <p:cNvPr id="202" name="Google Shape;202;p37"/>
          <p:cNvSpPr/>
          <p:nvPr/>
        </p:nvSpPr>
        <p:spPr>
          <a:xfrm>
            <a:off x="599459" y="2984381"/>
            <a:ext cx="8237700" cy="1194600"/>
          </a:xfrm>
          <a:prstGeom prst="rect">
            <a:avLst/>
          </a:prstGeom>
          <a:solidFill>
            <a:srgbClr val="FFFFFF"/>
          </a:solidFill>
          <a:ln cap="flat" cmpd="sng" w="9525">
            <a:solidFill>
              <a:srgbClr val="BFBFBF"/>
            </a:solidFill>
            <a:prstDash val="solid"/>
            <a:round/>
            <a:headEnd len="sm" w="sm" type="none"/>
            <a:tailEnd len="sm" w="sm" type="none"/>
          </a:ln>
        </p:spPr>
        <p:txBody>
          <a:bodyPr anchorCtr="0" anchor="ctr" bIns="180000" lIns="180000" spcFirstLastPara="1" rIns="180000" wrap="square" tIns="180000">
            <a:noAutofit/>
          </a:bodyPr>
          <a:lstStyle/>
          <a:p>
            <a:pPr indent="0" lvl="0" marL="0" marR="0" rtl="0" algn="l">
              <a:lnSpc>
                <a:spcPct val="150000"/>
              </a:lnSpc>
              <a:spcBef>
                <a:spcPts val="0"/>
              </a:spcBef>
              <a:spcAft>
                <a:spcPts val="0"/>
              </a:spcAft>
              <a:buNone/>
            </a:pPr>
            <a:r>
              <a:rPr lang="en-GB" sz="1200">
                <a:solidFill>
                  <a:srgbClr val="0569A9"/>
                </a:solidFill>
                <a:latin typeface="Source Code Pro"/>
                <a:ea typeface="Source Code Pro"/>
                <a:cs typeface="Source Code Pro"/>
                <a:sym typeface="Source Code Pro"/>
              </a:rPr>
              <a:t>Authorization: Bearer eyJhbGciOiJIUzI1NiIsIn.eyJzdWIiOiIxMjNTY3ODkwIiwibmFtZSI6IkpvaG4gRG9lIiwiYWRt.TJVA95OrM7E2cBab30RMHrH</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6" name="Shape 206"/>
        <p:cNvGrpSpPr/>
        <p:nvPr/>
      </p:nvGrpSpPr>
      <p:grpSpPr>
        <a:xfrm>
          <a:off x="0" y="0"/>
          <a:ext cx="0" cy="0"/>
          <a:chOff x="0" y="0"/>
          <a:chExt cx="0" cy="0"/>
        </a:xfrm>
      </p:grpSpPr>
      <p:sp>
        <p:nvSpPr>
          <p:cNvPr id="207" name="Google Shape;207;p38"/>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8" name="Google Shape;208;p38"/>
          <p:cNvPicPr preferRelativeResize="0"/>
          <p:nvPr/>
        </p:nvPicPr>
        <p:blipFill>
          <a:blip r:embed="rId3">
            <a:alphaModFix/>
          </a:blip>
          <a:stretch>
            <a:fillRect/>
          </a:stretch>
        </p:blipFill>
        <p:spPr>
          <a:xfrm>
            <a:off x="8423988" y="4687950"/>
            <a:ext cx="527775" cy="273675"/>
          </a:xfrm>
          <a:prstGeom prst="rect">
            <a:avLst/>
          </a:prstGeom>
          <a:noFill/>
          <a:ln>
            <a:noFill/>
          </a:ln>
        </p:spPr>
      </p:pic>
      <p:pic>
        <p:nvPicPr>
          <p:cNvPr id="209" name="Google Shape;209;p38"/>
          <p:cNvPicPr preferRelativeResize="0"/>
          <p:nvPr/>
        </p:nvPicPr>
        <p:blipFill rotWithShape="1">
          <a:blip r:embed="rId4">
            <a:alphaModFix/>
          </a:blip>
          <a:srcRect b="7916" l="0" r="0" t="6137"/>
          <a:stretch/>
        </p:blipFill>
        <p:spPr>
          <a:xfrm>
            <a:off x="1308175" y="29675"/>
            <a:ext cx="6297075" cy="5073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3" name="Shape 213"/>
        <p:cNvGrpSpPr/>
        <p:nvPr/>
      </p:nvGrpSpPr>
      <p:grpSpPr>
        <a:xfrm>
          <a:off x="0" y="0"/>
          <a:ext cx="0" cy="0"/>
          <a:chOff x="0" y="0"/>
          <a:chExt cx="0" cy="0"/>
        </a:xfrm>
      </p:grpSpPr>
      <p:sp>
        <p:nvSpPr>
          <p:cNvPr id="214" name="Google Shape;214;p39"/>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5" name="Google Shape;215;p39"/>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216" name="Google Shape;216;p39"/>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JSON Web Tokens</a:t>
            </a:r>
            <a:endParaRPr b="1" sz="3800">
              <a:solidFill>
                <a:srgbClr val="03031C"/>
              </a:solidFill>
              <a:latin typeface="Inter"/>
              <a:ea typeface="Inter"/>
              <a:cs typeface="Inter"/>
              <a:sym typeface="Inter"/>
            </a:endParaRPr>
          </a:p>
        </p:txBody>
      </p:sp>
      <p:pic>
        <p:nvPicPr>
          <p:cNvPr id="217" name="Google Shape;217;p39" title="Screenshot 2025-03-26 at 6.07.57 PM.png"/>
          <p:cNvPicPr preferRelativeResize="0"/>
          <p:nvPr/>
        </p:nvPicPr>
        <p:blipFill>
          <a:blip r:embed="rId4">
            <a:alphaModFix/>
          </a:blip>
          <a:stretch>
            <a:fillRect/>
          </a:stretch>
        </p:blipFill>
        <p:spPr>
          <a:xfrm>
            <a:off x="228600" y="926575"/>
            <a:ext cx="4991331" cy="3912125"/>
          </a:xfrm>
          <a:prstGeom prst="rect">
            <a:avLst/>
          </a:prstGeom>
          <a:noFill/>
          <a:ln>
            <a:noFill/>
          </a:ln>
        </p:spPr>
      </p:pic>
      <p:cxnSp>
        <p:nvCxnSpPr>
          <p:cNvPr id="218" name="Google Shape;218;p39"/>
          <p:cNvCxnSpPr/>
          <p:nvPr/>
        </p:nvCxnSpPr>
        <p:spPr>
          <a:xfrm>
            <a:off x="5225250" y="2021725"/>
            <a:ext cx="973800" cy="0"/>
          </a:xfrm>
          <a:prstGeom prst="straightConnector1">
            <a:avLst/>
          </a:prstGeom>
          <a:noFill/>
          <a:ln cap="flat" cmpd="sng" w="9525">
            <a:solidFill>
              <a:schemeClr val="dk2"/>
            </a:solidFill>
            <a:prstDash val="solid"/>
            <a:round/>
            <a:headEnd len="med" w="med" type="none"/>
            <a:tailEnd len="med" w="med" type="none"/>
          </a:ln>
        </p:spPr>
      </p:cxnSp>
      <p:cxnSp>
        <p:nvCxnSpPr>
          <p:cNvPr id="219" name="Google Shape;219;p39"/>
          <p:cNvCxnSpPr/>
          <p:nvPr/>
        </p:nvCxnSpPr>
        <p:spPr>
          <a:xfrm>
            <a:off x="5225250" y="2555125"/>
            <a:ext cx="973800" cy="0"/>
          </a:xfrm>
          <a:prstGeom prst="straightConnector1">
            <a:avLst/>
          </a:prstGeom>
          <a:noFill/>
          <a:ln cap="flat" cmpd="sng" w="9525">
            <a:solidFill>
              <a:schemeClr val="dk2"/>
            </a:solidFill>
            <a:prstDash val="solid"/>
            <a:round/>
            <a:headEnd len="med" w="med" type="none"/>
            <a:tailEnd len="med" w="med" type="none"/>
          </a:ln>
        </p:spPr>
      </p:cxnSp>
      <p:cxnSp>
        <p:nvCxnSpPr>
          <p:cNvPr id="220" name="Google Shape;220;p39"/>
          <p:cNvCxnSpPr/>
          <p:nvPr/>
        </p:nvCxnSpPr>
        <p:spPr>
          <a:xfrm>
            <a:off x="5225250" y="4002925"/>
            <a:ext cx="973800" cy="0"/>
          </a:xfrm>
          <a:prstGeom prst="straightConnector1">
            <a:avLst/>
          </a:prstGeom>
          <a:noFill/>
          <a:ln cap="flat" cmpd="sng" w="9525">
            <a:solidFill>
              <a:schemeClr val="dk2"/>
            </a:solidFill>
            <a:prstDash val="solid"/>
            <a:round/>
            <a:headEnd len="med" w="med" type="none"/>
            <a:tailEnd len="med" w="med" type="none"/>
          </a:ln>
        </p:spPr>
      </p:cxnSp>
      <p:cxnSp>
        <p:nvCxnSpPr>
          <p:cNvPr id="221" name="Google Shape;221;p39"/>
          <p:cNvCxnSpPr/>
          <p:nvPr/>
        </p:nvCxnSpPr>
        <p:spPr>
          <a:xfrm>
            <a:off x="5225250" y="4536325"/>
            <a:ext cx="973800" cy="0"/>
          </a:xfrm>
          <a:prstGeom prst="straightConnector1">
            <a:avLst/>
          </a:prstGeom>
          <a:noFill/>
          <a:ln cap="flat" cmpd="sng" w="9525">
            <a:solidFill>
              <a:schemeClr val="dk2"/>
            </a:solidFill>
            <a:prstDash val="solid"/>
            <a:round/>
            <a:headEnd len="med" w="med" type="none"/>
            <a:tailEnd len="med" w="med" type="none"/>
          </a:ln>
        </p:spPr>
      </p:cxnSp>
      <p:sp>
        <p:nvSpPr>
          <p:cNvPr id="222" name="Google Shape;222;p39"/>
          <p:cNvSpPr txBox="1"/>
          <p:nvPr/>
        </p:nvSpPr>
        <p:spPr>
          <a:xfrm>
            <a:off x="6204375" y="1865575"/>
            <a:ext cx="2973000" cy="31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900">
                <a:solidFill>
                  <a:schemeClr val="dk1"/>
                </a:solidFill>
                <a:latin typeface="Inter"/>
                <a:ea typeface="Inter"/>
                <a:cs typeface="Inter"/>
                <a:sym typeface="Inter"/>
              </a:rPr>
              <a:t>RSA Public Key, HMAC Secret, ECDSA, JWKS URI</a:t>
            </a:r>
            <a:endParaRPr sz="900">
              <a:solidFill>
                <a:schemeClr val="dk1"/>
              </a:solidFill>
              <a:latin typeface="Inter"/>
              <a:ea typeface="Inter"/>
              <a:cs typeface="Inter"/>
              <a:sym typeface="Inter"/>
            </a:endParaRPr>
          </a:p>
        </p:txBody>
      </p:sp>
      <p:sp>
        <p:nvSpPr>
          <p:cNvPr id="223" name="Google Shape;223;p39"/>
          <p:cNvSpPr txBox="1"/>
          <p:nvPr/>
        </p:nvSpPr>
        <p:spPr>
          <a:xfrm>
            <a:off x="6204375" y="2398975"/>
            <a:ext cx="2973000" cy="31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900">
                <a:solidFill>
                  <a:schemeClr val="dk1"/>
                </a:solidFill>
                <a:latin typeface="Inter"/>
                <a:ea typeface="Inter"/>
                <a:cs typeface="Inter"/>
                <a:sym typeface="Inter"/>
              </a:rPr>
              <a:t>Identity source - name, userID etc.</a:t>
            </a:r>
            <a:endParaRPr sz="900">
              <a:solidFill>
                <a:schemeClr val="dk1"/>
              </a:solidFill>
              <a:latin typeface="Inter"/>
              <a:ea typeface="Inter"/>
              <a:cs typeface="Inter"/>
              <a:sym typeface="Inter"/>
            </a:endParaRPr>
          </a:p>
        </p:txBody>
      </p:sp>
      <p:cxnSp>
        <p:nvCxnSpPr>
          <p:cNvPr id="224" name="Google Shape;224;p39"/>
          <p:cNvCxnSpPr/>
          <p:nvPr/>
        </p:nvCxnSpPr>
        <p:spPr>
          <a:xfrm>
            <a:off x="5225250" y="3088525"/>
            <a:ext cx="973800" cy="0"/>
          </a:xfrm>
          <a:prstGeom prst="straightConnector1">
            <a:avLst/>
          </a:prstGeom>
          <a:noFill/>
          <a:ln cap="flat" cmpd="sng" w="9525">
            <a:solidFill>
              <a:schemeClr val="dk2"/>
            </a:solidFill>
            <a:prstDash val="solid"/>
            <a:round/>
            <a:headEnd len="med" w="med" type="none"/>
            <a:tailEnd len="med" w="med" type="none"/>
          </a:ln>
        </p:spPr>
      </p:cxnSp>
      <p:sp>
        <p:nvSpPr>
          <p:cNvPr id="225" name="Google Shape;225;p39"/>
          <p:cNvSpPr txBox="1"/>
          <p:nvPr/>
        </p:nvSpPr>
        <p:spPr>
          <a:xfrm>
            <a:off x="6204375" y="2932375"/>
            <a:ext cx="2973000" cy="31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900">
                <a:solidFill>
                  <a:schemeClr val="dk1"/>
                </a:solidFill>
                <a:latin typeface="Inter"/>
                <a:ea typeface="Inter"/>
                <a:cs typeface="Inter"/>
                <a:sym typeface="Inter"/>
              </a:rPr>
              <a:t>Public key, Secret or JWKS URI</a:t>
            </a:r>
            <a:endParaRPr sz="900">
              <a:solidFill>
                <a:schemeClr val="dk1"/>
              </a:solidFill>
              <a:latin typeface="Inter"/>
              <a:ea typeface="Inter"/>
              <a:cs typeface="Inter"/>
              <a:sym typeface="Inter"/>
            </a:endParaRPr>
          </a:p>
        </p:txBody>
      </p:sp>
      <p:sp>
        <p:nvSpPr>
          <p:cNvPr id="226" name="Google Shape;226;p39"/>
          <p:cNvSpPr txBox="1"/>
          <p:nvPr/>
        </p:nvSpPr>
        <p:spPr>
          <a:xfrm>
            <a:off x="6204375" y="3846775"/>
            <a:ext cx="2973000" cy="31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900">
                <a:solidFill>
                  <a:schemeClr val="dk1"/>
                </a:solidFill>
                <a:latin typeface="Inter"/>
                <a:ea typeface="Inter"/>
                <a:cs typeface="Inter"/>
                <a:sym typeface="Inter"/>
              </a:rPr>
              <a:t>Policy ID</a:t>
            </a:r>
            <a:endParaRPr sz="900">
              <a:solidFill>
                <a:schemeClr val="dk1"/>
              </a:solidFill>
              <a:latin typeface="Inter"/>
              <a:ea typeface="Inter"/>
              <a:cs typeface="Inter"/>
              <a:sym typeface="Inter"/>
            </a:endParaRPr>
          </a:p>
        </p:txBody>
      </p:sp>
      <p:sp>
        <p:nvSpPr>
          <p:cNvPr id="227" name="Google Shape;227;p39"/>
          <p:cNvSpPr txBox="1"/>
          <p:nvPr/>
        </p:nvSpPr>
        <p:spPr>
          <a:xfrm>
            <a:off x="6204375" y="4380175"/>
            <a:ext cx="2973000" cy="31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900">
                <a:solidFill>
                  <a:schemeClr val="dk1"/>
                </a:solidFill>
                <a:latin typeface="Inter"/>
                <a:ea typeface="Inter"/>
                <a:cs typeface="Inter"/>
                <a:sym typeface="Inter"/>
              </a:rPr>
              <a:t>Default policy to fall back to</a:t>
            </a:r>
            <a:endParaRPr sz="900">
              <a:solidFill>
                <a:schemeClr val="dk1"/>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1" name="Shape 231"/>
        <p:cNvGrpSpPr/>
        <p:nvPr/>
      </p:nvGrpSpPr>
      <p:grpSpPr>
        <a:xfrm>
          <a:off x="0" y="0"/>
          <a:ext cx="0" cy="0"/>
          <a:chOff x="0" y="0"/>
          <a:chExt cx="0" cy="0"/>
        </a:xfrm>
      </p:grpSpPr>
      <p:sp>
        <p:nvSpPr>
          <p:cNvPr id="232" name="Google Shape;232;p40"/>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3" name="Google Shape;233;p40"/>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234" name="Google Shape;234;p40"/>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JSON Web Tokens</a:t>
            </a:r>
            <a:endParaRPr b="1" sz="3800">
              <a:solidFill>
                <a:srgbClr val="03031C"/>
              </a:solidFill>
              <a:latin typeface="Inter"/>
              <a:ea typeface="Inter"/>
              <a:cs typeface="Inter"/>
              <a:sym typeface="Inter"/>
            </a:endParaRPr>
          </a:p>
        </p:txBody>
      </p:sp>
      <p:pic>
        <p:nvPicPr>
          <p:cNvPr id="235" name="Google Shape;235;p40" title="Screenshot 2025-03-27 at 2.15.29 PM.png"/>
          <p:cNvPicPr preferRelativeResize="0"/>
          <p:nvPr/>
        </p:nvPicPr>
        <p:blipFill>
          <a:blip r:embed="rId4">
            <a:alphaModFix/>
          </a:blip>
          <a:stretch>
            <a:fillRect/>
          </a:stretch>
        </p:blipFill>
        <p:spPr>
          <a:xfrm>
            <a:off x="533400" y="926575"/>
            <a:ext cx="7544289" cy="391212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9" name="Shape 239"/>
        <p:cNvGrpSpPr/>
        <p:nvPr/>
      </p:nvGrpSpPr>
      <p:grpSpPr>
        <a:xfrm>
          <a:off x="0" y="0"/>
          <a:ext cx="0" cy="0"/>
          <a:chOff x="0" y="0"/>
          <a:chExt cx="0" cy="0"/>
        </a:xfrm>
      </p:grpSpPr>
      <p:sp>
        <p:nvSpPr>
          <p:cNvPr id="240" name="Google Shape;240;p41"/>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1" name="Google Shape;241;p41"/>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242" name="Google Shape;242;p41"/>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OAuth 2.0</a:t>
            </a:r>
            <a:endParaRPr b="1" sz="3800">
              <a:solidFill>
                <a:srgbClr val="03031C"/>
              </a:solidFill>
              <a:latin typeface="Inter"/>
              <a:ea typeface="Inter"/>
              <a:cs typeface="Inter"/>
              <a:sym typeface="Inter"/>
            </a:endParaRPr>
          </a:p>
        </p:txBody>
      </p:sp>
      <p:sp>
        <p:nvSpPr>
          <p:cNvPr id="243" name="Google Shape;243;p41"/>
          <p:cNvSpPr/>
          <p:nvPr/>
        </p:nvSpPr>
        <p:spPr>
          <a:xfrm>
            <a:off x="869950" y="1214461"/>
            <a:ext cx="7659600" cy="4019100"/>
          </a:xfrm>
          <a:prstGeom prst="rect">
            <a:avLst/>
          </a:prstGeom>
          <a:noFill/>
          <a:ln>
            <a:noFill/>
          </a:ln>
        </p:spPr>
        <p:txBody>
          <a:bodyPr anchorCtr="0" anchor="t" bIns="45700" lIns="45700" spcFirstLastPara="1" rIns="45700" wrap="square" tIns="45700">
            <a:noAutofit/>
          </a:bodyPr>
          <a:lstStyle/>
          <a:p>
            <a:pPr indent="-317500" lvl="0" marL="45720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OAuth 2.0 is an open, industry-standard protocol for authorization.</a:t>
            </a:r>
            <a:endParaRPr>
              <a:solidFill>
                <a:schemeClr val="dk1"/>
              </a:solidFill>
              <a:latin typeface="Inter"/>
              <a:ea typeface="Inter"/>
              <a:cs typeface="Inter"/>
              <a:sym typeface="Inter"/>
            </a:endParaRPr>
          </a:p>
          <a:p>
            <a:pPr indent="-317500" lvl="0" marL="45720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It enables secure delegated access to APIs without sharing user credentials.</a:t>
            </a:r>
            <a:endParaRPr>
              <a:solidFill>
                <a:schemeClr val="dk1"/>
              </a:solidFill>
              <a:latin typeface="Inter"/>
              <a:ea typeface="Inter"/>
              <a:cs typeface="Inter"/>
              <a:sym typeface="Inter"/>
            </a:endParaRPr>
          </a:p>
          <a:p>
            <a:pPr indent="-317500" lvl="0" marL="45720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Based on RFC 6749, it supports third-party apps acting:</a:t>
            </a:r>
            <a:endParaRPr>
              <a:solidFill>
                <a:schemeClr val="dk1"/>
              </a:solidFill>
              <a:latin typeface="Inter"/>
              <a:ea typeface="Inter"/>
              <a:cs typeface="Inter"/>
              <a:sym typeface="Inter"/>
            </a:endParaRPr>
          </a:p>
          <a:p>
            <a:pPr indent="-317500" lvl="1" marL="91440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On behalf of a user (Resource Owner)</a:t>
            </a:r>
            <a:endParaRPr>
              <a:solidFill>
                <a:schemeClr val="dk1"/>
              </a:solidFill>
              <a:latin typeface="Inter"/>
              <a:ea typeface="Inter"/>
              <a:cs typeface="Inter"/>
              <a:sym typeface="Inter"/>
            </a:endParaRPr>
          </a:p>
          <a:p>
            <a:pPr indent="-317500" lvl="1" marL="91440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On their own behalf (e.g., backend services)</a:t>
            </a:r>
            <a:endParaRPr>
              <a:solidFill>
                <a:schemeClr val="dk1"/>
              </a:solidFill>
              <a:latin typeface="Inter"/>
              <a:ea typeface="Inter"/>
              <a:cs typeface="Inter"/>
              <a:sym typeface="Inter"/>
            </a:endParaRPr>
          </a:p>
          <a:p>
            <a:pPr indent="-317500" lvl="0" marL="45720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Instead of passwords, OAuth relies on Access Tokens for API access.</a:t>
            </a:r>
            <a:endParaRPr>
              <a:solidFill>
                <a:schemeClr val="dk1"/>
              </a:solidFill>
              <a:latin typeface="Inter"/>
              <a:ea typeface="Inter"/>
              <a:cs typeface="Inter"/>
              <a:sym typeface="Inter"/>
            </a:endParaRPr>
          </a:p>
          <a:p>
            <a:pPr indent="-317500" lvl="0" marL="45720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Common use cases:</a:t>
            </a:r>
            <a:endParaRPr>
              <a:solidFill>
                <a:schemeClr val="dk1"/>
              </a:solidFill>
              <a:latin typeface="Inter"/>
              <a:ea typeface="Inter"/>
              <a:cs typeface="Inter"/>
              <a:sym typeface="Inter"/>
            </a:endParaRPr>
          </a:p>
          <a:p>
            <a:pPr indent="-317500" lvl="1" marL="91440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Apps integrating with Google, Microsoft, Facebook APIs</a:t>
            </a:r>
            <a:endParaRPr>
              <a:solidFill>
                <a:schemeClr val="dk1"/>
              </a:solidFill>
              <a:latin typeface="Inter"/>
              <a:ea typeface="Inter"/>
              <a:cs typeface="Inter"/>
              <a:sym typeface="Inter"/>
            </a:endParaRPr>
          </a:p>
          <a:p>
            <a:pPr indent="-298450" lvl="1" marL="914400" rtl="0" algn="l">
              <a:lnSpc>
                <a:spcPct val="115000"/>
              </a:lnSpc>
              <a:spcBef>
                <a:spcPts val="0"/>
              </a:spcBef>
              <a:spcAft>
                <a:spcPts val="0"/>
              </a:spcAft>
              <a:buSzPts val="1100"/>
              <a:buChar char="○"/>
            </a:pPr>
            <a:r>
              <a:rPr lang="en-GB">
                <a:solidFill>
                  <a:schemeClr val="dk1"/>
                </a:solidFill>
                <a:latin typeface="Inter"/>
                <a:ea typeface="Inter"/>
                <a:cs typeface="Inter"/>
                <a:sym typeface="Inter"/>
              </a:rPr>
              <a:t>Allowing third-party access to enterprise APIs securely</a:t>
            </a:r>
            <a:br>
              <a:rPr lang="en-GB">
                <a:solidFill>
                  <a:schemeClr val="dk1"/>
                </a:solidFill>
                <a:latin typeface="Inter"/>
                <a:ea typeface="Inter"/>
                <a:cs typeface="Inter"/>
                <a:sym typeface="Inter"/>
              </a:rPr>
            </a:br>
            <a:endParaRPr>
              <a:solidFill>
                <a:schemeClr val="dk1"/>
              </a:solidFill>
              <a:latin typeface="Inter"/>
              <a:ea typeface="Inter"/>
              <a:cs typeface="Inter"/>
              <a:sym typeface="Inter"/>
            </a:endParaRPr>
          </a:p>
          <a:p>
            <a:pPr indent="0" lvl="0" marL="0" marR="0" rtl="0" algn="l">
              <a:lnSpc>
                <a:spcPct val="150000"/>
              </a:lnSpc>
              <a:spcBef>
                <a:spcPts val="1200"/>
              </a:spcBef>
              <a:spcAft>
                <a:spcPts val="0"/>
              </a:spcAft>
              <a:buNone/>
            </a:pPr>
            <a:r>
              <a:t/>
            </a:r>
            <a:endParaRPr b="1">
              <a:solidFill>
                <a:schemeClr val="dk1"/>
              </a:solidFill>
              <a:latin typeface="Inter"/>
              <a:ea typeface="Inter"/>
              <a:cs typeface="Inter"/>
              <a:sym typeface="Inter"/>
            </a:endParaRPr>
          </a:p>
          <a:p>
            <a:pPr indent="0" lvl="0" marL="457200" marR="0" rtl="0" algn="l">
              <a:lnSpc>
                <a:spcPct val="150000"/>
              </a:lnSpc>
              <a:spcBef>
                <a:spcPts val="0"/>
              </a:spcBef>
              <a:spcAft>
                <a:spcPts val="0"/>
              </a:spcAft>
              <a:buNone/>
            </a:pPr>
            <a:r>
              <a:t/>
            </a:r>
            <a:endParaRPr>
              <a:solidFill>
                <a:schemeClr val="dk1"/>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7" name="Shape 247"/>
        <p:cNvGrpSpPr/>
        <p:nvPr/>
      </p:nvGrpSpPr>
      <p:grpSpPr>
        <a:xfrm>
          <a:off x="0" y="0"/>
          <a:ext cx="0" cy="0"/>
          <a:chOff x="0" y="0"/>
          <a:chExt cx="0" cy="0"/>
        </a:xfrm>
      </p:grpSpPr>
      <p:sp>
        <p:nvSpPr>
          <p:cNvPr id="248" name="Google Shape;248;p42"/>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9" name="Google Shape;249;p42"/>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250" name="Google Shape;250;p42"/>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OAuth 2.0</a:t>
            </a:r>
            <a:endParaRPr b="1" sz="3800">
              <a:solidFill>
                <a:srgbClr val="03031C"/>
              </a:solidFill>
              <a:latin typeface="Inter"/>
              <a:ea typeface="Inter"/>
              <a:cs typeface="Inter"/>
              <a:sym typeface="Inter"/>
            </a:endParaRPr>
          </a:p>
        </p:txBody>
      </p:sp>
      <p:sp>
        <p:nvSpPr>
          <p:cNvPr id="251" name="Google Shape;251;p42"/>
          <p:cNvSpPr/>
          <p:nvPr/>
        </p:nvSpPr>
        <p:spPr>
          <a:xfrm>
            <a:off x="869950" y="1214461"/>
            <a:ext cx="7659600" cy="4019100"/>
          </a:xfrm>
          <a:prstGeom prst="rect">
            <a:avLst/>
          </a:prstGeom>
          <a:noFill/>
          <a:ln>
            <a:noFill/>
          </a:ln>
        </p:spPr>
        <p:txBody>
          <a:bodyPr anchorCtr="0" anchor="t" bIns="45700" lIns="45700" spcFirstLastPara="1" rIns="45700" wrap="square" tIns="45700">
            <a:noAutofit/>
          </a:bodyPr>
          <a:lstStyle/>
          <a:p>
            <a:pPr indent="0" lvl="0" marL="0" marR="0" rtl="0" algn="l">
              <a:lnSpc>
                <a:spcPct val="150000"/>
              </a:lnSpc>
              <a:spcBef>
                <a:spcPts val="0"/>
              </a:spcBef>
              <a:spcAft>
                <a:spcPts val="0"/>
              </a:spcAft>
              <a:buNone/>
            </a:pPr>
            <a:r>
              <a:rPr b="1" lang="en-GB" sz="1100"/>
              <a:t>Client</a:t>
            </a:r>
            <a:r>
              <a:rPr lang="en-GB" sz="1100"/>
              <a:t> → requests permission from → </a:t>
            </a:r>
            <a:r>
              <a:rPr b="1" lang="en-GB" sz="1100"/>
              <a:t>User (Resource Owner)</a:t>
            </a:r>
            <a:r>
              <a:rPr lang="en-GB" sz="1100"/>
              <a:t> → logs into → </a:t>
            </a:r>
            <a:r>
              <a:rPr b="1" lang="en-GB" sz="1100"/>
              <a:t>Authorization Server</a:t>
            </a:r>
            <a:r>
              <a:rPr lang="en-GB" sz="1100"/>
              <a:t> → issues → </a:t>
            </a:r>
            <a:r>
              <a:rPr b="1" lang="en-GB" sz="1100"/>
              <a:t>Access Token</a:t>
            </a:r>
            <a:r>
              <a:rPr lang="en-GB" sz="1100"/>
              <a:t> → used to access → </a:t>
            </a:r>
            <a:r>
              <a:rPr b="1" lang="en-GB" sz="1100"/>
              <a:t>Resource Server</a:t>
            </a:r>
            <a:endParaRPr b="1" sz="1100"/>
          </a:p>
          <a:p>
            <a:pPr indent="0" lvl="0" marL="0" marR="0" rtl="0" algn="l">
              <a:lnSpc>
                <a:spcPct val="150000"/>
              </a:lnSpc>
              <a:spcBef>
                <a:spcPts val="0"/>
              </a:spcBef>
              <a:spcAft>
                <a:spcPts val="0"/>
              </a:spcAft>
              <a:buNone/>
            </a:pPr>
            <a:r>
              <a:t/>
            </a:r>
            <a:endParaRPr>
              <a:solidFill>
                <a:schemeClr val="dk1"/>
              </a:solidFill>
              <a:latin typeface="Inter"/>
              <a:ea typeface="Inter"/>
              <a:cs typeface="Inter"/>
              <a:sym typeface="Inter"/>
            </a:endParaRPr>
          </a:p>
          <a:p>
            <a:pPr indent="0" lvl="0" marL="0" marR="0" rtl="0" algn="l">
              <a:lnSpc>
                <a:spcPct val="150000"/>
              </a:lnSpc>
              <a:spcBef>
                <a:spcPts val="0"/>
              </a:spcBef>
              <a:spcAft>
                <a:spcPts val="0"/>
              </a:spcAft>
              <a:buNone/>
            </a:pPr>
            <a:r>
              <a:rPr lang="en-GB">
                <a:solidFill>
                  <a:schemeClr val="dk1"/>
                </a:solidFill>
                <a:latin typeface="Inter"/>
                <a:ea typeface="Inter"/>
                <a:cs typeface="Inter"/>
                <a:sym typeface="Inter"/>
              </a:rPr>
              <a:t>(Needs diagram)</a:t>
            </a:r>
            <a:br>
              <a:rPr lang="en-GB">
                <a:solidFill>
                  <a:schemeClr val="dk1"/>
                </a:solidFill>
                <a:latin typeface="Inter"/>
                <a:ea typeface="Inter"/>
                <a:cs typeface="Inter"/>
                <a:sym typeface="Inter"/>
              </a:rPr>
            </a:br>
            <a:endParaRPr>
              <a:solidFill>
                <a:schemeClr val="dk1"/>
              </a:solidFill>
              <a:latin typeface="Inter"/>
              <a:ea typeface="Inter"/>
              <a:cs typeface="Inter"/>
              <a:sym typeface="Inter"/>
            </a:endParaRPr>
          </a:p>
          <a:p>
            <a:pPr indent="0" lvl="0" marL="0" marR="0" rtl="0" algn="l">
              <a:lnSpc>
                <a:spcPct val="150000"/>
              </a:lnSpc>
              <a:spcBef>
                <a:spcPts val="0"/>
              </a:spcBef>
              <a:spcAft>
                <a:spcPts val="0"/>
              </a:spcAft>
              <a:buNone/>
            </a:pPr>
            <a:r>
              <a:t/>
            </a:r>
            <a:endParaRPr b="1">
              <a:solidFill>
                <a:schemeClr val="dk1"/>
              </a:solidFill>
              <a:latin typeface="Inter"/>
              <a:ea typeface="Inter"/>
              <a:cs typeface="Inter"/>
              <a:sym typeface="Inter"/>
            </a:endParaRPr>
          </a:p>
          <a:p>
            <a:pPr indent="0" lvl="0" marL="457200" marR="0" rtl="0" algn="l">
              <a:lnSpc>
                <a:spcPct val="150000"/>
              </a:lnSpc>
              <a:spcBef>
                <a:spcPts val="0"/>
              </a:spcBef>
              <a:spcAft>
                <a:spcPts val="0"/>
              </a:spcAft>
              <a:buNone/>
            </a:pPr>
            <a:r>
              <a:t/>
            </a:r>
            <a:endParaRPr>
              <a:solidFill>
                <a:schemeClr val="dk1"/>
              </a:solidFill>
              <a:latin typeface="Inter"/>
              <a:ea typeface="Inter"/>
              <a:cs typeface="Inter"/>
              <a:sym typeface="Int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5" name="Shape 255"/>
        <p:cNvGrpSpPr/>
        <p:nvPr/>
      </p:nvGrpSpPr>
      <p:grpSpPr>
        <a:xfrm>
          <a:off x="0" y="0"/>
          <a:ext cx="0" cy="0"/>
          <a:chOff x="0" y="0"/>
          <a:chExt cx="0" cy="0"/>
        </a:xfrm>
      </p:grpSpPr>
      <p:sp>
        <p:nvSpPr>
          <p:cNvPr id="256" name="Google Shape;256;p43"/>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7" name="Google Shape;257;p43"/>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258" name="Google Shape;258;p43"/>
          <p:cNvSpPr/>
          <p:nvPr/>
        </p:nvSpPr>
        <p:spPr>
          <a:xfrm>
            <a:off x="869950" y="833461"/>
            <a:ext cx="7659600" cy="4019100"/>
          </a:xfrm>
          <a:prstGeom prst="rect">
            <a:avLst/>
          </a:prstGeom>
          <a:noFill/>
          <a:ln>
            <a:noFill/>
          </a:ln>
        </p:spPr>
        <p:txBody>
          <a:bodyPr anchorCtr="0" anchor="t" bIns="45700" lIns="45700" spcFirstLastPara="1" rIns="45700" wrap="square" tIns="45700">
            <a:noAutofit/>
          </a:bodyPr>
          <a:lstStyle/>
          <a:p>
            <a:pPr indent="0" lvl="0" marL="0" marR="0" rtl="0" algn="l">
              <a:lnSpc>
                <a:spcPct val="150000"/>
              </a:lnSpc>
              <a:spcBef>
                <a:spcPts val="0"/>
              </a:spcBef>
              <a:spcAft>
                <a:spcPts val="0"/>
              </a:spcAft>
              <a:buNone/>
            </a:pPr>
            <a:r>
              <a:t/>
            </a:r>
            <a:endParaRPr b="1" sz="1300">
              <a:solidFill>
                <a:schemeClr val="dk1"/>
              </a:solidFill>
              <a:latin typeface="Inter"/>
              <a:ea typeface="Inter"/>
              <a:cs typeface="Inter"/>
              <a:sym typeface="Inter"/>
            </a:endParaRPr>
          </a:p>
        </p:txBody>
      </p:sp>
      <p:graphicFrame>
        <p:nvGraphicFramePr>
          <p:cNvPr id="259" name="Google Shape;259;p43"/>
          <p:cNvGraphicFramePr/>
          <p:nvPr/>
        </p:nvGraphicFramePr>
        <p:xfrm>
          <a:off x="495300" y="247650"/>
          <a:ext cx="3000000" cy="3000000"/>
        </p:xfrm>
        <a:graphic>
          <a:graphicData uri="http://schemas.openxmlformats.org/drawingml/2006/table">
            <a:tbl>
              <a:tblPr>
                <a:noFill/>
                <a:tableStyleId>{0A417D30-B4AA-45EF-81D9-36D5679D716F}</a:tableStyleId>
              </a:tblPr>
              <a:tblGrid>
                <a:gridCol w="3619500"/>
                <a:gridCol w="3619500"/>
              </a:tblGrid>
              <a:tr h="381000">
                <a:tc>
                  <a:txBody>
                    <a:bodyPr/>
                    <a:lstStyle/>
                    <a:p>
                      <a:pPr indent="0" lvl="0" marL="0" rtl="0" algn="ctr">
                        <a:lnSpc>
                          <a:spcPct val="115000"/>
                        </a:lnSpc>
                        <a:spcBef>
                          <a:spcPts val="0"/>
                        </a:spcBef>
                        <a:spcAft>
                          <a:spcPts val="0"/>
                        </a:spcAft>
                        <a:buNone/>
                      </a:pPr>
                      <a:r>
                        <a:rPr b="1" lang="en-GB" sz="1100"/>
                        <a:t>Term</a:t>
                      </a:r>
                      <a:endParaRPr b="1" sz="1100"/>
                    </a:p>
                  </a:txBody>
                  <a:tcPr marT="91425" marB="91425" marR="91425" marL="91425"/>
                </a:tc>
                <a:tc>
                  <a:txBody>
                    <a:bodyPr/>
                    <a:lstStyle/>
                    <a:p>
                      <a:pPr indent="0" lvl="0" marL="0" rtl="0" algn="ctr">
                        <a:lnSpc>
                          <a:spcPct val="115000"/>
                        </a:lnSpc>
                        <a:spcBef>
                          <a:spcPts val="0"/>
                        </a:spcBef>
                        <a:spcAft>
                          <a:spcPts val="0"/>
                        </a:spcAft>
                        <a:buNone/>
                      </a:pPr>
                      <a:r>
                        <a:rPr b="1" lang="en-GB" sz="1100"/>
                        <a:t>Description</a:t>
                      </a:r>
                      <a:endParaRPr b="1" sz="1100"/>
                    </a:p>
                  </a:txBody>
                  <a:tcPr marT="91425" marB="91425" marR="91425" marL="91425"/>
                </a:tc>
              </a:tr>
              <a:tr h="381000">
                <a:tc>
                  <a:txBody>
                    <a:bodyPr/>
                    <a:lstStyle/>
                    <a:p>
                      <a:pPr indent="0" lvl="0" marL="0" rtl="0" algn="l">
                        <a:spcBef>
                          <a:spcPts val="0"/>
                        </a:spcBef>
                        <a:spcAft>
                          <a:spcPts val="0"/>
                        </a:spcAft>
                        <a:buNone/>
                      </a:pPr>
                      <a:r>
                        <a:rPr b="1" lang="en-GB" sz="1100">
                          <a:solidFill>
                            <a:schemeClr val="dk2"/>
                          </a:solidFill>
                        </a:rPr>
                        <a:t>Protected Resource</a:t>
                      </a:r>
                      <a:endParaRPr b="1" sz="1100">
                        <a:solidFill>
                          <a:schemeClr val="dk2"/>
                        </a:solidFill>
                      </a:endParaRPr>
                    </a:p>
                  </a:txBody>
                  <a:tcPr marT="91425" marB="91425" marR="91425" marL="91425"/>
                </a:tc>
                <a:tc>
                  <a:txBody>
                    <a:bodyPr/>
                    <a:lstStyle/>
                    <a:p>
                      <a:pPr indent="0" lvl="0" marL="0" rtl="0" algn="l">
                        <a:spcBef>
                          <a:spcPts val="0"/>
                        </a:spcBef>
                        <a:spcAft>
                          <a:spcPts val="0"/>
                        </a:spcAft>
                        <a:buNone/>
                      </a:pPr>
                      <a:r>
                        <a:rPr lang="en-GB" sz="1000"/>
                        <a:t>The API or service that needs authorization (e.g., a user's data)</a:t>
                      </a:r>
                      <a:endParaRPr sz="1000"/>
                    </a:p>
                  </a:txBody>
                  <a:tcPr marT="91425" marB="91425" marR="91425" marL="91425"/>
                </a:tc>
              </a:tr>
              <a:tr h="381000">
                <a:tc>
                  <a:txBody>
                    <a:bodyPr/>
                    <a:lstStyle/>
                    <a:p>
                      <a:pPr indent="0" lvl="0" marL="0" rtl="0" algn="l">
                        <a:spcBef>
                          <a:spcPts val="0"/>
                        </a:spcBef>
                        <a:spcAft>
                          <a:spcPts val="0"/>
                        </a:spcAft>
                        <a:buNone/>
                      </a:pPr>
                      <a:r>
                        <a:rPr b="1" lang="en-GB" sz="1100">
                          <a:solidFill>
                            <a:schemeClr val="dk2"/>
                          </a:solidFill>
                        </a:rPr>
                        <a:t>Resource Owner</a:t>
                      </a:r>
                      <a:endParaRPr b="1" sz="1100">
                        <a:solidFill>
                          <a:schemeClr val="dk2"/>
                        </a:solidFill>
                      </a:endParaRPr>
                    </a:p>
                  </a:txBody>
                  <a:tcPr marT="91425" marB="91425" marR="91425" marL="91425"/>
                </a:tc>
                <a:tc>
                  <a:txBody>
                    <a:bodyPr/>
                    <a:lstStyle/>
                    <a:p>
                      <a:pPr indent="0" lvl="0" marL="0" rtl="0" algn="l">
                        <a:spcBef>
                          <a:spcPts val="0"/>
                        </a:spcBef>
                        <a:spcAft>
                          <a:spcPts val="0"/>
                        </a:spcAft>
                        <a:buNone/>
                      </a:pPr>
                      <a:r>
                        <a:rPr lang="en-GB" sz="1000"/>
                        <a:t>The user or system owning the Protected Resource</a:t>
                      </a:r>
                      <a:endParaRPr sz="1000"/>
                    </a:p>
                  </a:txBody>
                  <a:tcPr marT="91425" marB="91425" marR="91425" marL="91425"/>
                </a:tc>
              </a:tr>
              <a:tr h="381000">
                <a:tc>
                  <a:txBody>
                    <a:bodyPr/>
                    <a:lstStyle/>
                    <a:p>
                      <a:pPr indent="0" lvl="0" marL="0" rtl="0" algn="l">
                        <a:spcBef>
                          <a:spcPts val="0"/>
                        </a:spcBef>
                        <a:spcAft>
                          <a:spcPts val="0"/>
                        </a:spcAft>
                        <a:buNone/>
                      </a:pPr>
                      <a:r>
                        <a:rPr b="1" lang="en-GB" sz="1100">
                          <a:solidFill>
                            <a:schemeClr val="dk2"/>
                          </a:solidFill>
                        </a:rPr>
                        <a:t>Client</a:t>
                      </a:r>
                      <a:endParaRPr b="1" sz="1100">
                        <a:solidFill>
                          <a:schemeClr val="dk2"/>
                        </a:solidFill>
                      </a:endParaRPr>
                    </a:p>
                  </a:txBody>
                  <a:tcPr marT="91425" marB="91425" marR="91425" marL="91425"/>
                </a:tc>
                <a:tc>
                  <a:txBody>
                    <a:bodyPr/>
                    <a:lstStyle/>
                    <a:p>
                      <a:pPr indent="0" lvl="0" marL="0" rtl="0" algn="l">
                        <a:spcBef>
                          <a:spcPts val="0"/>
                        </a:spcBef>
                        <a:spcAft>
                          <a:spcPts val="0"/>
                        </a:spcAft>
                        <a:buNone/>
                      </a:pPr>
                      <a:r>
                        <a:rPr lang="en-GB" sz="1000"/>
                        <a:t>App or system requesting access to the resource</a:t>
                      </a:r>
                      <a:endParaRPr sz="1000"/>
                    </a:p>
                  </a:txBody>
                  <a:tcPr marT="91425" marB="91425" marR="91425" marL="91425"/>
                </a:tc>
              </a:tr>
              <a:tr h="381000">
                <a:tc>
                  <a:txBody>
                    <a:bodyPr/>
                    <a:lstStyle/>
                    <a:p>
                      <a:pPr indent="0" lvl="0" marL="0" rtl="0" algn="l">
                        <a:spcBef>
                          <a:spcPts val="0"/>
                        </a:spcBef>
                        <a:spcAft>
                          <a:spcPts val="0"/>
                        </a:spcAft>
                        <a:buNone/>
                      </a:pPr>
                      <a:r>
                        <a:rPr b="1" lang="en-GB" sz="1100">
                          <a:solidFill>
                            <a:schemeClr val="dk2"/>
                          </a:solidFill>
                        </a:rPr>
                        <a:t>Access Token</a:t>
                      </a:r>
                      <a:endParaRPr b="1" sz="1100">
                        <a:solidFill>
                          <a:schemeClr val="dk2"/>
                        </a:solidFill>
                      </a:endParaRPr>
                    </a:p>
                  </a:txBody>
                  <a:tcPr marT="91425" marB="91425" marR="91425" marL="91425"/>
                </a:tc>
                <a:tc>
                  <a:txBody>
                    <a:bodyPr/>
                    <a:lstStyle/>
                    <a:p>
                      <a:pPr indent="0" lvl="0" marL="0" rtl="0" algn="l">
                        <a:spcBef>
                          <a:spcPts val="0"/>
                        </a:spcBef>
                        <a:spcAft>
                          <a:spcPts val="0"/>
                        </a:spcAft>
                        <a:buNone/>
                      </a:pPr>
                      <a:r>
                        <a:rPr lang="en-GB" sz="1000"/>
                        <a:t>Temporary key proving access permission, passed in API calls</a:t>
                      </a:r>
                      <a:endParaRPr sz="1000"/>
                    </a:p>
                  </a:txBody>
                  <a:tcPr marT="91425" marB="91425" marR="91425" marL="91425"/>
                </a:tc>
              </a:tr>
              <a:tr h="381000">
                <a:tc>
                  <a:txBody>
                    <a:bodyPr/>
                    <a:lstStyle/>
                    <a:p>
                      <a:pPr indent="0" lvl="0" marL="0" rtl="0" algn="l">
                        <a:spcBef>
                          <a:spcPts val="0"/>
                        </a:spcBef>
                        <a:spcAft>
                          <a:spcPts val="0"/>
                        </a:spcAft>
                        <a:buNone/>
                      </a:pPr>
                      <a:r>
                        <a:rPr b="1" lang="en-GB" sz="1100">
                          <a:solidFill>
                            <a:schemeClr val="dk2"/>
                          </a:solidFill>
                        </a:rPr>
                        <a:t>Authorization Server</a:t>
                      </a:r>
                      <a:endParaRPr b="1" sz="1100">
                        <a:solidFill>
                          <a:schemeClr val="dk2"/>
                        </a:solidFill>
                      </a:endParaRPr>
                    </a:p>
                  </a:txBody>
                  <a:tcPr marT="91425" marB="91425" marR="91425" marL="91425"/>
                </a:tc>
                <a:tc>
                  <a:txBody>
                    <a:bodyPr/>
                    <a:lstStyle/>
                    <a:p>
                      <a:pPr indent="0" lvl="0" marL="0" rtl="0" algn="l">
                        <a:spcBef>
                          <a:spcPts val="0"/>
                        </a:spcBef>
                        <a:spcAft>
                          <a:spcPts val="0"/>
                        </a:spcAft>
                        <a:buNone/>
                      </a:pPr>
                      <a:r>
                        <a:rPr lang="en-GB" sz="1000"/>
                        <a:t>Issues tokens after authenticating and authorizing the Client</a:t>
                      </a:r>
                      <a:endParaRPr sz="1000"/>
                    </a:p>
                  </a:txBody>
                  <a:tcPr marT="91425" marB="91425" marR="91425" marL="91425"/>
                </a:tc>
              </a:tr>
              <a:tr h="381000">
                <a:tc>
                  <a:txBody>
                    <a:bodyPr/>
                    <a:lstStyle/>
                    <a:p>
                      <a:pPr indent="0" lvl="0" marL="0" rtl="0" algn="l">
                        <a:spcBef>
                          <a:spcPts val="0"/>
                        </a:spcBef>
                        <a:spcAft>
                          <a:spcPts val="0"/>
                        </a:spcAft>
                        <a:buNone/>
                      </a:pPr>
                      <a:r>
                        <a:rPr b="1" lang="en-GB" sz="1100">
                          <a:solidFill>
                            <a:schemeClr val="dk2"/>
                          </a:solidFill>
                        </a:rPr>
                        <a:t>Client Application</a:t>
                      </a:r>
                      <a:endParaRPr b="1" sz="1100">
                        <a:solidFill>
                          <a:schemeClr val="dk2"/>
                        </a:solidFill>
                      </a:endParaRPr>
                    </a:p>
                  </a:txBody>
                  <a:tcPr marT="91425" marB="91425" marR="91425" marL="91425"/>
                </a:tc>
                <a:tc>
                  <a:txBody>
                    <a:bodyPr/>
                    <a:lstStyle/>
                    <a:p>
                      <a:pPr indent="0" lvl="0" marL="0" rtl="0" algn="l">
                        <a:spcBef>
                          <a:spcPts val="0"/>
                        </a:spcBef>
                        <a:spcAft>
                          <a:spcPts val="0"/>
                        </a:spcAft>
                        <a:buNone/>
                      </a:pPr>
                      <a:r>
                        <a:rPr lang="en-GB" sz="1000"/>
                        <a:t>The app registered with the Authorization Server to request access</a:t>
                      </a:r>
                      <a:endParaRPr sz="1000"/>
                    </a:p>
                  </a:txBody>
                  <a:tcPr marT="91425" marB="91425" marR="91425" marL="91425"/>
                </a:tc>
              </a:tr>
              <a:tr h="381000">
                <a:tc>
                  <a:txBody>
                    <a:bodyPr/>
                    <a:lstStyle/>
                    <a:p>
                      <a:pPr indent="0" lvl="0" marL="0" rtl="0" algn="l">
                        <a:spcBef>
                          <a:spcPts val="0"/>
                        </a:spcBef>
                        <a:spcAft>
                          <a:spcPts val="0"/>
                        </a:spcAft>
                        <a:buNone/>
                      </a:pPr>
                      <a:r>
                        <a:rPr b="1" lang="en-GB" sz="1100">
                          <a:solidFill>
                            <a:schemeClr val="dk2"/>
                          </a:solidFill>
                        </a:rPr>
                        <a:t>Resource Server</a:t>
                      </a:r>
                      <a:endParaRPr b="1" sz="1100">
                        <a:solidFill>
                          <a:schemeClr val="dk2"/>
                        </a:solidFill>
                      </a:endParaRPr>
                    </a:p>
                  </a:txBody>
                  <a:tcPr marT="91425" marB="91425" marR="91425" marL="91425"/>
                </a:tc>
                <a:tc>
                  <a:txBody>
                    <a:bodyPr/>
                    <a:lstStyle/>
                    <a:p>
                      <a:pPr indent="0" lvl="0" marL="0" rtl="0" algn="l">
                        <a:spcBef>
                          <a:spcPts val="0"/>
                        </a:spcBef>
                        <a:spcAft>
                          <a:spcPts val="0"/>
                        </a:spcAft>
                        <a:buNone/>
                      </a:pPr>
                      <a:r>
                        <a:rPr lang="en-GB" sz="1000"/>
                        <a:t>The API backend that hosts the data; it checks the token</a:t>
                      </a:r>
                      <a:endParaRPr sz="1000"/>
                    </a:p>
                  </a:txBody>
                  <a:tcPr marT="91425" marB="91425" marR="91425" marL="91425"/>
                </a:tc>
              </a:tr>
              <a:tr h="381000">
                <a:tc>
                  <a:txBody>
                    <a:bodyPr/>
                    <a:lstStyle/>
                    <a:p>
                      <a:pPr indent="0" lvl="0" marL="0" rtl="0" algn="l">
                        <a:spcBef>
                          <a:spcPts val="0"/>
                        </a:spcBef>
                        <a:spcAft>
                          <a:spcPts val="0"/>
                        </a:spcAft>
                        <a:buNone/>
                      </a:pPr>
                      <a:r>
                        <a:rPr b="1" lang="en-GB" sz="1100">
                          <a:solidFill>
                            <a:schemeClr val="dk2"/>
                          </a:solidFill>
                        </a:rPr>
                        <a:t>Identity Server</a:t>
                      </a:r>
                      <a:endParaRPr b="1" sz="1100">
                        <a:solidFill>
                          <a:schemeClr val="dk2"/>
                        </a:solidFill>
                      </a:endParaRPr>
                    </a:p>
                  </a:txBody>
                  <a:tcPr marT="91425" marB="91425" marR="91425" marL="91425"/>
                </a:tc>
                <a:tc>
                  <a:txBody>
                    <a:bodyPr/>
                    <a:lstStyle/>
                    <a:p>
                      <a:pPr indent="0" lvl="0" marL="0" rtl="0" algn="l">
                        <a:spcBef>
                          <a:spcPts val="0"/>
                        </a:spcBef>
                        <a:spcAft>
                          <a:spcPts val="0"/>
                        </a:spcAft>
                        <a:buNone/>
                      </a:pPr>
                      <a:r>
                        <a:rPr lang="en-GB" sz="1000"/>
                        <a:t>Manages user authentication (can be the same as Authorization Server)</a:t>
                      </a:r>
                      <a:endParaRPr sz="1000"/>
                    </a:p>
                  </a:txBody>
                  <a:tcPr marT="91425" marB="91425" marR="91425" marL="91425"/>
                </a:tc>
              </a:tr>
              <a:tr h="381000">
                <a:tc>
                  <a:txBody>
                    <a:bodyPr/>
                    <a:lstStyle/>
                    <a:p>
                      <a:pPr indent="0" lvl="0" marL="0" rtl="0" algn="l">
                        <a:spcBef>
                          <a:spcPts val="0"/>
                        </a:spcBef>
                        <a:spcAft>
                          <a:spcPts val="0"/>
                        </a:spcAft>
                        <a:buNone/>
                      </a:pPr>
                      <a:r>
                        <a:rPr b="1" lang="en-GB" sz="1100">
                          <a:solidFill>
                            <a:schemeClr val="dk2"/>
                          </a:solidFill>
                        </a:rPr>
                        <a:t>Scope</a:t>
                      </a:r>
                      <a:endParaRPr b="1" sz="1100">
                        <a:solidFill>
                          <a:schemeClr val="dk2"/>
                        </a:solidFill>
                      </a:endParaRPr>
                    </a:p>
                  </a:txBody>
                  <a:tcPr marT="91425" marB="91425" marR="91425" marL="91425"/>
                </a:tc>
                <a:tc>
                  <a:txBody>
                    <a:bodyPr/>
                    <a:lstStyle/>
                    <a:p>
                      <a:pPr indent="0" lvl="0" marL="0" rtl="0" algn="l">
                        <a:spcBef>
                          <a:spcPts val="0"/>
                        </a:spcBef>
                        <a:spcAft>
                          <a:spcPts val="0"/>
                        </a:spcAft>
                        <a:buNone/>
                      </a:pPr>
                      <a:r>
                        <a:rPr lang="en-GB" sz="1000"/>
                        <a:t>Defines what the Client can access (e.g., "read", "write")</a:t>
                      </a:r>
                      <a:endParaRPr sz="1000"/>
                    </a:p>
                  </a:txBody>
                  <a:tcPr marT="91425" marB="91425" marR="91425" marL="91425"/>
                </a:tc>
              </a:tr>
              <a:tr h="381000">
                <a:tc>
                  <a:txBody>
                    <a:bodyPr/>
                    <a:lstStyle/>
                    <a:p>
                      <a:pPr indent="0" lvl="0" marL="0" rtl="0" algn="l">
                        <a:spcBef>
                          <a:spcPts val="0"/>
                        </a:spcBef>
                        <a:spcAft>
                          <a:spcPts val="0"/>
                        </a:spcAft>
                        <a:buNone/>
                      </a:pPr>
                      <a:r>
                        <a:rPr b="1" lang="en-GB" sz="1100">
                          <a:solidFill>
                            <a:schemeClr val="dk2"/>
                          </a:solidFill>
                        </a:rPr>
                        <a:t>Grant Type</a:t>
                      </a:r>
                      <a:endParaRPr b="1" sz="1100">
                        <a:solidFill>
                          <a:schemeClr val="dk2"/>
                        </a:solidFill>
                      </a:endParaRPr>
                    </a:p>
                  </a:txBody>
                  <a:tcPr marT="91425" marB="91425" marR="91425" marL="91425"/>
                </a:tc>
                <a:tc>
                  <a:txBody>
                    <a:bodyPr/>
                    <a:lstStyle/>
                    <a:p>
                      <a:pPr indent="0" lvl="0" marL="0" rtl="0" algn="l">
                        <a:spcBef>
                          <a:spcPts val="0"/>
                        </a:spcBef>
                        <a:spcAft>
                          <a:spcPts val="0"/>
                        </a:spcAft>
                        <a:buNone/>
                      </a:pPr>
                      <a:r>
                        <a:rPr lang="en-GB" sz="1000"/>
                        <a:t>The OAuth flow used (e.g., Authorization Code, Client Credentials)</a:t>
                      </a:r>
                      <a:endParaRPr sz="1000"/>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3" name="Shape 263"/>
        <p:cNvGrpSpPr/>
        <p:nvPr/>
      </p:nvGrpSpPr>
      <p:grpSpPr>
        <a:xfrm>
          <a:off x="0" y="0"/>
          <a:ext cx="0" cy="0"/>
          <a:chOff x="0" y="0"/>
          <a:chExt cx="0" cy="0"/>
        </a:xfrm>
      </p:grpSpPr>
      <p:sp>
        <p:nvSpPr>
          <p:cNvPr id="264" name="Google Shape;264;p44"/>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5" name="Google Shape;265;p44"/>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266" name="Google Shape;266;p44"/>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OAuth 2.0</a:t>
            </a:r>
            <a:endParaRPr b="1" sz="3800">
              <a:solidFill>
                <a:srgbClr val="03031C"/>
              </a:solidFill>
              <a:latin typeface="Inter"/>
              <a:ea typeface="Inter"/>
              <a:cs typeface="Inter"/>
              <a:sym typeface="Inter"/>
            </a:endParaRPr>
          </a:p>
        </p:txBody>
      </p:sp>
      <p:sp>
        <p:nvSpPr>
          <p:cNvPr id="267" name="Google Shape;267;p44"/>
          <p:cNvSpPr txBox="1"/>
          <p:nvPr/>
        </p:nvSpPr>
        <p:spPr>
          <a:xfrm>
            <a:off x="539175" y="872625"/>
            <a:ext cx="8059200" cy="27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100">
                <a:solidFill>
                  <a:schemeClr val="dk1"/>
                </a:solidFill>
                <a:latin typeface="Inter"/>
                <a:ea typeface="Inter"/>
                <a:cs typeface="Inter"/>
                <a:sym typeface="Inter"/>
              </a:rPr>
              <a:t>Understanding Access Tokens &amp; Client Registration</a:t>
            </a:r>
            <a:endParaRPr b="1" sz="1100">
              <a:solidFill>
                <a:schemeClr val="dk1"/>
              </a:solidFill>
              <a:latin typeface="Inter"/>
              <a:ea typeface="Inter"/>
              <a:cs typeface="Inter"/>
              <a:sym typeface="Inter"/>
            </a:endParaRPr>
          </a:p>
        </p:txBody>
      </p:sp>
      <p:sp>
        <p:nvSpPr>
          <p:cNvPr id="268" name="Google Shape;268;p44"/>
          <p:cNvSpPr txBox="1"/>
          <p:nvPr/>
        </p:nvSpPr>
        <p:spPr>
          <a:xfrm>
            <a:off x="673975" y="1326675"/>
            <a:ext cx="3086100" cy="336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200">
                <a:solidFill>
                  <a:schemeClr val="dk1"/>
                </a:solidFill>
                <a:latin typeface="Inter"/>
                <a:ea typeface="Inter"/>
                <a:cs typeface="Inter"/>
                <a:sym typeface="Inter"/>
              </a:rPr>
              <a:t>Access Tokens</a:t>
            </a:r>
            <a:endParaRPr b="1" sz="1200">
              <a:solidFill>
                <a:schemeClr val="dk1"/>
              </a:solidFill>
              <a:latin typeface="Inter"/>
              <a:ea typeface="Inter"/>
              <a:cs typeface="Inter"/>
              <a:sym typeface="Inter"/>
            </a:endParaRPr>
          </a:p>
          <a:p>
            <a:pPr indent="0" lvl="0" marL="0" rtl="0" algn="l">
              <a:spcBef>
                <a:spcPts val="0"/>
              </a:spcBef>
              <a:spcAft>
                <a:spcPts val="0"/>
              </a:spcAft>
              <a:buNone/>
            </a:pPr>
            <a:r>
              <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GB" sz="1200">
                <a:solidFill>
                  <a:schemeClr val="dk1"/>
                </a:solidFill>
                <a:latin typeface="Inter"/>
                <a:ea typeface="Inter"/>
                <a:cs typeface="Inter"/>
                <a:sym typeface="Inter"/>
              </a:rPr>
              <a:t>Represent the authorization granted by the Resource Owner to the Client</a:t>
            </a:r>
            <a:endParaRPr sz="1200">
              <a:solidFill>
                <a:schemeClr val="dk1"/>
              </a:solidFill>
              <a:latin typeface="Inter"/>
              <a:ea typeface="Inter"/>
              <a:cs typeface="Inter"/>
              <a:sym typeface="Inter"/>
            </a:endParaRPr>
          </a:p>
          <a:p>
            <a:pPr indent="0" lvl="0" marL="457200" rtl="0" algn="l">
              <a:spcBef>
                <a:spcPts val="0"/>
              </a:spcBef>
              <a:spcAft>
                <a:spcPts val="0"/>
              </a:spcAft>
              <a:buNone/>
            </a:pPr>
            <a:r>
              <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GB" sz="1200">
                <a:solidFill>
                  <a:schemeClr val="dk1"/>
                </a:solidFill>
                <a:latin typeface="Inter"/>
                <a:ea typeface="Inter"/>
                <a:cs typeface="Inter"/>
                <a:sym typeface="Inter"/>
              </a:rPr>
              <a:t>Typically opaque strings or JWTs (which may include user identity, scopes, and expiry)</a:t>
            </a:r>
            <a:endParaRPr sz="1200">
              <a:solidFill>
                <a:schemeClr val="dk1"/>
              </a:solidFill>
              <a:latin typeface="Inter"/>
              <a:ea typeface="Inter"/>
              <a:cs typeface="Inter"/>
              <a:sym typeface="Inter"/>
            </a:endParaRPr>
          </a:p>
          <a:p>
            <a:pPr indent="0" lvl="0" marL="457200" rtl="0" algn="l">
              <a:spcBef>
                <a:spcPts val="0"/>
              </a:spcBef>
              <a:spcAft>
                <a:spcPts val="0"/>
              </a:spcAft>
              <a:buNone/>
            </a:pPr>
            <a:r>
              <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GB" sz="1200">
                <a:solidFill>
                  <a:schemeClr val="dk1"/>
                </a:solidFill>
                <a:latin typeface="Inter"/>
                <a:ea typeface="Inter"/>
                <a:cs typeface="Inter"/>
                <a:sym typeface="Inter"/>
              </a:rPr>
              <a:t>Sent with each API request to authenticate the client</a:t>
            </a:r>
            <a:endParaRPr sz="1200">
              <a:solidFill>
                <a:schemeClr val="dk1"/>
              </a:solidFill>
              <a:latin typeface="Inter"/>
              <a:ea typeface="Inter"/>
              <a:cs typeface="Inter"/>
              <a:sym typeface="Inter"/>
            </a:endParaRPr>
          </a:p>
          <a:p>
            <a:pPr indent="0" lvl="0" marL="457200" rtl="0" algn="l">
              <a:spcBef>
                <a:spcPts val="0"/>
              </a:spcBef>
              <a:spcAft>
                <a:spcPts val="0"/>
              </a:spcAft>
              <a:buNone/>
            </a:pPr>
            <a:r>
              <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GB" sz="1200">
                <a:solidFill>
                  <a:schemeClr val="dk1"/>
                </a:solidFill>
                <a:latin typeface="Inter"/>
                <a:ea typeface="Inter"/>
                <a:cs typeface="Inter"/>
                <a:sym typeface="Inter"/>
              </a:rPr>
              <a:t>Usually have an expiry time to limit access duration</a:t>
            </a:r>
            <a:endParaRPr sz="1200">
              <a:solidFill>
                <a:schemeClr val="dk1"/>
              </a:solidFill>
              <a:latin typeface="Inter"/>
              <a:ea typeface="Inter"/>
              <a:cs typeface="Inter"/>
              <a:sym typeface="Inter"/>
            </a:endParaRPr>
          </a:p>
          <a:p>
            <a:pPr indent="0" lvl="0" marL="457200" rtl="0" algn="l">
              <a:spcBef>
                <a:spcPts val="0"/>
              </a:spcBef>
              <a:spcAft>
                <a:spcPts val="0"/>
              </a:spcAft>
              <a:buNone/>
            </a:pPr>
            <a:r>
              <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GB" sz="1200">
                <a:solidFill>
                  <a:schemeClr val="dk1"/>
                </a:solidFill>
                <a:latin typeface="Inter"/>
                <a:ea typeface="Inter"/>
                <a:cs typeface="Inter"/>
                <a:sym typeface="Inter"/>
              </a:rPr>
              <a:t>Can be refreshed using a Refresh Token (if supported)</a:t>
            </a:r>
            <a:endParaRPr sz="1200">
              <a:solidFill>
                <a:schemeClr val="dk1"/>
              </a:solidFill>
              <a:latin typeface="Inter"/>
              <a:ea typeface="Inter"/>
              <a:cs typeface="Inter"/>
              <a:sym typeface="Inter"/>
            </a:endParaRPr>
          </a:p>
        </p:txBody>
      </p:sp>
      <p:sp>
        <p:nvSpPr>
          <p:cNvPr id="269" name="Google Shape;269;p44"/>
          <p:cNvSpPr txBox="1"/>
          <p:nvPr/>
        </p:nvSpPr>
        <p:spPr>
          <a:xfrm>
            <a:off x="4413702" y="1422300"/>
            <a:ext cx="3567600" cy="336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200">
                <a:solidFill>
                  <a:schemeClr val="dk1"/>
                </a:solidFill>
                <a:latin typeface="Inter"/>
                <a:ea typeface="Inter"/>
                <a:cs typeface="Inter"/>
                <a:sym typeface="Inter"/>
              </a:rPr>
              <a:t>Client Application Registration</a:t>
            </a:r>
            <a:endParaRPr b="1" sz="1200">
              <a:solidFill>
                <a:schemeClr val="dk1"/>
              </a:solidFill>
              <a:latin typeface="Inter"/>
              <a:ea typeface="Inter"/>
              <a:cs typeface="Inter"/>
              <a:sym typeface="Inter"/>
            </a:endParaRPr>
          </a:p>
          <a:p>
            <a:pPr indent="0" lvl="0" marL="0" rtl="0" algn="l">
              <a:spcBef>
                <a:spcPts val="0"/>
              </a:spcBef>
              <a:spcAft>
                <a:spcPts val="0"/>
              </a:spcAft>
              <a:buNone/>
            </a:pPr>
            <a:r>
              <a:rPr lang="en-GB" sz="1000">
                <a:solidFill>
                  <a:schemeClr val="dk1"/>
                </a:solidFill>
                <a:latin typeface="Inter"/>
                <a:ea typeface="Inter"/>
                <a:cs typeface="Inter"/>
                <a:sym typeface="Inter"/>
              </a:rPr>
              <a:t>To request an Access Token, a client must register with the Authorization Server:</a:t>
            </a:r>
            <a:endParaRPr sz="1000">
              <a:solidFill>
                <a:schemeClr val="dk1"/>
              </a:solidFill>
              <a:latin typeface="Inter"/>
              <a:ea typeface="Inter"/>
              <a:cs typeface="Inter"/>
              <a:sym typeface="Inter"/>
            </a:endParaRPr>
          </a:p>
          <a:p>
            <a:pPr indent="0" lvl="0" marL="0" rtl="0" algn="l">
              <a:spcBef>
                <a:spcPts val="0"/>
              </a:spcBef>
              <a:spcAft>
                <a:spcPts val="0"/>
              </a:spcAft>
              <a:buNone/>
            </a:pPr>
            <a:r>
              <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GB" sz="1200">
                <a:solidFill>
                  <a:schemeClr val="dk1"/>
                </a:solidFill>
                <a:latin typeface="Inter"/>
                <a:ea typeface="Inter"/>
                <a:cs typeface="Inter"/>
                <a:sym typeface="Inter"/>
              </a:rPr>
              <a:t>Client ID – Public identifier for the app</a:t>
            </a:r>
            <a:endParaRPr sz="1200">
              <a:solidFill>
                <a:schemeClr val="dk1"/>
              </a:solidFill>
              <a:latin typeface="Inter"/>
              <a:ea typeface="Inter"/>
              <a:cs typeface="Inter"/>
              <a:sym typeface="Inter"/>
            </a:endParaRPr>
          </a:p>
          <a:p>
            <a:pPr indent="0" lvl="0" marL="457200" rtl="0" algn="l">
              <a:spcBef>
                <a:spcPts val="0"/>
              </a:spcBef>
              <a:spcAft>
                <a:spcPts val="0"/>
              </a:spcAft>
              <a:buNone/>
            </a:pPr>
            <a:r>
              <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GB" sz="1200">
                <a:solidFill>
                  <a:schemeClr val="dk1"/>
                </a:solidFill>
                <a:latin typeface="Inter"/>
                <a:ea typeface="Inter"/>
                <a:cs typeface="Inter"/>
                <a:sym typeface="Inter"/>
              </a:rPr>
              <a:t>Client Secret – Confidential key shared with the server</a:t>
            </a:r>
            <a:endParaRPr sz="1200">
              <a:solidFill>
                <a:schemeClr val="dk1"/>
              </a:solidFill>
              <a:latin typeface="Inter"/>
              <a:ea typeface="Inter"/>
              <a:cs typeface="Inter"/>
              <a:sym typeface="Inter"/>
            </a:endParaRPr>
          </a:p>
          <a:p>
            <a:pPr indent="0" lvl="0" marL="457200" rtl="0" algn="l">
              <a:spcBef>
                <a:spcPts val="0"/>
              </a:spcBef>
              <a:spcAft>
                <a:spcPts val="0"/>
              </a:spcAft>
              <a:buNone/>
            </a:pPr>
            <a:r>
              <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GB" sz="1200">
                <a:solidFill>
                  <a:schemeClr val="dk1"/>
                </a:solidFill>
                <a:latin typeface="Inter"/>
                <a:ea typeface="Inter"/>
                <a:cs typeface="Inter"/>
                <a:sym typeface="Inter"/>
              </a:rPr>
              <a:t>Redirect URI – Where the user is sent after login</a:t>
            </a:r>
            <a:endParaRPr sz="1200">
              <a:solidFill>
                <a:schemeClr val="dk1"/>
              </a:solidFill>
              <a:latin typeface="Inter"/>
              <a:ea typeface="Inter"/>
              <a:cs typeface="Inter"/>
              <a:sym typeface="Inter"/>
            </a:endParaRPr>
          </a:p>
          <a:p>
            <a:pPr indent="0" lvl="0" marL="457200" rtl="0" algn="l">
              <a:spcBef>
                <a:spcPts val="0"/>
              </a:spcBef>
              <a:spcAft>
                <a:spcPts val="0"/>
              </a:spcAft>
              <a:buNone/>
            </a:pPr>
            <a:r>
              <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GB" sz="1200">
                <a:solidFill>
                  <a:schemeClr val="dk1"/>
                </a:solidFill>
                <a:latin typeface="Inter"/>
                <a:ea typeface="Inter"/>
                <a:cs typeface="Inter"/>
                <a:sym typeface="Inter"/>
              </a:rPr>
              <a:t>Client authenticates using ID and Secret during token request</a:t>
            </a:r>
            <a:endParaRPr sz="1200">
              <a:solidFill>
                <a:schemeClr val="dk1"/>
              </a:solidFill>
              <a:latin typeface="Inter"/>
              <a:ea typeface="Inter"/>
              <a:cs typeface="Inter"/>
              <a:sym typeface="Inter"/>
            </a:endParaRPr>
          </a:p>
          <a:p>
            <a:pPr indent="0" lvl="0" marL="457200" rtl="0" algn="l">
              <a:spcBef>
                <a:spcPts val="0"/>
              </a:spcBef>
              <a:spcAft>
                <a:spcPts val="0"/>
              </a:spcAft>
              <a:buNone/>
            </a:pPr>
            <a:r>
              <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GB" sz="1200">
                <a:solidFill>
                  <a:schemeClr val="dk1"/>
                </a:solidFill>
                <a:latin typeface="Inter"/>
                <a:ea typeface="Inter"/>
                <a:cs typeface="Inter"/>
                <a:sym typeface="Inter"/>
              </a:rPr>
              <a:t>Authorization Server validates and issues an Access Token</a:t>
            </a:r>
            <a:endParaRPr sz="1200">
              <a:solidFill>
                <a:schemeClr val="dk1"/>
              </a:solidFill>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3" name="Shape 273"/>
        <p:cNvGrpSpPr/>
        <p:nvPr/>
      </p:nvGrpSpPr>
      <p:grpSpPr>
        <a:xfrm>
          <a:off x="0" y="0"/>
          <a:ext cx="0" cy="0"/>
          <a:chOff x="0" y="0"/>
          <a:chExt cx="0" cy="0"/>
        </a:xfrm>
      </p:grpSpPr>
      <p:sp>
        <p:nvSpPr>
          <p:cNvPr id="274" name="Google Shape;274;p45"/>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5" name="Google Shape;275;p45"/>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276" name="Google Shape;276;p45"/>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OAuth 2.0</a:t>
            </a:r>
            <a:endParaRPr b="1" sz="3800">
              <a:solidFill>
                <a:srgbClr val="03031C"/>
              </a:solidFill>
              <a:latin typeface="Inter"/>
              <a:ea typeface="Inter"/>
              <a:cs typeface="Inter"/>
              <a:sym typeface="Inter"/>
            </a:endParaRPr>
          </a:p>
        </p:txBody>
      </p:sp>
      <p:sp>
        <p:nvSpPr>
          <p:cNvPr id="277" name="Google Shape;277;p45"/>
          <p:cNvSpPr/>
          <p:nvPr/>
        </p:nvSpPr>
        <p:spPr>
          <a:xfrm>
            <a:off x="869950" y="833461"/>
            <a:ext cx="7659600" cy="4019100"/>
          </a:xfrm>
          <a:prstGeom prst="rect">
            <a:avLst/>
          </a:prstGeom>
          <a:noFill/>
          <a:ln>
            <a:noFill/>
          </a:ln>
        </p:spPr>
        <p:txBody>
          <a:bodyPr anchorCtr="0" anchor="t" bIns="45700" lIns="45700" spcFirstLastPara="1" rIns="45700" wrap="square" tIns="45700">
            <a:noAutofit/>
          </a:bodyPr>
          <a:lstStyle/>
          <a:p>
            <a:pPr indent="0" lvl="0" marL="0" marR="0" rtl="0" algn="l">
              <a:lnSpc>
                <a:spcPct val="150000"/>
              </a:lnSpc>
              <a:spcBef>
                <a:spcPts val="0"/>
              </a:spcBef>
              <a:spcAft>
                <a:spcPts val="0"/>
              </a:spcAft>
              <a:buNone/>
            </a:pPr>
            <a:r>
              <a:rPr b="1" lang="en-GB">
                <a:solidFill>
                  <a:schemeClr val="dk1"/>
                </a:solidFill>
                <a:latin typeface="Inter"/>
                <a:ea typeface="Inter"/>
                <a:cs typeface="Inter"/>
                <a:sym typeface="Inter"/>
              </a:rPr>
              <a:t>Tyk can act as an OAuth 2.0 Authorization Server</a:t>
            </a:r>
            <a:endParaRPr b="1">
              <a:solidFill>
                <a:schemeClr val="dk1"/>
              </a:solidFill>
              <a:latin typeface="Inter"/>
              <a:ea typeface="Inter"/>
              <a:cs typeface="Inter"/>
              <a:sym typeface="Inter"/>
            </a:endParaRPr>
          </a:p>
          <a:p>
            <a:pPr indent="0" lvl="0" marL="0" marR="0" rtl="0" algn="l">
              <a:lnSpc>
                <a:spcPct val="150000"/>
              </a:lnSpc>
              <a:spcBef>
                <a:spcPts val="0"/>
              </a:spcBef>
              <a:spcAft>
                <a:spcPts val="0"/>
              </a:spcAft>
              <a:buNone/>
            </a:pPr>
            <a:r>
              <a:t/>
            </a:r>
            <a:endParaRPr>
              <a:solidFill>
                <a:schemeClr val="dk1"/>
              </a:solidFill>
              <a:latin typeface="Inter"/>
              <a:ea typeface="Inter"/>
              <a:cs typeface="Inter"/>
              <a:sym typeface="Inter"/>
            </a:endParaRPr>
          </a:p>
          <a:p>
            <a:pPr indent="0" lvl="0" marL="0" marR="0" rtl="0" algn="l">
              <a:lnSpc>
                <a:spcPct val="150000"/>
              </a:lnSpc>
              <a:spcBef>
                <a:spcPts val="0"/>
              </a:spcBef>
              <a:spcAft>
                <a:spcPts val="0"/>
              </a:spcAft>
              <a:buNone/>
            </a:pPr>
            <a:r>
              <a:rPr lang="en-GB" sz="1100">
                <a:solidFill>
                  <a:schemeClr val="dk1"/>
                </a:solidFill>
                <a:latin typeface="Inter"/>
                <a:ea typeface="Inter"/>
                <a:cs typeface="Inter"/>
                <a:sym typeface="Inter"/>
              </a:rPr>
              <a:t>Tyk handles:</a:t>
            </a:r>
            <a:endParaRPr sz="1100">
              <a:solidFill>
                <a:schemeClr val="dk1"/>
              </a:solidFill>
              <a:latin typeface="Inter"/>
              <a:ea typeface="Inter"/>
              <a:cs typeface="Inter"/>
              <a:sym typeface="Inter"/>
            </a:endParaRPr>
          </a:p>
          <a:p>
            <a:pPr indent="-298450" lvl="0" marL="457200" marR="0" rtl="0" algn="l">
              <a:lnSpc>
                <a:spcPct val="150000"/>
              </a:lnSpc>
              <a:spcBef>
                <a:spcPts val="0"/>
              </a:spcBef>
              <a:spcAft>
                <a:spcPts val="0"/>
              </a:spcAft>
              <a:buClr>
                <a:schemeClr val="dk1"/>
              </a:buClr>
              <a:buSzPts val="1100"/>
              <a:buFont typeface="Inter"/>
              <a:buChar char="●"/>
            </a:pPr>
            <a:r>
              <a:rPr lang="en-GB" sz="1100">
                <a:solidFill>
                  <a:schemeClr val="dk1"/>
                </a:solidFill>
                <a:latin typeface="Inter"/>
                <a:ea typeface="Inter"/>
                <a:cs typeface="Inter"/>
                <a:sym typeface="Inter"/>
              </a:rPr>
              <a:t>Token generation &amp; management</a:t>
            </a:r>
            <a:endParaRPr sz="1100">
              <a:solidFill>
                <a:schemeClr val="dk1"/>
              </a:solidFill>
              <a:latin typeface="Inter"/>
              <a:ea typeface="Inter"/>
              <a:cs typeface="Inter"/>
              <a:sym typeface="Inter"/>
            </a:endParaRPr>
          </a:p>
          <a:p>
            <a:pPr indent="-298450" lvl="0" marL="457200" marR="0" rtl="0" algn="l">
              <a:lnSpc>
                <a:spcPct val="150000"/>
              </a:lnSpc>
              <a:spcBef>
                <a:spcPts val="0"/>
              </a:spcBef>
              <a:spcAft>
                <a:spcPts val="0"/>
              </a:spcAft>
              <a:buClr>
                <a:schemeClr val="dk1"/>
              </a:buClr>
              <a:buSzPts val="1100"/>
              <a:buFont typeface="Inter"/>
              <a:buChar char="●"/>
            </a:pPr>
            <a:r>
              <a:rPr lang="en-GB" sz="1100">
                <a:solidFill>
                  <a:schemeClr val="dk1"/>
                </a:solidFill>
                <a:latin typeface="Inter"/>
                <a:ea typeface="Inter"/>
                <a:cs typeface="Inter"/>
                <a:sym typeface="Inter"/>
              </a:rPr>
              <a:t>Access control for client apps</a:t>
            </a:r>
            <a:endParaRPr sz="1100">
              <a:solidFill>
                <a:schemeClr val="dk1"/>
              </a:solidFill>
              <a:latin typeface="Inter"/>
              <a:ea typeface="Inter"/>
              <a:cs typeface="Inter"/>
              <a:sym typeface="Inter"/>
            </a:endParaRPr>
          </a:p>
          <a:p>
            <a:pPr indent="0" lvl="0" marL="0" marR="0" rtl="0" algn="l">
              <a:lnSpc>
                <a:spcPct val="150000"/>
              </a:lnSpc>
              <a:spcBef>
                <a:spcPts val="0"/>
              </a:spcBef>
              <a:spcAft>
                <a:spcPts val="0"/>
              </a:spcAft>
              <a:buNone/>
            </a:pPr>
            <a:r>
              <a:t/>
            </a:r>
            <a:endParaRPr sz="1100">
              <a:solidFill>
                <a:schemeClr val="dk1"/>
              </a:solidFill>
              <a:latin typeface="Inter"/>
              <a:ea typeface="Inter"/>
              <a:cs typeface="Inter"/>
              <a:sym typeface="Inter"/>
            </a:endParaRPr>
          </a:p>
          <a:p>
            <a:pPr indent="0" lvl="0" marL="0" marR="0" rtl="0" algn="l">
              <a:lnSpc>
                <a:spcPct val="150000"/>
              </a:lnSpc>
              <a:spcBef>
                <a:spcPts val="0"/>
              </a:spcBef>
              <a:spcAft>
                <a:spcPts val="0"/>
              </a:spcAft>
              <a:buNone/>
            </a:pPr>
            <a:r>
              <a:rPr lang="en-GB" sz="1100">
                <a:solidFill>
                  <a:schemeClr val="dk1"/>
                </a:solidFill>
                <a:latin typeface="Inter"/>
                <a:ea typeface="Inter"/>
                <a:cs typeface="Inter"/>
                <a:sym typeface="Inter"/>
              </a:rPr>
              <a:t>Key Features:</a:t>
            </a:r>
            <a:endParaRPr sz="1100">
              <a:solidFill>
                <a:schemeClr val="dk1"/>
              </a:solidFill>
              <a:latin typeface="Inter"/>
              <a:ea typeface="Inter"/>
              <a:cs typeface="Inter"/>
              <a:sym typeface="Inter"/>
            </a:endParaRPr>
          </a:p>
          <a:p>
            <a:pPr indent="-298450" lvl="0" marL="457200" marR="0" rtl="0" algn="l">
              <a:lnSpc>
                <a:spcPct val="150000"/>
              </a:lnSpc>
              <a:spcBef>
                <a:spcPts val="0"/>
              </a:spcBef>
              <a:spcAft>
                <a:spcPts val="0"/>
              </a:spcAft>
              <a:buClr>
                <a:schemeClr val="dk1"/>
              </a:buClr>
              <a:buSzPts val="1100"/>
              <a:buFont typeface="Inter"/>
              <a:buChar char="●"/>
            </a:pPr>
            <a:r>
              <a:rPr lang="en-GB" sz="1100">
                <a:solidFill>
                  <a:schemeClr val="dk1"/>
                </a:solidFill>
                <a:latin typeface="Inter"/>
                <a:ea typeface="Inter"/>
                <a:cs typeface="Inter"/>
                <a:sym typeface="Inter"/>
              </a:rPr>
              <a:t>Fine-Grained Access Control</a:t>
            </a:r>
            <a:endParaRPr sz="1100">
              <a:solidFill>
                <a:schemeClr val="dk1"/>
              </a:solidFill>
              <a:latin typeface="Inter"/>
              <a:ea typeface="Inter"/>
              <a:cs typeface="Inter"/>
              <a:sym typeface="Inter"/>
            </a:endParaRPr>
          </a:p>
          <a:p>
            <a:pPr indent="-298450" lvl="1" marL="914400" marR="0" rtl="0" algn="l">
              <a:lnSpc>
                <a:spcPct val="150000"/>
              </a:lnSpc>
              <a:spcBef>
                <a:spcPts val="0"/>
              </a:spcBef>
              <a:spcAft>
                <a:spcPts val="0"/>
              </a:spcAft>
              <a:buClr>
                <a:schemeClr val="dk1"/>
              </a:buClr>
              <a:buSzPts val="1100"/>
              <a:buFont typeface="Inter"/>
              <a:buChar char="○"/>
            </a:pPr>
            <a:r>
              <a:rPr lang="en-GB" sz="1100">
                <a:solidFill>
                  <a:schemeClr val="dk1"/>
                </a:solidFill>
                <a:latin typeface="Inter"/>
                <a:ea typeface="Inter"/>
                <a:cs typeface="Inter"/>
                <a:sym typeface="Inter"/>
              </a:rPr>
              <a:t>Use policies, versioning, and API IDs to restrict access.</a:t>
            </a:r>
            <a:endParaRPr sz="1100">
              <a:solidFill>
                <a:schemeClr val="dk1"/>
              </a:solidFill>
              <a:latin typeface="Inter"/>
              <a:ea typeface="Inter"/>
              <a:cs typeface="Inter"/>
              <a:sym typeface="Inter"/>
            </a:endParaRPr>
          </a:p>
          <a:p>
            <a:pPr indent="-298450" lvl="0" marL="457200" marR="0" rtl="0" algn="l">
              <a:lnSpc>
                <a:spcPct val="150000"/>
              </a:lnSpc>
              <a:spcBef>
                <a:spcPts val="0"/>
              </a:spcBef>
              <a:spcAft>
                <a:spcPts val="0"/>
              </a:spcAft>
              <a:buClr>
                <a:schemeClr val="dk1"/>
              </a:buClr>
              <a:buSzPts val="1100"/>
              <a:buFont typeface="Inter"/>
              <a:buChar char="●"/>
            </a:pPr>
            <a:r>
              <a:rPr lang="en-GB" sz="1100">
                <a:solidFill>
                  <a:schemeClr val="dk1"/>
                </a:solidFill>
                <a:latin typeface="Inter"/>
                <a:ea typeface="Inter"/>
                <a:cs typeface="Inter"/>
                <a:sym typeface="Inter"/>
              </a:rPr>
              <a:t>Usage Analytics</a:t>
            </a:r>
            <a:endParaRPr sz="1100">
              <a:solidFill>
                <a:schemeClr val="dk1"/>
              </a:solidFill>
              <a:latin typeface="Inter"/>
              <a:ea typeface="Inter"/>
              <a:cs typeface="Inter"/>
              <a:sym typeface="Inter"/>
            </a:endParaRPr>
          </a:p>
          <a:p>
            <a:pPr indent="-298450" lvl="1" marL="914400" marR="0" rtl="0" algn="l">
              <a:lnSpc>
                <a:spcPct val="150000"/>
              </a:lnSpc>
              <a:spcBef>
                <a:spcPts val="0"/>
              </a:spcBef>
              <a:spcAft>
                <a:spcPts val="0"/>
              </a:spcAft>
              <a:buClr>
                <a:schemeClr val="dk1"/>
              </a:buClr>
              <a:buSzPts val="1100"/>
              <a:buFont typeface="Inter"/>
              <a:buChar char="○"/>
            </a:pPr>
            <a:r>
              <a:rPr lang="en-GB" sz="1100">
                <a:solidFill>
                  <a:schemeClr val="dk1"/>
                </a:solidFill>
                <a:latin typeface="Inter"/>
                <a:ea typeface="Inter"/>
                <a:cs typeface="Inter"/>
                <a:sym typeface="Inter"/>
              </a:rPr>
              <a:t>Track and analyze usage by Client ID.</a:t>
            </a:r>
            <a:endParaRPr sz="1100">
              <a:solidFill>
                <a:schemeClr val="dk1"/>
              </a:solidFill>
              <a:latin typeface="Inter"/>
              <a:ea typeface="Inter"/>
              <a:cs typeface="Inter"/>
              <a:sym typeface="Inter"/>
            </a:endParaRPr>
          </a:p>
          <a:p>
            <a:pPr indent="-298450" lvl="0" marL="457200" marR="0" rtl="0" algn="l">
              <a:lnSpc>
                <a:spcPct val="150000"/>
              </a:lnSpc>
              <a:spcBef>
                <a:spcPts val="0"/>
              </a:spcBef>
              <a:spcAft>
                <a:spcPts val="0"/>
              </a:spcAft>
              <a:buClr>
                <a:schemeClr val="dk1"/>
              </a:buClr>
              <a:buSzPts val="1100"/>
              <a:buFont typeface="Inter"/>
              <a:buChar char="●"/>
            </a:pPr>
            <a:r>
              <a:rPr lang="en-GB" sz="1100">
                <a:solidFill>
                  <a:schemeClr val="dk1"/>
                </a:solidFill>
                <a:latin typeface="Inter"/>
                <a:ea typeface="Inter"/>
                <a:cs typeface="Inter"/>
                <a:sym typeface="Inter"/>
              </a:rPr>
              <a:t>Multi-API Access</a:t>
            </a:r>
            <a:endParaRPr sz="1100">
              <a:solidFill>
                <a:schemeClr val="dk1"/>
              </a:solidFill>
              <a:latin typeface="Inter"/>
              <a:ea typeface="Inter"/>
              <a:cs typeface="Inter"/>
              <a:sym typeface="Inter"/>
            </a:endParaRPr>
          </a:p>
          <a:p>
            <a:pPr indent="-298450" lvl="1" marL="914400" marR="0" rtl="0" algn="l">
              <a:lnSpc>
                <a:spcPct val="150000"/>
              </a:lnSpc>
              <a:spcBef>
                <a:spcPts val="0"/>
              </a:spcBef>
              <a:spcAft>
                <a:spcPts val="0"/>
              </a:spcAft>
              <a:buClr>
                <a:schemeClr val="dk1"/>
              </a:buClr>
              <a:buSzPts val="1100"/>
              <a:buFont typeface="Inter"/>
              <a:buChar char="○"/>
            </a:pPr>
            <a:r>
              <a:rPr lang="en-GB" sz="1100">
                <a:solidFill>
                  <a:schemeClr val="dk1"/>
                </a:solidFill>
                <a:latin typeface="Inter"/>
                <a:ea typeface="Inter"/>
                <a:cs typeface="Inter"/>
                <a:sym typeface="Inter"/>
              </a:rPr>
              <a:t>One OAuth token can access multiple APIs</a:t>
            </a:r>
            <a:endParaRPr sz="1100">
              <a:solidFill>
                <a:schemeClr val="dk1"/>
              </a:solidFill>
              <a:latin typeface="Inter"/>
              <a:ea typeface="Inter"/>
              <a:cs typeface="Inter"/>
              <a:sym typeface="Inter"/>
            </a:endParaRPr>
          </a:p>
          <a:p>
            <a:pPr indent="-298450" lvl="1" marL="914400" marR="0" rtl="0" algn="l">
              <a:lnSpc>
                <a:spcPct val="150000"/>
              </a:lnSpc>
              <a:spcBef>
                <a:spcPts val="0"/>
              </a:spcBef>
              <a:spcAft>
                <a:spcPts val="0"/>
              </a:spcAft>
              <a:buClr>
                <a:schemeClr val="dk1"/>
              </a:buClr>
              <a:buSzPts val="1100"/>
              <a:buFont typeface="Inter"/>
              <a:buChar char="○"/>
            </a:pPr>
            <a:r>
              <a:rPr lang="en-GB" sz="1100">
                <a:solidFill>
                  <a:schemeClr val="dk1"/>
                </a:solidFill>
                <a:latin typeface="Inter"/>
                <a:ea typeface="Inter"/>
                <a:cs typeface="Inter"/>
                <a:sym typeface="Inter"/>
              </a:rPr>
              <a:t>(e.g., issue token via API A, access API B via Auth Token).</a:t>
            </a:r>
            <a:endParaRPr sz="1100">
              <a:solidFill>
                <a:schemeClr val="dk1"/>
              </a:solidFill>
              <a:latin typeface="Inter"/>
              <a:ea typeface="Inter"/>
              <a:cs typeface="Inter"/>
              <a:sym typeface="Inte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1" name="Shape 281"/>
        <p:cNvGrpSpPr/>
        <p:nvPr/>
      </p:nvGrpSpPr>
      <p:grpSpPr>
        <a:xfrm>
          <a:off x="0" y="0"/>
          <a:ext cx="0" cy="0"/>
          <a:chOff x="0" y="0"/>
          <a:chExt cx="0" cy="0"/>
        </a:xfrm>
      </p:grpSpPr>
      <p:sp>
        <p:nvSpPr>
          <p:cNvPr id="282" name="Google Shape;282;p46"/>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3" name="Google Shape;283;p46"/>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284" name="Google Shape;284;p46"/>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OAuth 2.0</a:t>
            </a:r>
            <a:endParaRPr b="1" sz="3800">
              <a:solidFill>
                <a:srgbClr val="03031C"/>
              </a:solidFill>
              <a:latin typeface="Inter"/>
              <a:ea typeface="Inter"/>
              <a:cs typeface="Inter"/>
              <a:sym typeface="Inter"/>
            </a:endParaRPr>
          </a:p>
        </p:txBody>
      </p:sp>
      <p:sp>
        <p:nvSpPr>
          <p:cNvPr id="285" name="Google Shape;285;p46"/>
          <p:cNvSpPr/>
          <p:nvPr/>
        </p:nvSpPr>
        <p:spPr>
          <a:xfrm>
            <a:off x="869950" y="833461"/>
            <a:ext cx="7659600" cy="4019100"/>
          </a:xfrm>
          <a:prstGeom prst="rect">
            <a:avLst/>
          </a:prstGeom>
          <a:noFill/>
          <a:ln>
            <a:noFill/>
          </a:ln>
        </p:spPr>
        <p:txBody>
          <a:bodyPr anchorCtr="0" anchor="t" bIns="45700" lIns="45700" spcFirstLastPara="1" rIns="45700" wrap="square" tIns="45700">
            <a:noAutofit/>
          </a:bodyPr>
          <a:lstStyle/>
          <a:p>
            <a:pPr indent="0" lvl="0" marL="0" marR="0" rtl="0" algn="l">
              <a:lnSpc>
                <a:spcPct val="150000"/>
              </a:lnSpc>
              <a:spcBef>
                <a:spcPts val="0"/>
              </a:spcBef>
              <a:spcAft>
                <a:spcPts val="0"/>
              </a:spcAft>
              <a:buNone/>
            </a:pPr>
            <a:r>
              <a:rPr b="1" lang="en-GB">
                <a:solidFill>
                  <a:schemeClr val="dk1"/>
                </a:solidFill>
                <a:latin typeface="Inter"/>
                <a:ea typeface="Inter"/>
                <a:cs typeface="Inter"/>
                <a:sym typeface="Inter"/>
              </a:rPr>
              <a:t>Tyk supports these OAuth 2.0 grant types:</a:t>
            </a:r>
            <a:endParaRPr b="1">
              <a:solidFill>
                <a:schemeClr val="dk1"/>
              </a:solidFill>
              <a:latin typeface="Inter"/>
              <a:ea typeface="Inter"/>
              <a:cs typeface="Inter"/>
              <a:sym typeface="Inter"/>
            </a:endParaRPr>
          </a:p>
          <a:p>
            <a:pPr indent="0" lvl="0" marL="0" marR="0" rtl="0" algn="l">
              <a:lnSpc>
                <a:spcPct val="150000"/>
              </a:lnSpc>
              <a:spcBef>
                <a:spcPts val="0"/>
              </a:spcBef>
              <a:spcAft>
                <a:spcPts val="0"/>
              </a:spcAft>
              <a:buNone/>
            </a:pPr>
            <a:r>
              <a:t/>
            </a:r>
            <a:endParaRPr>
              <a:solidFill>
                <a:schemeClr val="dk1"/>
              </a:solidFill>
              <a:latin typeface="Inter"/>
              <a:ea typeface="Inter"/>
              <a:cs typeface="Inter"/>
              <a:sym typeface="Inter"/>
            </a:endParaRPr>
          </a:p>
          <a:p>
            <a:pPr indent="-304800" lvl="0" marL="457200" marR="0" rtl="0" algn="l">
              <a:lnSpc>
                <a:spcPct val="150000"/>
              </a:lnSpc>
              <a:spcBef>
                <a:spcPts val="0"/>
              </a:spcBef>
              <a:spcAft>
                <a:spcPts val="0"/>
              </a:spcAft>
              <a:buClr>
                <a:schemeClr val="dk1"/>
              </a:buClr>
              <a:buSzPts val="1200"/>
              <a:buFont typeface="Inter"/>
              <a:buAutoNum type="arabicPeriod"/>
            </a:pPr>
            <a:r>
              <a:rPr b="1" lang="en-GB" sz="1200">
                <a:solidFill>
                  <a:schemeClr val="dk1"/>
                </a:solidFill>
                <a:latin typeface="Inter"/>
                <a:ea typeface="Inter"/>
                <a:cs typeface="Inter"/>
                <a:sym typeface="Inter"/>
              </a:rPr>
              <a:t>Authorization Code Grant</a:t>
            </a:r>
            <a:endParaRPr b="1" sz="1200">
              <a:solidFill>
                <a:schemeClr val="dk1"/>
              </a:solidFill>
              <a:latin typeface="Inter"/>
              <a:ea typeface="Inter"/>
              <a:cs typeface="Inter"/>
              <a:sym typeface="Inter"/>
            </a:endParaRPr>
          </a:p>
          <a:p>
            <a:pPr indent="-304800" lvl="1" marL="914400" marR="0" rtl="0" algn="l">
              <a:lnSpc>
                <a:spcPct val="150000"/>
              </a:lnSpc>
              <a:spcBef>
                <a:spcPts val="0"/>
              </a:spcBef>
              <a:spcAft>
                <a:spcPts val="0"/>
              </a:spcAft>
              <a:buClr>
                <a:schemeClr val="dk1"/>
              </a:buClr>
              <a:buSzPts val="1200"/>
              <a:buFont typeface="Inter"/>
              <a:buAutoNum type="alphaLcPeriod"/>
            </a:pPr>
            <a:r>
              <a:rPr lang="en-GB" sz="1200">
                <a:solidFill>
                  <a:schemeClr val="dk1"/>
                </a:solidFill>
                <a:latin typeface="Inter"/>
                <a:ea typeface="Inter"/>
                <a:cs typeface="Inter"/>
                <a:sym typeface="Inter"/>
              </a:rPr>
              <a:t>User is redirected to identity server</a:t>
            </a:r>
            <a:endParaRPr sz="1200">
              <a:solidFill>
                <a:schemeClr val="dk1"/>
              </a:solidFill>
              <a:latin typeface="Inter"/>
              <a:ea typeface="Inter"/>
              <a:cs typeface="Inter"/>
              <a:sym typeface="Inter"/>
            </a:endParaRPr>
          </a:p>
          <a:p>
            <a:pPr indent="-304800" lvl="1" marL="914400" marR="0" rtl="0" algn="l">
              <a:lnSpc>
                <a:spcPct val="150000"/>
              </a:lnSpc>
              <a:spcBef>
                <a:spcPts val="0"/>
              </a:spcBef>
              <a:spcAft>
                <a:spcPts val="0"/>
              </a:spcAft>
              <a:buClr>
                <a:schemeClr val="dk1"/>
              </a:buClr>
              <a:buSzPts val="1200"/>
              <a:buFont typeface="Inter"/>
              <a:buAutoNum type="alphaLcPeriod"/>
            </a:pPr>
            <a:r>
              <a:rPr lang="en-GB" sz="1200">
                <a:solidFill>
                  <a:schemeClr val="dk1"/>
                </a:solidFill>
                <a:latin typeface="Inter"/>
                <a:ea typeface="Inter"/>
                <a:cs typeface="Inter"/>
                <a:sym typeface="Inter"/>
              </a:rPr>
              <a:t>Requires user approval before access token is issued</a:t>
            </a:r>
            <a:endParaRPr sz="1200">
              <a:solidFill>
                <a:schemeClr val="dk1"/>
              </a:solidFill>
              <a:latin typeface="Inter"/>
              <a:ea typeface="Inter"/>
              <a:cs typeface="Inter"/>
              <a:sym typeface="Inter"/>
            </a:endParaRPr>
          </a:p>
          <a:p>
            <a:pPr indent="0" lvl="0" marL="457200" marR="0" rtl="0" algn="l">
              <a:lnSpc>
                <a:spcPct val="150000"/>
              </a:lnSpc>
              <a:spcBef>
                <a:spcPts val="0"/>
              </a:spcBef>
              <a:spcAft>
                <a:spcPts val="0"/>
              </a:spcAft>
              <a:buNone/>
            </a:pPr>
            <a:r>
              <a:t/>
            </a:r>
            <a:endParaRPr sz="1200">
              <a:solidFill>
                <a:schemeClr val="dk1"/>
              </a:solidFill>
              <a:latin typeface="Inter"/>
              <a:ea typeface="Inter"/>
              <a:cs typeface="Inter"/>
              <a:sym typeface="Inter"/>
            </a:endParaRPr>
          </a:p>
          <a:p>
            <a:pPr indent="-304800" lvl="0" marL="457200" marR="0" rtl="0" algn="l">
              <a:lnSpc>
                <a:spcPct val="150000"/>
              </a:lnSpc>
              <a:spcBef>
                <a:spcPts val="0"/>
              </a:spcBef>
              <a:spcAft>
                <a:spcPts val="0"/>
              </a:spcAft>
              <a:buClr>
                <a:schemeClr val="dk1"/>
              </a:buClr>
              <a:buSzPts val="1200"/>
              <a:buFont typeface="Inter"/>
              <a:buAutoNum type="arabicPeriod"/>
            </a:pPr>
            <a:r>
              <a:rPr b="1" lang="en-GB" sz="1200">
                <a:solidFill>
                  <a:schemeClr val="dk1"/>
                </a:solidFill>
                <a:latin typeface="Inter"/>
                <a:ea typeface="Inter"/>
                <a:cs typeface="Inter"/>
                <a:sym typeface="Inter"/>
              </a:rPr>
              <a:t>Client Credentials Grant</a:t>
            </a:r>
            <a:endParaRPr b="1" sz="1200">
              <a:solidFill>
                <a:schemeClr val="dk1"/>
              </a:solidFill>
              <a:latin typeface="Inter"/>
              <a:ea typeface="Inter"/>
              <a:cs typeface="Inter"/>
              <a:sym typeface="Inter"/>
            </a:endParaRPr>
          </a:p>
          <a:p>
            <a:pPr indent="-304800" lvl="1" marL="914400" marR="0" rtl="0" algn="l">
              <a:lnSpc>
                <a:spcPct val="150000"/>
              </a:lnSpc>
              <a:spcBef>
                <a:spcPts val="0"/>
              </a:spcBef>
              <a:spcAft>
                <a:spcPts val="0"/>
              </a:spcAft>
              <a:buClr>
                <a:schemeClr val="dk1"/>
              </a:buClr>
              <a:buSzPts val="1200"/>
              <a:buFont typeface="Inter"/>
              <a:buAutoNum type="alphaLcPeriod"/>
            </a:pPr>
            <a:r>
              <a:rPr lang="en-GB" sz="1200">
                <a:solidFill>
                  <a:schemeClr val="dk1"/>
                </a:solidFill>
                <a:latin typeface="Inter"/>
                <a:ea typeface="Inter"/>
                <a:cs typeface="Inter"/>
                <a:sym typeface="Inter"/>
              </a:rPr>
              <a:t>For machine-to-machine authentication</a:t>
            </a:r>
            <a:endParaRPr sz="1200">
              <a:solidFill>
                <a:schemeClr val="dk1"/>
              </a:solidFill>
              <a:latin typeface="Inter"/>
              <a:ea typeface="Inter"/>
              <a:cs typeface="Inter"/>
              <a:sym typeface="Inter"/>
            </a:endParaRPr>
          </a:p>
          <a:p>
            <a:pPr indent="-304800" lvl="1" marL="914400" marR="0" rtl="0" algn="l">
              <a:lnSpc>
                <a:spcPct val="150000"/>
              </a:lnSpc>
              <a:spcBef>
                <a:spcPts val="0"/>
              </a:spcBef>
              <a:spcAft>
                <a:spcPts val="0"/>
              </a:spcAft>
              <a:buClr>
                <a:schemeClr val="dk1"/>
              </a:buClr>
              <a:buSzPts val="1200"/>
              <a:buFont typeface="Inter"/>
              <a:buAutoNum type="alphaLcPeriod"/>
            </a:pPr>
            <a:r>
              <a:rPr lang="en-GB" sz="1200">
                <a:solidFill>
                  <a:schemeClr val="dk1"/>
                </a:solidFill>
                <a:latin typeface="Inter"/>
                <a:ea typeface="Inter"/>
                <a:cs typeface="Inter"/>
                <a:sym typeface="Inter"/>
              </a:rPr>
              <a:t>Uses client ID + client secret</a:t>
            </a:r>
            <a:endParaRPr sz="1200">
              <a:solidFill>
                <a:schemeClr val="dk1"/>
              </a:solidFill>
              <a:latin typeface="Inter"/>
              <a:ea typeface="Inter"/>
              <a:cs typeface="Inter"/>
              <a:sym typeface="Inter"/>
            </a:endParaRPr>
          </a:p>
          <a:p>
            <a:pPr indent="0" lvl="0" marL="457200" marR="0" rtl="0" algn="l">
              <a:lnSpc>
                <a:spcPct val="150000"/>
              </a:lnSpc>
              <a:spcBef>
                <a:spcPts val="0"/>
              </a:spcBef>
              <a:spcAft>
                <a:spcPts val="0"/>
              </a:spcAft>
              <a:buNone/>
            </a:pPr>
            <a:r>
              <a:t/>
            </a:r>
            <a:endParaRPr sz="1200">
              <a:solidFill>
                <a:schemeClr val="dk1"/>
              </a:solidFill>
              <a:latin typeface="Inter"/>
              <a:ea typeface="Inter"/>
              <a:cs typeface="Inter"/>
              <a:sym typeface="Inter"/>
            </a:endParaRPr>
          </a:p>
          <a:p>
            <a:pPr indent="-304800" lvl="0" marL="457200" marR="0" rtl="0" algn="l">
              <a:lnSpc>
                <a:spcPct val="150000"/>
              </a:lnSpc>
              <a:spcBef>
                <a:spcPts val="0"/>
              </a:spcBef>
              <a:spcAft>
                <a:spcPts val="0"/>
              </a:spcAft>
              <a:buClr>
                <a:schemeClr val="dk1"/>
              </a:buClr>
              <a:buSzPts val="1200"/>
              <a:buFont typeface="Inter"/>
              <a:buAutoNum type="arabicPeriod"/>
            </a:pPr>
            <a:r>
              <a:rPr b="1" lang="en-GB" sz="1200">
                <a:solidFill>
                  <a:schemeClr val="dk1"/>
                </a:solidFill>
                <a:latin typeface="Inter"/>
                <a:ea typeface="Inter"/>
                <a:cs typeface="Inter"/>
                <a:sym typeface="Inter"/>
              </a:rPr>
              <a:t>Resource Owner Password Grant (legacy use only)</a:t>
            </a:r>
            <a:endParaRPr b="1" sz="1200">
              <a:solidFill>
                <a:schemeClr val="dk1"/>
              </a:solidFill>
              <a:latin typeface="Inter"/>
              <a:ea typeface="Inter"/>
              <a:cs typeface="Inter"/>
              <a:sym typeface="Inter"/>
            </a:endParaRPr>
          </a:p>
          <a:p>
            <a:pPr indent="-304800" lvl="1" marL="914400" marR="0" rtl="0" algn="l">
              <a:lnSpc>
                <a:spcPct val="150000"/>
              </a:lnSpc>
              <a:spcBef>
                <a:spcPts val="0"/>
              </a:spcBef>
              <a:spcAft>
                <a:spcPts val="0"/>
              </a:spcAft>
              <a:buClr>
                <a:schemeClr val="dk1"/>
              </a:buClr>
              <a:buSzPts val="1200"/>
              <a:buFont typeface="Inter"/>
              <a:buAutoNum type="alphaLcPeriod"/>
            </a:pPr>
            <a:r>
              <a:rPr lang="en-GB" sz="1200">
                <a:solidFill>
                  <a:schemeClr val="dk1"/>
                </a:solidFill>
                <a:latin typeface="Inter"/>
                <a:ea typeface="Inter"/>
                <a:cs typeface="Inter"/>
                <a:sym typeface="Inter"/>
              </a:rPr>
              <a:t>Client uses user’s own credentials to authenticate</a:t>
            </a:r>
            <a:endParaRPr sz="1200">
              <a:solidFill>
                <a:schemeClr val="dk1"/>
              </a:solidFill>
              <a:latin typeface="Inter"/>
              <a:ea typeface="Inter"/>
              <a:cs typeface="Inter"/>
              <a:sym typeface="Inter"/>
            </a:endParaRPr>
          </a:p>
          <a:p>
            <a:pPr indent="-311150" lvl="1" marL="914400" marR="0" rtl="0" algn="l">
              <a:lnSpc>
                <a:spcPct val="150000"/>
              </a:lnSpc>
              <a:spcBef>
                <a:spcPts val="0"/>
              </a:spcBef>
              <a:spcAft>
                <a:spcPts val="0"/>
              </a:spcAft>
              <a:buClr>
                <a:schemeClr val="dk1"/>
              </a:buClr>
              <a:buSzPts val="1300"/>
              <a:buFont typeface="Inter"/>
              <a:buAutoNum type="alphaLcPeriod"/>
            </a:pPr>
            <a:r>
              <a:rPr b="1" lang="en-GB" sz="1300">
                <a:solidFill>
                  <a:schemeClr val="dk1"/>
                </a:solidFill>
                <a:latin typeface="Inter"/>
                <a:ea typeface="Inter"/>
                <a:cs typeface="Inter"/>
                <a:sym typeface="Inter"/>
              </a:rPr>
              <a:t>⚠️ Not recommended — considered insecure</a:t>
            </a:r>
            <a:endParaRPr b="1" sz="1300">
              <a:solidFill>
                <a:schemeClr val="dk1"/>
              </a:solidFill>
              <a:latin typeface="Inter"/>
              <a:ea typeface="Inter"/>
              <a:cs typeface="Inter"/>
              <a:sym typeface="Inter"/>
            </a:endParaRPr>
          </a:p>
          <a:p>
            <a:pPr indent="-311150" lvl="1" marL="914400" marR="0" rtl="0" algn="l">
              <a:lnSpc>
                <a:spcPct val="150000"/>
              </a:lnSpc>
              <a:spcBef>
                <a:spcPts val="0"/>
              </a:spcBef>
              <a:spcAft>
                <a:spcPts val="0"/>
              </a:spcAft>
              <a:buClr>
                <a:schemeClr val="dk1"/>
              </a:buClr>
              <a:buSzPts val="1300"/>
              <a:buFont typeface="Inter"/>
              <a:buAutoNum type="alphaLcPeriod"/>
            </a:pPr>
            <a:r>
              <a:rPr b="1" lang="en-GB" sz="1300">
                <a:solidFill>
                  <a:schemeClr val="dk1"/>
                </a:solidFill>
                <a:latin typeface="Inter"/>
                <a:ea typeface="Inter"/>
                <a:cs typeface="Inter"/>
                <a:sym typeface="Inter"/>
              </a:rPr>
              <a:t>Provided for legacy compatibility only</a:t>
            </a:r>
            <a:endParaRPr b="1" sz="1300">
              <a:solidFill>
                <a:schemeClr val="dk1"/>
              </a:solidFill>
              <a:latin typeface="Inter"/>
              <a:ea typeface="Inter"/>
              <a:cs typeface="Inter"/>
              <a:sym typeface="Inte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9" name="Shape 289"/>
        <p:cNvGrpSpPr/>
        <p:nvPr/>
      </p:nvGrpSpPr>
      <p:grpSpPr>
        <a:xfrm>
          <a:off x="0" y="0"/>
          <a:ext cx="0" cy="0"/>
          <a:chOff x="0" y="0"/>
          <a:chExt cx="0" cy="0"/>
        </a:xfrm>
      </p:grpSpPr>
      <p:sp>
        <p:nvSpPr>
          <p:cNvPr id="290" name="Google Shape;290;p47"/>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1" name="Google Shape;291;p47"/>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292" name="Google Shape;292;p47"/>
          <p:cNvSpPr txBox="1"/>
          <p:nvPr/>
        </p:nvSpPr>
        <p:spPr>
          <a:xfrm>
            <a:off x="720000" y="157075"/>
            <a:ext cx="7023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OAuth 2.0</a:t>
            </a:r>
            <a:endParaRPr b="1" sz="3800">
              <a:solidFill>
                <a:srgbClr val="03031C"/>
              </a:solidFill>
              <a:latin typeface="Inter"/>
              <a:ea typeface="Inter"/>
              <a:cs typeface="Inter"/>
              <a:sym typeface="Inter"/>
            </a:endParaRPr>
          </a:p>
        </p:txBody>
      </p:sp>
      <p:sp>
        <p:nvSpPr>
          <p:cNvPr id="293" name="Google Shape;293;p47"/>
          <p:cNvSpPr/>
          <p:nvPr/>
        </p:nvSpPr>
        <p:spPr>
          <a:xfrm>
            <a:off x="641350" y="833450"/>
            <a:ext cx="3876300" cy="4019100"/>
          </a:xfrm>
          <a:prstGeom prst="rect">
            <a:avLst/>
          </a:prstGeom>
          <a:noFill/>
          <a:ln>
            <a:noFill/>
          </a:ln>
        </p:spPr>
        <p:txBody>
          <a:bodyPr anchorCtr="0" anchor="t" bIns="45700" lIns="45700" spcFirstLastPara="1" rIns="45700" wrap="square" tIns="45700">
            <a:noAutofit/>
          </a:bodyPr>
          <a:lstStyle/>
          <a:p>
            <a:pPr indent="0" lvl="0" marL="0" marR="0" rtl="0" algn="l">
              <a:lnSpc>
                <a:spcPct val="150000"/>
              </a:lnSpc>
              <a:spcBef>
                <a:spcPts val="0"/>
              </a:spcBef>
              <a:spcAft>
                <a:spcPts val="0"/>
              </a:spcAft>
              <a:buNone/>
            </a:pPr>
            <a:r>
              <a:rPr b="1" lang="en-GB">
                <a:solidFill>
                  <a:schemeClr val="dk1"/>
                </a:solidFill>
                <a:latin typeface="Inter"/>
                <a:ea typeface="Inter"/>
                <a:cs typeface="Inter"/>
                <a:sym typeface="Inter"/>
              </a:rPr>
              <a:t>Manage Client Access Policies</a:t>
            </a:r>
            <a:endParaRPr b="1">
              <a:solidFill>
                <a:schemeClr val="dk1"/>
              </a:solidFill>
              <a:latin typeface="Inter"/>
              <a:ea typeface="Inter"/>
              <a:cs typeface="Inter"/>
              <a:sym typeface="Inter"/>
            </a:endParaRPr>
          </a:p>
          <a:p>
            <a:pPr indent="-317500" lvl="0" marL="45720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Access tokens issued by Tyk are </a:t>
            </a:r>
            <a:r>
              <a:rPr b="1" lang="en-GB">
                <a:solidFill>
                  <a:schemeClr val="dk1"/>
                </a:solidFill>
                <a:latin typeface="Inter"/>
                <a:ea typeface="Inter"/>
                <a:cs typeface="Inter"/>
                <a:sym typeface="Inter"/>
              </a:rPr>
              <a:t>standard session objects</a:t>
            </a:r>
            <a:endParaRPr b="1">
              <a:solidFill>
                <a:schemeClr val="dk1"/>
              </a:solidFill>
              <a:latin typeface="Inter"/>
              <a:ea typeface="Inter"/>
              <a:cs typeface="Inter"/>
              <a:sym typeface="Inter"/>
            </a:endParaRPr>
          </a:p>
          <a:p>
            <a:pPr indent="-317500" lvl="0" marL="45720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Can be bound to security policies at the time of token creation</a:t>
            </a:r>
            <a:endParaRPr>
              <a:solidFill>
                <a:schemeClr val="dk1"/>
              </a:solidFill>
              <a:latin typeface="Inter"/>
              <a:ea typeface="Inter"/>
              <a:cs typeface="Inter"/>
              <a:sym typeface="Inter"/>
            </a:endParaRPr>
          </a:p>
          <a:p>
            <a:pPr indent="-317500" lvl="0" marL="45720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Policies can define:</a:t>
            </a:r>
            <a:endParaRPr>
              <a:solidFill>
                <a:schemeClr val="dk1"/>
              </a:solidFill>
              <a:latin typeface="Inter"/>
              <a:ea typeface="Inter"/>
              <a:cs typeface="Inter"/>
              <a:sym typeface="Inter"/>
            </a:endParaRPr>
          </a:p>
          <a:p>
            <a:pPr indent="-317500" lvl="1" marL="91440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Rate limits</a:t>
            </a:r>
            <a:endParaRPr>
              <a:solidFill>
                <a:schemeClr val="dk1"/>
              </a:solidFill>
              <a:latin typeface="Inter"/>
              <a:ea typeface="Inter"/>
              <a:cs typeface="Inter"/>
              <a:sym typeface="Inter"/>
            </a:endParaRPr>
          </a:p>
          <a:p>
            <a:pPr indent="-317500" lvl="1" marL="91440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Quotas</a:t>
            </a:r>
            <a:endParaRPr>
              <a:solidFill>
                <a:schemeClr val="dk1"/>
              </a:solidFill>
              <a:latin typeface="Inter"/>
              <a:ea typeface="Inter"/>
              <a:cs typeface="Inter"/>
              <a:sym typeface="Inter"/>
            </a:endParaRPr>
          </a:p>
          <a:p>
            <a:pPr indent="-317500" lvl="1" marL="91440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Access rights</a:t>
            </a:r>
            <a:endParaRPr>
              <a:solidFill>
                <a:schemeClr val="dk1"/>
              </a:solidFill>
              <a:latin typeface="Inter"/>
              <a:ea typeface="Inter"/>
              <a:cs typeface="Inter"/>
              <a:sym typeface="Inter"/>
            </a:endParaRPr>
          </a:p>
          <a:p>
            <a:pPr indent="0" lvl="0" marL="457200" marR="0" rtl="0" algn="l">
              <a:lnSpc>
                <a:spcPct val="150000"/>
              </a:lnSpc>
              <a:spcBef>
                <a:spcPts val="0"/>
              </a:spcBef>
              <a:spcAft>
                <a:spcPts val="0"/>
              </a:spcAft>
              <a:buNone/>
            </a:pPr>
            <a:r>
              <a:t/>
            </a:r>
            <a:endParaRPr>
              <a:solidFill>
                <a:schemeClr val="dk1"/>
              </a:solidFill>
              <a:latin typeface="Inter"/>
              <a:ea typeface="Inter"/>
              <a:cs typeface="Inter"/>
              <a:sym typeface="Inter"/>
            </a:endParaRPr>
          </a:p>
          <a:p>
            <a:pPr indent="-317500" lvl="0" marL="45720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Policies applied to a </a:t>
            </a:r>
            <a:r>
              <a:rPr b="1" lang="en-GB">
                <a:solidFill>
                  <a:schemeClr val="dk1"/>
                </a:solidFill>
                <a:latin typeface="Inter"/>
                <a:ea typeface="Inter"/>
                <a:cs typeface="Inter"/>
                <a:sym typeface="Inter"/>
              </a:rPr>
              <a:t>Client App</a:t>
            </a:r>
            <a:r>
              <a:rPr lang="en-GB">
                <a:solidFill>
                  <a:schemeClr val="dk1"/>
                </a:solidFill>
                <a:latin typeface="Inter"/>
                <a:ea typeface="Inter"/>
                <a:cs typeface="Inter"/>
                <a:sym typeface="Inter"/>
              </a:rPr>
              <a:t> affect all tokens issued for it</a:t>
            </a:r>
            <a:endParaRPr>
              <a:solidFill>
                <a:schemeClr val="dk1"/>
              </a:solidFill>
              <a:latin typeface="Inter"/>
              <a:ea typeface="Inter"/>
              <a:cs typeface="Inter"/>
              <a:sym typeface="Inter"/>
            </a:endParaRPr>
          </a:p>
        </p:txBody>
      </p:sp>
      <p:sp>
        <p:nvSpPr>
          <p:cNvPr id="294" name="Google Shape;294;p47"/>
          <p:cNvSpPr/>
          <p:nvPr/>
        </p:nvSpPr>
        <p:spPr>
          <a:xfrm>
            <a:off x="4832350" y="833450"/>
            <a:ext cx="3876300" cy="4019100"/>
          </a:xfrm>
          <a:prstGeom prst="rect">
            <a:avLst/>
          </a:prstGeom>
          <a:noFill/>
          <a:ln>
            <a:noFill/>
          </a:ln>
        </p:spPr>
        <p:txBody>
          <a:bodyPr anchorCtr="0" anchor="t" bIns="45700" lIns="45700" spcFirstLastPara="1" rIns="45700" wrap="square" tIns="45700">
            <a:noAutofit/>
          </a:bodyPr>
          <a:lstStyle/>
          <a:p>
            <a:pPr indent="0" lvl="0" marL="0" marR="0" rtl="0" algn="l">
              <a:lnSpc>
                <a:spcPct val="150000"/>
              </a:lnSpc>
              <a:spcBef>
                <a:spcPts val="0"/>
              </a:spcBef>
              <a:spcAft>
                <a:spcPts val="0"/>
              </a:spcAft>
              <a:buNone/>
            </a:pPr>
            <a:r>
              <a:rPr b="1" lang="en-GB">
                <a:solidFill>
                  <a:schemeClr val="dk1"/>
                </a:solidFill>
                <a:latin typeface="Inter"/>
                <a:ea typeface="Inter"/>
                <a:cs typeface="Inter"/>
                <a:sym typeface="Inter"/>
              </a:rPr>
              <a:t>Client App Registration</a:t>
            </a:r>
            <a:endParaRPr b="1">
              <a:solidFill>
                <a:schemeClr val="dk1"/>
              </a:solidFill>
              <a:latin typeface="Inter"/>
              <a:ea typeface="Inter"/>
              <a:cs typeface="Inter"/>
              <a:sym typeface="Inter"/>
            </a:endParaRPr>
          </a:p>
          <a:p>
            <a:pPr indent="-317500" lvl="0" marL="45720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All grant types start with registering a Client App in the Tyk Dashboard</a:t>
            </a:r>
            <a:endParaRPr>
              <a:solidFill>
                <a:schemeClr val="dk1"/>
              </a:solidFill>
              <a:latin typeface="Inter"/>
              <a:ea typeface="Inter"/>
              <a:cs typeface="Inter"/>
              <a:sym typeface="Inter"/>
            </a:endParaRPr>
          </a:p>
          <a:p>
            <a:pPr indent="-317500" lvl="0" marL="45720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Registration generates:</a:t>
            </a:r>
            <a:endParaRPr>
              <a:solidFill>
                <a:schemeClr val="dk1"/>
              </a:solidFill>
              <a:latin typeface="Inter"/>
              <a:ea typeface="Inter"/>
              <a:cs typeface="Inter"/>
              <a:sym typeface="Inter"/>
            </a:endParaRPr>
          </a:p>
          <a:p>
            <a:pPr indent="-317500" lvl="1" marL="91440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Client ID</a:t>
            </a:r>
            <a:endParaRPr>
              <a:solidFill>
                <a:schemeClr val="dk1"/>
              </a:solidFill>
              <a:latin typeface="Inter"/>
              <a:ea typeface="Inter"/>
              <a:cs typeface="Inter"/>
              <a:sym typeface="Inter"/>
            </a:endParaRPr>
          </a:p>
          <a:p>
            <a:pPr indent="-317500" lvl="1" marL="91440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Client Secret</a:t>
            </a:r>
            <a:endParaRPr>
              <a:solidFill>
                <a:schemeClr val="dk1"/>
              </a:solidFill>
              <a:latin typeface="Inter"/>
              <a:ea typeface="Inter"/>
              <a:cs typeface="Inter"/>
              <a:sym typeface="Inter"/>
            </a:endParaRPr>
          </a:p>
          <a:p>
            <a:pPr indent="-317500" lvl="0" marL="457200" marR="0" rtl="0" algn="l">
              <a:lnSpc>
                <a:spcPct val="150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These credentials are required in future token requests</a:t>
            </a:r>
            <a:endParaRPr>
              <a:solidFill>
                <a:schemeClr val="dk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yk main slide deck">
  <a:themeElements>
    <a:clrScheme name="Simple Light">
      <a:dk1>
        <a:srgbClr val="03031C"/>
      </a:dk1>
      <a:lt1>
        <a:srgbClr val="FFFFFF"/>
      </a:lt1>
      <a:dk2>
        <a:srgbClr val="8438FA"/>
      </a:dk2>
      <a:lt2>
        <a:srgbClr val="5900CB"/>
      </a:lt2>
      <a:accent1>
        <a:srgbClr val="FFC743"/>
      </a:accent1>
      <a:accent2>
        <a:srgbClr val="FFF500"/>
      </a:accent2>
      <a:accent3>
        <a:srgbClr val="20EDBA"/>
      </a:accent3>
      <a:accent4>
        <a:srgbClr val="00A3A0"/>
      </a:accent4>
      <a:accent5>
        <a:srgbClr val="BB11FF"/>
      </a:accent5>
      <a:accent6>
        <a:srgbClr val="EA26A9"/>
      </a:accent6>
      <a:hlink>
        <a:srgbClr val="E3CE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