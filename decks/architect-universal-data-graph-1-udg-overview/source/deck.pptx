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p:regular r:id="rId22"/>
      <p:bold r:id="rId23"/>
      <p:italic r:id="rId24"/>
      <p:boldItalic r:id="rId25"/>
    </p:embeddedFont>
    <p:embeddedFont>
      <p:font typeface="Roboto Mono"/>
      <p:regular r:id="rId26"/>
      <p:bold r:id="rId27"/>
      <p:italic r:id="rId28"/>
      <p:boldItalic r:id="rId29"/>
    </p:embeddedFont>
    <p:embeddedFont>
      <p:font typeface="Inter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regular.fntdata"/><Relationship Id="rId21" Type="http://schemas.openxmlformats.org/officeDocument/2006/relationships/slide" Target="slides/slide16.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Inter-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fntdata"/><Relationship Id="rId30" Type="http://schemas.openxmlformats.org/officeDocument/2006/relationships/font" Target="fonts/InterMedium-regular.fntdata"/><Relationship Id="rId11" Type="http://schemas.openxmlformats.org/officeDocument/2006/relationships/slide" Target="slides/slide6.xml"/><Relationship Id="rId33" Type="http://schemas.openxmlformats.org/officeDocument/2006/relationships/font" Target="fonts/InterMedium-boldItalic.fntdata"/><Relationship Id="rId10" Type="http://schemas.openxmlformats.org/officeDocument/2006/relationships/slide" Target="slides/slide5.xml"/><Relationship Id="rId32" Type="http://schemas.openxmlformats.org/officeDocument/2006/relationships/font" Target="fonts/InterMedium-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fe0471c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fe0471c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fe0471ca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5fe0471ca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The Universal Data Graph, or UDG, is a powerful feature in Tyk that allows you to consolidate multiple APIs—whether REST or GraphQL—into a single GraphQL interface.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What’s unique here is that you don’t need to spin up or maintain a GraphQL server of your own. Instead, UDG lets you map and configure your existing REST APIs directly through Tyk.</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This means that Tyk becomes the hub for all your API integration needs—both internal microservices and external APIs—under one query layer.</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Even better, because this is built on Tyk, your Graph inherits all the benefits: authentication, rate limiting, monitoring, and extensible middleware, making it not only powerful but also secure and scalable by design.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fe0471c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5fe0471c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An extension orphan is an unresolved extension causing federation failure.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This happens if you extend a type that isn’t defined in exactly one subgraph.</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Make sure every type extension has a clear base type in only one subgraph to avoid errors.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GB">
                <a:solidFill>
                  <a:schemeClr val="dk1"/>
                </a:solidFill>
              </a:rPr>
              <a:t>For example, the type named Person does not need to be defined in Subgraph 1, but it must be defined in exactly one subgraph (see Shared Types: extension of shared types is not possible, so extending a type that is defined in multiple subgraphs will produce an error).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fe0471ca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fe0471ca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traditional GraphQL, you often write </a:t>
            </a:r>
            <a:r>
              <a:rPr i="1" lang="en-GB">
                <a:solidFill>
                  <a:schemeClr val="dk1"/>
                </a:solidFill>
              </a:rPr>
              <a:t>resolvers</a:t>
            </a:r>
            <a:r>
              <a:rPr lang="en-GB">
                <a:solidFill>
                  <a:schemeClr val="dk1"/>
                </a:solidFill>
              </a:rPr>
              <a:t> — small functions that handle fetching data for each field in your schema. These need to be implemented manually and tied to specific types and fields.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Tyk’s Universal Data Graph replaces resolvers with a more streamlined approach: </a:t>
            </a:r>
            <a:r>
              <a:rPr b="1" lang="en-GB">
                <a:solidFill>
                  <a:schemeClr val="dk1"/>
                </a:solidFill>
              </a:rPr>
              <a:t>DataSources</a:t>
            </a:r>
            <a:r>
              <a:rPr lang="en-GB">
                <a:solidFill>
                  <a:schemeClr val="dk1"/>
                </a:solidFill>
              </a:rPr>
              <a:t>. These are config-based, meaning you don’t have to write code — you just tell the engine where and how to get the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There are two kinds of DataSources: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Internal</a:t>
            </a:r>
            <a:r>
              <a:rPr lang="en-GB">
                <a:solidFill>
                  <a:schemeClr val="dk1"/>
                </a:solidFill>
              </a:rPr>
              <a:t>: These are your existing Tyk-managed APIs, like REST or SOAP. You can apply Tyk’s built-in middleware — for example, for auth, transformation, or rate limiting.</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External</a:t>
            </a:r>
            <a:r>
              <a:rPr lang="en-GB">
                <a:solidFill>
                  <a:schemeClr val="dk1"/>
                </a:solidFill>
              </a:rPr>
              <a:t>: These are APIs you haven’t added to Tyk yet. UDG allows you to include them in your graph right away. Later, if you want to bring them into Tyk to use middleware or analytics, that transition is easy.</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flexibility gives you a </a:t>
            </a:r>
            <a:r>
              <a:rPr b="1" lang="en-GB">
                <a:solidFill>
                  <a:schemeClr val="dk1"/>
                </a:solidFill>
              </a:rPr>
              <a:t>low-code way</a:t>
            </a:r>
            <a:r>
              <a:rPr lang="en-GB">
                <a:solidFill>
                  <a:schemeClr val="dk1"/>
                </a:solidFill>
              </a:rPr>
              <a:t> to build powerful, secure, and scalable GraphQL endpoints.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fe0471ca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fe0471ca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revisit a common use case: querying a user by ID.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GraphQL, we define a field like </a:t>
            </a:r>
            <a:r>
              <a:rPr lang="en-GB">
                <a:solidFill>
                  <a:srgbClr val="188038"/>
                </a:solidFill>
                <a:latin typeface="Roboto Mono"/>
                <a:ea typeface="Roboto Mono"/>
                <a:cs typeface="Roboto Mono"/>
                <a:sym typeface="Roboto Mono"/>
              </a:rPr>
              <a:t>user(id: Int!)</a:t>
            </a:r>
            <a:r>
              <a:rPr lang="en-GB">
                <a:solidFill>
                  <a:schemeClr val="dk1"/>
                </a:solidFill>
              </a:rPr>
              <a:t> that returns a User object.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question is — how do we take that </a:t>
            </a:r>
            <a:r>
              <a:rPr lang="en-GB">
                <a:solidFill>
                  <a:srgbClr val="188038"/>
                </a:solidFill>
                <a:latin typeface="Roboto Mono"/>
                <a:ea typeface="Roboto Mono"/>
                <a:cs typeface="Roboto Mono"/>
                <a:sym typeface="Roboto Mono"/>
              </a:rPr>
              <a:t>id</a:t>
            </a:r>
            <a:r>
              <a:rPr lang="en-GB">
                <a:solidFill>
                  <a:schemeClr val="dk1"/>
                </a:solidFill>
              </a:rPr>
              <a:t> argument and pass it into our REST API URL?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where Tyk’s Universal Data Graph (UDG) becomes powerful. It allows you to </a:t>
            </a:r>
            <a:r>
              <a:rPr b="1" lang="en-GB">
                <a:solidFill>
                  <a:schemeClr val="dk1"/>
                </a:solidFill>
              </a:rPr>
              <a:t>inject</a:t>
            </a:r>
            <a:r>
              <a:rPr lang="en-GB">
                <a:solidFill>
                  <a:schemeClr val="dk1"/>
                </a:solidFill>
              </a:rPr>
              <a:t> GraphQL arguments directly into the REST call using simple templating.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fe0471ca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fe0471ca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configuring your DataSource, Tyk provides a flexible way to map GraphQL arguments into your REST 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case, to hit an endpoint like </a:t>
            </a:r>
            <a:r>
              <a:rPr lang="en-GB">
                <a:solidFill>
                  <a:srgbClr val="188038"/>
                </a:solidFill>
                <a:latin typeface="Roboto Mono"/>
                <a:ea typeface="Roboto Mono"/>
                <a:cs typeface="Roboto Mono"/>
                <a:sym typeface="Roboto Mono"/>
              </a:rPr>
              <a:t>/user/123</a:t>
            </a:r>
            <a:r>
              <a:rPr lang="en-GB">
                <a:solidFill>
                  <a:schemeClr val="dk1"/>
                </a:solidFill>
              </a:rPr>
              <a:t>, you use templating like this:</a:t>
            </a:r>
            <a:br>
              <a:rPr lang="en-GB">
                <a:solidFill>
                  <a:schemeClr val="dk1"/>
                </a:solidFill>
              </a:rPr>
            </a:br>
            <a:r>
              <a:rPr lang="en-GB">
                <a:solidFill>
                  <a:schemeClr val="dk1"/>
                </a:solidFill>
              </a:rPr>
              <a:t> </a:t>
            </a:r>
            <a:r>
              <a:rPr lang="en-GB">
                <a:solidFill>
                  <a:srgbClr val="188038"/>
                </a:solidFill>
                <a:latin typeface="Roboto Mono"/>
                <a:ea typeface="Roboto Mono"/>
                <a:cs typeface="Roboto Mono"/>
                <a:sym typeface="Roboto Mono"/>
              </a:rPr>
              <a:t>https://example.com/user/{{ .arguments.id }}</a:t>
            </a:r>
            <a:endParaRPr>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you type the curly brace </a:t>
            </a:r>
            <a:r>
              <a:rPr lang="en-GB">
                <a:solidFill>
                  <a:srgbClr val="188038"/>
                </a:solidFill>
                <a:latin typeface="Roboto Mono"/>
                <a:ea typeface="Roboto Mono"/>
                <a:cs typeface="Roboto Mono"/>
                <a:sym typeface="Roboto Mono"/>
              </a:rPr>
              <a:t>{</a:t>
            </a:r>
            <a:r>
              <a:rPr lang="en-GB">
                <a:solidFill>
                  <a:schemeClr val="dk1"/>
                </a:solidFill>
              </a:rPr>
              <a:t>, Tyk shows a dropdown with all the arguments and fields you can use — it’s very intuitive.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setup allows your UDG to resolve data dynamically and efficiently, making it easier to integrate with your existing APIs without writing extra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fe0471ca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fe0471ca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fe0471ca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fe0471ca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Universal Data Graph, field mappings are automatic if your GraphQL schema matches the structure of your REST API’s JSON response.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the ideal scenario. As shown here, if the API returns id and name, and those fields are present in your GraphQL schema, no extra configuration is required — UDG will resolve them automatically.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fe0471ca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fe0471ca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the field names don’t match, UDG cannot automatically resolve the response.</a:t>
            </a:r>
            <a:br>
              <a:rPr lang="en-GB">
                <a:solidFill>
                  <a:schemeClr val="dk1"/>
                </a:solidFill>
              </a:rPr>
            </a:br>
            <a:r>
              <a:rPr lang="en-GB">
                <a:solidFill>
                  <a:schemeClr val="dk1"/>
                </a:solidFill>
              </a:rPr>
              <a:t> In this example, the API returns </a:t>
            </a:r>
            <a:r>
              <a:rPr lang="en-GB">
                <a:solidFill>
                  <a:srgbClr val="188038"/>
                </a:solidFill>
                <a:latin typeface="Roboto Mono"/>
                <a:ea typeface="Roboto Mono"/>
                <a:cs typeface="Roboto Mono"/>
                <a:sym typeface="Roboto Mono"/>
              </a:rPr>
              <a:t>user_name</a:t>
            </a:r>
            <a:r>
              <a:rPr lang="en-GB">
                <a:solidFill>
                  <a:schemeClr val="dk1"/>
                </a:solidFill>
              </a:rPr>
              <a:t>, but your schema defines the field as </a:t>
            </a:r>
            <a:r>
              <a:rPr lang="en-GB">
                <a:solidFill>
                  <a:srgbClr val="188038"/>
                </a:solidFill>
                <a:latin typeface="Roboto Mono"/>
                <a:ea typeface="Roboto Mono"/>
                <a:cs typeface="Roboto Mono"/>
                <a:sym typeface="Roboto Mono"/>
              </a:rPr>
              <a:t>name</a:t>
            </a:r>
            <a:r>
              <a:rPr lang="en-GB">
                <a:solidFill>
                  <a:schemeClr val="dk1"/>
                </a:solidFill>
              </a:rPr>
              <a:t>.</a:t>
            </a:r>
            <a:br>
              <a:rPr lang="en-GB">
                <a:solidFill>
                  <a:schemeClr val="dk1"/>
                </a:solidFill>
              </a:rPr>
            </a:br>
            <a:r>
              <a:rPr lang="en-GB">
                <a:solidFill>
                  <a:schemeClr val="dk1"/>
                </a:solidFill>
              </a:rPr>
              <a:t> To fix this, enable field mapping manually and point the </a:t>
            </a:r>
            <a:r>
              <a:rPr lang="en-GB">
                <a:solidFill>
                  <a:srgbClr val="188038"/>
                </a:solidFill>
                <a:latin typeface="Roboto Mono"/>
                <a:ea typeface="Roboto Mono"/>
                <a:cs typeface="Roboto Mono"/>
                <a:sym typeface="Roboto Mono"/>
              </a:rPr>
              <a:t>name</a:t>
            </a:r>
            <a:r>
              <a:rPr lang="en-GB">
                <a:solidFill>
                  <a:schemeClr val="dk1"/>
                </a:solidFill>
              </a:rPr>
              <a:t> field to </a:t>
            </a:r>
            <a:r>
              <a:rPr lang="en-GB">
                <a:solidFill>
                  <a:srgbClr val="188038"/>
                </a:solidFill>
                <a:latin typeface="Roboto Mono"/>
                <a:ea typeface="Roboto Mono"/>
                <a:cs typeface="Roboto Mono"/>
                <a:sym typeface="Roboto Mono"/>
              </a:rPr>
              <a:t>user_name</a:t>
            </a:r>
            <a:r>
              <a:rPr lang="en-GB">
                <a:solidFill>
                  <a:schemeClr val="dk1"/>
                </a:solidFill>
              </a:rPr>
              <a:t>.</a:t>
            </a:r>
            <a:br>
              <a:rPr lang="en-GB">
                <a:solidFill>
                  <a:schemeClr val="dk1"/>
                </a:solidFill>
              </a:rPr>
            </a:br>
            <a:r>
              <a:rPr lang="en-GB">
                <a:solidFill>
                  <a:schemeClr val="dk1"/>
                </a:solidFill>
              </a:rPr>
              <a:t> For nested JSON fields, use dot notation like </a:t>
            </a:r>
            <a:r>
              <a:rPr lang="en-GB">
                <a:solidFill>
                  <a:srgbClr val="188038"/>
                </a:solidFill>
                <a:latin typeface="Roboto Mono"/>
                <a:ea typeface="Roboto Mono"/>
                <a:cs typeface="Roboto Mono"/>
                <a:sym typeface="Roboto Mono"/>
              </a:rPr>
              <a:t>user.full_name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fe0471ca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5fe0471ca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With Universal Data Graph, you can chain API responses using fields from one API to query another.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example, we start with the People API, which gives us a driverLicenseID.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That field becomes the key to fetch full driver license details from a separate API.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fe0471ca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5fe0471ca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 that we’ve defined our schema, the next step is to connect each field to the appropriate data source using URLs.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simple fields like </a:t>
            </a:r>
            <a:r>
              <a:rPr lang="en-GB">
                <a:solidFill>
                  <a:srgbClr val="188038"/>
                </a:solidFill>
                <a:latin typeface="Roboto Mono"/>
                <a:ea typeface="Roboto Mono"/>
                <a:cs typeface="Roboto Mono"/>
                <a:sym typeface="Roboto Mono"/>
              </a:rPr>
              <a:t>people</a:t>
            </a:r>
            <a:r>
              <a:rPr lang="en-GB">
                <a:solidFill>
                  <a:schemeClr val="dk1"/>
                </a:solidFill>
              </a:rPr>
              <a:t>, you can use a static URL.</a:t>
            </a:r>
            <a:br>
              <a:rPr lang="en-GB">
                <a:solidFill>
                  <a:schemeClr val="dk1"/>
                </a:solidFill>
              </a:rPr>
            </a:br>
            <a:r>
              <a:rPr lang="en-GB">
                <a:solidFill>
                  <a:schemeClr val="dk1"/>
                </a:solidFill>
              </a:rPr>
              <a:t> But when arguments are involved — like the </a:t>
            </a:r>
            <a:r>
              <a:rPr lang="en-GB">
                <a:solidFill>
                  <a:srgbClr val="188038"/>
                </a:solidFill>
                <a:latin typeface="Roboto Mono"/>
                <a:ea typeface="Roboto Mono"/>
                <a:cs typeface="Roboto Mono"/>
                <a:sym typeface="Roboto Mono"/>
              </a:rPr>
              <a:t>id</a:t>
            </a:r>
            <a:r>
              <a:rPr lang="en-GB">
                <a:solidFill>
                  <a:schemeClr val="dk1"/>
                </a:solidFill>
              </a:rPr>
              <a:t> in </a:t>
            </a:r>
            <a:r>
              <a:rPr lang="en-GB">
                <a:solidFill>
                  <a:srgbClr val="188038"/>
                </a:solidFill>
                <a:latin typeface="Roboto Mono"/>
                <a:ea typeface="Roboto Mono"/>
                <a:cs typeface="Roboto Mono"/>
                <a:sym typeface="Roboto Mono"/>
              </a:rPr>
              <a:t>person(id: Int!)</a:t>
            </a:r>
            <a:r>
              <a:rPr lang="en-GB">
                <a:solidFill>
                  <a:schemeClr val="dk1"/>
                </a:solidFill>
              </a:rPr>
              <a:t> — you use the </a:t>
            </a:r>
            <a:r>
              <a:rPr lang="en-GB">
                <a:solidFill>
                  <a:srgbClr val="188038"/>
                </a:solidFill>
                <a:latin typeface="Roboto Mono"/>
                <a:ea typeface="Roboto Mono"/>
                <a:cs typeface="Roboto Mono"/>
                <a:sym typeface="Roboto Mono"/>
              </a:rPr>
              <a:t>.arguments</a:t>
            </a:r>
            <a:r>
              <a:rPr lang="en-GB">
                <a:solidFill>
                  <a:schemeClr val="dk1"/>
                </a:solidFill>
              </a:rPr>
              <a:t> placeholder to inject the argument into the URL.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nested objects like </a:t>
            </a:r>
            <a:r>
              <a:rPr lang="en-GB">
                <a:solidFill>
                  <a:srgbClr val="188038"/>
                </a:solidFill>
                <a:latin typeface="Roboto Mono"/>
                <a:ea typeface="Roboto Mono"/>
                <a:cs typeface="Roboto Mono"/>
                <a:sym typeface="Roboto Mono"/>
              </a:rPr>
              <a:t>driverLicense</a:t>
            </a:r>
            <a:r>
              <a:rPr lang="en-GB">
                <a:solidFill>
                  <a:schemeClr val="dk1"/>
                </a:solidFill>
              </a:rPr>
              <a:t>, we want to use a field (</a:t>
            </a:r>
            <a:r>
              <a:rPr lang="en-GB">
                <a:solidFill>
                  <a:srgbClr val="188038"/>
                </a:solidFill>
                <a:latin typeface="Roboto Mono"/>
                <a:ea typeface="Roboto Mono"/>
                <a:cs typeface="Roboto Mono"/>
                <a:sym typeface="Roboto Mono"/>
              </a:rPr>
              <a:t>driverLicenseID</a:t>
            </a:r>
            <a:r>
              <a:rPr lang="en-GB">
                <a:solidFill>
                  <a:schemeClr val="dk1"/>
                </a:solidFill>
              </a:rPr>
              <a:t>) from the parent object (</a:t>
            </a:r>
            <a:r>
              <a:rPr lang="en-GB">
                <a:solidFill>
                  <a:srgbClr val="188038"/>
                </a:solidFill>
                <a:latin typeface="Roboto Mono"/>
                <a:ea typeface="Roboto Mono"/>
                <a:cs typeface="Roboto Mono"/>
                <a:sym typeface="Roboto Mono"/>
              </a:rPr>
              <a:t>Person</a:t>
            </a:r>
            <a:r>
              <a:rPr lang="en-GB">
                <a:solidFill>
                  <a:schemeClr val="dk1"/>
                </a:solidFill>
              </a:rPr>
              <a:t>).</a:t>
            </a:r>
            <a:br>
              <a:rPr lang="en-GB">
                <a:solidFill>
                  <a:schemeClr val="dk1"/>
                </a:solidFill>
              </a:rPr>
            </a:br>
            <a:r>
              <a:rPr lang="en-GB">
                <a:solidFill>
                  <a:schemeClr val="dk1"/>
                </a:solidFill>
              </a:rPr>
              <a:t> This is where </a:t>
            </a:r>
            <a:r>
              <a:rPr lang="en-GB">
                <a:solidFill>
                  <a:srgbClr val="188038"/>
                </a:solidFill>
                <a:latin typeface="Roboto Mono"/>
                <a:ea typeface="Roboto Mono"/>
                <a:cs typeface="Roboto Mono"/>
                <a:sym typeface="Roboto Mono"/>
              </a:rPr>
              <a:t>.object.driverLicenseID</a:t>
            </a:r>
            <a:r>
              <a:rPr lang="en-GB">
                <a:solidFill>
                  <a:schemeClr val="dk1"/>
                </a:solidFill>
              </a:rPr>
              <a:t> comes in — it tells Tyk to use a property from the parent object when forming the request URL.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fe0471ca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fe0471ca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 that we’ve defined our schema, the next step is to connect each field to the appropriate data source using URLs.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simple fields like </a:t>
            </a:r>
            <a:r>
              <a:rPr lang="en-GB">
                <a:solidFill>
                  <a:srgbClr val="188038"/>
                </a:solidFill>
                <a:latin typeface="Roboto Mono"/>
                <a:ea typeface="Roboto Mono"/>
                <a:cs typeface="Roboto Mono"/>
                <a:sym typeface="Roboto Mono"/>
              </a:rPr>
              <a:t>people</a:t>
            </a:r>
            <a:r>
              <a:rPr lang="en-GB">
                <a:solidFill>
                  <a:schemeClr val="dk1"/>
                </a:solidFill>
              </a:rPr>
              <a:t>, you can use a static URL.</a:t>
            </a:r>
            <a:br>
              <a:rPr lang="en-GB">
                <a:solidFill>
                  <a:schemeClr val="dk1"/>
                </a:solidFill>
              </a:rPr>
            </a:br>
            <a:r>
              <a:rPr lang="en-GB">
                <a:solidFill>
                  <a:schemeClr val="dk1"/>
                </a:solidFill>
              </a:rPr>
              <a:t> But when arguments are involved — like the </a:t>
            </a:r>
            <a:r>
              <a:rPr lang="en-GB">
                <a:solidFill>
                  <a:srgbClr val="188038"/>
                </a:solidFill>
                <a:latin typeface="Roboto Mono"/>
                <a:ea typeface="Roboto Mono"/>
                <a:cs typeface="Roboto Mono"/>
                <a:sym typeface="Roboto Mono"/>
              </a:rPr>
              <a:t>id</a:t>
            </a:r>
            <a:r>
              <a:rPr lang="en-GB">
                <a:solidFill>
                  <a:schemeClr val="dk1"/>
                </a:solidFill>
              </a:rPr>
              <a:t> in </a:t>
            </a:r>
            <a:r>
              <a:rPr lang="en-GB">
                <a:solidFill>
                  <a:srgbClr val="188038"/>
                </a:solidFill>
                <a:latin typeface="Roboto Mono"/>
                <a:ea typeface="Roboto Mono"/>
                <a:cs typeface="Roboto Mono"/>
                <a:sym typeface="Roboto Mono"/>
              </a:rPr>
              <a:t>person(id: Int!)</a:t>
            </a:r>
            <a:r>
              <a:rPr lang="en-GB">
                <a:solidFill>
                  <a:schemeClr val="dk1"/>
                </a:solidFill>
              </a:rPr>
              <a:t> — you use the </a:t>
            </a:r>
            <a:r>
              <a:rPr lang="en-GB">
                <a:solidFill>
                  <a:srgbClr val="188038"/>
                </a:solidFill>
                <a:latin typeface="Roboto Mono"/>
                <a:ea typeface="Roboto Mono"/>
                <a:cs typeface="Roboto Mono"/>
                <a:sym typeface="Roboto Mono"/>
              </a:rPr>
              <a:t>.arguments</a:t>
            </a:r>
            <a:r>
              <a:rPr lang="en-GB">
                <a:solidFill>
                  <a:schemeClr val="dk1"/>
                </a:solidFill>
              </a:rPr>
              <a:t> placeholder to inject the argument into the URL.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nested objects like </a:t>
            </a:r>
            <a:r>
              <a:rPr lang="en-GB">
                <a:solidFill>
                  <a:srgbClr val="188038"/>
                </a:solidFill>
                <a:latin typeface="Roboto Mono"/>
                <a:ea typeface="Roboto Mono"/>
                <a:cs typeface="Roboto Mono"/>
                <a:sym typeface="Roboto Mono"/>
              </a:rPr>
              <a:t>driverLicense</a:t>
            </a:r>
            <a:r>
              <a:rPr lang="en-GB">
                <a:solidFill>
                  <a:schemeClr val="dk1"/>
                </a:solidFill>
              </a:rPr>
              <a:t>, we want to use a field (</a:t>
            </a:r>
            <a:r>
              <a:rPr lang="en-GB">
                <a:solidFill>
                  <a:srgbClr val="188038"/>
                </a:solidFill>
                <a:latin typeface="Roboto Mono"/>
                <a:ea typeface="Roboto Mono"/>
                <a:cs typeface="Roboto Mono"/>
                <a:sym typeface="Roboto Mono"/>
              </a:rPr>
              <a:t>driverLicenseID</a:t>
            </a:r>
            <a:r>
              <a:rPr lang="en-GB">
                <a:solidFill>
                  <a:schemeClr val="dk1"/>
                </a:solidFill>
              </a:rPr>
              <a:t>) from the parent object (</a:t>
            </a:r>
            <a:r>
              <a:rPr lang="en-GB">
                <a:solidFill>
                  <a:srgbClr val="188038"/>
                </a:solidFill>
                <a:latin typeface="Roboto Mono"/>
                <a:ea typeface="Roboto Mono"/>
                <a:cs typeface="Roboto Mono"/>
                <a:sym typeface="Roboto Mono"/>
              </a:rPr>
              <a:t>Person</a:t>
            </a:r>
            <a:r>
              <a:rPr lang="en-GB">
                <a:solidFill>
                  <a:schemeClr val="dk1"/>
                </a:solidFill>
              </a:rPr>
              <a:t>).</a:t>
            </a:r>
            <a:br>
              <a:rPr lang="en-GB">
                <a:solidFill>
                  <a:schemeClr val="dk1"/>
                </a:solidFill>
              </a:rPr>
            </a:br>
            <a:r>
              <a:rPr lang="en-GB">
                <a:solidFill>
                  <a:schemeClr val="dk1"/>
                </a:solidFill>
              </a:rPr>
              <a:t> This is where </a:t>
            </a:r>
            <a:r>
              <a:rPr lang="en-GB">
                <a:solidFill>
                  <a:srgbClr val="188038"/>
                </a:solidFill>
                <a:latin typeface="Roboto Mono"/>
                <a:ea typeface="Roboto Mono"/>
                <a:cs typeface="Roboto Mono"/>
                <a:sym typeface="Roboto Mono"/>
              </a:rPr>
              <a:t>.object.driverLicenseID</a:t>
            </a:r>
            <a:r>
              <a:rPr lang="en-GB">
                <a:solidFill>
                  <a:schemeClr val="dk1"/>
                </a:solidFill>
              </a:rPr>
              <a:t> comes in — it tells Tyk to use a property from the parent object when forming the request URL.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fe0471ca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fe0471ca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the final result of our setup.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Using only a single GraphQL query, Tyk's Universal Data Graph engine makes multiple backend calls — first to the People API, then to the Driver License API — and stitches the data together automatically.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end user sees a clean, unified response, while the complexity of backend integrations is abstracted away.</a:t>
            </a:r>
            <a:br>
              <a:rPr lang="en-GB">
                <a:solidFill>
                  <a:schemeClr val="dk1"/>
                </a:solidFill>
              </a:rPr>
            </a:br>
            <a:r>
              <a:rPr lang="en-GB">
                <a:solidFill>
                  <a:schemeClr val="dk1"/>
                </a:solidFill>
              </a:rPr>
              <a:t> This is the core power of UDG: connecting distributed APIs into a single queryable graph.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e0471ca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e0471ca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With Tyk v5.2, you now have fine-grained control over HTTP headers for both the overall UDG and specific data sources.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Global headers</a:t>
            </a:r>
            <a:r>
              <a:rPr lang="en-GB">
                <a:solidFill>
                  <a:schemeClr val="dk1"/>
                </a:solidFill>
              </a:rPr>
              <a:t> are useful when you want to apply something like a request ID or an org-wide auth token across all upstream APIs.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These headers can include request context variables — for example, </a:t>
            </a:r>
            <a:r>
              <a:rPr lang="en-GB">
                <a:solidFill>
                  <a:srgbClr val="188038"/>
                </a:solidFill>
                <a:latin typeface="Roboto Mono"/>
                <a:ea typeface="Roboto Mono"/>
                <a:cs typeface="Roboto Mono"/>
                <a:sym typeface="Roboto Mono"/>
              </a:rPr>
              <a:t>$tyk_context.request_id</a:t>
            </a:r>
            <a:r>
              <a:rPr lang="en-GB">
                <a:solidFill>
                  <a:schemeClr val="dk1"/>
                </a:solidFill>
              </a:rPr>
              <a:t> — so you can inject runtime values into the request.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 define these inside the </a:t>
            </a:r>
            <a:r>
              <a:rPr lang="en-GB">
                <a:solidFill>
                  <a:srgbClr val="188038"/>
                </a:solidFill>
                <a:latin typeface="Roboto Mono"/>
                <a:ea typeface="Roboto Mono"/>
                <a:cs typeface="Roboto Mono"/>
                <a:sym typeface="Roboto Mono"/>
              </a:rPr>
              <a:t>global_headers</a:t>
            </a:r>
            <a:r>
              <a:rPr lang="en-GB">
                <a:solidFill>
                  <a:schemeClr val="dk1"/>
                </a:solidFill>
              </a:rPr>
              <a:t> section of the API definition.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fe0471ca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fe0471ca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Data source headers work similarly but are scoped more narrowly — they apply only to the specific data source you define them under.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especially useful when you're dealing with multiple APIs that require different credentials, JWT claims, or custom headers.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Just like global headers, these can use context variables like JWT claims — so you can pass identity or tenant info dynamically.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5fe0471ca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5fe0471ca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 if you define the same header at both the global and data source levels, the data source version takes precedence.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gives you flexibility — you can set broad headers by default, but override them where needed for specific upstream APIs.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example, example-header is defined at both levels, but the data source’s value wins.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rule helps prevent conflicts and gives you precise control over how each API call is formed.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3" name="Shape 53"/>
        <p:cNvGrpSpPr/>
        <p:nvPr/>
      </p:nvGrpSpPr>
      <p:grpSpPr>
        <a:xfrm>
          <a:off x="0" y="0"/>
          <a:ext cx="0" cy="0"/>
          <a:chOff x="0" y="0"/>
          <a:chExt cx="0" cy="0"/>
        </a:xfrm>
      </p:grpSpPr>
      <p:sp>
        <p:nvSpPr>
          <p:cNvPr id="54" name="Google Shape;54;p13"/>
          <p:cNvSpPr txBox="1"/>
          <p:nvPr/>
        </p:nvSpPr>
        <p:spPr>
          <a:xfrm>
            <a:off x="1926900" y="1419375"/>
            <a:ext cx="5290200" cy="75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Universal Data Graph</a:t>
            </a:r>
            <a:endParaRPr b="1" sz="3700">
              <a:solidFill>
                <a:schemeClr val="lt1"/>
              </a:solidFill>
              <a:latin typeface="Inter"/>
              <a:ea typeface="Inter"/>
              <a:cs typeface="Inter"/>
              <a:sym typeface="Inter"/>
            </a:endParaRPr>
          </a:p>
        </p:txBody>
      </p:sp>
      <p:sp>
        <p:nvSpPr>
          <p:cNvPr id="55" name="Google Shape;55;p13"/>
          <p:cNvSpPr txBox="1"/>
          <p:nvPr/>
        </p:nvSpPr>
        <p:spPr>
          <a:xfrm>
            <a:off x="1926900" y="1144125"/>
            <a:ext cx="52902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GB" sz="1200">
                <a:solidFill>
                  <a:srgbClr val="21E9BA"/>
                </a:solidFill>
                <a:latin typeface="Inter Medium"/>
                <a:ea typeface="Inter Medium"/>
                <a:cs typeface="Inter Medium"/>
                <a:sym typeface="Inter Medium"/>
              </a:rPr>
              <a:t>Module 3</a:t>
            </a:r>
            <a:endParaRPr sz="1200">
              <a:solidFill>
                <a:srgbClr val="21E9BA"/>
              </a:solidFill>
              <a:latin typeface="Inter Medium"/>
              <a:ea typeface="Inter Medium"/>
              <a:cs typeface="Inter Medium"/>
              <a:sym typeface="Inter Medium"/>
            </a:endParaRPr>
          </a:p>
        </p:txBody>
      </p:sp>
      <p:sp>
        <p:nvSpPr>
          <p:cNvPr id="56" name="Google Shape;56;p13"/>
          <p:cNvSpPr txBox="1"/>
          <p:nvPr/>
        </p:nvSpPr>
        <p:spPr>
          <a:xfrm>
            <a:off x="1926900" y="2169975"/>
            <a:ext cx="52902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solidFill>
                <a:schemeClr val="lt1"/>
              </a:solidFill>
              <a:latin typeface="Inter"/>
              <a:ea typeface="Inter"/>
              <a:cs typeface="Inter"/>
              <a:sym typeface="Inter"/>
            </a:endParaRPr>
          </a:p>
        </p:txBody>
      </p:sp>
      <p:sp>
        <p:nvSpPr>
          <p:cNvPr id="57" name="Google Shape;57;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 name="Google Shape;58;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14"/>
          <p:cNvSpPr txBox="1"/>
          <p:nvPr/>
        </p:nvSpPr>
        <p:spPr>
          <a:xfrm>
            <a:off x="398525" y="1075650"/>
            <a:ext cx="7893000" cy="2391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Combine multiple APIs into one universal GraphQL interface</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Query multiple APIs with a single request</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No need to build your own GraphQL server — just configure your existing REST APIs</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Becomes the central integration point for internal and external APIs</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Inherits all Tyk capabilities: security, middleware, and governance</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64" name="Google Shape;64;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6" name="Google Shape;66;p14"/>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What is the Universal Data Graph (UDG)?</a:t>
            </a:r>
            <a:endParaRPr b="1" sz="30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 name="Google Shape;72;p15"/>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73" name="Google Shape;73;p15"/>
          <p:cNvPicPr preferRelativeResize="0"/>
          <p:nvPr/>
        </p:nvPicPr>
        <p:blipFill>
          <a:blip r:embed="rId4">
            <a:alphaModFix/>
          </a:blip>
          <a:stretch>
            <a:fillRect/>
          </a:stretch>
        </p:blipFill>
        <p:spPr>
          <a:xfrm>
            <a:off x="1409300" y="76200"/>
            <a:ext cx="5905901" cy="3553350"/>
          </a:xfrm>
          <a:prstGeom prst="rect">
            <a:avLst/>
          </a:prstGeom>
          <a:noFill/>
          <a:ln>
            <a:noFill/>
          </a:ln>
        </p:spPr>
      </p:pic>
      <p:sp>
        <p:nvSpPr>
          <p:cNvPr id="74" name="Google Shape;74;p15"/>
          <p:cNvSpPr txBox="1"/>
          <p:nvPr/>
        </p:nvSpPr>
        <p:spPr>
          <a:xfrm>
            <a:off x="454500" y="3658100"/>
            <a:ext cx="5841900" cy="11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1"/>
                </a:solidFill>
                <a:latin typeface="Inter"/>
                <a:ea typeface="Inter"/>
                <a:cs typeface="Inter"/>
                <a:sym typeface="Inter"/>
              </a:rPr>
              <a:t>Currently supported DataSources:</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REST</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GraphQL</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SOAP (through the REST datasource)</a:t>
            </a:r>
            <a:endParaRPr sz="1300">
              <a:solidFill>
                <a:schemeClr val="dk1"/>
              </a:solidFill>
              <a:latin typeface="Inter"/>
              <a:ea typeface="Inter"/>
              <a:cs typeface="Inter"/>
              <a:sym typeface="Inter"/>
            </a:endParaRPr>
          </a:p>
          <a:p>
            <a:pPr indent="-311150" lvl="0" marL="457200" rtl="0" algn="l">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Kafka</a:t>
            </a:r>
            <a:endParaRPr sz="1300">
              <a:solidFill>
                <a:schemeClr val="dk1"/>
              </a:solidFill>
              <a:latin typeface="Inter"/>
              <a:ea typeface="Inter"/>
              <a:cs typeface="Inter"/>
              <a:sym typeface="Inter"/>
            </a:endParaRPr>
          </a:p>
          <a:p>
            <a:pPr indent="0" lvl="0" marL="0" rtl="0" algn="l">
              <a:spcBef>
                <a:spcPts val="0"/>
              </a:spcBef>
              <a:spcAft>
                <a:spcPts val="0"/>
              </a:spcAft>
              <a:buNone/>
            </a:pPr>
            <a:r>
              <a:t/>
            </a:r>
            <a:endParaRPr sz="1300">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6"/>
          <p:cNvSpPr txBox="1"/>
          <p:nvPr/>
        </p:nvSpPr>
        <p:spPr>
          <a:xfrm>
            <a:off x="398525" y="1075650"/>
            <a:ext cx="7893000" cy="4885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Resolvers vs. DataSources</a:t>
            </a:r>
            <a:endParaRPr sz="1200">
              <a:solidFill>
                <a:srgbClr val="03031C"/>
              </a:solidFill>
              <a:latin typeface="Inter"/>
              <a:ea typeface="Inter"/>
              <a:cs typeface="Inter"/>
              <a:sym typeface="Inter"/>
            </a:endParaRPr>
          </a:p>
          <a:p>
            <a:pPr indent="-304800" lvl="1" marL="9144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Resolvers: Functions that return data for a field (typical in GraphQL)</a:t>
            </a:r>
            <a:endParaRPr sz="1200">
              <a:solidFill>
                <a:srgbClr val="03031C"/>
              </a:solidFill>
              <a:latin typeface="Inter"/>
              <a:ea typeface="Inter"/>
              <a:cs typeface="Inter"/>
              <a:sym typeface="Inter"/>
            </a:endParaRPr>
          </a:p>
          <a:p>
            <a:pPr indent="-304800" lvl="1" marL="9144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DataSources: Config-driven way to fetch data for fields</a:t>
            </a:r>
            <a:endParaRPr sz="1200">
              <a:solidFill>
                <a:srgbClr val="03031C"/>
              </a:solidFill>
              <a:latin typeface="Inter"/>
              <a:ea typeface="Inter"/>
              <a:cs typeface="Inter"/>
              <a:sym typeface="Inter"/>
            </a:endParaRPr>
          </a:p>
          <a:p>
            <a:pPr indent="-304800" lvl="2" marL="13716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No code required — just configuration</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 Types of DataSources in Tyk</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Internal:</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REST/SOAP APIs already managed in Tyk</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 Use middleware to validate and transform data</a:t>
            </a:r>
            <a:endParaRPr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External:</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APIs not (yet) managed in Tyk</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 Easily included in your data graph</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 Can transition to internal when needed</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80" name="Google Shape;80;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2" name="Google Shape;82;p16"/>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DataSources</a:t>
            </a:r>
            <a:endParaRPr b="1" sz="3000">
              <a:solidFill>
                <a:srgbClr val="03031C"/>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17"/>
          <p:cNvSpPr txBox="1"/>
          <p:nvPr/>
        </p:nvSpPr>
        <p:spPr>
          <a:xfrm>
            <a:off x="398525" y="1075650"/>
            <a:ext cx="7893000" cy="36942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GraphQL Arguments → REST Calls</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Schema example:</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type Query {</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user(id: Int!): User</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type User {</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id: Int!</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name: String</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Goal: Map the id argument in a GraphQL query to the correct REST API path</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88" name="Google Shape;88;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0" name="Google Shape;90;p17"/>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Arguments</a:t>
            </a:r>
            <a:endParaRPr b="1" sz="3000">
              <a:solidFill>
                <a:srgbClr val="03031C"/>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8"/>
          <p:cNvSpPr txBox="1"/>
          <p:nvPr/>
        </p:nvSpPr>
        <p:spPr>
          <a:xfrm>
            <a:off x="398525" y="1075650"/>
            <a:ext cx="7893000" cy="258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Injecting Arguments into REST Paths</a:t>
            </a:r>
            <a:endParaRPr b="1"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Templating REST URLs</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In the “Configure Data Source” tab:</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Use this template in the path field:</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https://example.com/user/{{ .arguments.id }}</a:t>
            </a:r>
            <a:endParaRPr sz="12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Type </a:t>
            </a:r>
            <a:r>
              <a:rPr lang="en-GB" sz="1200">
                <a:solidFill>
                  <a:srgbClr val="03031C"/>
                </a:solidFill>
                <a:latin typeface="Courier New"/>
                <a:ea typeface="Courier New"/>
                <a:cs typeface="Courier New"/>
                <a:sym typeface="Courier New"/>
              </a:rPr>
              <a:t>{</a:t>
            </a:r>
            <a:r>
              <a:rPr lang="en-GB" sz="1200">
                <a:solidFill>
                  <a:srgbClr val="03031C"/>
                </a:solidFill>
                <a:latin typeface="Inter"/>
                <a:ea typeface="Inter"/>
                <a:cs typeface="Inter"/>
                <a:sym typeface="Inter"/>
              </a:rPr>
              <a:t> to access a dropdown of available fields and arguments.</a:t>
            </a:r>
            <a:endParaRPr sz="12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200">
                <a:solidFill>
                  <a:srgbClr val="03031C"/>
                </a:solidFill>
                <a:latin typeface="Inter"/>
                <a:ea typeface="Inter"/>
                <a:cs typeface="Inter"/>
                <a:sym typeface="Inter"/>
              </a:rPr>
              <a:t>Tip: You can dynamically inject any GraphQL argument or field this way.</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96" name="Google Shape;96;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 name="Google Shape;97;p1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8" name="Google Shape;98;p18"/>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Arguments</a:t>
            </a:r>
            <a:endParaRPr b="1" sz="3000">
              <a:solidFill>
                <a:srgbClr val="03031C"/>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05" name="Google Shape;105;p19"/>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Arguments</a:t>
            </a:r>
            <a:endParaRPr b="1" sz="3000">
              <a:solidFill>
                <a:srgbClr val="03031C"/>
              </a:solidFill>
              <a:latin typeface="Inter"/>
              <a:ea typeface="Inter"/>
              <a:cs typeface="Inter"/>
              <a:sym typeface="Inter"/>
            </a:endParaRPr>
          </a:p>
        </p:txBody>
      </p:sp>
      <p:pic>
        <p:nvPicPr>
          <p:cNvPr id="106" name="Google Shape;106;p19"/>
          <p:cNvPicPr preferRelativeResize="0"/>
          <p:nvPr/>
        </p:nvPicPr>
        <p:blipFill>
          <a:blip r:embed="rId4">
            <a:alphaModFix/>
          </a:blip>
          <a:stretch>
            <a:fillRect/>
          </a:stretch>
        </p:blipFill>
        <p:spPr>
          <a:xfrm>
            <a:off x="228600" y="1108375"/>
            <a:ext cx="7848600" cy="35200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id="111" name="Google Shape;111;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2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3" name="Google Shape;113;p20"/>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Field Mappings</a:t>
            </a:r>
            <a:endParaRPr b="1" sz="3000">
              <a:solidFill>
                <a:srgbClr val="03031C"/>
              </a:solidFill>
              <a:latin typeface="Inter"/>
              <a:ea typeface="Inter"/>
              <a:cs typeface="Inter"/>
              <a:sym typeface="Inter"/>
            </a:endParaRPr>
          </a:p>
        </p:txBody>
      </p:sp>
      <p:sp>
        <p:nvSpPr>
          <p:cNvPr id="114" name="Google Shape;114;p20"/>
          <p:cNvSpPr txBox="1"/>
          <p:nvPr/>
        </p:nvSpPr>
        <p:spPr>
          <a:xfrm>
            <a:off x="398525" y="1075650"/>
            <a:ext cx="7893000" cy="288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Field Mappings – When Are They Needed</a:t>
            </a:r>
            <a:endParaRPr b="1" sz="1200">
              <a:solidFill>
                <a:srgbClr val="03031C"/>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Automatic Field Mapping</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When the GraphQL schema mirrors the REST API response, no manual field mapping is required.</a:t>
            </a:r>
            <a:endParaRPr sz="1100">
              <a:solidFill>
                <a:schemeClr val="dk1"/>
              </a:solidFill>
            </a:endParaRPr>
          </a:p>
          <a:p>
            <a:pPr indent="0" lvl="0" marL="0" rtl="0" algn="l">
              <a:lnSpc>
                <a:spcPct val="150000"/>
              </a:lnSpc>
              <a:spcBef>
                <a:spcPts val="1200"/>
              </a:spcBef>
              <a:spcAft>
                <a:spcPts val="0"/>
              </a:spcAft>
              <a:buNone/>
            </a:pPr>
            <a:r>
              <a:rPr b="1" lang="en-GB" sz="1200">
                <a:solidFill>
                  <a:srgbClr val="03031C"/>
                </a:solidFill>
                <a:latin typeface="Inter"/>
                <a:ea typeface="Inter"/>
                <a:cs typeface="Inter"/>
                <a:sym typeface="Inter"/>
              </a:rPr>
              <a:t>Example REST response:</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"id": 1,</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"name": "Martin Buhr"</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115" name="Google Shape;115;p20"/>
          <p:cNvSpPr txBox="1"/>
          <p:nvPr/>
        </p:nvSpPr>
        <p:spPr>
          <a:xfrm>
            <a:off x="3458550" y="2294625"/>
            <a:ext cx="3336600" cy="24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Inter"/>
                <a:ea typeface="Inter"/>
                <a:cs typeface="Inter"/>
                <a:sym typeface="Inter"/>
              </a:rPr>
              <a:t>Matching GraphQL schema:</a:t>
            </a:r>
            <a:endParaRPr b="1">
              <a:solidFill>
                <a:schemeClr val="dk1"/>
              </a:solidFill>
              <a:latin typeface="Inter"/>
              <a:ea typeface="Inter"/>
              <a:cs typeface="Inter"/>
              <a:sym typeface="Inter"/>
            </a:endParaRPr>
          </a:p>
          <a:p>
            <a:pPr indent="0" lvl="0" marL="0" rtl="0" algn="l">
              <a:spcBef>
                <a:spcPts val="0"/>
              </a:spcBef>
              <a:spcAft>
                <a:spcPts val="0"/>
              </a:spcAft>
              <a:buNone/>
            </a:pPr>
            <a:r>
              <a:t/>
            </a:r>
            <a:endParaRPr b="1">
              <a:solidFill>
                <a:schemeClr val="dk1"/>
              </a:solidFill>
              <a:latin typeface="Inter"/>
              <a:ea typeface="Inter"/>
              <a:cs typeface="Inter"/>
              <a:sym typeface="Inter"/>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type Query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    user(id: Int!): User</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type User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    id: Int!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    name: String</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 name="Google Shape;121;p2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22" name="Google Shape;122;p21"/>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Field Mappings</a:t>
            </a:r>
            <a:endParaRPr b="1" sz="3000">
              <a:solidFill>
                <a:srgbClr val="03031C"/>
              </a:solidFill>
              <a:latin typeface="Inter"/>
              <a:ea typeface="Inter"/>
              <a:cs typeface="Inter"/>
              <a:sym typeface="Inter"/>
            </a:endParaRPr>
          </a:p>
        </p:txBody>
      </p:sp>
      <p:sp>
        <p:nvSpPr>
          <p:cNvPr id="123" name="Google Shape;123;p21"/>
          <p:cNvSpPr txBox="1"/>
          <p:nvPr/>
        </p:nvSpPr>
        <p:spPr>
          <a:xfrm>
            <a:off x="398525" y="1075650"/>
            <a:ext cx="7893000" cy="380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Field Mappings – Handling Different Field Names</a:t>
            </a:r>
            <a:endParaRPr b="1" sz="1200">
              <a:solidFill>
                <a:srgbClr val="03031C"/>
              </a:solidFill>
              <a:latin typeface="Inter"/>
              <a:ea typeface="Inter"/>
              <a:cs typeface="Inter"/>
              <a:sym typeface="Inter"/>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If the REST response uses a different field name, field mapping is required.</a:t>
            </a:r>
            <a:endParaRPr sz="1100">
              <a:solidFill>
                <a:schemeClr val="dk1"/>
              </a:solidFill>
            </a:endParaRPr>
          </a:p>
          <a:p>
            <a:pPr indent="0" lvl="0" marL="0" rtl="0" algn="l">
              <a:lnSpc>
                <a:spcPct val="150000"/>
              </a:lnSpc>
              <a:spcBef>
                <a:spcPts val="1200"/>
              </a:spcBef>
              <a:spcAft>
                <a:spcPts val="0"/>
              </a:spcAft>
              <a:buNone/>
            </a:pPr>
            <a:r>
              <a:rPr b="1" lang="en-GB" sz="1200">
                <a:solidFill>
                  <a:srgbClr val="03031C"/>
                </a:solidFill>
                <a:latin typeface="Inter"/>
                <a:ea typeface="Inter"/>
                <a:cs typeface="Inter"/>
                <a:sym typeface="Inter"/>
              </a:rPr>
              <a:t>Example REST response:</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"id": 1,</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"user_name": "Martin Buhr"</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200">
                <a:solidFill>
                  <a:srgbClr val="03031C"/>
                </a:solidFill>
                <a:latin typeface="Inter"/>
                <a:ea typeface="Inter"/>
                <a:cs typeface="Inter"/>
                <a:sym typeface="Inter"/>
              </a:rPr>
              <a:t>In this case, manual mapping is needed:</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Uncheck "Disable field mapping"</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Set </a:t>
            </a:r>
            <a:r>
              <a:rPr lang="en-GB" sz="1200">
                <a:solidFill>
                  <a:srgbClr val="03031C"/>
                </a:solidFill>
                <a:latin typeface="Courier New"/>
                <a:ea typeface="Courier New"/>
                <a:cs typeface="Courier New"/>
                <a:sym typeface="Courier New"/>
              </a:rPr>
              <a:t>name</a:t>
            </a:r>
            <a:r>
              <a:rPr lang="en-GB" sz="1200">
                <a:solidFill>
                  <a:srgbClr val="03031C"/>
                </a:solidFill>
                <a:latin typeface="Inter"/>
                <a:ea typeface="Inter"/>
                <a:cs typeface="Inter"/>
                <a:sym typeface="Inter"/>
              </a:rPr>
              <a:t> field path to </a:t>
            </a:r>
            <a:r>
              <a:rPr lang="en-GB" sz="1200">
                <a:solidFill>
                  <a:srgbClr val="03031C"/>
                </a:solidFill>
                <a:latin typeface="Courier New"/>
                <a:ea typeface="Courier New"/>
                <a:cs typeface="Courier New"/>
                <a:sym typeface="Courier New"/>
              </a:rPr>
              <a:t>user_name</a:t>
            </a:r>
            <a:endParaRPr sz="1200">
              <a:solidFill>
                <a:srgbClr val="03031C"/>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03031C"/>
              </a:solidFill>
              <a:latin typeface="Inter"/>
              <a:ea typeface="Inter"/>
              <a:cs typeface="Inter"/>
              <a:sym typeface="Inter"/>
            </a:endParaRPr>
          </a:p>
          <a:p>
            <a:pPr indent="-304800" lvl="0" marL="457200" rtl="0" algn="l">
              <a:lnSpc>
                <a:spcPct val="115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Nested fields can use dot notation: </a:t>
            </a:r>
            <a:r>
              <a:rPr lang="en-GB" sz="1200">
                <a:solidFill>
                  <a:srgbClr val="03031C"/>
                </a:solidFill>
                <a:latin typeface="Courier New"/>
                <a:ea typeface="Courier New"/>
                <a:cs typeface="Courier New"/>
                <a:sym typeface="Courier New"/>
              </a:rPr>
              <a:t>user.full_name</a:t>
            </a:r>
            <a:endParaRPr sz="1200">
              <a:solidFill>
                <a:srgbClr val="03031C"/>
              </a:solidFill>
              <a:latin typeface="Courier New"/>
              <a:ea typeface="Courier New"/>
              <a:cs typeface="Courier New"/>
              <a:sym typeface="Courier New"/>
            </a:endParaRPr>
          </a:p>
        </p:txBody>
      </p:sp>
      <p:sp>
        <p:nvSpPr>
          <p:cNvPr id="124" name="Google Shape;124;p21"/>
          <p:cNvSpPr txBox="1"/>
          <p:nvPr/>
        </p:nvSpPr>
        <p:spPr>
          <a:xfrm>
            <a:off x="3458550" y="1837425"/>
            <a:ext cx="3336600" cy="15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Inter"/>
                <a:ea typeface="Inter"/>
                <a:cs typeface="Inter"/>
                <a:sym typeface="Inter"/>
              </a:rPr>
              <a:t>GraphQL schema:</a:t>
            </a:r>
            <a:endParaRPr b="1">
              <a:solidFill>
                <a:schemeClr val="dk1"/>
              </a:solidFill>
              <a:latin typeface="Inter"/>
              <a:ea typeface="Inter"/>
              <a:cs typeface="Inter"/>
              <a:sym typeface="Inter"/>
            </a:endParaRPr>
          </a:p>
          <a:p>
            <a:pPr indent="0" lvl="0" marL="0" rtl="0" algn="l">
              <a:spcBef>
                <a:spcPts val="0"/>
              </a:spcBef>
              <a:spcAft>
                <a:spcPts val="0"/>
              </a:spcAft>
              <a:buNone/>
            </a:pPr>
            <a:r>
              <a:t/>
            </a:r>
            <a:endParaRPr b="1">
              <a:solidFill>
                <a:schemeClr val="dk1"/>
              </a:solidFill>
              <a:latin typeface="Inter"/>
              <a:ea typeface="Inter"/>
              <a:cs typeface="Inter"/>
              <a:sym typeface="Inter"/>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  "id": 1,</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  "user_name": "Martin Buhr"</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0" name="Google Shape;130;p2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1" name="Google Shape;131;p22"/>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Reusing response fields</a:t>
            </a:r>
            <a:endParaRPr b="1" sz="3000">
              <a:solidFill>
                <a:srgbClr val="03031C"/>
              </a:solidFill>
              <a:latin typeface="Inter"/>
              <a:ea typeface="Inter"/>
              <a:cs typeface="Inter"/>
              <a:sym typeface="Inter"/>
            </a:endParaRPr>
          </a:p>
        </p:txBody>
      </p:sp>
      <p:sp>
        <p:nvSpPr>
          <p:cNvPr id="132" name="Google Shape;132;p22"/>
          <p:cNvSpPr txBox="1"/>
          <p:nvPr/>
        </p:nvSpPr>
        <p:spPr>
          <a:xfrm>
            <a:off x="398525" y="1075650"/>
            <a:ext cx="7893000" cy="226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Chaining Data Across APIs</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chemeClr val="dk1"/>
                </a:solidFill>
              </a:rPr>
              <a:t>You can use data from one API response to call another API.</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Example APIs:</a:t>
            </a:r>
            <a:endParaRPr b="1"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People List: https://people-api.dev/people</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Person Details: https://people-api.dev/people/{person_id}</a:t>
            </a:r>
            <a:endParaRPr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lang="en-GB" sz="1200">
                <a:solidFill>
                  <a:srgbClr val="03031C"/>
                </a:solidFill>
                <a:latin typeface="Inter"/>
                <a:ea typeface="Inter"/>
                <a:cs typeface="Inter"/>
                <a:sym typeface="Inter"/>
              </a:rPr>
              <a:t>Driver Licenses: https://driver-license-api.dev/driver-licenses/{driver_license_id}</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2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 name="Google Shape;138;p2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9" name="Google Shape;139;p23"/>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Defining Data Source URLs</a:t>
            </a:r>
            <a:endParaRPr b="1" sz="3000">
              <a:solidFill>
                <a:srgbClr val="03031C"/>
              </a:solidFill>
              <a:latin typeface="Inter"/>
              <a:ea typeface="Inter"/>
              <a:cs typeface="Inter"/>
              <a:sym typeface="Inter"/>
            </a:endParaRPr>
          </a:p>
        </p:txBody>
      </p:sp>
      <p:sp>
        <p:nvSpPr>
          <p:cNvPr id="140" name="Google Shape;140;p23"/>
          <p:cNvSpPr txBox="1"/>
          <p:nvPr/>
        </p:nvSpPr>
        <p:spPr>
          <a:xfrm>
            <a:off x="398525" y="1075650"/>
            <a:ext cx="7826700" cy="4248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Static and Dynamic URL Templates</a:t>
            </a:r>
            <a:endParaRPr b="1" sz="1200">
              <a:solidFill>
                <a:srgbClr val="03031C"/>
              </a:solidFill>
              <a:latin typeface="Inter"/>
              <a:ea typeface="Inter"/>
              <a:cs typeface="Inter"/>
              <a:sym typeface="Inter"/>
            </a:endParaRPr>
          </a:p>
          <a:p>
            <a:pPr indent="-304800" lvl="0" marL="457200" rtl="0" algn="l">
              <a:lnSpc>
                <a:spcPct val="150000"/>
              </a:lnSpc>
              <a:spcBef>
                <a:spcPts val="0"/>
              </a:spcBef>
              <a:spcAft>
                <a:spcPts val="0"/>
              </a:spcAft>
              <a:buClr>
                <a:srgbClr val="03031C"/>
              </a:buClr>
              <a:buSzPts val="1200"/>
              <a:buFont typeface="Inter"/>
              <a:buChar char="●"/>
            </a:pPr>
            <a:r>
              <a:rPr b="1" lang="en-GB" sz="1200">
                <a:solidFill>
                  <a:srgbClr val="03031C"/>
                </a:solidFill>
                <a:latin typeface="Inter"/>
                <a:ea typeface="Inter"/>
                <a:cs typeface="Inter"/>
                <a:sym typeface="Inter"/>
              </a:rPr>
              <a:t>Query.people</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Inter"/>
                <a:ea typeface="Inter"/>
                <a:cs typeface="Inter"/>
                <a:sym typeface="Inter"/>
              </a:rPr>
              <a:t>Static URL for retrieving the list of people:</a:t>
            </a:r>
            <a:endParaRPr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https://people-api.dev/people</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304800" lvl="0" marL="457200" rtl="0" algn="l">
              <a:lnSpc>
                <a:spcPct val="150000"/>
              </a:lnSpc>
              <a:spcBef>
                <a:spcPts val="0"/>
              </a:spcBef>
              <a:spcAft>
                <a:spcPts val="0"/>
              </a:spcAft>
              <a:buClr>
                <a:srgbClr val="03031C"/>
              </a:buClr>
              <a:buSzPts val="1200"/>
              <a:buFont typeface="Inter"/>
              <a:buChar char="●"/>
            </a:pPr>
            <a:r>
              <a:rPr b="1" lang="en-GB" sz="1200">
                <a:solidFill>
                  <a:srgbClr val="03031C"/>
                </a:solidFill>
                <a:latin typeface="Inter"/>
                <a:ea typeface="Inter"/>
                <a:cs typeface="Inter"/>
                <a:sym typeface="Inter"/>
              </a:rPr>
              <a:t>Query.person</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Inter"/>
                <a:ea typeface="Inter"/>
                <a:cs typeface="Inter"/>
                <a:sym typeface="Inter"/>
              </a:rPr>
              <a:t>Uses the id argument dynamically in the URL:</a:t>
            </a:r>
            <a:endParaRPr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https://people-api.dev/people/{{.arguments.id}}</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200">
              <a:solidFill>
                <a:srgbClr val="03031C"/>
              </a:solidFill>
              <a:latin typeface="Courier New"/>
              <a:ea typeface="Courier New"/>
              <a:cs typeface="Courier New"/>
              <a:sym typeface="Courier New"/>
            </a:endParaRPr>
          </a:p>
          <a:p>
            <a:pPr indent="-304800" lvl="0" marL="457200" rtl="0" algn="l">
              <a:lnSpc>
                <a:spcPct val="150000"/>
              </a:lnSpc>
              <a:spcBef>
                <a:spcPts val="0"/>
              </a:spcBef>
              <a:spcAft>
                <a:spcPts val="0"/>
              </a:spcAft>
              <a:buClr>
                <a:srgbClr val="03031C"/>
              </a:buClr>
              <a:buSzPts val="1200"/>
              <a:buFont typeface="Inter"/>
              <a:buChar char="●"/>
            </a:pPr>
            <a:r>
              <a:rPr b="1" lang="en-GB" sz="1200">
                <a:solidFill>
                  <a:srgbClr val="03031C"/>
                </a:solidFill>
                <a:latin typeface="Inter"/>
                <a:ea typeface="Inter"/>
                <a:cs typeface="Inter"/>
                <a:sym typeface="Inter"/>
              </a:rPr>
              <a:t>Person.driverLicense</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Inter"/>
                <a:ea typeface="Inter"/>
                <a:cs typeface="Inter"/>
                <a:sym typeface="Inter"/>
              </a:rPr>
              <a:t>Uses data from the parent object via .object placeholder:</a:t>
            </a:r>
            <a:endParaRPr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https://driver-license-api.dev/driver-licenses/{{.object.driverLicenseID}}</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2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rgbClr val="03031C"/>
              </a:solidFill>
              <a:latin typeface="Courier New"/>
              <a:ea typeface="Courier New"/>
              <a:cs typeface="Courier New"/>
              <a:sym typeface="Courier New"/>
            </a:endParaRPr>
          </a:p>
        </p:txBody>
      </p:sp>
      <p:sp>
        <p:nvSpPr>
          <p:cNvPr id="141" name="Google Shape;141;p23"/>
          <p:cNvSpPr txBox="1"/>
          <p:nvPr/>
        </p:nvSpPr>
        <p:spPr>
          <a:xfrm>
            <a:off x="5121325" y="1186100"/>
            <a:ext cx="3636000" cy="1175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Inter"/>
                <a:ea typeface="Inter"/>
                <a:cs typeface="Inter"/>
                <a:sym typeface="Inter"/>
              </a:rPr>
              <a:t>Reminder:</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Use </a:t>
            </a:r>
            <a:r>
              <a:rPr lang="en-GB" sz="1200">
                <a:solidFill>
                  <a:schemeClr val="dk1"/>
                </a:solidFill>
                <a:latin typeface="Courier New"/>
                <a:ea typeface="Courier New"/>
                <a:cs typeface="Courier New"/>
                <a:sym typeface="Courier New"/>
              </a:rPr>
              <a:t>.object</a:t>
            </a:r>
            <a:r>
              <a:rPr lang="en-GB" sz="1200">
                <a:solidFill>
                  <a:schemeClr val="dk1"/>
                </a:solidFill>
                <a:latin typeface="Inter"/>
                <a:ea typeface="Inter"/>
                <a:cs typeface="Inter"/>
                <a:sym typeface="Inter"/>
              </a:rPr>
              <a:t> to reference fields from the parent object.</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Use </a:t>
            </a:r>
            <a:r>
              <a:rPr lang="en-GB" sz="1200">
                <a:solidFill>
                  <a:schemeClr val="dk1"/>
                </a:solidFill>
                <a:latin typeface="Courier New"/>
                <a:ea typeface="Courier New"/>
                <a:cs typeface="Courier New"/>
                <a:sym typeface="Courier New"/>
              </a:rPr>
              <a:t>.arguments</a:t>
            </a:r>
            <a:r>
              <a:rPr lang="en-GB" sz="1200">
                <a:solidFill>
                  <a:schemeClr val="dk1"/>
                </a:solidFill>
                <a:latin typeface="Inter"/>
                <a:ea typeface="Inter"/>
                <a:cs typeface="Inter"/>
                <a:sym typeface="Inter"/>
              </a:rPr>
              <a:t> to reference query arguments.</a:t>
            </a:r>
            <a:endParaRPr sz="12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2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 name="Google Shape;147;p2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8" name="Google Shape;148;p24"/>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Key Concepts - Defining Data Source URLs</a:t>
            </a:r>
            <a:endParaRPr b="1" sz="3000">
              <a:solidFill>
                <a:srgbClr val="03031C"/>
              </a:solidFill>
              <a:latin typeface="Inter"/>
              <a:ea typeface="Inter"/>
              <a:cs typeface="Inter"/>
              <a:sym typeface="Inter"/>
            </a:endParaRPr>
          </a:p>
        </p:txBody>
      </p:sp>
      <p:sp>
        <p:nvSpPr>
          <p:cNvPr id="149" name="Google Shape;149;p24"/>
          <p:cNvSpPr txBox="1"/>
          <p:nvPr/>
        </p:nvSpPr>
        <p:spPr>
          <a:xfrm>
            <a:off x="398525" y="1075650"/>
            <a:ext cx="2306100" cy="369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GraphQL Query:</a:t>
            </a:r>
            <a:endParaRPr b="1" sz="12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people {</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id</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name</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age</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driverLicense {</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id</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issuedBy</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validUntil</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2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 name="Google Shape;155;p2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56" name="Google Shape;156;p25"/>
          <p:cNvSpPr txBox="1"/>
          <p:nvPr/>
        </p:nvSpPr>
        <p:spPr>
          <a:xfrm>
            <a:off x="398525" y="8850"/>
            <a:ext cx="7150500" cy="526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200">
                <a:solidFill>
                  <a:srgbClr val="03031C"/>
                </a:solidFill>
                <a:latin typeface="Inter"/>
                <a:ea typeface="Inter"/>
                <a:cs typeface="Inter"/>
                <a:sym typeface="Inter"/>
              </a:rPr>
              <a:t>Response Example:</a:t>
            </a:r>
            <a:endParaRPr b="1" sz="1200">
              <a:solidFill>
                <a:srgbClr val="03031C"/>
              </a:solidFill>
              <a:latin typeface="Inter"/>
              <a:ea typeface="Inter"/>
              <a:cs typeface="Inter"/>
              <a:sym typeface="Inter"/>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"data":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"people":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"id": 1,</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"name": "John Doe",</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"age": 40,</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"driverLicense":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"id": "DL1234",</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"issuedBy": "United Kingdom",</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"validUntil": "2040-01-01"</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"id": 2,</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"name": "Jane Doe",</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"age": 30,</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"driverLicense":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"id": "DL5555",</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"issuedBy": "United Kingdom",</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"validUntil": "2035-01-01"</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  }</a:t>
            </a:r>
            <a:endParaRPr sz="1200">
              <a:solidFill>
                <a:srgbClr val="03031C"/>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rgbClr val="03031C"/>
                </a:solidFill>
                <a:latin typeface="Courier New"/>
                <a:ea typeface="Courier New"/>
                <a:cs typeface="Courier New"/>
                <a:sym typeface="Courier New"/>
              </a:rPr>
              <a:t>}</a:t>
            </a:r>
            <a:endParaRPr sz="1200">
              <a:solidFill>
                <a:srgbClr val="03031C"/>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2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 name="Google Shape;162;p2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63" name="Google Shape;163;p26"/>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UDG Header Management</a:t>
            </a:r>
            <a:endParaRPr b="1" sz="3000">
              <a:solidFill>
                <a:srgbClr val="03031C"/>
              </a:solidFill>
              <a:latin typeface="Inter"/>
              <a:ea typeface="Inter"/>
              <a:cs typeface="Inter"/>
              <a:sym typeface="Inter"/>
            </a:endParaRPr>
          </a:p>
        </p:txBody>
      </p:sp>
      <p:sp>
        <p:nvSpPr>
          <p:cNvPr id="164" name="Google Shape;164;p26"/>
          <p:cNvSpPr txBox="1"/>
          <p:nvPr/>
        </p:nvSpPr>
        <p:spPr>
          <a:xfrm>
            <a:off x="398525" y="1075650"/>
            <a:ext cx="7305600" cy="263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Two levels of header control:</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Global Headers</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Defined in </a:t>
            </a:r>
            <a:r>
              <a:rPr lang="en-GB" sz="1100">
                <a:solidFill>
                  <a:srgbClr val="03031C"/>
                </a:solidFill>
                <a:latin typeface="Courier New"/>
                <a:ea typeface="Courier New"/>
                <a:cs typeface="Courier New"/>
                <a:sym typeface="Courier New"/>
              </a:rPr>
              <a:t>graphql.engine.global_headers</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Sent to all data sources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Can include request context variables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Data Source Headers</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Defined in </a:t>
            </a:r>
            <a:r>
              <a:rPr lang="en-GB" sz="1100">
                <a:solidFill>
                  <a:srgbClr val="03031C"/>
                </a:solidFill>
                <a:latin typeface="Courier New"/>
                <a:ea typeface="Courier New"/>
                <a:cs typeface="Courier New"/>
                <a:sym typeface="Courier New"/>
              </a:rPr>
              <a:t>graphql.engine.data_sources[].config.headers</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Specific to individual data sources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Also supports context variables like JWT claims</a:t>
            </a:r>
            <a:endParaRPr sz="1100">
              <a:solidFill>
                <a:srgbClr val="03031C"/>
              </a:solidFill>
              <a:latin typeface="Inter"/>
              <a:ea typeface="Inter"/>
              <a:cs typeface="Inter"/>
              <a:sym typeface="Inter"/>
            </a:endParaRPr>
          </a:p>
        </p:txBody>
      </p:sp>
      <p:sp>
        <p:nvSpPr>
          <p:cNvPr id="165" name="Google Shape;165;p26"/>
          <p:cNvSpPr txBox="1"/>
          <p:nvPr/>
        </p:nvSpPr>
        <p:spPr>
          <a:xfrm>
            <a:off x="654875" y="3861025"/>
            <a:ext cx="7049100" cy="11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"global_headers":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 "key": "global-header", "value": "example-value"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 "key": "request-id", "value": "$tyk_context.request_id"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2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 name="Google Shape;171;p2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72" name="Google Shape;172;p27"/>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UDG Header Management</a:t>
            </a:r>
            <a:endParaRPr b="1" sz="3000">
              <a:solidFill>
                <a:srgbClr val="03031C"/>
              </a:solidFill>
              <a:latin typeface="Inter"/>
              <a:ea typeface="Inter"/>
              <a:cs typeface="Inter"/>
              <a:sym typeface="Inter"/>
            </a:endParaRPr>
          </a:p>
        </p:txBody>
      </p:sp>
      <p:sp>
        <p:nvSpPr>
          <p:cNvPr id="173" name="Google Shape;173;p27"/>
          <p:cNvSpPr txBox="1"/>
          <p:nvPr/>
        </p:nvSpPr>
        <p:spPr>
          <a:xfrm>
            <a:off x="398525" y="1075650"/>
            <a:ext cx="7305600" cy="340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Data Source Headers and Context Variables</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Example - Data Source Header Config:</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"headers":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"data-source-header": "data-source-header-value",</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"datasource1-jwt-claim": "$tyk_context.jwt_claims_datasource1"</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Key Notes: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Defined per data source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Ideal for individual API authentication needs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Can also access JWT claims and request context values</a:t>
            </a:r>
            <a:endParaRPr sz="1100">
              <a:solidFill>
                <a:srgbClr val="03031C"/>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2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80" name="Google Shape;180;p28"/>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UDG Header Management</a:t>
            </a:r>
            <a:endParaRPr b="1" sz="3000">
              <a:solidFill>
                <a:srgbClr val="03031C"/>
              </a:solidFill>
              <a:latin typeface="Inter"/>
              <a:ea typeface="Inter"/>
              <a:cs typeface="Inter"/>
              <a:sym typeface="Inter"/>
            </a:endParaRPr>
          </a:p>
        </p:txBody>
      </p:sp>
      <p:sp>
        <p:nvSpPr>
          <p:cNvPr id="181" name="Google Shape;181;p28"/>
          <p:cNvSpPr txBox="1"/>
          <p:nvPr/>
        </p:nvSpPr>
        <p:spPr>
          <a:xfrm>
            <a:off x="398525" y="1075650"/>
            <a:ext cx="7305600" cy="3909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Header Precedence Rules</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When header keys overlap, Tyk applies priority:</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Data Source header overrides Global header if both define the same key.</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p:txBody>
      </p:sp>
      <p:pic>
        <p:nvPicPr>
          <p:cNvPr id="182" name="Google Shape;182;p28" title="Screenshot 2025-05-22 at 10.08.17 AM.png"/>
          <p:cNvPicPr preferRelativeResize="0"/>
          <p:nvPr/>
        </p:nvPicPr>
        <p:blipFill>
          <a:blip r:embed="rId4">
            <a:alphaModFix/>
          </a:blip>
          <a:stretch>
            <a:fillRect/>
          </a:stretch>
        </p:blipFill>
        <p:spPr>
          <a:xfrm>
            <a:off x="1419861" y="1788150"/>
            <a:ext cx="6304275" cy="2150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