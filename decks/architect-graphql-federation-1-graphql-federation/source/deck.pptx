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ter 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Open Sans SemiBold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Inter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Semi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46" Type="http://schemas.openxmlformats.org/officeDocument/2006/relationships/font" Target="fonts/InterMedium-bold.fntdata"/><Relationship Id="rId23" Type="http://schemas.openxmlformats.org/officeDocument/2006/relationships/slide" Target="slides/slide17.xml"/><Relationship Id="rId45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Light-bold.fntdata"/><Relationship Id="rId48" Type="http://schemas.openxmlformats.org/officeDocument/2006/relationships/font" Target="fonts/InterMedium-boldItalic.fntdata"/><Relationship Id="rId25" Type="http://schemas.openxmlformats.org/officeDocument/2006/relationships/font" Target="fonts/InterLight-regular.fntdata"/><Relationship Id="rId47" Type="http://schemas.openxmlformats.org/officeDocument/2006/relationships/font" Target="fonts/InterMedium-italic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OpenSans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dff66b9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dff66b9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dff66b9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dff66b9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dff66b9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dff66b9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What you're looking at is the architecture enabled by </a:t>
            </a:r>
            <a:r>
              <a:rPr b="1" lang="en-GB">
                <a:solidFill>
                  <a:schemeClr val="dk1"/>
                </a:solidFill>
              </a:rPr>
              <a:t>GraphQL Federation in Tyk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the center, we have the </a:t>
            </a:r>
            <a:r>
              <a:rPr b="1" lang="en-GB">
                <a:solidFill>
                  <a:schemeClr val="dk1"/>
                </a:solidFill>
              </a:rPr>
              <a:t>Supergraph</a:t>
            </a:r>
            <a:r>
              <a:rPr lang="en-GB">
                <a:solidFill>
                  <a:schemeClr val="dk1"/>
                </a:solidFill>
              </a:rPr>
              <a:t>, which represents the unified GraphQL schema exposed to consumers. It acts as a single endpoint but is actually composed of several </a:t>
            </a:r>
            <a:r>
              <a:rPr b="1" lang="en-GB">
                <a:solidFill>
                  <a:schemeClr val="dk1"/>
                </a:solidFill>
              </a:rPr>
              <a:t>Subgraphs</a:t>
            </a:r>
            <a:r>
              <a:rPr lang="en-GB">
                <a:solidFill>
                  <a:schemeClr val="dk1"/>
                </a:solidFill>
              </a:rPr>
              <a:t>—each one backed by a different backend service or domain team.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All these subgraphs are </a:t>
            </a:r>
            <a:r>
              <a:rPr b="1" lang="en-GB">
                <a:solidFill>
                  <a:schemeClr val="dk1"/>
                </a:solidFill>
              </a:rPr>
              <a:t>stitched together within the Tyk Gateway</a:t>
            </a:r>
            <a:r>
              <a:rPr lang="en-GB">
                <a:solidFill>
                  <a:schemeClr val="dk1"/>
                </a:solidFill>
              </a:rPr>
              <a:t>. This is key: Tyk is not just routing requests. It acts as the </a:t>
            </a:r>
            <a:r>
              <a:rPr b="1" lang="en-GB">
                <a:solidFill>
                  <a:schemeClr val="dk1"/>
                </a:solidFill>
              </a:rPr>
              <a:t>control layer</a:t>
            </a:r>
            <a:r>
              <a:rPr lang="en-GB">
                <a:solidFill>
                  <a:schemeClr val="dk1"/>
                </a:solidFill>
              </a:rPr>
              <a:t> that applies essential API management features like: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 – to ensure only valid clients can query the graph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Authorization</a:t>
            </a:r>
            <a:r>
              <a:rPr lang="en-GB">
                <a:solidFill>
                  <a:schemeClr val="dk1"/>
                </a:solidFill>
              </a:rPr>
              <a:t> – to control access to specific parts of the graph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 Limiting</a:t>
            </a:r>
            <a:r>
              <a:rPr lang="en-GB">
                <a:solidFill>
                  <a:schemeClr val="dk1"/>
                </a:solidFill>
              </a:rPr>
              <a:t> – to protect backend services from overload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Monitoring &amp; Tracing</a:t>
            </a:r>
            <a:r>
              <a:rPr lang="en-GB">
                <a:solidFill>
                  <a:schemeClr val="dk1"/>
                </a:solidFill>
              </a:rPr>
              <a:t> – to give insight into how each subgraph performs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At the bottom, you see arrows going to </a:t>
            </a:r>
            <a:r>
              <a:rPr b="1" lang="en-GB">
                <a:solidFill>
                  <a:schemeClr val="dk1"/>
                </a:solidFill>
              </a:rPr>
              <a:t>mobile apps, web clients, and other consumers</a:t>
            </a:r>
            <a:r>
              <a:rPr lang="en-GB">
                <a:solidFill>
                  <a:schemeClr val="dk1"/>
                </a:solidFill>
              </a:rPr>
              <a:t>. From their perspective, it’s just one GraphQL API. But behind the scenes, it’s a cleanly separated and scalable architecture.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setup empowers teams to own and deploy their own subgraphs independently, while Tyk stitches everything together securely and reliably.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fdff66b9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fdff66b9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dff66b9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dff66b9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walk through a couple of subgraph examples that demonstrate how teams can independently define parts of a federated schema.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First, the Users subgraph: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We’re extending the Query type with a new field called me, which returns a User.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User type is marked with @key(fields: "id"). This tells the federation system that id is the unique identifier for this entity, and other subgraphs can reference or resolve this user using the id field.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subgraph might be owned by the Identity or Auth team, focused solely on user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Now the Products subgraph: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Here, the Query type is extended again, this time with a topProducts field that returns a list of products.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subgraph also extends Subscription with live updates like updatedPrice and stock—so you can enable real-time features in the same graph.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Product type is defined with a @key(fields: "upc"), meaning the unique product code (UPC) identifies each product entity across the supergraph.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subgraph is likely owned by the eCommerce or Inventory team.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By breaking these definitions out into subgraphs and federating them, we maintain team autonomy, deployment flexibility, and a unified API interface for consumers—this is the real power of GraphQL Federation with Tyk.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fdff66b9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fdff66b9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Now let’s look at an example that highlights how </a:t>
            </a:r>
            <a:r>
              <a:rPr b="1" lang="en-GB">
                <a:solidFill>
                  <a:schemeClr val="dk1"/>
                </a:solidFill>
              </a:rPr>
              <a:t>subgraphs interact</a:t>
            </a:r>
            <a:r>
              <a:rPr lang="en-GB">
                <a:solidFill>
                  <a:schemeClr val="dk1"/>
                </a:solidFill>
              </a:rPr>
              <a:t> with each other—using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</a:t>
            </a:r>
            <a:r>
              <a:rPr lang="en-GB">
                <a:solidFill>
                  <a:schemeClr val="dk1"/>
                </a:solidFill>
              </a:rPr>
              <a:t> subgraph.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We start with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</a:t>
            </a:r>
            <a:r>
              <a:rPr lang="en-GB">
                <a:solidFill>
                  <a:schemeClr val="dk1"/>
                </a:solidFill>
              </a:rPr>
              <a:t> type, which defines fields for the review body, its author, and the related product. Notice the use of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@provides(fields: "username")</a:t>
            </a:r>
            <a:r>
              <a:rPr lang="en-GB">
                <a:solidFill>
                  <a:schemeClr val="dk1"/>
                </a:solidFill>
              </a:rPr>
              <a:t> on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author</a:t>
            </a:r>
            <a:r>
              <a:rPr lang="en-GB">
                <a:solidFill>
                  <a:schemeClr val="dk1"/>
                </a:solidFill>
              </a:rPr>
              <a:t> field—this tells the supergraph that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</a:t>
            </a:r>
            <a:r>
              <a:rPr lang="en-GB">
                <a:solidFill>
                  <a:schemeClr val="dk1"/>
                </a:solidFill>
              </a:rPr>
              <a:t> subgraph can provide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en-GB">
                <a:solidFill>
                  <a:schemeClr val="dk1"/>
                </a:solidFill>
              </a:rPr>
              <a:t> field from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entity, even though it doesn't own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type.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Below that, we see how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type is </a:t>
            </a:r>
            <a:r>
              <a:rPr b="1" lang="en-GB">
                <a:solidFill>
                  <a:schemeClr val="dk1"/>
                </a:solidFill>
              </a:rPr>
              <a:t>extended</a:t>
            </a:r>
            <a:r>
              <a:rPr lang="en-GB">
                <a:solidFill>
                  <a:schemeClr val="dk1"/>
                </a:solidFill>
              </a:rPr>
              <a:t> from another subgraph: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It’s marked with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@key(fields: "id")</a:t>
            </a:r>
            <a:r>
              <a:rPr lang="en-GB">
                <a:solidFill>
                  <a:schemeClr val="dk1"/>
                </a:solidFill>
              </a:rPr>
              <a:t>, meaning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GB">
                <a:solidFill>
                  <a:schemeClr val="dk1"/>
                </a:solidFill>
              </a:rPr>
              <a:t> is used to uniquely identify 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across subgraphs.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Both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en-GB">
                <a:solidFill>
                  <a:schemeClr val="dk1"/>
                </a:solidFill>
              </a:rPr>
              <a:t> are marked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@external</a:t>
            </a:r>
            <a:r>
              <a:rPr lang="en-GB">
                <a:solidFill>
                  <a:schemeClr val="dk1"/>
                </a:solidFill>
              </a:rPr>
              <a:t>, because they are owned by the original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subgraph.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reviews</a:t>
            </a:r>
            <a:r>
              <a:rPr lang="en-GB">
                <a:solidFill>
                  <a:schemeClr val="dk1"/>
                </a:solidFill>
              </a:rPr>
              <a:t> field is added by this subgraph to enrich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entity with related reviews.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Similarly,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</a:t>
            </a:r>
            <a:r>
              <a:rPr lang="en-GB">
                <a:solidFill>
                  <a:schemeClr val="dk1"/>
                </a:solidFill>
              </a:rPr>
              <a:t> type is also extended: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 uses the same pattern with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@external</a:t>
            </a:r>
            <a:r>
              <a:rPr lang="en-GB">
                <a:solidFill>
                  <a:schemeClr val="dk1"/>
                </a:solidFill>
              </a:rPr>
              <a:t> to integrate fields like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upc</a:t>
            </a:r>
            <a:r>
              <a:rPr lang="en-GB">
                <a:solidFill>
                  <a:schemeClr val="dk1"/>
                </a:solidFill>
              </a:rPr>
              <a:t>, which is owned by the Products subgraph.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Then, it adds a new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reviews</a:t>
            </a:r>
            <a:r>
              <a:rPr lang="en-GB">
                <a:solidFill>
                  <a:schemeClr val="dk1"/>
                </a:solidFill>
              </a:rPr>
              <a:t> field to the Product entity.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These patterns follow </a:t>
            </a:r>
            <a:r>
              <a:rPr b="1" lang="en-GB">
                <a:solidFill>
                  <a:schemeClr val="dk1"/>
                </a:solidFill>
              </a:rPr>
              <a:t>subgraph conventions</a:t>
            </a:r>
            <a:r>
              <a:rPr lang="en-GB">
                <a:solidFill>
                  <a:schemeClr val="dk1"/>
                </a:solidFill>
              </a:rPr>
              <a:t> in GraphQL Federation: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Subgraphs can </a:t>
            </a:r>
            <a:r>
              <a:rPr b="1" lang="en-GB">
                <a:solidFill>
                  <a:schemeClr val="dk1"/>
                </a:solidFill>
              </a:rPr>
              <a:t>reference types</a:t>
            </a:r>
            <a:r>
              <a:rPr lang="en-GB">
                <a:solidFill>
                  <a:schemeClr val="dk1"/>
                </a:solidFill>
              </a:rPr>
              <a:t> defined in other subgraphs.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Subgraphs can </a:t>
            </a:r>
            <a:r>
              <a:rPr b="1" lang="en-GB">
                <a:solidFill>
                  <a:schemeClr val="dk1"/>
                </a:solidFill>
              </a:rPr>
              <a:t>extend those types</a:t>
            </a:r>
            <a:r>
              <a:rPr lang="en-GB">
                <a:solidFill>
                  <a:schemeClr val="dk1"/>
                </a:solidFill>
              </a:rPr>
              <a:t> with additional fields.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To make this work, any entity being shared across subgraphs must use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</a:t>
            </a:r>
            <a:r>
              <a:rPr lang="en-GB">
                <a:solidFill>
                  <a:schemeClr val="dk1"/>
                </a:solidFill>
              </a:rPr>
              <a:t> directive—this makes it an </a:t>
            </a:r>
            <a:r>
              <a:rPr b="1" lang="en-GB">
                <a:solidFill>
                  <a:schemeClr val="dk1"/>
                </a:solidFill>
              </a:rPr>
              <a:t>entity</a:t>
            </a:r>
            <a:r>
              <a:rPr lang="en-GB">
                <a:solidFill>
                  <a:schemeClr val="dk1"/>
                </a:solidFill>
              </a:rPr>
              <a:t> that others can build 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modular, team-owned design allows you to scale your GraphQL architecture without building one giant monolithic schema.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dff66b9f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dff66b9f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Once we’ve defined and registered all our subgraphs—like Users, Products, and Reviews—we federate them into a </a:t>
            </a:r>
            <a:r>
              <a:rPr b="1" lang="en-GB">
                <a:solidFill>
                  <a:schemeClr val="dk1"/>
                </a:solidFill>
              </a:rPr>
              <a:t>single supergraph</a:t>
            </a:r>
            <a:r>
              <a:rPr lang="en-GB">
                <a:solidFill>
                  <a:schemeClr val="dk1"/>
                </a:solidFill>
              </a:rPr>
              <a:t> within the Tyk Gateway.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Here, you can see the complete schema that gets exposed to the client.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merges the capabilities of each subgraph: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topProducts</a:t>
            </a:r>
            <a:r>
              <a:rPr lang="en-GB">
                <a:solidFill>
                  <a:schemeClr val="dk1"/>
                </a:solidFill>
              </a:rPr>
              <a:t> and subscriptions come from the </a:t>
            </a:r>
            <a:r>
              <a:rPr b="1" lang="en-GB">
                <a:solidFill>
                  <a:schemeClr val="dk1"/>
                </a:solidFill>
              </a:rPr>
              <a:t>Products subgraph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</a:t>
            </a:r>
            <a:r>
              <a:rPr lang="en-GB">
                <a:solidFill>
                  <a:schemeClr val="dk1"/>
                </a:solidFill>
              </a:rPr>
              <a:t> and user details from the </a:t>
            </a:r>
            <a:r>
              <a:rPr b="1" lang="en-GB">
                <a:solidFill>
                  <a:schemeClr val="dk1"/>
                </a:solidFill>
              </a:rPr>
              <a:t>Users subgraph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</a:t>
            </a:r>
            <a:r>
              <a:rPr lang="en-GB">
                <a:solidFill>
                  <a:schemeClr val="dk1"/>
                </a:solidFill>
              </a:rPr>
              <a:t> ties it all together—pulling user and product data from other subgraphs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All this is made possible through federation. And the best part? The client doesn’t know or care which subgraph the data came from—they query one unified schema.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Tyk manages all the complexity behind the scenes.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dff66b9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dff66b9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summarize what we’ve learned: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Federation</a:t>
            </a:r>
            <a:r>
              <a:rPr lang="en-GB">
                <a:solidFill>
                  <a:schemeClr val="dk1"/>
                </a:solidFill>
              </a:rPr>
              <a:t> allows us to break up our GraphQL schema into </a:t>
            </a:r>
            <a:r>
              <a:rPr b="1" lang="en-GB">
                <a:solidFill>
                  <a:schemeClr val="dk1"/>
                </a:solidFill>
              </a:rPr>
              <a:t>multiple subgraphs</a:t>
            </a:r>
            <a:r>
              <a:rPr lang="en-GB">
                <a:solidFill>
                  <a:schemeClr val="dk1"/>
                </a:solidFill>
              </a:rPr>
              <a:t>, each maintained by different teams or services. This enables faster development and clearer ownership.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We use </a:t>
            </a:r>
            <a:r>
              <a:rPr b="1" lang="en-GB">
                <a:solidFill>
                  <a:schemeClr val="dk1"/>
                </a:solidFill>
              </a:rPr>
              <a:t>directives like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</a:t>
            </a:r>
            <a:r>
              <a:rPr b="1"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@external</a:t>
            </a:r>
            <a:r>
              <a:rPr b="1"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@provides</a:t>
            </a:r>
            <a:r>
              <a:rPr lang="en-GB">
                <a:solidFill>
                  <a:schemeClr val="dk1"/>
                </a:solidFill>
              </a:rPr>
              <a:t> to establish relationships across these subgraphs. This makes the overall schema composable and flexible.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All these subgraphs are unified at the </a:t>
            </a:r>
            <a:r>
              <a:rPr b="1" lang="en-GB">
                <a:solidFill>
                  <a:schemeClr val="dk1"/>
                </a:solidFill>
              </a:rPr>
              <a:t>Tyk Gateway level</a:t>
            </a:r>
            <a:r>
              <a:rPr lang="en-GB">
                <a:solidFill>
                  <a:schemeClr val="dk1"/>
                </a:solidFill>
              </a:rPr>
              <a:t>, which handles cross-cutting concerns like </a:t>
            </a:r>
            <a:r>
              <a:rPr b="1" lang="en-GB">
                <a:solidFill>
                  <a:schemeClr val="dk1"/>
                </a:solidFill>
              </a:rPr>
              <a:t>authentication, authorization, rate limiting</a:t>
            </a:r>
            <a:r>
              <a:rPr lang="en-GB">
                <a:solidFill>
                  <a:schemeClr val="dk1"/>
                </a:solidFill>
              </a:rPr>
              <a:t>, and more—ensuring governance and performance.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end result is a </a:t>
            </a:r>
            <a:r>
              <a:rPr b="1" lang="en-GB">
                <a:solidFill>
                  <a:schemeClr val="dk1"/>
                </a:solidFill>
              </a:rPr>
              <a:t>single supergraph</a:t>
            </a:r>
            <a:r>
              <a:rPr lang="en-GB">
                <a:solidFill>
                  <a:schemeClr val="dk1"/>
                </a:solidFill>
              </a:rPr>
              <a:t> exposed to clients—whether they’re web apps, mobile apps, or other consumers—offering one consistent API entry point.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Tyk’s federation support gives you the flexibility of a distributed architecture with the simplicity of a unified GraphQL interface.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fdff66b9f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fdff66b9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summarize what we’ve learned: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Federation</a:t>
            </a:r>
            <a:r>
              <a:rPr lang="en-GB">
                <a:solidFill>
                  <a:schemeClr val="dk1"/>
                </a:solidFill>
              </a:rPr>
              <a:t> allows us to break up our GraphQL schema into </a:t>
            </a:r>
            <a:r>
              <a:rPr b="1" lang="en-GB">
                <a:solidFill>
                  <a:schemeClr val="dk1"/>
                </a:solidFill>
              </a:rPr>
              <a:t>multiple subgraphs</a:t>
            </a:r>
            <a:r>
              <a:rPr lang="en-GB">
                <a:solidFill>
                  <a:schemeClr val="dk1"/>
                </a:solidFill>
              </a:rPr>
              <a:t>, each maintained by different teams or services. This enables faster development and clearer ownership.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We use </a:t>
            </a:r>
            <a:r>
              <a:rPr b="1" lang="en-GB">
                <a:solidFill>
                  <a:schemeClr val="dk1"/>
                </a:solidFill>
              </a:rPr>
              <a:t>directives like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</a:t>
            </a:r>
            <a:r>
              <a:rPr b="1"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@external</a:t>
            </a:r>
            <a:r>
              <a:rPr b="1"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@provides</a:t>
            </a:r>
            <a:r>
              <a:rPr lang="en-GB">
                <a:solidFill>
                  <a:schemeClr val="dk1"/>
                </a:solidFill>
              </a:rPr>
              <a:t> to establish relationships across these subgraphs. This makes the overall schema composable and flexible.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All these subgraphs are unified at the </a:t>
            </a:r>
            <a:r>
              <a:rPr b="1" lang="en-GB">
                <a:solidFill>
                  <a:schemeClr val="dk1"/>
                </a:solidFill>
              </a:rPr>
              <a:t>Tyk Gateway level</a:t>
            </a:r>
            <a:r>
              <a:rPr lang="en-GB">
                <a:solidFill>
                  <a:schemeClr val="dk1"/>
                </a:solidFill>
              </a:rPr>
              <a:t>, which handles cross-cutting concerns like </a:t>
            </a:r>
            <a:r>
              <a:rPr b="1" lang="en-GB">
                <a:solidFill>
                  <a:schemeClr val="dk1"/>
                </a:solidFill>
              </a:rPr>
              <a:t>authentication, authorization, rate limiting</a:t>
            </a:r>
            <a:r>
              <a:rPr lang="en-GB">
                <a:solidFill>
                  <a:schemeClr val="dk1"/>
                </a:solidFill>
              </a:rPr>
              <a:t>, and more—ensuring governance and performance.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end result is a </a:t>
            </a:r>
            <a:r>
              <a:rPr b="1" lang="en-GB">
                <a:solidFill>
                  <a:schemeClr val="dk1"/>
                </a:solidFill>
              </a:rPr>
              <a:t>single supergraph</a:t>
            </a:r>
            <a:r>
              <a:rPr lang="en-GB">
                <a:solidFill>
                  <a:schemeClr val="dk1"/>
                </a:solidFill>
              </a:rPr>
              <a:t> exposed to clients—whether they’re web apps, mobile apps, or other consumers—offering one consistent API entry point.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Tyk’s federation support gives you the flexibility of a distributed architecture with the simplicity of a unified GraphQL interface.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dff66b9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dff66b9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start creating a subgraph in Tyk, log into the Dashboard and navigate to APIs, then add a new API. Select Federation, then Subgraph.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Give your subgraph a name and specify the upstream URL where your backend service is hosted.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the upstream URL requires authentication, make sure to enable protection and add either header-based or certificate credentials.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fdff66b9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fdff66b9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combine subgraphs, create a supergraph in the Dashboard under Federation.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Select which subgraphs you want to federate into the supergraph.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Configure it with policies, throttling, and any other gateway features.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saved, your supergraph acts as a single unified API for your consumers.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fdff66b9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fdff66b9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Global headers can be added on the supergraph level to pass consistent information like auth tokens to all subgraphs.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useful for authentication or tracing headers that must be included in every subgraph request.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Headers can be added, updated, or deleted anytime via the Dashboard.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fdff66b9f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fdff66b9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Global headers can be added on the supergraph level to pass consistent information like auth tokens to all subgraphs.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useful for authentication or tracing headers that must be included in every subgraph request.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Headers can be added, updated, or deleted anytime via the Dashboard.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fdff66b9f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fdff66b9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federation, entities represent core objects shared across subgraphs.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base entity is defined in one subgraph with the @key directive to specify unique identifiers.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define multiple keys for flexibility in referencing entities.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dff66b9f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fdff66b9f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Other subgraphs can extend base entities to add new fields.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They must declare the primary key with @external to indicate it’s defined elsewhere.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allows subgraphs to share and build on common entities without duplication.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fdff66b9f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fdff66b9f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Sometimes a subgraph only needs to reference an entity without adding new fields; this is called a stub.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 ensures the subgraph can refer to the entity while maintaining schema integrity in the supergraph.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fdff66b9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fdff66b9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Shared types must be consistent across subgraphs for federation to work.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extend shared types, like enums, only if all subgraphs resolve identically after normalization.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Any inconsistency will cause federation to fail.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fdff66b9f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fdff66b9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 extension orphan is an unresolved extension causing federation failure.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happens if you extend a type that isn’t defined in exactly one subgraph.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Make sure every type extension has a clear base type in only one subgraph to avoid errors.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example, the type named Person does not need to be defined in Subgraph 1, but it must be defined in exactly one subgraph (see Shared Types: extension of shared types is not possible, so extending a type that is defined in multiple subgraphs will produce an error).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1926900" y="1419375"/>
            <a:ext cx="5290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GraphQL Federation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1926900" y="1144125"/>
            <a:ext cx="5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1E9BA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</a:t>
            </a:r>
            <a:endParaRPr sz="1200">
              <a:solidFill>
                <a:srgbClr val="21E9B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4" name="Google Shape;114;p28"/>
          <p:cNvSpPr txBox="1"/>
          <p:nvPr/>
        </p:nvSpPr>
        <p:spPr>
          <a:xfrm>
            <a:off x="1926900" y="2169975"/>
            <a:ext cx="52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/>
        </p:nvSpPr>
        <p:spPr>
          <a:xfrm>
            <a:off x="720000" y="1154200"/>
            <a:ext cx="81399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GraphQL Federation solves the complexity of scaling GraphQL in large enterprises.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Allows you to break down monolithic GraphQL services into multiple backend services.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(v4.0+) supports federation to expose multiple services as a single, unified graph.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Simplifies maintenance and encourages service ownership.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is GraphQL Federation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0" title="Screenshot 2025-05-22 at 7.35.2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50" y="152400"/>
            <a:ext cx="755265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720000" y="1154200"/>
            <a:ext cx="81399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Subgraph is a representation of a back-end service and defines a distinct GraphQL schema. It can be queried directly as a separate service or it can be federated into a larger schema of a supergraph.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Supergraph is a composition of several subgraphs that allows the execution of a query across multiple services in the backend.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1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Subgraphs and Supergraphs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/>
        </p:nvSpPr>
        <p:spPr>
          <a:xfrm>
            <a:off x="398525" y="1380450"/>
            <a:ext cx="2383800" cy="287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  <a:endParaRPr b="1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Query {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me: User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User @key(fields: "id") {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username: String!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2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Subgraph Examples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3217925" y="1380450"/>
            <a:ext cx="4087200" cy="348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Products</a:t>
            </a:r>
            <a:endParaRPr b="1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Query {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topProducts(first: Int = 5): [Product]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Subscription {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updatedPrice: Product!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updateProductPrice(upc: String!): Product!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stock: [Product!]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Product @key(fields: "upc") {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upc: String!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price: Int!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inStock: Int!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/>
        </p:nvSpPr>
        <p:spPr>
          <a:xfrm>
            <a:off x="398525" y="999450"/>
            <a:ext cx="78930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Reviews</a:t>
            </a:r>
            <a:endParaRPr b="1"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Review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body: String!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author: User! @provides(fields: "username")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product: Product!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User @key(fields: "id")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 @external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username: String! @external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reviews: [Review]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Product @key(fields: "upc")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upc: String! @external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reviews: [Review]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3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Subgraph Examples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/>
        </p:nvSpPr>
        <p:spPr>
          <a:xfrm>
            <a:off x="398525" y="85050"/>
            <a:ext cx="7893000" cy="4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After federating all subgraphs in Tyk, the unified supergraph schema looks like:</a:t>
            </a:r>
            <a:endParaRPr b="1"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Query {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topProducts(first: Int = 5): [Product]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me: User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Subscription {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updatedPrice: Product!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updateProductPrice(upc: String!): Product!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stock: [Product!]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Review {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body: String!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author: User!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product: Product!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Product {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upc: String!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price: Int!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inStock: Int!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reviews: [Review]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User {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username: String!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reviews: [Review]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3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/>
        </p:nvSpPr>
        <p:spPr>
          <a:xfrm>
            <a:off x="398525" y="999450"/>
            <a:ext cx="78930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Split your schema across multiple subgraphs for modularity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@key</a:t>
            </a: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@external</a:t>
            </a: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@provides</a:t>
            </a: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to link types across services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All subgraphs unified and governed via Tyk Gateway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Benefits: Faster development, clear service ownership, centralized security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One supergraph = One entry point for all consumers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3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Subgraph and Supergraphs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/>
          <p:nvPr/>
        </p:nvSpPr>
        <p:spPr>
          <a:xfrm>
            <a:off x="398525" y="999450"/>
            <a:ext cx="7893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Log in to Dashboard → APIs &gt; Add New API &gt; Federation &gt; Subgraph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Choose a name and provide an upstream URL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If upstream is protected, select "Upstream Protected" and provide auth details (Header or Certificate)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3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/>
        </p:nvSpPr>
        <p:spPr>
          <a:xfrm>
            <a:off x="339000" y="157075"/>
            <a:ext cx="856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Creating a Subgraph via the Dashboard UI</a:t>
            </a:r>
            <a:endParaRPr b="1" sz="3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25" y="2005950"/>
            <a:ext cx="3027573" cy="283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798" y="2054850"/>
            <a:ext cx="4025701" cy="2734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/>
        </p:nvSpPr>
        <p:spPr>
          <a:xfrm>
            <a:off x="398525" y="999450"/>
            <a:ext cx="7893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Log in to Dashboard → APIs &gt; Add New API &gt; Federation &gt; Subgraph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Choose a name and provide an upstream URL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If upstream is protected, select "Upstream Protected" and provide auth details (Header or Certificate)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3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7"/>
          <p:cNvSpPr txBox="1"/>
          <p:nvPr/>
        </p:nvSpPr>
        <p:spPr>
          <a:xfrm>
            <a:off x="339000" y="157075"/>
            <a:ext cx="856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Creating a Subgraph via the Dashboard UI</a:t>
            </a:r>
            <a:endParaRPr b="1" sz="3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0" name="Google Shape;1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25" y="2005950"/>
            <a:ext cx="3027573" cy="283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798" y="2054850"/>
            <a:ext cx="4025701" cy="2734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/>
        </p:nvSpPr>
        <p:spPr>
          <a:xfrm>
            <a:off x="398525" y="847050"/>
            <a:ext cx="7893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Go to APIs &gt; Add New API &gt; Federation &gt; Supergraph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In Details, select subgraphs to include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Configure supergraph settings like any other API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Save → supergraph is available in the API list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3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8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Creating a Supergraph via the Dashboard UI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005950"/>
            <a:ext cx="3381719" cy="298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1319" y="2005950"/>
            <a:ext cx="5000282" cy="1854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/>
        </p:nvSpPr>
        <p:spPr>
          <a:xfrm>
            <a:off x="398525" y="847050"/>
            <a:ext cx="7893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Open supergraph API in Dashboard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Go to Subgraphs tab → Global Headers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Add header name and value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Click Update, then Update API to save changes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Headers are forwarded to all relevant subgraphs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9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Defining Global Headers for Supergraphs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0" name="Google Shape;21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00" y="2218350"/>
            <a:ext cx="7848600" cy="242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/>
        </p:nvSpPr>
        <p:spPr>
          <a:xfrm>
            <a:off x="398525" y="847050"/>
            <a:ext cx="7893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Open supergraph API in Dashboard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Go to Subgraphs tab → Global Headers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Add header name and value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Click Update, then Update API to save changes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Headers are forwarded to all relevant subgraphs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4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0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Defining Global Headers for Supergraphs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9" name="Google Shape;21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00" y="2218350"/>
            <a:ext cx="7848600" cy="242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/>
        </p:nvSpPr>
        <p:spPr>
          <a:xfrm>
            <a:off x="398525" y="1075650"/>
            <a:ext cx="78930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Base entity must have @key directive with fields that uniquely identify it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Multiple primary keys allowed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MyEntity @key(fields: "id") @key(fields: "name")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4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1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Entities – Defining the Base Entity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/>
        </p:nvSpPr>
        <p:spPr>
          <a:xfrm>
            <a:off x="398525" y="1075650"/>
            <a:ext cx="7893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Extensions add fields to base entities in other subgraphs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Must use @key with the same primary key fields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Primary keys referenced with @external directive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MyEntity @key(fields: "id")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 @external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newField: String!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3" name="Google Shape;233;p4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Entities – Extending Entities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/>
        </p:nvSpPr>
        <p:spPr>
          <a:xfrm>
            <a:off x="398525" y="1075650"/>
            <a:ext cx="78930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Stubs reference an entity without adding fields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Minimal info needed to identify the entity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MyEntity @key(fields: "id")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 @external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" name="Google Shape;241;p4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3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Entities – Entity Stubs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/>
        </p:nvSpPr>
        <p:spPr>
          <a:xfrm>
            <a:off x="398525" y="1075650"/>
            <a:ext cx="78930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Shared types have the same name and structure in multiple subgraphs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Extensions allowed only if normalized resolutions are identical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 enums with extensions: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Subgraph 1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enum Example { A, B 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enum Example { C 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Subgraph 2: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enum Example { A, B, C 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4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4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Shared Types &amp; Extending Shared Types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/>
        </p:nvSpPr>
        <p:spPr>
          <a:xfrm>
            <a:off x="398525" y="1075650"/>
            <a:ext cx="78930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Orphans occur when extensions are unresolved in federation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Happens if base type is missing or defined in multiple subgraphs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 error: extending a type defined in zero or multiple subgraphs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extend type Person {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Federation fails with an error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4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5"/>
          <p:cNvSpPr txBox="1"/>
          <p:nvPr/>
        </p:nvSpPr>
        <p:spPr>
          <a:xfrm>
            <a:off x="339000" y="157075"/>
            <a:ext cx="856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Extension Orphans</a:t>
            </a:r>
            <a:endParaRPr b="1" sz="30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