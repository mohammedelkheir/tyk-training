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3" r:id="rId4"/>
    <p:sldMasterId id="2147483674" r:id="rId5"/>
  </p:sldMasterIdLst>
  <p:notesMasterIdLst>
    <p:notesMasterId r:id="rId6"/>
  </p:notesMasterIdLst>
  <p:sldIdLst>
    <p:sldId id="256" r:id="rId7"/>
    <p:sldId id="257" r:id="rId8"/>
  </p:sldIdLst>
  <p:sldSz cy="5143500" cx="9144000"/>
  <p:notesSz cx="6858000" cy="9144000"/>
  <p:embeddedFontLst>
    <p:embeddedFont>
      <p:font typeface="Inter Light"/>
      <p:regular r:id="rId9"/>
      <p:bold r:id="rId10"/>
      <p:italic r:id="rId11"/>
      <p:boldItalic r:id="rId12"/>
    </p:embeddedFont>
    <p:embeddedFont>
      <p:font typeface="Roboto"/>
      <p:regular r:id="rId13"/>
      <p:bold r:id="rId14"/>
      <p:italic r:id="rId15"/>
      <p:boldItalic r:id="rId16"/>
    </p:embeddedFont>
    <p:embeddedFont>
      <p:font typeface="Inter"/>
      <p:regular r:id="rId17"/>
      <p:bold r:id="rId18"/>
      <p:italic r:id="rId19"/>
      <p:boldItalic r:id="rId20"/>
    </p:embeddedFont>
    <p:embeddedFont>
      <p:font typeface="Open Sans SemiBold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boldItalic.fntdata"/><Relationship Id="rId11" Type="http://schemas.openxmlformats.org/officeDocument/2006/relationships/font" Target="fonts/InterLight-italic.fntdata"/><Relationship Id="rId22" Type="http://schemas.openxmlformats.org/officeDocument/2006/relationships/font" Target="fonts/OpenSansSemiBold-bold.fntdata"/><Relationship Id="rId10" Type="http://schemas.openxmlformats.org/officeDocument/2006/relationships/font" Target="fonts/InterLight-bold.fntdata"/><Relationship Id="rId21" Type="http://schemas.openxmlformats.org/officeDocument/2006/relationships/font" Target="fonts/OpenSansSemiBold-regular.fntdata"/><Relationship Id="rId13" Type="http://schemas.openxmlformats.org/officeDocument/2006/relationships/font" Target="fonts/Roboto-regular.fntdata"/><Relationship Id="rId24" Type="http://schemas.openxmlformats.org/officeDocument/2006/relationships/font" Target="fonts/OpenSansSemiBold-boldItalic.fntdata"/><Relationship Id="rId12" Type="http://schemas.openxmlformats.org/officeDocument/2006/relationships/font" Target="fonts/InterLight-boldItalic.fntdata"/><Relationship Id="rId23" Type="http://schemas.openxmlformats.org/officeDocument/2006/relationships/font" Target="fonts/OpenSansSemiBold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InterLight-regular.fntdata"/><Relationship Id="rId15" Type="http://schemas.openxmlformats.org/officeDocument/2006/relationships/font" Target="fonts/Roboto-italic.fntdata"/><Relationship Id="rId14" Type="http://schemas.openxmlformats.org/officeDocument/2006/relationships/font" Target="fonts/Roboto-bold.fntdata"/><Relationship Id="rId17" Type="http://schemas.openxmlformats.org/officeDocument/2006/relationships/font" Target="fonts/Inter-regular.fntdata"/><Relationship Id="rId16" Type="http://schemas.openxmlformats.org/officeDocument/2006/relationships/font" Target="fonts/Roboto-boldItalic.fntdata"/><Relationship Id="rId5" Type="http://schemas.openxmlformats.org/officeDocument/2006/relationships/slideMaster" Target="slideMasters/slideMaster2.xml"/><Relationship Id="rId19" Type="http://schemas.openxmlformats.org/officeDocument/2006/relationships/font" Target="fonts/Inter-italic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Inter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5fe021c2f8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5fe021c2f8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Tyk provides robust </a:t>
            </a:r>
            <a:r>
              <a:rPr b="1" lang="en-GB">
                <a:solidFill>
                  <a:schemeClr val="dk1"/>
                </a:solidFill>
              </a:rPr>
              <a:t>validation of GraphQL queries and schemas</a:t>
            </a:r>
            <a:r>
              <a:rPr lang="en-GB">
                <a:solidFill>
                  <a:schemeClr val="dk1"/>
                </a:solidFill>
              </a:rPr>
              <a:t> to help prevent errors during request processing.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Using Tyk’s native GraphQL engine, all incoming queries are validated against the official </a:t>
            </a:r>
            <a:r>
              <a:rPr b="1" lang="en-GB">
                <a:solidFill>
                  <a:schemeClr val="dk1"/>
                </a:solidFill>
              </a:rPr>
              <a:t>GraphQL Specification</a:t>
            </a:r>
            <a:r>
              <a:rPr lang="en-GB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This validation happens both at the </a:t>
            </a:r>
            <a:r>
              <a:rPr b="1" lang="en-GB">
                <a:solidFill>
                  <a:schemeClr val="dk1"/>
                </a:solidFill>
              </a:rPr>
              <a:t>Gateway</a:t>
            </a:r>
            <a:r>
              <a:rPr lang="en-GB">
                <a:solidFill>
                  <a:schemeClr val="dk1"/>
                </a:solidFill>
              </a:rPr>
              <a:t>, which sits in front of your existing GraphQL API, and in any </a:t>
            </a:r>
            <a:r>
              <a:rPr b="1" lang="en-GB">
                <a:solidFill>
                  <a:schemeClr val="dk1"/>
                </a:solidFill>
              </a:rPr>
              <a:t>Universal Data Graph</a:t>
            </a:r>
            <a:r>
              <a:rPr lang="en-GB">
                <a:solidFill>
                  <a:schemeClr val="dk1"/>
                </a:solidFill>
              </a:rPr>
              <a:t> you might be using.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As a result, </a:t>
            </a:r>
            <a:r>
              <a:rPr b="1" lang="en-GB">
                <a:solidFill>
                  <a:schemeClr val="dk1"/>
                </a:solidFill>
              </a:rPr>
              <a:t>invalid requests are caught early by Tyk</a:t>
            </a:r>
            <a:r>
              <a:rPr lang="en-GB">
                <a:solidFill>
                  <a:schemeClr val="dk1"/>
                </a:solidFill>
              </a:rPr>
              <a:t> — they are blocked at the Gateway and </a:t>
            </a:r>
            <a:r>
              <a:rPr b="1" lang="en-GB">
                <a:solidFill>
                  <a:schemeClr val="dk1"/>
                </a:solidFill>
              </a:rPr>
              <a:t>never forwarded upstream</a:t>
            </a:r>
            <a:r>
              <a:rPr lang="en-GB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Instead, the client receives clear error messages, which helps maintain API reliability and protects your backend services from malformed queries.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5fe021c2f8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5fe021c2f8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"Schema validation is a crucial feature in Tyk’s Universal Data Graph that helps maintain the integrity and reliability of your GraphQL APIs.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When you create or update a schema—whether through the Tyk Dashboard or the Dashboard API—Tyk automatically validates it to prevent broken or invalid schemas from being saved.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This validation checks for common errors such as: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Duplicate operation types like multiple Queries or Mutations defined,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Duplicate type names, field names, or enum values,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And the usage of unknown or undefined types.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If any of these issues are found, the system will reject the schema update and return a 400 Bad Request response with detailed error messages.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This safeguard ensures that your API schemas remain consistent and error-free, preventing runtime failures and unexpected behaviors downstream.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Overall, schema validation acts as an early warning system, catching issues before they impact your users."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0" y="922550"/>
            <a:ext cx="8520600" cy="16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53155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E9BA"/>
              </a:buClr>
              <a:buSzPts val="2000"/>
              <a:buNone/>
              <a:defRPr sz="2000">
                <a:solidFill>
                  <a:srgbClr val="21E9BA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9pPr>
          </a:lstStyle>
          <a:p/>
        </p:txBody>
      </p:sp>
      <p:sp>
        <p:nvSpPr>
          <p:cNvPr id="66" name="Google Shape;66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7" name="Google Shape;67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9pPr>
          </a:lstStyle>
          <a:p/>
        </p:txBody>
      </p:sp>
      <p:sp>
        <p:nvSpPr>
          <p:cNvPr id="71" name="Google Shape;71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4" name="Google Shape;74;p19"/>
          <p:cNvSpPr txBox="1"/>
          <p:nvPr>
            <p:ph idx="1" type="body"/>
          </p:nvPr>
        </p:nvSpPr>
        <p:spPr>
          <a:xfrm>
            <a:off x="311700" y="1389600"/>
            <a:ext cx="50364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5" name="Google Shape;75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8" name="Google Shape;78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2" name="Google Shape;82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E9BA"/>
              </a:buClr>
              <a:buSzPts val="1600"/>
              <a:buNone/>
              <a:defRPr sz="1600">
                <a:solidFill>
                  <a:srgbClr val="21E9BA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3" name="Google Shape;83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8438FA"/>
              </a:buClr>
              <a:buSzPts val="1800"/>
              <a:buChar char="●"/>
              <a:defRPr>
                <a:solidFill>
                  <a:srgbClr val="8438FA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rgbClr val="8438FA"/>
              </a:buClr>
              <a:buSzPts val="1400"/>
              <a:buChar char="○"/>
              <a:defRPr>
                <a:solidFill>
                  <a:srgbClr val="8438FA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rgbClr val="8438FA"/>
              </a:buClr>
              <a:buSzPts val="1400"/>
              <a:buChar char="■"/>
              <a:defRPr>
                <a:solidFill>
                  <a:srgbClr val="8438FA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rgbClr val="8438FA"/>
              </a:buClr>
              <a:buSzPts val="1400"/>
              <a:buChar char="●"/>
              <a:defRPr>
                <a:solidFill>
                  <a:srgbClr val="8438FA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rgbClr val="8438FA"/>
              </a:buClr>
              <a:buSzPts val="1400"/>
              <a:buChar char="○"/>
              <a:defRPr>
                <a:solidFill>
                  <a:srgbClr val="8438FA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rgbClr val="8438FA"/>
              </a:buClr>
              <a:buSzPts val="1400"/>
              <a:buChar char="■"/>
              <a:defRPr>
                <a:solidFill>
                  <a:srgbClr val="8438FA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rgbClr val="8438FA"/>
              </a:buClr>
              <a:buSzPts val="1400"/>
              <a:buChar char="●"/>
              <a:defRPr>
                <a:solidFill>
                  <a:srgbClr val="8438FA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rgbClr val="8438FA"/>
              </a:buClr>
              <a:buSzPts val="1400"/>
              <a:buChar char="○"/>
              <a:defRPr>
                <a:solidFill>
                  <a:srgbClr val="8438FA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rgbClr val="8438FA"/>
              </a:buClr>
              <a:buSzPts val="1400"/>
              <a:buChar char="■"/>
              <a:defRPr>
                <a:solidFill>
                  <a:srgbClr val="8438FA"/>
                </a:solidFill>
              </a:defRPr>
            </a:lvl9pPr>
          </a:lstStyle>
          <a:p/>
        </p:txBody>
      </p:sp>
      <p:sp>
        <p:nvSpPr>
          <p:cNvPr id="84" name="Google Shape;84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7" name="Google Shape;87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0" name="Google Shape;90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1" name="Google Shape;91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ght slide" showMasterSp="0">
  <p:cSld name="Light slide">
    <p:bg>
      <p:bgPr>
        <a:solidFill>
          <a:srgbClr val="FFFFFF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5"/>
          <p:cNvSpPr txBox="1"/>
          <p:nvPr>
            <p:ph idx="1" type="body"/>
          </p:nvPr>
        </p:nvSpPr>
        <p:spPr>
          <a:xfrm>
            <a:off x="951731" y="1115566"/>
            <a:ext cx="5302200" cy="8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19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5071"/>
              </a:buClr>
              <a:buSzPts val="3000"/>
              <a:buFont typeface="Arial"/>
              <a:buChar char="●"/>
              <a:defRPr b="1" sz="3000">
                <a:solidFill>
                  <a:srgbClr val="50507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305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○"/>
              <a:defRPr/>
            </a:lvl2pPr>
            <a:lvl3pPr indent="-27305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■"/>
              <a:defRPr/>
            </a:lvl3pPr>
            <a:lvl4pPr indent="-27305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●"/>
              <a:defRPr/>
            </a:lvl4pPr>
            <a:lvl5pPr indent="-27305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○"/>
              <a:defRPr/>
            </a:lvl5pPr>
            <a:lvl6pPr indent="-27305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■"/>
              <a:defRPr/>
            </a:lvl6pPr>
            <a:lvl7pPr indent="-27305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●"/>
              <a:defRPr/>
            </a:lvl7pPr>
            <a:lvl8pPr indent="-27305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○"/>
              <a:defRPr/>
            </a:lvl8pPr>
            <a:lvl9pPr indent="-27305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■"/>
              <a:defRPr/>
            </a:lvl9pPr>
          </a:lstStyle>
          <a:p/>
        </p:txBody>
      </p:sp>
      <p:sp>
        <p:nvSpPr>
          <p:cNvPr id="96" name="Google Shape;96;p25"/>
          <p:cNvSpPr txBox="1"/>
          <p:nvPr>
            <p:ph idx="2" type="body"/>
          </p:nvPr>
        </p:nvSpPr>
        <p:spPr>
          <a:xfrm>
            <a:off x="934600" y="858391"/>
            <a:ext cx="28257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rmAutofit/>
          </a:bodyPr>
          <a:lstStyle>
            <a:lvl1pPr indent="-2730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●"/>
              <a:defRPr/>
            </a:lvl1pPr>
            <a:lvl2pPr indent="-27305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○"/>
              <a:defRPr/>
            </a:lvl2pPr>
            <a:lvl3pPr indent="-27305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■"/>
              <a:defRPr/>
            </a:lvl3pPr>
            <a:lvl4pPr indent="-27305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●"/>
              <a:defRPr/>
            </a:lvl4pPr>
            <a:lvl5pPr indent="-27305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○"/>
              <a:defRPr/>
            </a:lvl5pPr>
            <a:lvl6pPr indent="-27305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■"/>
              <a:defRPr/>
            </a:lvl6pPr>
            <a:lvl7pPr indent="-27305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●"/>
              <a:defRPr/>
            </a:lvl7pPr>
            <a:lvl8pPr indent="-27305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○"/>
              <a:defRPr/>
            </a:lvl8pPr>
            <a:lvl9pPr indent="-27305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■"/>
              <a:defRPr/>
            </a:lvl9pPr>
          </a:lstStyle>
          <a:p/>
        </p:txBody>
      </p:sp>
      <p:pic>
        <p:nvPicPr>
          <p:cNvPr descr="logo_RGB-Transparent1-WEB.png" id="97" name="Google Shape;97;p25"/>
          <p:cNvPicPr preferRelativeResize="0"/>
          <p:nvPr/>
        </p:nvPicPr>
        <p:blipFill rotWithShape="1">
          <a:blip r:embed="rId2">
            <a:alphaModFix/>
          </a:blip>
          <a:srcRect b="40" l="0" r="0" t="40"/>
          <a:stretch/>
        </p:blipFill>
        <p:spPr>
          <a:xfrm>
            <a:off x="243186" y="4749582"/>
            <a:ext cx="279847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25"/>
          <p:cNvSpPr txBox="1"/>
          <p:nvPr>
            <p:ph idx="3" type="body"/>
          </p:nvPr>
        </p:nvSpPr>
        <p:spPr>
          <a:xfrm>
            <a:off x="951731" y="2296477"/>
            <a:ext cx="3860100" cy="5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7305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●"/>
              <a:defRPr/>
            </a:lvl1pPr>
            <a:lvl2pPr indent="-27305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○"/>
              <a:defRPr/>
            </a:lvl2pPr>
            <a:lvl3pPr indent="-27305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■"/>
              <a:defRPr/>
            </a:lvl3pPr>
            <a:lvl4pPr indent="-27305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●"/>
              <a:defRPr/>
            </a:lvl4pPr>
            <a:lvl5pPr indent="-27305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○"/>
              <a:defRPr/>
            </a:lvl5pPr>
            <a:lvl6pPr indent="-27305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■"/>
              <a:defRPr/>
            </a:lvl6pPr>
            <a:lvl7pPr indent="-27305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●"/>
              <a:defRPr/>
            </a:lvl7pPr>
            <a:lvl8pPr indent="-27305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○"/>
              <a:defRPr/>
            </a:lvl8pPr>
            <a:lvl9pPr indent="-27305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■"/>
              <a:defRPr/>
            </a:lvl9pPr>
          </a:lstStyle>
          <a:p/>
        </p:txBody>
      </p:sp>
      <p:sp>
        <p:nvSpPr>
          <p:cNvPr id="99" name="Google Shape;99;p25"/>
          <p:cNvSpPr txBox="1"/>
          <p:nvPr>
            <p:ph idx="12" type="sldNum"/>
          </p:nvPr>
        </p:nvSpPr>
        <p:spPr>
          <a:xfrm>
            <a:off x="8543920" y="4773806"/>
            <a:ext cx="3516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900"/>
              <a:buFont typeface="Open Sans"/>
              <a:buNone/>
              <a:defRPr i="0" sz="800" u="none" cap="none" strike="noStrike"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900"/>
              <a:buFont typeface="Open Sans"/>
              <a:buNone/>
              <a:defRPr i="0" sz="800" u="none" cap="none" strike="noStrike">
                <a:latin typeface="Open Sans SemiBold"/>
                <a:ea typeface="Open Sans SemiBold"/>
                <a:cs typeface="Open Sans SemiBold"/>
                <a:sym typeface="Open Sans SemiBold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900"/>
              <a:buFont typeface="Open Sans"/>
              <a:buNone/>
              <a:defRPr i="0" sz="800" u="none" cap="none" strike="noStrike">
                <a:latin typeface="Open Sans SemiBold"/>
                <a:ea typeface="Open Sans SemiBold"/>
                <a:cs typeface="Open Sans SemiBold"/>
                <a:sym typeface="Open Sans SemiBold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900"/>
              <a:buFont typeface="Open Sans"/>
              <a:buNone/>
              <a:defRPr i="0" sz="800" u="none" cap="none" strike="noStrike">
                <a:latin typeface="Open Sans SemiBold"/>
                <a:ea typeface="Open Sans SemiBold"/>
                <a:cs typeface="Open Sans SemiBold"/>
                <a:sym typeface="Open Sans SemiBold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900"/>
              <a:buFont typeface="Open Sans"/>
              <a:buNone/>
              <a:defRPr i="0" sz="800" u="none" cap="none" strike="noStrike">
                <a:latin typeface="Open Sans SemiBold"/>
                <a:ea typeface="Open Sans SemiBold"/>
                <a:cs typeface="Open Sans SemiBold"/>
                <a:sym typeface="Open Sans SemiBold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900"/>
              <a:buFont typeface="Open Sans"/>
              <a:buNone/>
              <a:defRPr i="0" sz="800" u="none" cap="none" strike="noStrike">
                <a:latin typeface="Open Sans SemiBold"/>
                <a:ea typeface="Open Sans SemiBold"/>
                <a:cs typeface="Open Sans SemiBold"/>
                <a:sym typeface="Open Sans SemiBold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900"/>
              <a:buFont typeface="Open Sans"/>
              <a:buNone/>
              <a:defRPr i="0" sz="800" u="none" cap="none" strike="noStrike">
                <a:latin typeface="Open Sans SemiBold"/>
                <a:ea typeface="Open Sans SemiBold"/>
                <a:cs typeface="Open Sans SemiBold"/>
                <a:sym typeface="Open Sans SemiBold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900"/>
              <a:buFont typeface="Open Sans"/>
              <a:buNone/>
              <a:defRPr i="0" sz="800" u="none" cap="none" strike="noStrike">
                <a:latin typeface="Open Sans SemiBold"/>
                <a:ea typeface="Open Sans SemiBold"/>
                <a:cs typeface="Open Sans SemiBold"/>
                <a:sym typeface="Open Sans SemiBold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900"/>
              <a:buFont typeface="Open Sans"/>
              <a:buNone/>
              <a:defRPr i="0" sz="800" u="none" cap="none" strike="noStrike">
                <a:latin typeface="Open Sans SemiBold"/>
                <a:ea typeface="Open Sans SemiBold"/>
                <a:cs typeface="Open Sans SemiBold"/>
                <a:sym typeface="Open Sans SemiBo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ndard dark">
  <p:cSld name="SECTION_HEADER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6"/>
          <p:cNvSpPr txBox="1"/>
          <p:nvPr>
            <p:ph type="title"/>
          </p:nvPr>
        </p:nvSpPr>
        <p:spPr>
          <a:xfrm>
            <a:off x="500550" y="0"/>
            <a:ext cx="8520600" cy="114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E1E1E1"/>
              </a:buClr>
              <a:buSzPts val="3000"/>
              <a:buNone/>
              <a:defRPr b="1" sz="3000">
                <a:solidFill>
                  <a:srgbClr val="E1E1E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E1E1E1"/>
              </a:buClr>
              <a:buSzPts val="3000"/>
              <a:buNone/>
              <a:defRPr b="1" sz="3000">
                <a:solidFill>
                  <a:srgbClr val="E1E1E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E1E1E1"/>
              </a:buClr>
              <a:buSzPts val="3000"/>
              <a:buNone/>
              <a:defRPr b="1" sz="3000">
                <a:solidFill>
                  <a:srgbClr val="E1E1E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E1E1E1"/>
              </a:buClr>
              <a:buSzPts val="3000"/>
              <a:buNone/>
              <a:defRPr b="1" sz="3000">
                <a:solidFill>
                  <a:srgbClr val="E1E1E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E1E1E1"/>
              </a:buClr>
              <a:buSzPts val="3000"/>
              <a:buNone/>
              <a:defRPr b="1" sz="3000">
                <a:solidFill>
                  <a:srgbClr val="E1E1E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E1E1E1"/>
              </a:buClr>
              <a:buSzPts val="3000"/>
              <a:buNone/>
              <a:defRPr b="1" sz="3000">
                <a:solidFill>
                  <a:srgbClr val="E1E1E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E1E1E1"/>
              </a:buClr>
              <a:buSzPts val="3000"/>
              <a:buNone/>
              <a:defRPr b="1" sz="3000">
                <a:solidFill>
                  <a:srgbClr val="E1E1E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E1E1E1"/>
              </a:buClr>
              <a:buSzPts val="3000"/>
              <a:buNone/>
              <a:defRPr b="1" sz="3000">
                <a:solidFill>
                  <a:srgbClr val="E1E1E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E1E1E1"/>
              </a:buClr>
              <a:buSzPts val="3000"/>
              <a:buNone/>
              <a:defRPr b="1" sz="3000">
                <a:solidFill>
                  <a:srgbClr val="E1E1E1"/>
                </a:solidFill>
              </a:defRPr>
            </a:lvl9pPr>
          </a:lstStyle>
          <a:p/>
        </p:txBody>
      </p:sp>
      <p:sp>
        <p:nvSpPr>
          <p:cNvPr id="102" name="Google Shape;102;p26"/>
          <p:cNvSpPr txBox="1"/>
          <p:nvPr>
            <p:ph idx="2" type="title"/>
          </p:nvPr>
        </p:nvSpPr>
        <p:spPr>
          <a:xfrm>
            <a:off x="500550" y="1140600"/>
            <a:ext cx="8520600" cy="391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1E1E1"/>
              </a:buClr>
              <a:buSzPts val="1800"/>
              <a:buNone/>
              <a:defRPr sz="1800">
                <a:solidFill>
                  <a:srgbClr val="E1E1E1"/>
                </a:solidFill>
              </a:defRPr>
            </a:lvl1pPr>
            <a:lvl2pPr lvl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E1E1E1"/>
              </a:buClr>
              <a:buSzPts val="1800"/>
              <a:buNone/>
              <a:defRPr b="1" sz="1800">
                <a:solidFill>
                  <a:srgbClr val="E1E1E1"/>
                </a:solidFill>
              </a:defRPr>
            </a:lvl2pPr>
            <a:lvl3pPr lvl="2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E1E1E1"/>
              </a:buClr>
              <a:buSzPts val="1800"/>
              <a:buNone/>
              <a:defRPr b="1" sz="1800">
                <a:solidFill>
                  <a:srgbClr val="E1E1E1"/>
                </a:solidFill>
              </a:defRPr>
            </a:lvl3pPr>
            <a:lvl4pPr lvl="3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E1E1E1"/>
              </a:buClr>
              <a:buSzPts val="1800"/>
              <a:buNone/>
              <a:defRPr b="1" sz="1800">
                <a:solidFill>
                  <a:srgbClr val="E1E1E1"/>
                </a:solidFill>
              </a:defRPr>
            </a:lvl4pPr>
            <a:lvl5pPr lvl="4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E1E1E1"/>
              </a:buClr>
              <a:buSzPts val="1800"/>
              <a:buNone/>
              <a:defRPr b="1" sz="1800">
                <a:solidFill>
                  <a:srgbClr val="E1E1E1"/>
                </a:solidFill>
              </a:defRPr>
            </a:lvl5pPr>
            <a:lvl6pPr lvl="5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E1E1E1"/>
              </a:buClr>
              <a:buSzPts val="1800"/>
              <a:buNone/>
              <a:defRPr b="1" sz="1800">
                <a:solidFill>
                  <a:srgbClr val="E1E1E1"/>
                </a:solidFill>
              </a:defRPr>
            </a:lvl6pPr>
            <a:lvl7pPr lvl="6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E1E1E1"/>
              </a:buClr>
              <a:buSzPts val="1800"/>
              <a:buNone/>
              <a:defRPr b="1" sz="1800">
                <a:solidFill>
                  <a:srgbClr val="E1E1E1"/>
                </a:solidFill>
              </a:defRPr>
            </a:lvl7pPr>
            <a:lvl8pPr lvl="7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E1E1E1"/>
              </a:buClr>
              <a:buSzPts val="1800"/>
              <a:buNone/>
              <a:defRPr b="1" sz="1800">
                <a:solidFill>
                  <a:srgbClr val="E1E1E1"/>
                </a:solidFill>
              </a:defRPr>
            </a:lvl8pPr>
            <a:lvl9pPr lvl="8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rgbClr val="E1E1E1"/>
              </a:buClr>
              <a:buSzPts val="1800"/>
              <a:buNone/>
              <a:defRPr b="1" sz="1800">
                <a:solidFill>
                  <a:srgbClr val="E1E1E1"/>
                </a:solidFill>
              </a:defRPr>
            </a:lvl9pPr>
          </a:lstStyle>
          <a:p/>
        </p:txBody>
      </p:sp>
      <p:sp>
        <p:nvSpPr>
          <p:cNvPr id="103" name="Google Shape;103;p26"/>
          <p:cNvSpPr txBox="1"/>
          <p:nvPr/>
        </p:nvSpPr>
        <p:spPr>
          <a:xfrm>
            <a:off x="0" y="0"/>
            <a:ext cx="242100" cy="1140600"/>
          </a:xfrm>
          <a:prstGeom prst="rect">
            <a:avLst/>
          </a:prstGeom>
          <a:gradFill>
            <a:gsLst>
              <a:gs pos="0">
                <a:srgbClr val="109EAE"/>
              </a:gs>
              <a:gs pos="100000">
                <a:srgbClr val="00D9BA"/>
              </a:gs>
            </a:gsLst>
            <a:lin ang="5400012" scaled="0"/>
          </a:gra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ndard white">
  <p:cSld name="SECTION_HEADER_1_1_1_1">
    <p:bg>
      <p:bgPr>
        <a:solidFill>
          <a:srgbClr val="FFFFFF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7"/>
          <p:cNvSpPr txBox="1"/>
          <p:nvPr>
            <p:ph type="title"/>
          </p:nvPr>
        </p:nvSpPr>
        <p:spPr>
          <a:xfrm>
            <a:off x="500550" y="0"/>
            <a:ext cx="8520600" cy="114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D0D18"/>
              </a:buClr>
              <a:buSzPts val="3000"/>
              <a:buNone/>
              <a:defRPr b="1" sz="3000">
                <a:solidFill>
                  <a:srgbClr val="0D0D1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D0D18"/>
              </a:buClr>
              <a:buSzPts val="3000"/>
              <a:buNone/>
              <a:defRPr b="1" sz="3000">
                <a:solidFill>
                  <a:srgbClr val="0D0D18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D0D18"/>
              </a:buClr>
              <a:buSzPts val="3000"/>
              <a:buNone/>
              <a:defRPr b="1" sz="3000">
                <a:solidFill>
                  <a:srgbClr val="0D0D18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D0D18"/>
              </a:buClr>
              <a:buSzPts val="3000"/>
              <a:buNone/>
              <a:defRPr b="1" sz="3000">
                <a:solidFill>
                  <a:srgbClr val="0D0D18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D0D18"/>
              </a:buClr>
              <a:buSzPts val="3000"/>
              <a:buNone/>
              <a:defRPr b="1" sz="3000">
                <a:solidFill>
                  <a:srgbClr val="0D0D18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D0D18"/>
              </a:buClr>
              <a:buSzPts val="3000"/>
              <a:buNone/>
              <a:defRPr b="1" sz="3000">
                <a:solidFill>
                  <a:srgbClr val="0D0D18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D0D18"/>
              </a:buClr>
              <a:buSzPts val="3000"/>
              <a:buNone/>
              <a:defRPr b="1" sz="3000">
                <a:solidFill>
                  <a:srgbClr val="0D0D18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D0D18"/>
              </a:buClr>
              <a:buSzPts val="3000"/>
              <a:buNone/>
              <a:defRPr b="1" sz="3000">
                <a:solidFill>
                  <a:srgbClr val="0D0D18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D0D18"/>
              </a:buClr>
              <a:buSzPts val="3000"/>
              <a:buNone/>
              <a:defRPr b="1" sz="3000">
                <a:solidFill>
                  <a:srgbClr val="0D0D18"/>
                </a:solidFill>
              </a:defRPr>
            </a:lvl9pPr>
          </a:lstStyle>
          <a:p/>
        </p:txBody>
      </p:sp>
      <p:sp>
        <p:nvSpPr>
          <p:cNvPr id="106" name="Google Shape;106;p27"/>
          <p:cNvSpPr txBox="1"/>
          <p:nvPr>
            <p:ph idx="2" type="title"/>
          </p:nvPr>
        </p:nvSpPr>
        <p:spPr>
          <a:xfrm>
            <a:off x="500550" y="1140600"/>
            <a:ext cx="8520600" cy="391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D0D18"/>
              </a:buClr>
              <a:buSzPts val="1800"/>
              <a:buNone/>
              <a:defRPr sz="1800">
                <a:solidFill>
                  <a:srgbClr val="0D0D18"/>
                </a:solidFill>
              </a:defRPr>
            </a:lvl1pPr>
            <a:lvl2pPr lvl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D0D18"/>
              </a:buClr>
              <a:buSzPts val="1800"/>
              <a:buNone/>
              <a:defRPr b="1" sz="1800">
                <a:solidFill>
                  <a:srgbClr val="0D0D18"/>
                </a:solidFill>
              </a:defRPr>
            </a:lvl2pPr>
            <a:lvl3pPr lvl="2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D0D18"/>
              </a:buClr>
              <a:buSzPts val="1800"/>
              <a:buNone/>
              <a:defRPr b="1" sz="1800">
                <a:solidFill>
                  <a:srgbClr val="0D0D18"/>
                </a:solidFill>
              </a:defRPr>
            </a:lvl3pPr>
            <a:lvl4pPr lvl="3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D0D18"/>
              </a:buClr>
              <a:buSzPts val="1800"/>
              <a:buNone/>
              <a:defRPr b="1" sz="1800">
                <a:solidFill>
                  <a:srgbClr val="0D0D18"/>
                </a:solidFill>
              </a:defRPr>
            </a:lvl4pPr>
            <a:lvl5pPr lvl="4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D0D18"/>
              </a:buClr>
              <a:buSzPts val="1800"/>
              <a:buNone/>
              <a:defRPr b="1" sz="1800">
                <a:solidFill>
                  <a:srgbClr val="0D0D18"/>
                </a:solidFill>
              </a:defRPr>
            </a:lvl5pPr>
            <a:lvl6pPr lvl="5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D0D18"/>
              </a:buClr>
              <a:buSzPts val="1800"/>
              <a:buNone/>
              <a:defRPr b="1" sz="1800">
                <a:solidFill>
                  <a:srgbClr val="0D0D18"/>
                </a:solidFill>
              </a:defRPr>
            </a:lvl6pPr>
            <a:lvl7pPr lvl="6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D0D18"/>
              </a:buClr>
              <a:buSzPts val="1800"/>
              <a:buNone/>
              <a:defRPr b="1" sz="1800">
                <a:solidFill>
                  <a:srgbClr val="0D0D18"/>
                </a:solidFill>
              </a:defRPr>
            </a:lvl7pPr>
            <a:lvl8pPr lvl="7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D0D18"/>
              </a:buClr>
              <a:buSzPts val="1800"/>
              <a:buNone/>
              <a:defRPr b="1" sz="1800">
                <a:solidFill>
                  <a:srgbClr val="0D0D18"/>
                </a:solidFill>
              </a:defRPr>
            </a:lvl8pPr>
            <a:lvl9pPr lvl="8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rgbClr val="0D0D18"/>
              </a:buClr>
              <a:buSzPts val="1800"/>
              <a:buNone/>
              <a:defRPr b="1" sz="1800">
                <a:solidFill>
                  <a:srgbClr val="0D0D18"/>
                </a:solidFill>
              </a:defRPr>
            </a:lvl9pPr>
          </a:lstStyle>
          <a:p/>
        </p:txBody>
      </p:sp>
      <p:sp>
        <p:nvSpPr>
          <p:cNvPr id="107" name="Google Shape;107;p27"/>
          <p:cNvSpPr txBox="1"/>
          <p:nvPr/>
        </p:nvSpPr>
        <p:spPr>
          <a:xfrm>
            <a:off x="0" y="0"/>
            <a:ext cx="242100" cy="1140600"/>
          </a:xfrm>
          <a:prstGeom prst="rect">
            <a:avLst/>
          </a:prstGeom>
          <a:gradFill>
            <a:gsLst>
              <a:gs pos="0">
                <a:srgbClr val="1A237D"/>
              </a:gs>
              <a:gs pos="100000">
                <a:srgbClr val="2F3F9E"/>
              </a:gs>
            </a:gsLst>
            <a:lin ang="5400012" scaled="0"/>
          </a:gra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5" Type="http://schemas.openxmlformats.org/officeDocument/2006/relationships/theme" Target="../theme/theme3.xml"/><Relationship Id="rId14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8438FA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Inter"/>
              <a:buNone/>
              <a:defRPr b="1" sz="3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Inter"/>
              <a:buNone/>
              <a:defRPr b="1" sz="3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Inter"/>
              <a:buNone/>
              <a:defRPr b="1" sz="3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Inter"/>
              <a:buNone/>
              <a:defRPr b="1" sz="3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Inter"/>
              <a:buNone/>
              <a:defRPr b="1" sz="3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Inter"/>
              <a:buNone/>
              <a:defRPr b="1" sz="3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Inter"/>
              <a:buNone/>
              <a:defRPr b="1" sz="3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Inter"/>
              <a:buNone/>
              <a:defRPr b="1" sz="3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Inter"/>
              <a:buNone/>
              <a:defRPr b="1" sz="3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●"/>
              <a:defRPr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○"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■"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●"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○"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■"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●"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○"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■"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8"/>
          <p:cNvSpPr/>
          <p:nvPr/>
        </p:nvSpPr>
        <p:spPr>
          <a:xfrm flipH="1">
            <a:off x="8153400" y="4429125"/>
            <a:ext cx="990600" cy="714300"/>
          </a:xfrm>
          <a:prstGeom prst="round1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3" name="Google Shape;113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3988" y="4687950"/>
            <a:ext cx="527775" cy="273675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28"/>
          <p:cNvSpPr txBox="1"/>
          <p:nvPr/>
        </p:nvSpPr>
        <p:spPr>
          <a:xfrm>
            <a:off x="720000" y="309475"/>
            <a:ext cx="78039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100">
                <a:solidFill>
                  <a:srgbClr val="5900CB"/>
                </a:solidFill>
                <a:latin typeface="Inter"/>
                <a:ea typeface="Inter"/>
                <a:cs typeface="Inter"/>
                <a:sym typeface="Inter"/>
              </a:rPr>
              <a:t>Validation - Query Validation</a:t>
            </a:r>
            <a:endParaRPr b="1" sz="31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5" name="Google Shape;115;p28"/>
          <p:cNvSpPr txBox="1"/>
          <p:nvPr/>
        </p:nvSpPr>
        <p:spPr>
          <a:xfrm>
            <a:off x="390150" y="1202050"/>
            <a:ext cx="7803900" cy="32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Tyk supports validation of GraphQL queries and schemas to prevent errors during request processing.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Query Validation: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○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Tyk’s native GraphQL engine validates queries against the GraphQL Specification.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○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Both the Gateway in front of your existing GraphQL API and any Universal Data Graph have validation middleware.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Invalid requests are caught by the Gateway and not forwarded upstream, returning errors to the client.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9"/>
          <p:cNvSpPr/>
          <p:nvPr/>
        </p:nvSpPr>
        <p:spPr>
          <a:xfrm flipH="1">
            <a:off x="8153400" y="4429125"/>
            <a:ext cx="990600" cy="714300"/>
          </a:xfrm>
          <a:prstGeom prst="round1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1" name="Google Shape;121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3988" y="4687950"/>
            <a:ext cx="527775" cy="273675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29"/>
          <p:cNvSpPr txBox="1"/>
          <p:nvPr/>
        </p:nvSpPr>
        <p:spPr>
          <a:xfrm>
            <a:off x="720000" y="309475"/>
            <a:ext cx="78039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100">
                <a:solidFill>
                  <a:srgbClr val="5900CB"/>
                </a:solidFill>
                <a:latin typeface="Inter"/>
                <a:ea typeface="Inter"/>
                <a:cs typeface="Inter"/>
                <a:sym typeface="Inter"/>
              </a:rPr>
              <a:t>Validation - Schema Validation</a:t>
            </a:r>
            <a:endParaRPr b="1" sz="31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3" name="Google Shape;123;p29"/>
          <p:cNvSpPr txBox="1"/>
          <p:nvPr/>
        </p:nvSpPr>
        <p:spPr>
          <a:xfrm>
            <a:off x="390150" y="1202050"/>
            <a:ext cx="7803900" cy="32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Schema Validation: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Prevents broken or invalid schemas from being saved or updated in Tyk.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Available only via Tyk Dashboard or Dashboard API.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Ensures schemas do not contain: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○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Duplicated operation types (Query, Mutation, Subscription)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○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Duplicated type names, field names, or enum values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Usage of unknown types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If schema validation fails via the API, a 400 Bad Request is returned with detailed errors.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Tyk main slide deck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