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Inter Light"/>
      <p:regular r:id="rId22"/>
      <p:bold r:id="rId23"/>
      <p:italic r:id="rId24"/>
      <p:boldItalic r:id="rId25"/>
    </p:embeddedFont>
    <p:embeddedFont>
      <p:font typeface="Roboto"/>
      <p:regular r:id="rId26"/>
      <p:bold r:id="rId27"/>
      <p:italic r:id="rId28"/>
      <p:boldItalic r:id="rId29"/>
    </p:embeddedFont>
    <p:embeddedFont>
      <p:font typeface="Roboto Medium"/>
      <p:regular r:id="rId30"/>
      <p:bold r:id="rId31"/>
      <p:italic r:id="rId32"/>
      <p:boldItalic r:id="rId33"/>
    </p:embeddedFont>
    <p:embeddedFont>
      <p:font typeface="Inter"/>
      <p:regular r:id="rId34"/>
      <p:bold r:id="rId35"/>
      <p:italic r:id="rId36"/>
      <p:boldItalic r:id="rId37"/>
    </p:embeddedFon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454">
          <p15:clr>
            <a:srgbClr val="747775"/>
          </p15:clr>
        </p15:guide>
        <p15:guide id="3" pos="454">
          <p15:clr>
            <a:srgbClr val="747775"/>
          </p15:clr>
        </p15:guide>
        <p15:guide id="4" pos="5329">
          <p15:clr>
            <a:srgbClr val="747775"/>
          </p15:clr>
        </p15:guide>
        <p15:guide id="5" orient="horz" pos="278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54" orient="horz"/>
        <p:guide pos="454"/>
        <p:guide pos="5329"/>
        <p:guide pos="2786"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5.xml"/><Relationship Id="rId41" Type="http://schemas.openxmlformats.org/officeDocument/2006/relationships/font" Target="fonts/HelveticaNeue-boldItalic.fntdata"/><Relationship Id="rId22" Type="http://schemas.openxmlformats.org/officeDocument/2006/relationships/font" Target="fonts/InterLight-regular.fntdata"/><Relationship Id="rId21" Type="http://schemas.openxmlformats.org/officeDocument/2006/relationships/slide" Target="slides/slide16.xml"/><Relationship Id="rId24" Type="http://schemas.openxmlformats.org/officeDocument/2006/relationships/font" Target="fonts/InterLight-italic.fntdata"/><Relationship Id="rId23" Type="http://schemas.openxmlformats.org/officeDocument/2006/relationships/font" Target="fonts/InterLigh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regular.fntdata"/><Relationship Id="rId25" Type="http://schemas.openxmlformats.org/officeDocument/2006/relationships/font" Target="fonts/InterLight-boldItalic.fntdata"/><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Medium-bold.fntdata"/><Relationship Id="rId30" Type="http://schemas.openxmlformats.org/officeDocument/2006/relationships/font" Target="fonts/RobotoMedium-regular.fntdata"/><Relationship Id="rId11" Type="http://schemas.openxmlformats.org/officeDocument/2006/relationships/slide" Target="slides/slide6.xml"/><Relationship Id="rId33" Type="http://schemas.openxmlformats.org/officeDocument/2006/relationships/font" Target="fonts/RobotoMedium-boldItalic.fntdata"/><Relationship Id="rId10" Type="http://schemas.openxmlformats.org/officeDocument/2006/relationships/slide" Target="slides/slide5.xml"/><Relationship Id="rId32" Type="http://schemas.openxmlformats.org/officeDocument/2006/relationships/font" Target="fonts/RobotoMedium-italic.fntdata"/><Relationship Id="rId13" Type="http://schemas.openxmlformats.org/officeDocument/2006/relationships/slide" Target="slides/slide8.xml"/><Relationship Id="rId35" Type="http://schemas.openxmlformats.org/officeDocument/2006/relationships/font" Target="fonts/Inter-bold.fntdata"/><Relationship Id="rId12" Type="http://schemas.openxmlformats.org/officeDocument/2006/relationships/slide" Target="slides/slide7.xml"/><Relationship Id="rId34" Type="http://schemas.openxmlformats.org/officeDocument/2006/relationships/font" Target="fonts/Inter-regular.fntdata"/><Relationship Id="rId15" Type="http://schemas.openxmlformats.org/officeDocument/2006/relationships/slide" Target="slides/slide10.xml"/><Relationship Id="rId37" Type="http://schemas.openxmlformats.org/officeDocument/2006/relationships/font" Target="fonts/Inter-boldItalic.fntdata"/><Relationship Id="rId14" Type="http://schemas.openxmlformats.org/officeDocument/2006/relationships/slide" Target="slides/slide9.xml"/><Relationship Id="rId36" Type="http://schemas.openxmlformats.org/officeDocument/2006/relationships/font" Target="fonts/Inter-italic.fntdata"/><Relationship Id="rId17" Type="http://schemas.openxmlformats.org/officeDocument/2006/relationships/slide" Target="slides/slide12.xml"/><Relationship Id="rId39" Type="http://schemas.openxmlformats.org/officeDocument/2006/relationships/font" Target="fonts/HelveticaNeue-bold.fntdata"/><Relationship Id="rId16" Type="http://schemas.openxmlformats.org/officeDocument/2006/relationships/slide" Target="slides/slide11.xml"/><Relationship Id="rId38" Type="http://schemas.openxmlformats.org/officeDocument/2006/relationships/font" Target="fonts/HelveticaNeue-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8941264df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 name="Google Shape;55;g38941264df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941264df1_0_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38941264df1_0_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8941264df1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8941264df1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8941264df1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8941264df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8941264df1_0_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38941264df1_0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941264df1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38941264df1_0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941264df1_0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8941264df1_0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941264df1_0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38941264df1_0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941264df1_0_1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8941264df1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GB" sz="1800">
                <a:solidFill>
                  <a:srgbClr val="E1E1E1"/>
                </a:solidFill>
                <a:latin typeface="Roboto"/>
                <a:ea typeface="Roboto"/>
                <a:cs typeface="Roboto"/>
                <a:sym typeface="Roboto"/>
              </a:rPr>
              <a:t>All API traffic is routed through client’s infrastructure </a:t>
            </a:r>
            <a:endParaRPr sz="1800">
              <a:solidFill>
                <a:srgbClr val="E1E1E1"/>
              </a:solidFill>
              <a:latin typeface="Roboto"/>
              <a:ea typeface="Roboto"/>
              <a:cs typeface="Roboto"/>
              <a:sym typeface="Roboto"/>
            </a:endParaRPr>
          </a:p>
          <a:p>
            <a:pPr indent="0" lvl="0" marL="0" rtl="0" algn="l">
              <a:lnSpc>
                <a:spcPct val="150000"/>
              </a:lnSpc>
              <a:spcBef>
                <a:spcPts val="1000"/>
              </a:spcBef>
              <a:spcAft>
                <a:spcPts val="0"/>
              </a:spcAft>
              <a:buClr>
                <a:schemeClr val="dk1"/>
              </a:buClr>
              <a:buSzPts val="1100"/>
              <a:buFont typeface="Arial"/>
              <a:buNone/>
            </a:pPr>
            <a:r>
              <a:rPr lang="en-GB" sz="1800">
                <a:solidFill>
                  <a:srgbClr val="E1E1E1"/>
                </a:solidFill>
                <a:latin typeface="Roboto"/>
                <a:ea typeface="Roboto"/>
                <a:cs typeface="Roboto"/>
                <a:sym typeface="Roboto"/>
              </a:rPr>
              <a:t>Only Tyk specific data (API configurations, Policy Defs, Rate Limits, Analytics) is transferred between Gateway instance that sits in the Tyk infrastructure is only used by the Dashboard for key generation, it does not proxy any API traffic </a:t>
            </a:r>
            <a:br>
              <a:rPr lang="en-GB" sz="1800">
                <a:solidFill>
                  <a:srgbClr val="E1E1E1"/>
                </a:solidFill>
                <a:latin typeface="Roboto"/>
                <a:ea typeface="Roboto"/>
                <a:cs typeface="Roboto"/>
                <a:sym typeface="Roboto"/>
              </a:rPr>
            </a:br>
            <a:r>
              <a:rPr lang="en-GB" sz="1800">
                <a:solidFill>
                  <a:srgbClr val="E1E1E1"/>
                </a:solidFill>
                <a:latin typeface="Roboto"/>
                <a:ea typeface="Roboto"/>
                <a:cs typeface="Roboto"/>
                <a:sym typeface="Roboto"/>
              </a:rPr>
              <a:t>MDCB and Hybrid clients, instead of writing data to a temporary Redis list, sends it directly to the MDCB server, which processes them similar to Pump</a:t>
            </a:r>
            <a:br>
              <a:rPr lang="en-GB" sz="1800">
                <a:solidFill>
                  <a:srgbClr val="E1E1E1"/>
                </a:solidFill>
                <a:latin typeface="Roboto"/>
                <a:ea typeface="Roboto"/>
                <a:cs typeface="Roboto"/>
                <a:sym typeface="Roboto"/>
              </a:rPr>
            </a:br>
            <a:endParaRPr sz="1800">
              <a:solidFill>
                <a:srgbClr val="E1E1E1"/>
              </a:solidFill>
              <a:latin typeface="Roboto"/>
              <a:ea typeface="Roboto"/>
              <a:cs typeface="Roboto"/>
              <a:sym typeface="Roboto"/>
            </a:endParaRPr>
          </a:p>
          <a:p>
            <a:pPr indent="0" lvl="0" marL="0" rtl="0" algn="l">
              <a:lnSpc>
                <a:spcPct val="117999"/>
              </a:lnSpc>
              <a:spcBef>
                <a:spcPts val="1000"/>
              </a:spcBef>
              <a:spcAft>
                <a:spcPts val="0"/>
              </a:spcAft>
              <a:buClr>
                <a:schemeClr val="dk1"/>
              </a:buClr>
              <a:buSzPts val="1100"/>
              <a:buFont typeface="Arial"/>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941264df1_0_2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g38941264df1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8941264df1_0_2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g38941264df1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7999"/>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38941264df1_0_2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38941264df1_0_2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8941264df1_0_3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g38941264df1_0_3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Monoliths contain all of their functionality within a single, self-contained application.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Since monoliths are single applications, they typically do not have any requirements for intra-service communication. However, they may need to communicate with other monoliths or, more commonly, have external systems communicate with them. In these scenarios, the API Gateway can provide the typical API Gateway functionality of authentication and authorisation.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In addition to this, for older monolithic applications which don’t support modern protocols or data formats, the Gateway can provide protocol and data transformation to make it easier to access and work with them.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The Gateway can also utilise custom middleware to provide a means of integrating with legacy applications, which would have otherwise operated within a silo.</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8941264df1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g38941264df1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GB"/>
              <a:t>The next step from monoliths are service oriented architectures (or SOA). This technique breaks applications into separate services, which perform </a:t>
            </a:r>
            <a:r>
              <a:rPr lang="en-GB">
                <a:solidFill>
                  <a:schemeClr val="dk1"/>
                </a:solidFill>
              </a:rPr>
              <a:t>discrete units of </a:t>
            </a:r>
            <a:r>
              <a:rPr lang="en-GB"/>
              <a:t>functionality. These units are designed to be accessed remotely, creating interconnected systems and services which are dependant on each other.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In this scenario the Gateway manages traffic between both consumers and the services themselves.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Since SOA promotes an increased number of applications communicating over the network, there is greater benefit in implementing common functionality at the API Gateway level, such as authentication, authorisation, rate limiting and quotas.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GB"/>
              <a:t>The Gateway can use </a:t>
            </a:r>
            <a:r>
              <a:rPr lang="en-GB">
                <a:solidFill>
                  <a:schemeClr val="dk1"/>
                </a:solidFill>
              </a:rPr>
              <a:t>Service Discovery to </a:t>
            </a:r>
            <a:r>
              <a:rPr lang="en-GB"/>
              <a:t>automatically adapt to changes in the services to which it is proxying.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941264df1_0_3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g38941264df1_0_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GB">
                <a:solidFill>
                  <a:srgbClr val="0D0D18"/>
                </a:solidFill>
              </a:rPr>
              <a:t>Microservices are a variant of the SOA approach, but the services have a smaller scope, with lightweight protocols and data formats. A single application may contain tens, hundreds or thousands of individual services.</a:t>
            </a:r>
            <a:endParaRPr>
              <a:solidFill>
                <a:srgbClr val="0D0D18"/>
              </a:solidFill>
            </a:endParaRPr>
          </a:p>
          <a:p>
            <a:pPr indent="0" lvl="0" marL="0" rtl="0" algn="l">
              <a:lnSpc>
                <a:spcPct val="150000"/>
              </a:lnSpc>
              <a:spcBef>
                <a:spcPts val="1000"/>
              </a:spcBef>
              <a:spcAft>
                <a:spcPts val="0"/>
              </a:spcAft>
              <a:buSzPts val="1100"/>
              <a:buNone/>
            </a:pPr>
            <a:r>
              <a:rPr lang="en-GB">
                <a:solidFill>
                  <a:srgbClr val="0D0D18"/>
                </a:solidFill>
              </a:rPr>
              <a:t>This results in higher interconnectivity between systems and reliance on the network. </a:t>
            </a:r>
            <a:endParaRPr>
              <a:solidFill>
                <a:srgbClr val="0D0D18"/>
              </a:solidFill>
            </a:endParaRPr>
          </a:p>
          <a:p>
            <a:pPr indent="0" lvl="0" marL="0" rtl="0" algn="l">
              <a:lnSpc>
                <a:spcPct val="150000"/>
              </a:lnSpc>
              <a:spcBef>
                <a:spcPts val="1000"/>
              </a:spcBef>
              <a:spcAft>
                <a:spcPts val="0"/>
              </a:spcAft>
              <a:buSzPts val="1100"/>
              <a:buNone/>
            </a:pPr>
            <a:r>
              <a:rPr lang="en-GB">
                <a:solidFill>
                  <a:srgbClr val="0D0D18"/>
                </a:solidFill>
              </a:rPr>
              <a:t>The increased number of systems and connections can present problems, which the API Gateway can solve:</a:t>
            </a:r>
            <a:endParaRPr>
              <a:solidFill>
                <a:srgbClr val="0D0D18"/>
              </a:solidFill>
            </a:endParaRPr>
          </a:p>
          <a:p>
            <a:pPr indent="-298450" lvl="0" marL="457200" rtl="0" algn="l">
              <a:lnSpc>
                <a:spcPct val="150000"/>
              </a:lnSpc>
              <a:spcBef>
                <a:spcPts val="0"/>
              </a:spcBef>
              <a:spcAft>
                <a:spcPts val="0"/>
              </a:spcAft>
              <a:buClr>
                <a:srgbClr val="0D0D18"/>
              </a:buClr>
              <a:buSzPts val="1100"/>
              <a:buChar char="-"/>
            </a:pPr>
            <a:r>
              <a:rPr lang="en-GB">
                <a:solidFill>
                  <a:srgbClr val="0D0D18"/>
                </a:solidFill>
              </a:rPr>
              <a:t>Tracing of traffic between services</a:t>
            </a:r>
            <a:endParaRPr>
              <a:solidFill>
                <a:srgbClr val="0D0D18"/>
              </a:solidFill>
            </a:endParaRPr>
          </a:p>
          <a:p>
            <a:pPr indent="-298450" lvl="0" marL="457200" rtl="0" algn="l">
              <a:lnSpc>
                <a:spcPct val="150000"/>
              </a:lnSpc>
              <a:spcBef>
                <a:spcPts val="0"/>
              </a:spcBef>
              <a:spcAft>
                <a:spcPts val="0"/>
              </a:spcAft>
              <a:buClr>
                <a:srgbClr val="0D0D18"/>
              </a:buClr>
              <a:buSzPts val="1100"/>
              <a:buChar char="-"/>
            </a:pPr>
            <a:r>
              <a:rPr lang="en-GB">
                <a:solidFill>
                  <a:srgbClr val="0D0D18"/>
                </a:solidFill>
              </a:rPr>
              <a:t>Centralised application logging</a:t>
            </a:r>
            <a:endParaRPr>
              <a:solidFill>
                <a:srgbClr val="0D0D18"/>
              </a:solidFill>
            </a:endParaRPr>
          </a:p>
          <a:p>
            <a:pPr indent="-298450" lvl="0" marL="457200" rtl="0" algn="l">
              <a:lnSpc>
                <a:spcPct val="150000"/>
              </a:lnSpc>
              <a:spcBef>
                <a:spcPts val="0"/>
              </a:spcBef>
              <a:spcAft>
                <a:spcPts val="0"/>
              </a:spcAft>
              <a:buClr>
                <a:srgbClr val="0D0D18"/>
              </a:buClr>
              <a:buSzPts val="1100"/>
              <a:buChar char="-"/>
            </a:pPr>
            <a:r>
              <a:rPr lang="en-GB">
                <a:solidFill>
                  <a:srgbClr val="0D0D18"/>
                </a:solidFill>
              </a:rPr>
              <a:t>Centralised usage analytics</a:t>
            </a:r>
            <a:endParaRPr>
              <a:solidFill>
                <a:srgbClr val="0D0D18"/>
              </a:solidFill>
            </a:endParaRPr>
          </a:p>
          <a:p>
            <a:pPr indent="-298450" lvl="0" marL="457200" rtl="0" algn="l">
              <a:lnSpc>
                <a:spcPct val="150000"/>
              </a:lnSpc>
              <a:spcBef>
                <a:spcPts val="0"/>
              </a:spcBef>
              <a:spcAft>
                <a:spcPts val="0"/>
              </a:spcAft>
              <a:buClr>
                <a:srgbClr val="0D0D18"/>
              </a:buClr>
              <a:buSzPts val="1100"/>
              <a:buChar char="-"/>
            </a:pPr>
            <a:r>
              <a:rPr lang="en-GB">
                <a:solidFill>
                  <a:srgbClr val="0D0D18"/>
                </a:solidFill>
              </a:rPr>
              <a:t>Access control between services</a:t>
            </a:r>
            <a:endParaRPr>
              <a:solidFill>
                <a:srgbClr val="0D0D18"/>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8941264df1_0_3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g38941264df1_0_3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100"/>
              <a:buNone/>
            </a:pPr>
            <a:r>
              <a:rPr lang="en-GB"/>
              <a:t>Service mesh is a variant of the microservices approach. It adds additional Gateways, called Sidecar Gateways, which are paired with Services. </a:t>
            </a:r>
            <a:endParaRPr/>
          </a:p>
          <a:p>
            <a:pPr indent="0" lvl="0" marL="0" rtl="0" algn="l">
              <a:lnSpc>
                <a:spcPct val="150000"/>
              </a:lnSpc>
              <a:spcBef>
                <a:spcPts val="0"/>
              </a:spcBef>
              <a:spcAft>
                <a:spcPts val="0"/>
              </a:spcAft>
              <a:buSzPts val="1100"/>
              <a:buNone/>
            </a:pPr>
            <a:r>
              <a:t/>
            </a:r>
            <a:endParaRPr/>
          </a:p>
          <a:p>
            <a:pPr indent="0" lvl="0" marL="0" rtl="0" algn="l">
              <a:lnSpc>
                <a:spcPct val="150000"/>
              </a:lnSpc>
              <a:spcBef>
                <a:spcPts val="0"/>
              </a:spcBef>
              <a:spcAft>
                <a:spcPts val="0"/>
              </a:spcAft>
              <a:buSzPts val="1100"/>
              <a:buNone/>
            </a:pPr>
            <a:r>
              <a:rPr lang="en-GB"/>
              <a:t>This approach is often deployed with container orchestration and service mesh tooling, such as Kubernetes and Istio, with the each Sidecar Gateway and Service pair deployed into the same container.</a:t>
            </a:r>
            <a:endParaRPr/>
          </a:p>
          <a:p>
            <a:pPr indent="0" lvl="0" marL="0" rtl="0" algn="l">
              <a:lnSpc>
                <a:spcPct val="150000"/>
              </a:lnSpc>
              <a:spcBef>
                <a:spcPts val="0"/>
              </a:spcBef>
              <a:spcAft>
                <a:spcPts val="0"/>
              </a:spcAft>
              <a:buSzPts val="1100"/>
              <a:buNone/>
            </a:pPr>
            <a:r>
              <a:t/>
            </a:r>
            <a:endParaRPr/>
          </a:p>
          <a:p>
            <a:pPr indent="0" lvl="0" marL="0" rtl="0" algn="l">
              <a:lnSpc>
                <a:spcPct val="150000"/>
              </a:lnSpc>
              <a:spcBef>
                <a:spcPts val="0"/>
              </a:spcBef>
              <a:spcAft>
                <a:spcPts val="0"/>
              </a:spcAft>
              <a:buSzPts val="1100"/>
              <a:buNone/>
            </a:pPr>
            <a:r>
              <a:rPr lang="en-GB"/>
              <a:t>Tyk’s part of this architecture is as the Ingress Gateway, controlling access into the service mesh from external API Clients.</a:t>
            </a:r>
            <a:endParaRPr/>
          </a:p>
          <a:p>
            <a:pPr indent="0" lvl="0" marL="0" rtl="0" algn="l">
              <a:lnSpc>
                <a:spcPct val="150000"/>
              </a:lnSpc>
              <a:spcBef>
                <a:spcPts val="0"/>
              </a:spcBef>
              <a:spcAft>
                <a:spcPts val="0"/>
              </a:spcAft>
              <a:buSzPts val="1100"/>
              <a:buNone/>
            </a:pPr>
            <a:r>
              <a:t/>
            </a:r>
            <a:endParaRPr/>
          </a:p>
          <a:p>
            <a:pPr indent="0" lvl="0" marL="0" rtl="0" algn="l">
              <a:lnSpc>
                <a:spcPct val="150000"/>
              </a:lnSpc>
              <a:spcBef>
                <a:spcPts val="0"/>
              </a:spcBef>
              <a:spcAft>
                <a:spcPts val="0"/>
              </a:spcAft>
              <a:buSzPts val="1100"/>
              <a:buNone/>
            </a:pPr>
            <a:r>
              <a:rPr lang="en-GB"/>
              <a:t>The benefit of a service mesh architecture is that it automates how traffic flows over the network. The Sidecar Gateways handle all the routing and authentication between services, so this information does not need to be included in the Service’s logic, making them simpler. The tooling around the service mesh also gives centralised policy enforcement and monitoring services, which are especially useful when dealing with large quantities of services.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0" y="922550"/>
            <a:ext cx="8520600" cy="165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531550"/>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2000"/>
              <a:buNone/>
              <a:defRPr sz="2000">
                <a:solidFill>
                  <a:srgbClr val="21E9BA"/>
                </a:solidFill>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1" name="Google Shape;21;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2" name="Google Shape;22;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3800"/>
              <a:buNone/>
              <a:defRPr/>
            </a:lvl2pPr>
            <a:lvl3pPr lvl="2">
              <a:spcBef>
                <a:spcPts val="0"/>
              </a:spcBef>
              <a:spcAft>
                <a:spcPts val="0"/>
              </a:spcAft>
              <a:buSzPts val="3800"/>
              <a:buNone/>
              <a:defRPr/>
            </a:lvl3pPr>
            <a:lvl4pPr lvl="3">
              <a:spcBef>
                <a:spcPts val="0"/>
              </a:spcBef>
              <a:spcAft>
                <a:spcPts val="0"/>
              </a:spcAft>
              <a:buSzPts val="3800"/>
              <a:buNone/>
              <a:defRPr/>
            </a:lvl4pPr>
            <a:lvl5pPr lvl="4">
              <a:spcBef>
                <a:spcPts val="0"/>
              </a:spcBef>
              <a:spcAft>
                <a:spcPts val="0"/>
              </a:spcAft>
              <a:buSzPts val="3800"/>
              <a:buNone/>
              <a:defRPr/>
            </a:lvl5pPr>
            <a:lvl6pPr lvl="5">
              <a:spcBef>
                <a:spcPts val="0"/>
              </a:spcBef>
              <a:spcAft>
                <a:spcPts val="0"/>
              </a:spcAft>
              <a:buSzPts val="3800"/>
              <a:buNone/>
              <a:defRPr/>
            </a:lvl6pPr>
            <a:lvl7pPr lvl="6">
              <a:spcBef>
                <a:spcPts val="0"/>
              </a:spcBef>
              <a:spcAft>
                <a:spcPts val="0"/>
              </a:spcAft>
              <a:buSzPts val="3800"/>
              <a:buNone/>
              <a:defRPr/>
            </a:lvl7pPr>
            <a:lvl8pPr lvl="7">
              <a:spcBef>
                <a:spcPts val="0"/>
              </a:spcBef>
              <a:spcAft>
                <a:spcPts val="0"/>
              </a:spcAft>
              <a:buSzPts val="3800"/>
              <a:buNone/>
              <a:defRPr/>
            </a:lvl8pPr>
            <a:lvl9pPr lvl="8">
              <a:spcBef>
                <a:spcPts val="0"/>
              </a:spcBef>
              <a:spcAft>
                <a:spcPts val="0"/>
              </a:spcAft>
              <a:buSzPts val="3800"/>
              <a:buNone/>
              <a:defRPr/>
            </a:lvl9pPr>
          </a:lstStyle>
          <a:p/>
        </p:txBody>
      </p:sp>
      <p:sp>
        <p:nvSpPr>
          <p:cNvPr id="26" name="Google Shape;2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7" name="Shape 27"/>
        <p:cNvGrpSpPr/>
        <p:nvPr/>
      </p:nvGrpSpPr>
      <p:grpSpPr>
        <a:xfrm>
          <a:off x="0" y="0"/>
          <a:ext cx="0" cy="0"/>
          <a:chOff x="0" y="0"/>
          <a:chExt cx="0" cy="0"/>
        </a:xfrm>
      </p:grpSpPr>
      <p:sp>
        <p:nvSpPr>
          <p:cNvPr id="28" name="Google Shape;2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9" name="Google Shape;29;p7"/>
          <p:cNvSpPr txBox="1"/>
          <p:nvPr>
            <p:ph idx="1" type="body"/>
          </p:nvPr>
        </p:nvSpPr>
        <p:spPr>
          <a:xfrm>
            <a:off x="311700" y="1389600"/>
            <a:ext cx="50364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1" name="Shape 31"/>
        <p:cNvGrpSpPr/>
        <p:nvPr/>
      </p:nvGrpSpPr>
      <p:grpSpPr>
        <a:xfrm>
          <a:off x="0" y="0"/>
          <a:ext cx="0" cy="0"/>
          <a:chOff x="0" y="0"/>
          <a:chExt cx="0" cy="0"/>
        </a:xfrm>
      </p:grpSpPr>
      <p:sp>
        <p:nvSpPr>
          <p:cNvPr id="32" name="Google Shape;32;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3800"/>
              <a:buNone/>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4" name="Shape 34"/>
        <p:cNvGrpSpPr/>
        <p:nvPr/>
      </p:nvGrpSpPr>
      <p:grpSpPr>
        <a:xfrm>
          <a:off x="0" y="0"/>
          <a:ext cx="0" cy="0"/>
          <a:chOff x="0" y="0"/>
          <a:chExt cx="0" cy="0"/>
        </a:xfrm>
      </p:grpSpPr>
      <p:sp>
        <p:nvSpPr>
          <p:cNvPr id="35" name="Google Shape;35;p9"/>
          <p:cNvSpPr/>
          <p:nvPr/>
        </p:nvSpPr>
        <p:spPr>
          <a:xfrm>
            <a:off x="4572000" y="-12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7" name="Google Shape;37;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rgbClr val="21E9BA"/>
              </a:buClr>
              <a:buSzPts val="1600"/>
              <a:buNone/>
              <a:defRPr sz="1600">
                <a:solidFill>
                  <a:srgbClr val="21E9BA"/>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8" name="Google Shape;38;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rgbClr val="8438FA"/>
              </a:buClr>
              <a:buSzPts val="1800"/>
              <a:buChar char="●"/>
              <a:defRPr>
                <a:solidFill>
                  <a:srgbClr val="8438FA"/>
                </a:solidFill>
              </a:defRPr>
            </a:lvl1pPr>
            <a:lvl2pPr indent="-317500" lvl="1" marL="914400">
              <a:spcBef>
                <a:spcPts val="0"/>
              </a:spcBef>
              <a:spcAft>
                <a:spcPts val="0"/>
              </a:spcAft>
              <a:buClr>
                <a:srgbClr val="8438FA"/>
              </a:buClr>
              <a:buSzPts val="1400"/>
              <a:buChar char="○"/>
              <a:defRPr>
                <a:solidFill>
                  <a:srgbClr val="8438FA"/>
                </a:solidFill>
              </a:defRPr>
            </a:lvl2pPr>
            <a:lvl3pPr indent="-317500" lvl="2" marL="1371600">
              <a:spcBef>
                <a:spcPts val="0"/>
              </a:spcBef>
              <a:spcAft>
                <a:spcPts val="0"/>
              </a:spcAft>
              <a:buClr>
                <a:srgbClr val="8438FA"/>
              </a:buClr>
              <a:buSzPts val="1400"/>
              <a:buChar char="■"/>
              <a:defRPr>
                <a:solidFill>
                  <a:srgbClr val="8438FA"/>
                </a:solidFill>
              </a:defRPr>
            </a:lvl3pPr>
            <a:lvl4pPr indent="-317500" lvl="3" marL="1828800">
              <a:spcBef>
                <a:spcPts val="0"/>
              </a:spcBef>
              <a:spcAft>
                <a:spcPts val="0"/>
              </a:spcAft>
              <a:buClr>
                <a:srgbClr val="8438FA"/>
              </a:buClr>
              <a:buSzPts val="1400"/>
              <a:buChar char="●"/>
              <a:defRPr>
                <a:solidFill>
                  <a:srgbClr val="8438FA"/>
                </a:solidFill>
              </a:defRPr>
            </a:lvl4pPr>
            <a:lvl5pPr indent="-317500" lvl="4" marL="2286000">
              <a:spcBef>
                <a:spcPts val="0"/>
              </a:spcBef>
              <a:spcAft>
                <a:spcPts val="0"/>
              </a:spcAft>
              <a:buClr>
                <a:srgbClr val="8438FA"/>
              </a:buClr>
              <a:buSzPts val="1400"/>
              <a:buChar char="○"/>
              <a:defRPr>
                <a:solidFill>
                  <a:srgbClr val="8438FA"/>
                </a:solidFill>
              </a:defRPr>
            </a:lvl5pPr>
            <a:lvl6pPr indent="-317500" lvl="5" marL="2743200">
              <a:spcBef>
                <a:spcPts val="0"/>
              </a:spcBef>
              <a:spcAft>
                <a:spcPts val="0"/>
              </a:spcAft>
              <a:buClr>
                <a:srgbClr val="8438FA"/>
              </a:buClr>
              <a:buSzPts val="1400"/>
              <a:buChar char="■"/>
              <a:defRPr>
                <a:solidFill>
                  <a:srgbClr val="8438FA"/>
                </a:solidFill>
              </a:defRPr>
            </a:lvl6pPr>
            <a:lvl7pPr indent="-317500" lvl="6" marL="3200400">
              <a:spcBef>
                <a:spcPts val="0"/>
              </a:spcBef>
              <a:spcAft>
                <a:spcPts val="0"/>
              </a:spcAft>
              <a:buClr>
                <a:srgbClr val="8438FA"/>
              </a:buClr>
              <a:buSzPts val="1400"/>
              <a:buChar char="●"/>
              <a:defRPr>
                <a:solidFill>
                  <a:srgbClr val="8438FA"/>
                </a:solidFill>
              </a:defRPr>
            </a:lvl7pPr>
            <a:lvl8pPr indent="-317500" lvl="7" marL="3657600">
              <a:spcBef>
                <a:spcPts val="0"/>
              </a:spcBef>
              <a:spcAft>
                <a:spcPts val="0"/>
              </a:spcAft>
              <a:buClr>
                <a:srgbClr val="8438FA"/>
              </a:buClr>
              <a:buSzPts val="1400"/>
              <a:buChar char="○"/>
              <a:defRPr>
                <a:solidFill>
                  <a:srgbClr val="8438FA"/>
                </a:solidFill>
              </a:defRPr>
            </a:lvl8pPr>
            <a:lvl9pPr indent="-317500" lvl="8" marL="4114800">
              <a:spcBef>
                <a:spcPts val="0"/>
              </a:spcBef>
              <a:spcAft>
                <a:spcPts val="0"/>
              </a:spcAft>
              <a:buClr>
                <a:srgbClr val="8438FA"/>
              </a:buClr>
              <a:buSzPts val="1400"/>
              <a:buChar char="■"/>
              <a:defRPr>
                <a:solidFill>
                  <a:srgbClr val="8438FA"/>
                </a:solidFill>
              </a:defRPr>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0" name="Shape 40"/>
        <p:cNvGrpSpPr/>
        <p:nvPr/>
      </p:nvGrpSpPr>
      <p:grpSpPr>
        <a:xfrm>
          <a:off x="0" y="0"/>
          <a:ext cx="0" cy="0"/>
          <a:chOff x="0" y="0"/>
          <a:chExt cx="0" cy="0"/>
        </a:xfrm>
      </p:grpSpPr>
      <p:sp>
        <p:nvSpPr>
          <p:cNvPr id="41" name="Google Shape;41;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3" name="Shape 43"/>
        <p:cNvGrpSpPr/>
        <p:nvPr/>
      </p:nvGrpSpPr>
      <p:grpSpPr>
        <a:xfrm>
          <a:off x="0" y="0"/>
          <a:ext cx="0" cy="0"/>
          <a:chOff x="0" y="0"/>
          <a:chExt cx="0" cy="0"/>
        </a:xfrm>
      </p:grpSpPr>
      <p:sp>
        <p:nvSpPr>
          <p:cNvPr id="44" name="Google Shape;44;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5" name="Google Shape;45;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7" name="Shape 47"/>
        <p:cNvGrpSpPr/>
        <p:nvPr/>
      </p:nvGrpSpPr>
      <p:grpSpPr>
        <a:xfrm>
          <a:off x="0" y="0"/>
          <a:ext cx="0" cy="0"/>
          <a:chOff x="0" y="0"/>
          <a:chExt cx="0" cy="0"/>
        </a:xfrm>
      </p:grpSpPr>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white">
  <p:cSld name="SECTION_HEADER_1_1_1_1">
    <p:bg>
      <p:bgPr>
        <a:solidFill>
          <a:srgbClr val="FFFFFF"/>
        </a:solidFill>
      </p:bgPr>
    </p:bg>
    <p:spTree>
      <p:nvGrpSpPr>
        <p:cNvPr id="49" name="Shape 49"/>
        <p:cNvGrpSpPr/>
        <p:nvPr/>
      </p:nvGrpSpPr>
      <p:grpSpPr>
        <a:xfrm>
          <a:off x="0" y="0"/>
          <a:ext cx="0" cy="0"/>
          <a:chOff x="0" y="0"/>
          <a:chExt cx="0" cy="0"/>
        </a:xfrm>
      </p:grpSpPr>
      <p:sp>
        <p:nvSpPr>
          <p:cNvPr id="50" name="Google Shape;50;p13"/>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rgbClr val="0D0D18"/>
              </a:buClr>
              <a:buSzPts val="3000"/>
              <a:buNone/>
              <a:defRPr b="1" sz="3000">
                <a:solidFill>
                  <a:srgbClr val="0D0D18"/>
                </a:solidFill>
              </a:defRPr>
            </a:lvl1pPr>
            <a:lvl2pPr lvl="1" algn="l">
              <a:lnSpc>
                <a:spcPct val="100000"/>
              </a:lnSpc>
              <a:spcBef>
                <a:spcPts val="0"/>
              </a:spcBef>
              <a:spcAft>
                <a:spcPts val="0"/>
              </a:spcAft>
              <a:buClr>
                <a:srgbClr val="0D0D18"/>
              </a:buClr>
              <a:buSzPts val="3000"/>
              <a:buNone/>
              <a:defRPr b="1" sz="3000">
                <a:solidFill>
                  <a:srgbClr val="0D0D18"/>
                </a:solidFill>
              </a:defRPr>
            </a:lvl2pPr>
            <a:lvl3pPr lvl="2" algn="l">
              <a:lnSpc>
                <a:spcPct val="100000"/>
              </a:lnSpc>
              <a:spcBef>
                <a:spcPts val="0"/>
              </a:spcBef>
              <a:spcAft>
                <a:spcPts val="0"/>
              </a:spcAft>
              <a:buClr>
                <a:srgbClr val="0D0D18"/>
              </a:buClr>
              <a:buSzPts val="3000"/>
              <a:buNone/>
              <a:defRPr b="1" sz="3000">
                <a:solidFill>
                  <a:srgbClr val="0D0D18"/>
                </a:solidFill>
              </a:defRPr>
            </a:lvl3pPr>
            <a:lvl4pPr lvl="3" algn="l">
              <a:lnSpc>
                <a:spcPct val="100000"/>
              </a:lnSpc>
              <a:spcBef>
                <a:spcPts val="0"/>
              </a:spcBef>
              <a:spcAft>
                <a:spcPts val="0"/>
              </a:spcAft>
              <a:buClr>
                <a:srgbClr val="0D0D18"/>
              </a:buClr>
              <a:buSzPts val="3000"/>
              <a:buNone/>
              <a:defRPr b="1" sz="3000">
                <a:solidFill>
                  <a:srgbClr val="0D0D18"/>
                </a:solidFill>
              </a:defRPr>
            </a:lvl4pPr>
            <a:lvl5pPr lvl="4" algn="l">
              <a:lnSpc>
                <a:spcPct val="100000"/>
              </a:lnSpc>
              <a:spcBef>
                <a:spcPts val="0"/>
              </a:spcBef>
              <a:spcAft>
                <a:spcPts val="0"/>
              </a:spcAft>
              <a:buClr>
                <a:srgbClr val="0D0D18"/>
              </a:buClr>
              <a:buSzPts val="3000"/>
              <a:buNone/>
              <a:defRPr b="1" sz="3000">
                <a:solidFill>
                  <a:srgbClr val="0D0D18"/>
                </a:solidFill>
              </a:defRPr>
            </a:lvl5pPr>
            <a:lvl6pPr lvl="5" algn="l">
              <a:lnSpc>
                <a:spcPct val="100000"/>
              </a:lnSpc>
              <a:spcBef>
                <a:spcPts val="0"/>
              </a:spcBef>
              <a:spcAft>
                <a:spcPts val="0"/>
              </a:spcAft>
              <a:buClr>
                <a:srgbClr val="0D0D18"/>
              </a:buClr>
              <a:buSzPts val="3000"/>
              <a:buNone/>
              <a:defRPr b="1" sz="3000">
                <a:solidFill>
                  <a:srgbClr val="0D0D18"/>
                </a:solidFill>
              </a:defRPr>
            </a:lvl6pPr>
            <a:lvl7pPr lvl="6" algn="l">
              <a:lnSpc>
                <a:spcPct val="100000"/>
              </a:lnSpc>
              <a:spcBef>
                <a:spcPts val="0"/>
              </a:spcBef>
              <a:spcAft>
                <a:spcPts val="0"/>
              </a:spcAft>
              <a:buClr>
                <a:srgbClr val="0D0D18"/>
              </a:buClr>
              <a:buSzPts val="3000"/>
              <a:buNone/>
              <a:defRPr b="1" sz="3000">
                <a:solidFill>
                  <a:srgbClr val="0D0D18"/>
                </a:solidFill>
              </a:defRPr>
            </a:lvl7pPr>
            <a:lvl8pPr lvl="7" algn="l">
              <a:lnSpc>
                <a:spcPct val="100000"/>
              </a:lnSpc>
              <a:spcBef>
                <a:spcPts val="0"/>
              </a:spcBef>
              <a:spcAft>
                <a:spcPts val="0"/>
              </a:spcAft>
              <a:buClr>
                <a:srgbClr val="0D0D18"/>
              </a:buClr>
              <a:buSzPts val="3000"/>
              <a:buNone/>
              <a:defRPr b="1" sz="3000">
                <a:solidFill>
                  <a:srgbClr val="0D0D18"/>
                </a:solidFill>
              </a:defRPr>
            </a:lvl8pPr>
            <a:lvl9pPr lvl="8" algn="l">
              <a:lnSpc>
                <a:spcPct val="100000"/>
              </a:lnSpc>
              <a:spcBef>
                <a:spcPts val="0"/>
              </a:spcBef>
              <a:spcAft>
                <a:spcPts val="0"/>
              </a:spcAft>
              <a:buClr>
                <a:srgbClr val="0D0D18"/>
              </a:buClr>
              <a:buSzPts val="3000"/>
              <a:buNone/>
              <a:defRPr b="1" sz="3000">
                <a:solidFill>
                  <a:srgbClr val="0D0D18"/>
                </a:solidFill>
              </a:defRPr>
            </a:lvl9pPr>
          </a:lstStyle>
          <a:p/>
        </p:txBody>
      </p:sp>
      <p:sp>
        <p:nvSpPr>
          <p:cNvPr id="51" name="Google Shape;51;p13"/>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rmAutofit/>
          </a:bodyPr>
          <a:lstStyle>
            <a:lvl1pPr lvl="0" algn="l">
              <a:lnSpc>
                <a:spcPct val="150000"/>
              </a:lnSpc>
              <a:spcBef>
                <a:spcPts val="0"/>
              </a:spcBef>
              <a:spcAft>
                <a:spcPts val="0"/>
              </a:spcAft>
              <a:buClr>
                <a:srgbClr val="0D0D18"/>
              </a:buClr>
              <a:buSzPts val="1800"/>
              <a:buNone/>
              <a:defRPr sz="1800">
                <a:solidFill>
                  <a:srgbClr val="0D0D18"/>
                </a:solidFill>
              </a:defRPr>
            </a:lvl1pPr>
            <a:lvl2pPr lvl="1" algn="l">
              <a:lnSpc>
                <a:spcPct val="150000"/>
              </a:lnSpc>
              <a:spcBef>
                <a:spcPts val="1000"/>
              </a:spcBef>
              <a:spcAft>
                <a:spcPts val="0"/>
              </a:spcAft>
              <a:buClr>
                <a:srgbClr val="0D0D18"/>
              </a:buClr>
              <a:buSzPts val="1800"/>
              <a:buNone/>
              <a:defRPr b="1" sz="1800">
                <a:solidFill>
                  <a:srgbClr val="0D0D18"/>
                </a:solidFill>
              </a:defRPr>
            </a:lvl2pPr>
            <a:lvl3pPr lvl="2" algn="l">
              <a:lnSpc>
                <a:spcPct val="150000"/>
              </a:lnSpc>
              <a:spcBef>
                <a:spcPts val="1000"/>
              </a:spcBef>
              <a:spcAft>
                <a:spcPts val="0"/>
              </a:spcAft>
              <a:buClr>
                <a:srgbClr val="0D0D18"/>
              </a:buClr>
              <a:buSzPts val="1800"/>
              <a:buNone/>
              <a:defRPr b="1" sz="1800">
                <a:solidFill>
                  <a:srgbClr val="0D0D18"/>
                </a:solidFill>
              </a:defRPr>
            </a:lvl3pPr>
            <a:lvl4pPr lvl="3" algn="l">
              <a:lnSpc>
                <a:spcPct val="150000"/>
              </a:lnSpc>
              <a:spcBef>
                <a:spcPts val="1000"/>
              </a:spcBef>
              <a:spcAft>
                <a:spcPts val="0"/>
              </a:spcAft>
              <a:buClr>
                <a:srgbClr val="0D0D18"/>
              </a:buClr>
              <a:buSzPts val="1800"/>
              <a:buNone/>
              <a:defRPr b="1" sz="1800">
                <a:solidFill>
                  <a:srgbClr val="0D0D18"/>
                </a:solidFill>
              </a:defRPr>
            </a:lvl4pPr>
            <a:lvl5pPr lvl="4" algn="l">
              <a:lnSpc>
                <a:spcPct val="150000"/>
              </a:lnSpc>
              <a:spcBef>
                <a:spcPts val="1000"/>
              </a:spcBef>
              <a:spcAft>
                <a:spcPts val="0"/>
              </a:spcAft>
              <a:buClr>
                <a:srgbClr val="0D0D18"/>
              </a:buClr>
              <a:buSzPts val="1800"/>
              <a:buNone/>
              <a:defRPr b="1" sz="1800">
                <a:solidFill>
                  <a:srgbClr val="0D0D18"/>
                </a:solidFill>
              </a:defRPr>
            </a:lvl5pPr>
            <a:lvl6pPr lvl="5" algn="l">
              <a:lnSpc>
                <a:spcPct val="150000"/>
              </a:lnSpc>
              <a:spcBef>
                <a:spcPts val="1000"/>
              </a:spcBef>
              <a:spcAft>
                <a:spcPts val="0"/>
              </a:spcAft>
              <a:buClr>
                <a:srgbClr val="0D0D18"/>
              </a:buClr>
              <a:buSzPts val="1800"/>
              <a:buNone/>
              <a:defRPr b="1" sz="1800">
                <a:solidFill>
                  <a:srgbClr val="0D0D18"/>
                </a:solidFill>
              </a:defRPr>
            </a:lvl6pPr>
            <a:lvl7pPr lvl="6" algn="l">
              <a:lnSpc>
                <a:spcPct val="150000"/>
              </a:lnSpc>
              <a:spcBef>
                <a:spcPts val="1000"/>
              </a:spcBef>
              <a:spcAft>
                <a:spcPts val="0"/>
              </a:spcAft>
              <a:buClr>
                <a:srgbClr val="0D0D18"/>
              </a:buClr>
              <a:buSzPts val="1800"/>
              <a:buNone/>
              <a:defRPr b="1" sz="1800">
                <a:solidFill>
                  <a:srgbClr val="0D0D18"/>
                </a:solidFill>
              </a:defRPr>
            </a:lvl7pPr>
            <a:lvl8pPr lvl="7" algn="l">
              <a:lnSpc>
                <a:spcPct val="150000"/>
              </a:lnSpc>
              <a:spcBef>
                <a:spcPts val="1000"/>
              </a:spcBef>
              <a:spcAft>
                <a:spcPts val="0"/>
              </a:spcAft>
              <a:buClr>
                <a:srgbClr val="0D0D18"/>
              </a:buClr>
              <a:buSzPts val="1800"/>
              <a:buNone/>
              <a:defRPr b="1" sz="1800">
                <a:solidFill>
                  <a:srgbClr val="0D0D18"/>
                </a:solidFill>
              </a:defRPr>
            </a:lvl8pPr>
            <a:lvl9pPr lvl="8" algn="l">
              <a:lnSpc>
                <a:spcPct val="150000"/>
              </a:lnSpc>
              <a:spcBef>
                <a:spcPts val="1000"/>
              </a:spcBef>
              <a:spcAft>
                <a:spcPts val="1000"/>
              </a:spcAft>
              <a:buClr>
                <a:srgbClr val="0D0D18"/>
              </a:buClr>
              <a:buSzPts val="1800"/>
              <a:buNone/>
              <a:defRPr b="1" sz="1800">
                <a:solidFill>
                  <a:srgbClr val="0D0D18"/>
                </a:solidFill>
              </a:defRPr>
            </a:lvl9pPr>
          </a:lstStyle>
          <a:p/>
        </p:txBody>
      </p:sp>
      <p:sp>
        <p:nvSpPr>
          <p:cNvPr id="52" name="Google Shape;52;p13"/>
          <p:cNvSpPr txBox="1"/>
          <p:nvPr/>
        </p:nvSpPr>
        <p:spPr>
          <a:xfrm>
            <a:off x="0" y="0"/>
            <a:ext cx="242100" cy="1140600"/>
          </a:xfrm>
          <a:prstGeom prst="rect">
            <a:avLst/>
          </a:prstGeom>
          <a:gradFill>
            <a:gsLst>
              <a:gs pos="0">
                <a:srgbClr val="1A237D"/>
              </a:gs>
              <a:gs pos="100000">
                <a:srgbClr val="2F3F9E"/>
              </a:gs>
            </a:gsLst>
            <a:lin ang="5400012" scaled="0"/>
          </a:gra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8438FA"/>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1pPr>
            <a:lvl2pPr lvl="1">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2pPr>
            <a:lvl3pPr lvl="2">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3pPr>
            <a:lvl4pPr lvl="3">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4pPr>
            <a:lvl5pPr lvl="4">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5pPr>
            <a:lvl6pPr lvl="5">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6pPr>
            <a:lvl7pPr lvl="6">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7pPr>
            <a:lvl8pPr lvl="7">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8pPr>
            <a:lvl9pPr lvl="8">
              <a:spcBef>
                <a:spcPts val="0"/>
              </a:spcBef>
              <a:spcAft>
                <a:spcPts val="0"/>
              </a:spcAft>
              <a:buClr>
                <a:srgbClr val="FFFFFF"/>
              </a:buClr>
              <a:buSzPts val="3800"/>
              <a:buFont typeface="Inter"/>
              <a:buNone/>
              <a:defRPr b="1" sz="3800">
                <a:solidFill>
                  <a:srgbClr val="FFFFFF"/>
                </a:solidFill>
                <a:latin typeface="Inter"/>
                <a:ea typeface="Inter"/>
                <a:cs typeface="Inter"/>
                <a:sym typeface="Int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1"/>
              </a:buClr>
              <a:buSzPts val="1800"/>
              <a:buFont typeface="Inter"/>
              <a:buChar char="●"/>
              <a:defRPr sz="1800">
                <a:solidFill>
                  <a:schemeClr val="lt1"/>
                </a:solidFill>
                <a:latin typeface="Inter"/>
                <a:ea typeface="Inter"/>
                <a:cs typeface="Inter"/>
                <a:sym typeface="Inter"/>
              </a:defRPr>
            </a:lvl1pPr>
            <a:lvl2pPr indent="-317500" lvl="1" marL="914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2pPr>
            <a:lvl3pPr indent="-317500" lvl="2" marL="1371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3pPr>
            <a:lvl4pPr indent="-317500" lvl="3" marL="1828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4pPr>
            <a:lvl5pPr indent="-317500" lvl="4" marL="22860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5pPr>
            <a:lvl6pPr indent="-317500" lvl="5" marL="27432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6pPr>
            <a:lvl7pPr indent="-317500" lvl="6" marL="32004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7pPr>
            <a:lvl8pPr indent="-317500" lvl="7" marL="36576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8pPr>
            <a:lvl9pPr indent="-317500" lvl="8" marL="4114800">
              <a:lnSpc>
                <a:spcPct val="115000"/>
              </a:lnSpc>
              <a:spcBef>
                <a:spcPts val="0"/>
              </a:spcBef>
              <a:spcAft>
                <a:spcPts val="0"/>
              </a:spcAft>
              <a:buClr>
                <a:schemeClr val="lt1"/>
              </a:buClr>
              <a:buSzPts val="1400"/>
              <a:buFont typeface="Inter"/>
              <a:buChar char="■"/>
              <a:defRPr>
                <a:solidFill>
                  <a:schemeClr val="lt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Inter Light"/>
                <a:ea typeface="Inter Light"/>
                <a:cs typeface="Inter Light"/>
                <a:sym typeface="Inter Light"/>
              </a:defRPr>
            </a:lvl1pPr>
            <a:lvl2pPr lvl="1" algn="r">
              <a:buNone/>
              <a:defRPr sz="1000">
                <a:solidFill>
                  <a:schemeClr val="lt1"/>
                </a:solidFill>
                <a:latin typeface="Inter Light"/>
                <a:ea typeface="Inter Light"/>
                <a:cs typeface="Inter Light"/>
                <a:sym typeface="Inter Light"/>
              </a:defRPr>
            </a:lvl2pPr>
            <a:lvl3pPr lvl="2" algn="r">
              <a:buNone/>
              <a:defRPr sz="1000">
                <a:solidFill>
                  <a:schemeClr val="lt1"/>
                </a:solidFill>
                <a:latin typeface="Inter Light"/>
                <a:ea typeface="Inter Light"/>
                <a:cs typeface="Inter Light"/>
                <a:sym typeface="Inter Light"/>
              </a:defRPr>
            </a:lvl3pPr>
            <a:lvl4pPr lvl="3" algn="r">
              <a:buNone/>
              <a:defRPr sz="1000">
                <a:solidFill>
                  <a:schemeClr val="lt1"/>
                </a:solidFill>
                <a:latin typeface="Inter Light"/>
                <a:ea typeface="Inter Light"/>
                <a:cs typeface="Inter Light"/>
                <a:sym typeface="Inter Light"/>
              </a:defRPr>
            </a:lvl4pPr>
            <a:lvl5pPr lvl="4" algn="r">
              <a:buNone/>
              <a:defRPr sz="1000">
                <a:solidFill>
                  <a:schemeClr val="lt1"/>
                </a:solidFill>
                <a:latin typeface="Inter Light"/>
                <a:ea typeface="Inter Light"/>
                <a:cs typeface="Inter Light"/>
                <a:sym typeface="Inter Light"/>
              </a:defRPr>
            </a:lvl5pPr>
            <a:lvl6pPr lvl="5" algn="r">
              <a:buNone/>
              <a:defRPr sz="1000">
                <a:solidFill>
                  <a:schemeClr val="lt1"/>
                </a:solidFill>
                <a:latin typeface="Inter Light"/>
                <a:ea typeface="Inter Light"/>
                <a:cs typeface="Inter Light"/>
                <a:sym typeface="Inter Light"/>
              </a:defRPr>
            </a:lvl6pPr>
            <a:lvl7pPr lvl="6" algn="r">
              <a:buNone/>
              <a:defRPr sz="1000">
                <a:solidFill>
                  <a:schemeClr val="lt1"/>
                </a:solidFill>
                <a:latin typeface="Inter Light"/>
                <a:ea typeface="Inter Light"/>
                <a:cs typeface="Inter Light"/>
                <a:sym typeface="Inter Light"/>
              </a:defRPr>
            </a:lvl7pPr>
            <a:lvl8pPr lvl="7" algn="r">
              <a:buNone/>
              <a:defRPr sz="1000">
                <a:solidFill>
                  <a:schemeClr val="lt1"/>
                </a:solidFill>
                <a:latin typeface="Inter Light"/>
                <a:ea typeface="Inter Light"/>
                <a:cs typeface="Inter Light"/>
                <a:sym typeface="Inter Light"/>
              </a:defRPr>
            </a:lvl8pPr>
            <a:lvl9pPr lvl="8" algn="r">
              <a:buNone/>
              <a:defRPr sz="1000">
                <a:solidFill>
                  <a:schemeClr val="lt1"/>
                </a:solidFill>
                <a:latin typeface="Inter Light"/>
                <a:ea typeface="Inter Light"/>
                <a:cs typeface="Inter Light"/>
                <a:sym typeface="Inter Light"/>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438FA"/>
        </a:solidFill>
      </p:bgPr>
    </p:bg>
    <p:spTree>
      <p:nvGrpSpPr>
        <p:cNvPr id="56" name="Shape 56"/>
        <p:cNvGrpSpPr/>
        <p:nvPr/>
      </p:nvGrpSpPr>
      <p:grpSpPr>
        <a:xfrm>
          <a:off x="0" y="0"/>
          <a:ext cx="0" cy="0"/>
          <a:chOff x="0" y="0"/>
          <a:chExt cx="0" cy="0"/>
        </a:xfrm>
      </p:grpSpPr>
      <p:pic>
        <p:nvPicPr>
          <p:cNvPr id="57" name="Google Shape;57;p14"/>
          <p:cNvPicPr preferRelativeResize="0"/>
          <p:nvPr/>
        </p:nvPicPr>
        <p:blipFill rotWithShape="1">
          <a:blip r:embed="rId3">
            <a:alphaModFix/>
          </a:blip>
          <a:srcRect b="0" l="0" r="0" t="0"/>
          <a:stretch/>
        </p:blipFill>
        <p:spPr>
          <a:xfrm>
            <a:off x="0" y="-12"/>
            <a:ext cx="9144003" cy="5143524"/>
          </a:xfrm>
          <a:prstGeom prst="rect">
            <a:avLst/>
          </a:prstGeom>
          <a:noFill/>
          <a:ln>
            <a:noFill/>
          </a:ln>
        </p:spPr>
      </p:pic>
      <p:sp>
        <p:nvSpPr>
          <p:cNvPr id="58" name="Google Shape;58;p14"/>
          <p:cNvSpPr txBox="1"/>
          <p:nvPr/>
        </p:nvSpPr>
        <p:spPr>
          <a:xfrm>
            <a:off x="691670" y="1274800"/>
            <a:ext cx="37653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1" lang="en-GB" sz="4200">
                <a:solidFill>
                  <a:schemeClr val="lt1"/>
                </a:solidFill>
                <a:latin typeface="Inter"/>
                <a:ea typeface="Inter"/>
                <a:cs typeface="Inter"/>
                <a:sym typeface="Inter"/>
              </a:rPr>
              <a:t>Tyk Architect</a:t>
            </a:r>
            <a:r>
              <a:rPr b="1" i="0" lang="en-GB" sz="4200" u="none" cap="none" strike="noStrike">
                <a:solidFill>
                  <a:schemeClr val="lt1"/>
                </a:solidFill>
                <a:latin typeface="Inter"/>
                <a:ea typeface="Inter"/>
                <a:cs typeface="Inter"/>
                <a:sym typeface="Inter"/>
              </a:rPr>
              <a:t> </a:t>
            </a:r>
            <a:r>
              <a:rPr b="1" lang="en-GB" sz="4200">
                <a:solidFill>
                  <a:schemeClr val="lt1"/>
                </a:solidFill>
                <a:latin typeface="Inter"/>
                <a:ea typeface="Inter"/>
                <a:cs typeface="Inter"/>
                <a:sym typeface="Inter"/>
              </a:rPr>
              <a:t>Certification</a:t>
            </a:r>
            <a:endParaRPr b="1" i="0" sz="4200" u="none" cap="none" strike="noStrike">
              <a:solidFill>
                <a:schemeClr val="lt1"/>
              </a:solidFill>
              <a:latin typeface="Inter"/>
              <a:ea typeface="Inter"/>
              <a:cs typeface="Inter"/>
              <a:sym typeface="Inter"/>
            </a:endParaRPr>
          </a:p>
        </p:txBody>
      </p:sp>
      <p:pic>
        <p:nvPicPr>
          <p:cNvPr id="59" name="Google Shape;59;p14"/>
          <p:cNvPicPr preferRelativeResize="0"/>
          <p:nvPr/>
        </p:nvPicPr>
        <p:blipFill rotWithShape="1">
          <a:blip r:embed="rId4">
            <a:alphaModFix/>
          </a:blip>
          <a:srcRect b="0" l="0" r="0" t="0"/>
          <a:stretch/>
        </p:blipFill>
        <p:spPr>
          <a:xfrm>
            <a:off x="796200" y="872401"/>
            <a:ext cx="584925" cy="299600"/>
          </a:xfrm>
          <a:prstGeom prst="rect">
            <a:avLst/>
          </a:prstGeom>
          <a:noFill/>
          <a:ln>
            <a:noFill/>
          </a:ln>
        </p:spPr>
      </p:pic>
      <p:sp>
        <p:nvSpPr>
          <p:cNvPr id="60" name="Google Shape;60;p14"/>
          <p:cNvSpPr txBox="1"/>
          <p:nvPr/>
        </p:nvSpPr>
        <p:spPr>
          <a:xfrm>
            <a:off x="720000" y="2680164"/>
            <a:ext cx="42465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500"/>
              <a:buFont typeface="Arial"/>
              <a:buNone/>
            </a:pPr>
            <a:r>
              <a:rPr b="0" i="0" lang="en-GB" sz="1500" u="none" cap="none" strike="noStrike">
                <a:solidFill>
                  <a:schemeClr val="lt1"/>
                </a:solidFill>
                <a:latin typeface="Inter"/>
                <a:ea typeface="Inter"/>
                <a:cs typeface="Inter"/>
                <a:sym typeface="Inter"/>
              </a:rPr>
              <a:t>Certification Preparation Course</a:t>
            </a:r>
            <a:endParaRPr b="0" i="0" sz="1500" u="none" cap="none" strike="noStrike">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500400" y="1764300"/>
            <a:ext cx="8520600" cy="1614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800"/>
              <a:buNone/>
            </a:pPr>
            <a:r>
              <a:rPr lang="en-GB"/>
              <a:t>Tyk Deployment Models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a:t>Tyk Deployment Models</a:t>
            </a:r>
            <a:endParaRPr/>
          </a:p>
        </p:txBody>
      </p:sp>
      <p:sp>
        <p:nvSpPr>
          <p:cNvPr id="71" name="Google Shape;71;p16"/>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On-premise</a:t>
            </a:r>
            <a:endParaRPr/>
          </a:p>
          <a:p>
            <a:pPr indent="-342900" lvl="1" marL="914400" rtl="0" algn="l">
              <a:lnSpc>
                <a:spcPct val="150000"/>
              </a:lnSpc>
              <a:spcBef>
                <a:spcPts val="0"/>
              </a:spcBef>
              <a:spcAft>
                <a:spcPts val="0"/>
              </a:spcAft>
              <a:buSzPts val="1800"/>
              <a:buChar char="○"/>
            </a:pPr>
            <a:r>
              <a:rPr b="0" lang="en-GB"/>
              <a:t>Tyk solution hosted on customer’s infrastructure</a:t>
            </a:r>
            <a:endParaRPr b="0"/>
          </a:p>
          <a:p>
            <a:pPr indent="-342900" lvl="0" marL="457200" rtl="0" algn="l">
              <a:lnSpc>
                <a:spcPct val="150000"/>
              </a:lnSpc>
              <a:spcBef>
                <a:spcPts val="0"/>
              </a:spcBef>
              <a:spcAft>
                <a:spcPts val="0"/>
              </a:spcAft>
              <a:buSzPts val="1800"/>
              <a:buChar char="●"/>
            </a:pPr>
            <a:r>
              <a:rPr lang="en-GB"/>
              <a:t>Cloud</a:t>
            </a:r>
            <a:endParaRPr/>
          </a:p>
          <a:p>
            <a:pPr indent="-342900" lvl="1" marL="914400" rtl="0" algn="l">
              <a:lnSpc>
                <a:spcPct val="150000"/>
              </a:lnSpc>
              <a:spcBef>
                <a:spcPts val="0"/>
              </a:spcBef>
              <a:spcAft>
                <a:spcPts val="0"/>
              </a:spcAft>
              <a:buSzPts val="1800"/>
              <a:buChar char="○"/>
            </a:pPr>
            <a:r>
              <a:rPr b="0" lang="en-GB"/>
              <a:t>Tyk solution hosted on Tyk’s infrastructure</a:t>
            </a:r>
            <a:endParaRPr b="0"/>
          </a:p>
          <a:p>
            <a:pPr indent="-342900" lvl="0" marL="457200" rtl="0" algn="l">
              <a:lnSpc>
                <a:spcPct val="150000"/>
              </a:lnSpc>
              <a:spcBef>
                <a:spcPts val="0"/>
              </a:spcBef>
              <a:spcAft>
                <a:spcPts val="0"/>
              </a:spcAft>
              <a:buSzPts val="1800"/>
              <a:buChar char="●"/>
            </a:pPr>
            <a:r>
              <a:rPr lang="en-GB"/>
              <a:t>Hybrid Cloud</a:t>
            </a:r>
            <a:endParaRPr/>
          </a:p>
          <a:p>
            <a:pPr indent="-342900" lvl="1" marL="914400" rtl="0" algn="l">
              <a:lnSpc>
                <a:spcPct val="150000"/>
              </a:lnSpc>
              <a:spcBef>
                <a:spcPts val="0"/>
              </a:spcBef>
              <a:spcAft>
                <a:spcPts val="0"/>
              </a:spcAft>
              <a:buSzPts val="1800"/>
              <a:buChar char="○"/>
            </a:pPr>
            <a:r>
              <a:rPr b="0" lang="en-GB"/>
              <a:t>Tyk solution hosting split between Tyk and customer infrastructure</a:t>
            </a:r>
            <a:endParaRPr b="0"/>
          </a:p>
          <a:p>
            <a:pPr indent="-342900" lvl="0" marL="457200" rtl="0" algn="l">
              <a:lnSpc>
                <a:spcPct val="150000"/>
              </a:lnSpc>
              <a:spcBef>
                <a:spcPts val="0"/>
              </a:spcBef>
              <a:spcAft>
                <a:spcPts val="0"/>
              </a:spcAft>
              <a:buSzPts val="1800"/>
              <a:buChar char="●"/>
            </a:pPr>
            <a:r>
              <a:rPr lang="en-GB"/>
              <a:t>Hybrid On-Premise</a:t>
            </a:r>
            <a:endParaRPr/>
          </a:p>
          <a:p>
            <a:pPr indent="-342900" lvl="1" marL="914400" rtl="0" algn="l">
              <a:lnSpc>
                <a:spcPct val="150000"/>
              </a:lnSpc>
              <a:spcBef>
                <a:spcPts val="0"/>
              </a:spcBef>
              <a:spcAft>
                <a:spcPts val="0"/>
              </a:spcAft>
              <a:buSzPts val="1800"/>
              <a:buChar char="○"/>
            </a:pPr>
            <a:r>
              <a:rPr b="0" lang="en-GB"/>
              <a:t>Tyk solution hosted on customer infrastructure spanning multiple data centers and/or regions</a:t>
            </a:r>
            <a:endParaRPr b="0"/>
          </a:p>
          <a:p>
            <a:pPr indent="0" lvl="0" marL="0" rtl="0" algn="l">
              <a:lnSpc>
                <a:spcPct val="150000"/>
              </a:lnSpc>
              <a:spcBef>
                <a:spcPts val="1000"/>
              </a:spcBef>
              <a:spcAft>
                <a:spcPts val="10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7"/>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a:t>Tyk Deployment Models: On-Premise</a:t>
            </a:r>
            <a:endParaRPr/>
          </a:p>
        </p:txBody>
      </p:sp>
      <p:sp>
        <p:nvSpPr>
          <p:cNvPr id="77" name="Google Shape;77;p17"/>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Entire solution hosted on customer’s infrastructure</a:t>
            </a:r>
            <a:endParaRPr/>
          </a:p>
          <a:p>
            <a:pPr indent="-342900" lvl="0" marL="457200" rtl="0" algn="l">
              <a:lnSpc>
                <a:spcPct val="150000"/>
              </a:lnSpc>
              <a:spcBef>
                <a:spcPts val="0"/>
              </a:spcBef>
              <a:spcAft>
                <a:spcPts val="0"/>
              </a:spcAft>
              <a:buSzPts val="1800"/>
              <a:buChar char="●"/>
            </a:pPr>
            <a:r>
              <a:rPr lang="en-GB"/>
              <a:t>Full control over how Tyk is deployed and maintained</a:t>
            </a:r>
            <a:endParaRPr/>
          </a:p>
          <a:p>
            <a:pPr indent="-342900" lvl="0" marL="457200" rtl="0" algn="l">
              <a:lnSpc>
                <a:spcPct val="150000"/>
              </a:lnSpc>
              <a:spcBef>
                <a:spcPts val="0"/>
              </a:spcBef>
              <a:spcAft>
                <a:spcPts val="0"/>
              </a:spcAft>
              <a:buSzPts val="1800"/>
              <a:buChar char="●"/>
            </a:pPr>
            <a:r>
              <a:rPr lang="en-GB"/>
              <a:t>Fully customizable developer portal</a:t>
            </a:r>
            <a:endParaRPr/>
          </a:p>
          <a:p>
            <a:pPr indent="-342900" lvl="0" marL="457200" rtl="0" algn="l">
              <a:lnSpc>
                <a:spcPct val="150000"/>
              </a:lnSpc>
              <a:spcBef>
                <a:spcPts val="0"/>
              </a:spcBef>
              <a:spcAft>
                <a:spcPts val="0"/>
              </a:spcAft>
              <a:buSzPts val="1800"/>
              <a:buChar char="●"/>
            </a:pPr>
            <a:r>
              <a:rPr lang="en-GB"/>
              <a:t>Architecture limited to single data center</a:t>
            </a:r>
            <a:endParaRPr/>
          </a:p>
          <a:p>
            <a:pPr indent="-342900" lvl="0" marL="457200" rtl="0" algn="l">
              <a:lnSpc>
                <a:spcPct val="150000"/>
              </a:lnSpc>
              <a:spcBef>
                <a:spcPts val="0"/>
              </a:spcBef>
              <a:spcAft>
                <a:spcPts val="0"/>
              </a:spcAft>
              <a:buSzPts val="1800"/>
              <a:buChar char="●"/>
            </a:pPr>
            <a:r>
              <a:rPr lang="en-GB"/>
              <a:t>Install Options</a:t>
            </a:r>
            <a:endParaRPr/>
          </a:p>
          <a:p>
            <a:pPr indent="-342900" lvl="1" marL="914400" rtl="0" algn="l">
              <a:lnSpc>
                <a:spcPct val="150000"/>
              </a:lnSpc>
              <a:spcBef>
                <a:spcPts val="0"/>
              </a:spcBef>
              <a:spcAft>
                <a:spcPts val="0"/>
              </a:spcAft>
              <a:buSzPts val="1800"/>
              <a:buChar char="○"/>
            </a:pPr>
            <a:r>
              <a:rPr b="0" lang="en-GB"/>
              <a:t>Platforms: Docker, Kubernetes, OpenShift </a:t>
            </a:r>
            <a:endParaRPr b="0"/>
          </a:p>
          <a:p>
            <a:pPr indent="-342900" lvl="1" marL="914400" rtl="0" algn="l">
              <a:lnSpc>
                <a:spcPct val="150000"/>
              </a:lnSpc>
              <a:spcBef>
                <a:spcPts val="0"/>
              </a:spcBef>
              <a:spcAft>
                <a:spcPts val="0"/>
              </a:spcAft>
              <a:buSzPts val="1800"/>
              <a:buChar char="○"/>
            </a:pPr>
            <a:r>
              <a:rPr b="0" lang="en-GB"/>
              <a:t>OS Support: RHEL/Centos, Debian/Ubuntu, Amazon Linux</a:t>
            </a:r>
            <a:endParaRPr b="0"/>
          </a:p>
          <a:p>
            <a:pPr indent="-342900" lvl="1" marL="914400" rtl="0" algn="l">
              <a:lnSpc>
                <a:spcPct val="150000"/>
              </a:lnSpc>
              <a:spcBef>
                <a:spcPts val="0"/>
              </a:spcBef>
              <a:spcAft>
                <a:spcPts val="0"/>
              </a:spcAft>
              <a:buSzPts val="1800"/>
              <a:buChar char="○"/>
            </a:pPr>
            <a:r>
              <a:rPr b="0" lang="en-GB"/>
              <a:t>Cloud Host(s): Amazon AWS, GCP, Microsoft Azure, Heroku</a:t>
            </a:r>
            <a:endParaRPr b="0"/>
          </a:p>
          <a:p>
            <a:pPr indent="0" lvl="0" marL="457200" rtl="0" algn="l">
              <a:lnSpc>
                <a:spcPct val="150000"/>
              </a:lnSpc>
              <a:spcBef>
                <a:spcPts val="1000"/>
              </a:spcBef>
              <a:spcAft>
                <a:spcPts val="100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400"/>
              <a:t>Tyk Deployment Models: On-Premise Architecture</a:t>
            </a:r>
            <a:endParaRPr sz="2400"/>
          </a:p>
        </p:txBody>
      </p:sp>
      <p:grpSp>
        <p:nvGrpSpPr>
          <p:cNvPr id="83" name="Google Shape;83;p18"/>
          <p:cNvGrpSpPr/>
          <p:nvPr/>
        </p:nvGrpSpPr>
        <p:grpSpPr>
          <a:xfrm>
            <a:off x="689729" y="3477037"/>
            <a:ext cx="1425566" cy="402425"/>
            <a:chOff x="5357" y="164351"/>
            <a:chExt cx="1601400" cy="960900"/>
          </a:xfrm>
        </p:grpSpPr>
        <p:sp>
          <p:nvSpPr>
            <p:cNvPr id="84" name="Google Shape;84;p18"/>
            <p:cNvSpPr/>
            <p:nvPr/>
          </p:nvSpPr>
          <p:spPr>
            <a:xfrm>
              <a:off x="5357" y="164351"/>
              <a:ext cx="1601400" cy="960900"/>
            </a:xfrm>
            <a:prstGeom prst="roundRect">
              <a:avLst>
                <a:gd fmla="val 10000" name="adj"/>
              </a:avLst>
            </a:prstGeom>
            <a:gradFill>
              <a:gsLst>
                <a:gs pos="0">
                  <a:srgbClr val="D23059"/>
                </a:gs>
                <a:gs pos="100000">
                  <a:srgbClr val="F81648"/>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8"/>
            <p:cNvSpPr/>
            <p:nvPr/>
          </p:nvSpPr>
          <p:spPr>
            <a:xfrm>
              <a:off x="33499" y="192492"/>
              <a:ext cx="1545000" cy="904500"/>
            </a:xfrm>
            <a:prstGeom prst="rect">
              <a:avLst/>
            </a:prstGeom>
            <a:gradFill>
              <a:gsLst>
                <a:gs pos="0">
                  <a:srgbClr val="D23059"/>
                </a:gs>
                <a:gs pos="100000">
                  <a:srgbClr val="F81648"/>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Consumer</a:t>
              </a:r>
              <a:endParaRPr b="0" i="0" sz="1400" u="none" cap="none" strike="noStrike">
                <a:solidFill>
                  <a:srgbClr val="000000"/>
                </a:solidFill>
                <a:latin typeface="Arial"/>
                <a:ea typeface="Arial"/>
                <a:cs typeface="Arial"/>
                <a:sym typeface="Arial"/>
              </a:endParaRPr>
            </a:p>
          </p:txBody>
        </p:sp>
      </p:grpSp>
      <p:grpSp>
        <p:nvGrpSpPr>
          <p:cNvPr id="86" name="Google Shape;86;p18"/>
          <p:cNvGrpSpPr/>
          <p:nvPr/>
        </p:nvGrpSpPr>
        <p:grpSpPr>
          <a:xfrm>
            <a:off x="2989160" y="2641981"/>
            <a:ext cx="1296013" cy="402425"/>
            <a:chOff x="5357" y="164351"/>
            <a:chExt cx="1601400" cy="960900"/>
          </a:xfrm>
        </p:grpSpPr>
        <p:sp>
          <p:nvSpPr>
            <p:cNvPr id="87" name="Google Shape;87;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a:t>
              </a:r>
              <a:endParaRPr b="0" i="0" sz="1400" u="none" cap="none" strike="noStrike">
                <a:solidFill>
                  <a:srgbClr val="000000"/>
                </a:solidFill>
                <a:latin typeface="Arial"/>
                <a:ea typeface="Arial"/>
                <a:cs typeface="Arial"/>
                <a:sym typeface="Arial"/>
              </a:endParaRPr>
            </a:p>
          </p:txBody>
        </p:sp>
      </p:grpSp>
      <p:grpSp>
        <p:nvGrpSpPr>
          <p:cNvPr id="89" name="Google Shape;89;p18"/>
          <p:cNvGrpSpPr/>
          <p:nvPr/>
        </p:nvGrpSpPr>
        <p:grpSpPr>
          <a:xfrm>
            <a:off x="2989160" y="1756745"/>
            <a:ext cx="1296013" cy="402425"/>
            <a:chOff x="5357" y="164351"/>
            <a:chExt cx="1601400" cy="960900"/>
          </a:xfrm>
        </p:grpSpPr>
        <p:sp>
          <p:nvSpPr>
            <p:cNvPr id="90" name="Google Shape;90;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Helvetica Neue"/>
                <a:buNone/>
              </a:pPr>
              <a:r>
                <a:t/>
              </a:r>
              <a:endParaRPr b="0" i="0" sz="1050" u="none" cap="none" strike="noStrike">
                <a:solidFill>
                  <a:srgbClr val="FFFFFF"/>
                </a:solidFill>
                <a:latin typeface="Roboto Medium"/>
                <a:ea typeface="Roboto Medium"/>
                <a:cs typeface="Roboto Medium"/>
                <a:sym typeface="Roboto Medium"/>
              </a:endParaRPr>
            </a:p>
          </p:txBody>
        </p:sp>
        <p:sp>
          <p:nvSpPr>
            <p:cNvPr id="91" name="Google Shape;91;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Pump</a:t>
              </a:r>
              <a:endParaRPr b="0" i="0" sz="1400" u="none" cap="none" strike="noStrike">
                <a:solidFill>
                  <a:srgbClr val="000000"/>
                </a:solidFill>
                <a:latin typeface="Arial"/>
                <a:ea typeface="Arial"/>
                <a:cs typeface="Arial"/>
                <a:sym typeface="Arial"/>
              </a:endParaRPr>
            </a:p>
          </p:txBody>
        </p:sp>
      </p:grpSp>
      <p:grpSp>
        <p:nvGrpSpPr>
          <p:cNvPr id="92" name="Google Shape;92;p18"/>
          <p:cNvGrpSpPr/>
          <p:nvPr/>
        </p:nvGrpSpPr>
        <p:grpSpPr>
          <a:xfrm>
            <a:off x="4961981" y="1761966"/>
            <a:ext cx="1296013" cy="402425"/>
            <a:chOff x="5357" y="164351"/>
            <a:chExt cx="1601400" cy="960900"/>
          </a:xfrm>
        </p:grpSpPr>
        <p:sp>
          <p:nvSpPr>
            <p:cNvPr id="93" name="Google Shape;93;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MongoDB</a:t>
              </a:r>
              <a:endParaRPr b="0" i="0" sz="1400" u="none" cap="none" strike="noStrike">
                <a:solidFill>
                  <a:srgbClr val="000000"/>
                </a:solidFill>
                <a:latin typeface="Arial"/>
                <a:ea typeface="Arial"/>
                <a:cs typeface="Arial"/>
                <a:sym typeface="Arial"/>
              </a:endParaRPr>
            </a:p>
          </p:txBody>
        </p:sp>
      </p:grpSp>
      <p:grpSp>
        <p:nvGrpSpPr>
          <p:cNvPr id="95" name="Google Shape;95;p18"/>
          <p:cNvGrpSpPr/>
          <p:nvPr/>
        </p:nvGrpSpPr>
        <p:grpSpPr>
          <a:xfrm>
            <a:off x="4961725" y="2769925"/>
            <a:ext cx="1296013" cy="402425"/>
            <a:chOff x="5357" y="164351"/>
            <a:chExt cx="1601400" cy="960900"/>
          </a:xfrm>
        </p:grpSpPr>
        <p:sp>
          <p:nvSpPr>
            <p:cNvPr id="96" name="Google Shape;96;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Portal</a:t>
              </a:r>
              <a:endParaRPr b="0" i="0" sz="1050" u="none" cap="none" strike="noStrike">
                <a:solidFill>
                  <a:srgbClr val="FFFFFF"/>
                </a:solidFill>
                <a:latin typeface="Roboto Medium"/>
                <a:ea typeface="Roboto Medium"/>
                <a:cs typeface="Roboto Medium"/>
                <a:sym typeface="Roboto Medium"/>
              </a:endParaRPr>
            </a:p>
          </p:txBody>
        </p:sp>
      </p:grpSp>
      <p:grpSp>
        <p:nvGrpSpPr>
          <p:cNvPr id="98" name="Google Shape;98;p18"/>
          <p:cNvGrpSpPr/>
          <p:nvPr/>
        </p:nvGrpSpPr>
        <p:grpSpPr>
          <a:xfrm>
            <a:off x="4961725" y="3313818"/>
            <a:ext cx="1296013" cy="402425"/>
            <a:chOff x="5357" y="164351"/>
            <a:chExt cx="1601400" cy="960900"/>
          </a:xfrm>
        </p:grpSpPr>
        <p:sp>
          <p:nvSpPr>
            <p:cNvPr id="99" name="Google Shape;99;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Dashboard</a:t>
              </a:r>
              <a:endParaRPr b="0" i="0" sz="1400" u="none" cap="none" strike="noStrike">
                <a:solidFill>
                  <a:srgbClr val="000000"/>
                </a:solidFill>
                <a:latin typeface="Arial"/>
                <a:ea typeface="Arial"/>
                <a:cs typeface="Arial"/>
                <a:sym typeface="Arial"/>
              </a:endParaRPr>
            </a:p>
          </p:txBody>
        </p:sp>
      </p:grpSp>
      <p:grpSp>
        <p:nvGrpSpPr>
          <p:cNvPr id="101" name="Google Shape;101;p18"/>
          <p:cNvGrpSpPr/>
          <p:nvPr/>
        </p:nvGrpSpPr>
        <p:grpSpPr>
          <a:xfrm>
            <a:off x="2986003" y="3478940"/>
            <a:ext cx="1296013" cy="402425"/>
            <a:chOff x="5357" y="164351"/>
            <a:chExt cx="1601400" cy="960900"/>
          </a:xfrm>
        </p:grpSpPr>
        <p:sp>
          <p:nvSpPr>
            <p:cNvPr id="102" name="Google Shape;102;p18"/>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8"/>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400" u="none" cap="none" strike="noStrike">
                <a:solidFill>
                  <a:srgbClr val="000000"/>
                </a:solidFill>
                <a:latin typeface="Arial"/>
                <a:ea typeface="Arial"/>
                <a:cs typeface="Arial"/>
                <a:sym typeface="Arial"/>
              </a:endParaRPr>
            </a:p>
          </p:txBody>
        </p:sp>
      </p:grpSp>
      <p:grpSp>
        <p:nvGrpSpPr>
          <p:cNvPr id="104" name="Google Shape;104;p18"/>
          <p:cNvGrpSpPr/>
          <p:nvPr/>
        </p:nvGrpSpPr>
        <p:grpSpPr>
          <a:xfrm>
            <a:off x="7078127" y="2641982"/>
            <a:ext cx="1425566" cy="402425"/>
            <a:chOff x="5357" y="164351"/>
            <a:chExt cx="1601400" cy="960900"/>
          </a:xfrm>
        </p:grpSpPr>
        <p:sp>
          <p:nvSpPr>
            <p:cNvPr id="105" name="Google Shape;105;p18"/>
            <p:cNvSpPr/>
            <p:nvPr/>
          </p:nvSpPr>
          <p:spPr>
            <a:xfrm>
              <a:off x="5357" y="164351"/>
              <a:ext cx="1601400" cy="960900"/>
            </a:xfrm>
            <a:prstGeom prst="roundRect">
              <a:avLst>
                <a:gd fmla="val 10000" name="adj"/>
              </a:avLst>
            </a:prstGeom>
            <a:gradFill>
              <a:gsLst>
                <a:gs pos="0">
                  <a:srgbClr val="D23059"/>
                </a:gs>
                <a:gs pos="100000">
                  <a:srgbClr val="F81648"/>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18"/>
            <p:cNvSpPr/>
            <p:nvPr/>
          </p:nvSpPr>
          <p:spPr>
            <a:xfrm>
              <a:off x="33499" y="192493"/>
              <a:ext cx="1545000" cy="904500"/>
            </a:xfrm>
            <a:prstGeom prst="rect">
              <a:avLst/>
            </a:prstGeom>
            <a:gradFill>
              <a:gsLst>
                <a:gs pos="0">
                  <a:srgbClr val="D23059"/>
                </a:gs>
                <a:gs pos="100000">
                  <a:srgbClr val="F81648"/>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Developer</a:t>
              </a:r>
              <a:endParaRPr b="0" i="0" sz="1400" u="none" cap="none" strike="noStrike">
                <a:solidFill>
                  <a:srgbClr val="000000"/>
                </a:solidFill>
                <a:latin typeface="Arial"/>
                <a:ea typeface="Arial"/>
                <a:cs typeface="Arial"/>
                <a:sym typeface="Arial"/>
              </a:endParaRPr>
            </a:p>
          </p:txBody>
        </p:sp>
      </p:grpSp>
      <p:grpSp>
        <p:nvGrpSpPr>
          <p:cNvPr id="107" name="Google Shape;107;p18"/>
          <p:cNvGrpSpPr/>
          <p:nvPr/>
        </p:nvGrpSpPr>
        <p:grpSpPr>
          <a:xfrm>
            <a:off x="7078127" y="3476961"/>
            <a:ext cx="1425566" cy="402425"/>
            <a:chOff x="5357" y="164351"/>
            <a:chExt cx="1601400" cy="960900"/>
          </a:xfrm>
        </p:grpSpPr>
        <p:sp>
          <p:nvSpPr>
            <p:cNvPr id="108" name="Google Shape;108;p18"/>
            <p:cNvSpPr/>
            <p:nvPr/>
          </p:nvSpPr>
          <p:spPr>
            <a:xfrm>
              <a:off x="5357" y="164351"/>
              <a:ext cx="1601400" cy="960900"/>
            </a:xfrm>
            <a:prstGeom prst="roundRect">
              <a:avLst>
                <a:gd fmla="val 10000" name="adj"/>
              </a:avLst>
            </a:prstGeom>
            <a:gradFill>
              <a:gsLst>
                <a:gs pos="0">
                  <a:srgbClr val="D23059"/>
                </a:gs>
                <a:gs pos="100000">
                  <a:srgbClr val="F81648"/>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18"/>
            <p:cNvSpPr/>
            <p:nvPr/>
          </p:nvSpPr>
          <p:spPr>
            <a:xfrm>
              <a:off x="33499" y="192493"/>
              <a:ext cx="1545000" cy="904500"/>
            </a:xfrm>
            <a:prstGeom prst="rect">
              <a:avLst/>
            </a:prstGeom>
            <a:gradFill>
              <a:gsLst>
                <a:gs pos="0">
                  <a:srgbClr val="D23059"/>
                </a:gs>
                <a:gs pos="100000">
                  <a:srgbClr val="F81648"/>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Owner</a:t>
              </a:r>
              <a:endParaRPr b="0" i="0" sz="1400" u="none" cap="none" strike="noStrike">
                <a:solidFill>
                  <a:srgbClr val="000000"/>
                </a:solidFill>
                <a:latin typeface="Arial"/>
                <a:ea typeface="Arial"/>
                <a:cs typeface="Arial"/>
                <a:sym typeface="Arial"/>
              </a:endParaRPr>
            </a:p>
          </p:txBody>
        </p:sp>
      </p:grpSp>
      <p:grpSp>
        <p:nvGrpSpPr>
          <p:cNvPr id="110" name="Google Shape;110;p18"/>
          <p:cNvGrpSpPr/>
          <p:nvPr/>
        </p:nvGrpSpPr>
        <p:grpSpPr>
          <a:xfrm>
            <a:off x="2740509" y="4155781"/>
            <a:ext cx="1764102" cy="402425"/>
            <a:chOff x="5357" y="164351"/>
            <a:chExt cx="1601400" cy="960900"/>
          </a:xfrm>
        </p:grpSpPr>
        <p:sp>
          <p:nvSpPr>
            <p:cNvPr id="111" name="Google Shape;111;p18"/>
            <p:cNvSpPr/>
            <p:nvPr/>
          </p:nvSpPr>
          <p:spPr>
            <a:xfrm>
              <a:off x="5357" y="164351"/>
              <a:ext cx="1601400" cy="960900"/>
            </a:xfrm>
            <a:prstGeom prst="roundRect">
              <a:avLst>
                <a:gd fmla="val 10000" name="adj"/>
              </a:avLst>
            </a:prstGeom>
            <a:gradFill>
              <a:gsLst>
                <a:gs pos="0">
                  <a:srgbClr val="1A237D"/>
                </a:gs>
                <a:gs pos="100000">
                  <a:srgbClr val="2F3F9E"/>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8"/>
            <p:cNvSpPr/>
            <p:nvPr/>
          </p:nvSpPr>
          <p:spPr>
            <a:xfrm>
              <a:off x="33499" y="192493"/>
              <a:ext cx="1545000" cy="904500"/>
            </a:xfrm>
            <a:prstGeom prst="rect">
              <a:avLst/>
            </a:prstGeom>
            <a:gradFill>
              <a:gsLst>
                <a:gs pos="0">
                  <a:srgbClr val="1A237D"/>
                </a:gs>
                <a:gs pos="100000">
                  <a:srgbClr val="2F3F9E"/>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Upstream Endpoints</a:t>
              </a:r>
              <a:endParaRPr b="0" i="0" sz="1400" u="none" cap="none" strike="noStrike">
                <a:solidFill>
                  <a:srgbClr val="000000"/>
                </a:solidFill>
                <a:latin typeface="Arial"/>
                <a:ea typeface="Arial"/>
                <a:cs typeface="Arial"/>
                <a:sym typeface="Arial"/>
              </a:endParaRPr>
            </a:p>
          </p:txBody>
        </p:sp>
      </p:grpSp>
      <p:sp>
        <p:nvSpPr>
          <p:cNvPr id="113" name="Google Shape;113;p18"/>
          <p:cNvSpPr/>
          <p:nvPr/>
        </p:nvSpPr>
        <p:spPr>
          <a:xfrm>
            <a:off x="4756485" y="2542672"/>
            <a:ext cx="1708500" cy="1407000"/>
          </a:xfrm>
          <a:prstGeom prst="rect">
            <a:avLst/>
          </a:prstGeom>
          <a:noFill/>
          <a:ln cap="flat" cmpd="sng" w="19050">
            <a:solidFill>
              <a:srgbClr val="5A5A68"/>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00"/>
              <a:buFont typeface="Helvetica Neue"/>
              <a:buNone/>
            </a:pPr>
            <a:r>
              <a:t/>
            </a:r>
            <a:endParaRPr b="0" i="0" sz="1000" u="none" cap="none" strike="noStrike">
              <a:solidFill>
                <a:srgbClr val="000000"/>
              </a:solidFill>
              <a:latin typeface="Helvetica Neue"/>
              <a:ea typeface="Helvetica Neue"/>
              <a:cs typeface="Helvetica Neue"/>
              <a:sym typeface="Helvetica Neue"/>
            </a:endParaRPr>
          </a:p>
        </p:txBody>
      </p:sp>
      <p:sp>
        <p:nvSpPr>
          <p:cNvPr id="114" name="Google Shape;114;p18"/>
          <p:cNvSpPr/>
          <p:nvPr/>
        </p:nvSpPr>
        <p:spPr>
          <a:xfrm>
            <a:off x="2545287" y="1420342"/>
            <a:ext cx="4168200" cy="34014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API OWNER INFRASTRUCTURE</a:t>
            </a:r>
            <a:endParaRPr b="0" i="0" sz="1400" u="none" cap="none" strike="noStrike">
              <a:solidFill>
                <a:srgbClr val="000000"/>
              </a:solidFill>
              <a:latin typeface="Arial"/>
              <a:ea typeface="Arial"/>
              <a:cs typeface="Arial"/>
              <a:sym typeface="Arial"/>
            </a:endParaRPr>
          </a:p>
        </p:txBody>
      </p:sp>
      <p:cxnSp>
        <p:nvCxnSpPr>
          <p:cNvPr id="115" name="Google Shape;115;p18"/>
          <p:cNvCxnSpPr>
            <a:stCxn id="90" idx="3"/>
            <a:endCxn id="93" idx="1"/>
          </p:cNvCxnSpPr>
          <p:nvPr/>
        </p:nvCxnSpPr>
        <p:spPr>
          <a:xfrm>
            <a:off x="4285173" y="1957957"/>
            <a:ext cx="676800" cy="5100"/>
          </a:xfrm>
          <a:prstGeom prst="straightConnector1">
            <a:avLst/>
          </a:prstGeom>
          <a:noFill/>
          <a:ln cap="flat" cmpd="sng" w="19050">
            <a:solidFill>
              <a:srgbClr val="5A5A68"/>
            </a:solidFill>
            <a:prstDash val="solid"/>
            <a:round/>
            <a:headEnd len="sm" w="sm" type="none"/>
            <a:tailEnd len="sm" w="sm" type="none"/>
          </a:ln>
        </p:spPr>
      </p:cxnSp>
      <p:cxnSp>
        <p:nvCxnSpPr>
          <p:cNvPr id="116" name="Google Shape;116;p18"/>
          <p:cNvCxnSpPr>
            <a:stCxn id="90" idx="2"/>
            <a:endCxn id="87" idx="0"/>
          </p:cNvCxnSpPr>
          <p:nvPr/>
        </p:nvCxnSpPr>
        <p:spPr>
          <a:xfrm>
            <a:off x="3637167" y="2159170"/>
            <a:ext cx="0" cy="482700"/>
          </a:xfrm>
          <a:prstGeom prst="straightConnector1">
            <a:avLst/>
          </a:prstGeom>
          <a:noFill/>
          <a:ln cap="flat" cmpd="sng" w="19050">
            <a:solidFill>
              <a:srgbClr val="5A5A68"/>
            </a:solidFill>
            <a:prstDash val="solid"/>
            <a:round/>
            <a:headEnd len="sm" w="sm" type="none"/>
            <a:tailEnd len="sm" w="sm" type="none"/>
          </a:ln>
        </p:spPr>
      </p:cxnSp>
      <p:cxnSp>
        <p:nvCxnSpPr>
          <p:cNvPr id="117" name="Google Shape;117;p18"/>
          <p:cNvCxnSpPr>
            <a:stCxn id="93" idx="2"/>
            <a:endCxn id="113" idx="0"/>
          </p:cNvCxnSpPr>
          <p:nvPr/>
        </p:nvCxnSpPr>
        <p:spPr>
          <a:xfrm>
            <a:off x="5609988" y="2164391"/>
            <a:ext cx="600" cy="378300"/>
          </a:xfrm>
          <a:prstGeom prst="straightConnector1">
            <a:avLst/>
          </a:prstGeom>
          <a:noFill/>
          <a:ln cap="flat" cmpd="sng" w="19050">
            <a:solidFill>
              <a:srgbClr val="5A5A68"/>
            </a:solidFill>
            <a:prstDash val="solid"/>
            <a:round/>
            <a:headEnd len="sm" w="sm" type="none"/>
            <a:tailEnd len="sm" w="sm" type="none"/>
          </a:ln>
        </p:spPr>
      </p:cxnSp>
      <p:cxnSp>
        <p:nvCxnSpPr>
          <p:cNvPr id="118" name="Google Shape;118;p18"/>
          <p:cNvCxnSpPr>
            <a:stCxn id="84" idx="3"/>
            <a:endCxn id="102" idx="1"/>
          </p:cNvCxnSpPr>
          <p:nvPr/>
        </p:nvCxnSpPr>
        <p:spPr>
          <a:xfrm>
            <a:off x="2115295" y="3678249"/>
            <a:ext cx="870600" cy="1800"/>
          </a:xfrm>
          <a:prstGeom prst="straightConnector1">
            <a:avLst/>
          </a:prstGeom>
          <a:noFill/>
          <a:ln cap="flat" cmpd="sng" w="19050">
            <a:solidFill>
              <a:srgbClr val="5A5A68"/>
            </a:solidFill>
            <a:prstDash val="solid"/>
            <a:round/>
            <a:headEnd len="sm" w="sm" type="none"/>
            <a:tailEnd len="sm" w="sm" type="none"/>
          </a:ln>
        </p:spPr>
      </p:cxnSp>
      <p:cxnSp>
        <p:nvCxnSpPr>
          <p:cNvPr id="119" name="Google Shape;119;p18"/>
          <p:cNvCxnSpPr>
            <a:endCxn id="108" idx="1"/>
          </p:cNvCxnSpPr>
          <p:nvPr/>
        </p:nvCxnSpPr>
        <p:spPr>
          <a:xfrm>
            <a:off x="6463727" y="3678173"/>
            <a:ext cx="614400" cy="0"/>
          </a:xfrm>
          <a:prstGeom prst="straightConnector1">
            <a:avLst/>
          </a:prstGeom>
          <a:noFill/>
          <a:ln cap="flat" cmpd="sng" w="19050">
            <a:solidFill>
              <a:srgbClr val="5A5A68"/>
            </a:solidFill>
            <a:prstDash val="solid"/>
            <a:round/>
            <a:headEnd len="sm" w="sm" type="none"/>
            <a:tailEnd len="sm" w="sm" type="none"/>
          </a:ln>
        </p:spPr>
      </p:cxnSp>
      <p:cxnSp>
        <p:nvCxnSpPr>
          <p:cNvPr id="120" name="Google Shape;120;p18"/>
          <p:cNvCxnSpPr>
            <a:endCxn id="105" idx="1"/>
          </p:cNvCxnSpPr>
          <p:nvPr/>
        </p:nvCxnSpPr>
        <p:spPr>
          <a:xfrm>
            <a:off x="6462227" y="2843194"/>
            <a:ext cx="615900" cy="0"/>
          </a:xfrm>
          <a:prstGeom prst="straightConnector1">
            <a:avLst/>
          </a:prstGeom>
          <a:noFill/>
          <a:ln cap="flat" cmpd="sng" w="19050">
            <a:solidFill>
              <a:srgbClr val="5A5A68"/>
            </a:solidFill>
            <a:prstDash val="solid"/>
            <a:round/>
            <a:headEnd len="sm" w="sm" type="none"/>
            <a:tailEnd len="sm" w="sm" type="none"/>
          </a:ln>
        </p:spPr>
      </p:cxnSp>
      <p:cxnSp>
        <p:nvCxnSpPr>
          <p:cNvPr id="121" name="Google Shape;121;p18"/>
          <p:cNvCxnSpPr>
            <a:stCxn id="103" idx="3"/>
          </p:cNvCxnSpPr>
          <p:nvPr/>
        </p:nvCxnSpPr>
        <p:spPr>
          <a:xfrm flipH="1" rot="10800000">
            <a:off x="4259147" y="3678628"/>
            <a:ext cx="496800" cy="1500"/>
          </a:xfrm>
          <a:prstGeom prst="straightConnector1">
            <a:avLst/>
          </a:prstGeom>
          <a:noFill/>
          <a:ln cap="flat" cmpd="sng" w="19050">
            <a:solidFill>
              <a:srgbClr val="5A5A68"/>
            </a:solidFill>
            <a:prstDash val="solid"/>
            <a:round/>
            <a:headEnd len="sm" w="sm" type="none"/>
            <a:tailEnd len="sm" w="sm" type="none"/>
          </a:ln>
        </p:spPr>
      </p:cxnSp>
      <p:cxnSp>
        <p:nvCxnSpPr>
          <p:cNvPr id="122" name="Google Shape;122;p18"/>
          <p:cNvCxnSpPr>
            <a:stCxn id="102" idx="0"/>
            <a:endCxn id="87" idx="2"/>
          </p:cNvCxnSpPr>
          <p:nvPr/>
        </p:nvCxnSpPr>
        <p:spPr>
          <a:xfrm flipH="1" rot="10800000">
            <a:off x="3634010" y="3044540"/>
            <a:ext cx="3300" cy="434400"/>
          </a:xfrm>
          <a:prstGeom prst="straightConnector1">
            <a:avLst/>
          </a:prstGeom>
          <a:noFill/>
          <a:ln cap="flat" cmpd="sng" w="19050">
            <a:solidFill>
              <a:srgbClr val="5A5A68"/>
            </a:solidFill>
            <a:prstDash val="solid"/>
            <a:round/>
            <a:headEnd len="sm" w="sm" type="none"/>
            <a:tailEnd len="sm" w="sm" type="none"/>
          </a:ln>
        </p:spPr>
      </p:cxnSp>
      <p:cxnSp>
        <p:nvCxnSpPr>
          <p:cNvPr id="123" name="Google Shape;123;p18"/>
          <p:cNvCxnSpPr>
            <a:endCxn id="102" idx="2"/>
          </p:cNvCxnSpPr>
          <p:nvPr/>
        </p:nvCxnSpPr>
        <p:spPr>
          <a:xfrm rot="10800000">
            <a:off x="3634010" y="3881365"/>
            <a:ext cx="0" cy="274500"/>
          </a:xfrm>
          <a:prstGeom prst="straightConnector1">
            <a:avLst/>
          </a:prstGeom>
          <a:noFill/>
          <a:ln cap="flat" cmpd="sng" w="19050">
            <a:solidFill>
              <a:srgbClr val="5A5A68"/>
            </a:solidFill>
            <a:prstDash val="solid"/>
            <a:round/>
            <a:headEnd len="sm" w="sm" type="none"/>
            <a:tailEnd len="sm" w="sm" type="none"/>
          </a:ln>
        </p:spPr>
      </p:cxnSp>
      <p:cxnSp>
        <p:nvCxnSpPr>
          <p:cNvPr id="124" name="Google Shape;124;p18"/>
          <p:cNvCxnSpPr>
            <a:stCxn id="87" idx="3"/>
          </p:cNvCxnSpPr>
          <p:nvPr/>
        </p:nvCxnSpPr>
        <p:spPr>
          <a:xfrm>
            <a:off x="4285173" y="2843193"/>
            <a:ext cx="471600" cy="0"/>
          </a:xfrm>
          <a:prstGeom prst="straightConnector1">
            <a:avLst/>
          </a:prstGeom>
          <a:noFill/>
          <a:ln cap="flat" cmpd="sng" w="19050">
            <a:solidFill>
              <a:srgbClr val="5A5A68"/>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3200"/>
              <a:t>Tyk Deployment Models: </a:t>
            </a:r>
            <a:r>
              <a:rPr lang="en-GB"/>
              <a:t>Cloud</a:t>
            </a:r>
            <a:endParaRPr/>
          </a:p>
        </p:txBody>
      </p:sp>
      <p:sp>
        <p:nvSpPr>
          <p:cNvPr id="130" name="Google Shape;130;p19"/>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Solution hosted within Tyk infrastructure</a:t>
            </a:r>
            <a:endParaRPr/>
          </a:p>
          <a:p>
            <a:pPr indent="-342900" lvl="0" marL="457200" rtl="0" algn="l">
              <a:lnSpc>
                <a:spcPct val="150000"/>
              </a:lnSpc>
              <a:spcBef>
                <a:spcPts val="0"/>
              </a:spcBef>
              <a:spcAft>
                <a:spcPts val="0"/>
              </a:spcAft>
              <a:buSzPts val="1800"/>
              <a:buChar char="●"/>
            </a:pPr>
            <a:r>
              <a:rPr lang="en-GB"/>
              <a:t>SaaS product, no installation required</a:t>
            </a:r>
            <a:endParaRPr/>
          </a:p>
          <a:p>
            <a:pPr indent="-342900" lvl="0" marL="457200" rtl="0" algn="l">
              <a:lnSpc>
                <a:spcPct val="150000"/>
              </a:lnSpc>
              <a:spcBef>
                <a:spcPts val="0"/>
              </a:spcBef>
              <a:spcAft>
                <a:spcPts val="0"/>
              </a:spcAft>
              <a:buSzPts val="1800"/>
              <a:buChar char="●"/>
            </a:pPr>
            <a:r>
              <a:rPr lang="en-GB"/>
              <a:t>Single tenant, cloud infrastructure not shared with other clients</a:t>
            </a:r>
            <a:endParaRPr/>
          </a:p>
          <a:p>
            <a:pPr indent="-342900" lvl="0" marL="457200" rtl="0" algn="l">
              <a:lnSpc>
                <a:spcPct val="150000"/>
              </a:lnSpc>
              <a:spcBef>
                <a:spcPts val="0"/>
              </a:spcBef>
              <a:spcAft>
                <a:spcPts val="0"/>
              </a:spcAft>
              <a:buSzPts val="1800"/>
              <a:buChar char="●"/>
            </a:pPr>
            <a:r>
              <a:rPr lang="en-GB"/>
              <a:t>Customer can choose which AWS region(s) to host solution</a:t>
            </a:r>
            <a:endParaRPr/>
          </a:p>
          <a:p>
            <a:pPr indent="-342900" lvl="1" marL="914400" rtl="0" algn="l">
              <a:lnSpc>
                <a:spcPct val="150000"/>
              </a:lnSpc>
              <a:spcBef>
                <a:spcPts val="0"/>
              </a:spcBef>
              <a:spcAft>
                <a:spcPts val="0"/>
              </a:spcAft>
              <a:buSzPts val="1800"/>
              <a:buChar char="○"/>
            </a:pPr>
            <a:r>
              <a:rPr b="0" lang="en-GB"/>
              <a:t>Regions: Singapore (ap-southeast-1), Frankfurt (eu-central-1), London (eu-west-2), N. Virginia (us-east-1), and Oregon (us-west-2)</a:t>
            </a:r>
            <a:endParaRPr b="0"/>
          </a:p>
          <a:p>
            <a:pPr indent="-342900" lvl="1" marL="914400" rtl="0" algn="l">
              <a:lnSpc>
                <a:spcPct val="150000"/>
              </a:lnSpc>
              <a:spcBef>
                <a:spcPts val="0"/>
              </a:spcBef>
              <a:spcAft>
                <a:spcPts val="0"/>
              </a:spcAft>
              <a:buSzPts val="1800"/>
              <a:buChar char="○"/>
            </a:pPr>
            <a:r>
              <a:rPr b="0" lang="en-GB"/>
              <a:t>Dashboard and Gateway(s) can be deployed to different regions</a:t>
            </a:r>
            <a:endParaRPr b="0"/>
          </a:p>
          <a:p>
            <a:pPr indent="0" lvl="0" marL="0" rtl="0" algn="l">
              <a:lnSpc>
                <a:spcPct val="150000"/>
              </a:lnSpc>
              <a:spcBef>
                <a:spcPts val="1000"/>
              </a:spcBef>
              <a:spcAft>
                <a:spcPts val="1000"/>
              </a:spcAft>
              <a:buSzPts val="1800"/>
              <a:buNone/>
            </a:pPr>
            <a:r>
              <a:t/>
            </a:r>
            <a:endParaRPr b="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0"/>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800"/>
              <a:t>Tyk Deployment Models: Cloud Architecture</a:t>
            </a:r>
            <a:endParaRPr sz="2800"/>
          </a:p>
        </p:txBody>
      </p:sp>
      <p:grpSp>
        <p:nvGrpSpPr>
          <p:cNvPr id="136" name="Google Shape;136;p20"/>
          <p:cNvGrpSpPr/>
          <p:nvPr/>
        </p:nvGrpSpPr>
        <p:grpSpPr>
          <a:xfrm>
            <a:off x="153493" y="3973703"/>
            <a:ext cx="1425566" cy="535606"/>
            <a:chOff x="5357" y="164351"/>
            <a:chExt cx="1601400" cy="960900"/>
          </a:xfrm>
        </p:grpSpPr>
        <p:sp>
          <p:nvSpPr>
            <p:cNvPr id="137" name="Google Shape;137;p20"/>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38" name="Google Shape;138;p20"/>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Consumer</a:t>
              </a:r>
              <a:endParaRPr b="0" i="0" sz="1800" u="none" cap="none" strike="noStrike">
                <a:solidFill>
                  <a:srgbClr val="000000"/>
                </a:solidFill>
                <a:latin typeface="Helvetica Neue"/>
                <a:ea typeface="Helvetica Neue"/>
                <a:cs typeface="Helvetica Neue"/>
                <a:sym typeface="Helvetica Neue"/>
              </a:endParaRPr>
            </a:p>
          </p:txBody>
        </p:sp>
      </p:grpSp>
      <p:grpSp>
        <p:nvGrpSpPr>
          <p:cNvPr id="139" name="Google Shape;139;p20"/>
          <p:cNvGrpSpPr/>
          <p:nvPr/>
        </p:nvGrpSpPr>
        <p:grpSpPr>
          <a:xfrm>
            <a:off x="1943071" y="3973703"/>
            <a:ext cx="1425566" cy="535606"/>
            <a:chOff x="5357" y="164351"/>
            <a:chExt cx="1601400" cy="960900"/>
          </a:xfrm>
        </p:grpSpPr>
        <p:sp>
          <p:nvSpPr>
            <p:cNvPr id="140" name="Google Shape;140;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41" name="Google Shape;141;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Load Balancer</a:t>
              </a:r>
              <a:endParaRPr b="0" i="0" sz="1800" u="none" cap="none" strike="noStrike">
                <a:solidFill>
                  <a:srgbClr val="000000"/>
                </a:solidFill>
                <a:latin typeface="Helvetica Neue"/>
                <a:ea typeface="Helvetica Neue"/>
                <a:cs typeface="Helvetica Neue"/>
                <a:sym typeface="Helvetica Neue"/>
              </a:endParaRPr>
            </a:p>
          </p:txBody>
        </p:sp>
      </p:grpSp>
      <p:grpSp>
        <p:nvGrpSpPr>
          <p:cNvPr id="142" name="Google Shape;142;p20"/>
          <p:cNvGrpSpPr/>
          <p:nvPr/>
        </p:nvGrpSpPr>
        <p:grpSpPr>
          <a:xfrm>
            <a:off x="1943071" y="2848170"/>
            <a:ext cx="1425566" cy="535606"/>
            <a:chOff x="5357" y="164351"/>
            <a:chExt cx="1601400" cy="960900"/>
          </a:xfrm>
        </p:grpSpPr>
        <p:sp>
          <p:nvSpPr>
            <p:cNvPr id="143" name="Google Shape;143;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44" name="Google Shape;144;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 Cluster</a:t>
              </a:r>
              <a:endParaRPr b="0" i="0" sz="1800" u="none" cap="none" strike="noStrike">
                <a:solidFill>
                  <a:srgbClr val="000000"/>
                </a:solidFill>
                <a:latin typeface="Helvetica Neue"/>
                <a:ea typeface="Helvetica Neue"/>
                <a:cs typeface="Helvetica Neue"/>
                <a:sym typeface="Helvetica Neue"/>
              </a:endParaRPr>
            </a:p>
          </p:txBody>
        </p:sp>
      </p:grpSp>
      <p:grpSp>
        <p:nvGrpSpPr>
          <p:cNvPr id="145" name="Google Shape;145;p20"/>
          <p:cNvGrpSpPr/>
          <p:nvPr/>
        </p:nvGrpSpPr>
        <p:grpSpPr>
          <a:xfrm>
            <a:off x="1943071" y="2025334"/>
            <a:ext cx="1425566" cy="535606"/>
            <a:chOff x="5357" y="164351"/>
            <a:chExt cx="1601400" cy="960900"/>
          </a:xfrm>
        </p:grpSpPr>
        <p:sp>
          <p:nvSpPr>
            <p:cNvPr id="146" name="Google Shape;146;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050"/>
                <a:buFont typeface="Helvetica Neue"/>
                <a:buNone/>
              </a:pPr>
              <a:r>
                <a:t/>
              </a:r>
              <a:endParaRPr b="0" i="0" sz="1050" u="none" cap="none" strike="noStrike">
                <a:solidFill>
                  <a:srgbClr val="FFFFFF"/>
                </a:solidFill>
                <a:latin typeface="Roboto Medium"/>
                <a:ea typeface="Roboto Medium"/>
                <a:cs typeface="Roboto Medium"/>
                <a:sym typeface="Roboto Medium"/>
              </a:endParaRPr>
            </a:p>
          </p:txBody>
        </p:sp>
        <p:sp>
          <p:nvSpPr>
            <p:cNvPr id="147" name="Google Shape;147;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Pump</a:t>
              </a:r>
              <a:endParaRPr b="0" i="0" sz="1800" u="none" cap="none" strike="noStrike">
                <a:solidFill>
                  <a:srgbClr val="000000"/>
                </a:solidFill>
                <a:latin typeface="Helvetica Neue"/>
                <a:ea typeface="Helvetica Neue"/>
                <a:cs typeface="Helvetica Neue"/>
                <a:sym typeface="Helvetica Neue"/>
              </a:endParaRPr>
            </a:p>
          </p:txBody>
        </p:sp>
      </p:grpSp>
      <p:grpSp>
        <p:nvGrpSpPr>
          <p:cNvPr id="148" name="Google Shape;148;p20"/>
          <p:cNvGrpSpPr/>
          <p:nvPr/>
        </p:nvGrpSpPr>
        <p:grpSpPr>
          <a:xfrm>
            <a:off x="3757403" y="2018824"/>
            <a:ext cx="1296013" cy="535606"/>
            <a:chOff x="5357" y="164351"/>
            <a:chExt cx="1601400" cy="960900"/>
          </a:xfrm>
        </p:grpSpPr>
        <p:sp>
          <p:nvSpPr>
            <p:cNvPr id="149" name="Google Shape;149;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50" name="Google Shape;150;p20"/>
            <p:cNvSpPr/>
            <p:nvPr/>
          </p:nvSpPr>
          <p:spPr>
            <a:xfrm>
              <a:off x="33499" y="192492"/>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MongoDB Replica Set</a:t>
              </a:r>
              <a:endParaRPr b="0" i="0" sz="1800" u="none" cap="none" strike="noStrike">
                <a:solidFill>
                  <a:srgbClr val="000000"/>
                </a:solidFill>
                <a:latin typeface="Helvetica Neue"/>
                <a:ea typeface="Helvetica Neue"/>
                <a:cs typeface="Helvetica Neue"/>
                <a:sym typeface="Helvetica Neue"/>
              </a:endParaRPr>
            </a:p>
          </p:txBody>
        </p:sp>
      </p:grpSp>
      <p:grpSp>
        <p:nvGrpSpPr>
          <p:cNvPr id="151" name="Google Shape;151;p20"/>
          <p:cNvGrpSpPr/>
          <p:nvPr/>
        </p:nvGrpSpPr>
        <p:grpSpPr>
          <a:xfrm>
            <a:off x="5564055" y="2018824"/>
            <a:ext cx="1425566" cy="535606"/>
            <a:chOff x="5357" y="164351"/>
            <a:chExt cx="1601400" cy="960900"/>
          </a:xfrm>
        </p:grpSpPr>
        <p:sp>
          <p:nvSpPr>
            <p:cNvPr id="152" name="Google Shape;152;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53" name="Google Shape;153;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Portal</a:t>
              </a:r>
              <a:endParaRPr b="0" i="0" sz="1800" u="none" cap="none" strike="noStrike">
                <a:solidFill>
                  <a:srgbClr val="000000"/>
                </a:solidFill>
                <a:latin typeface="Helvetica Neue"/>
                <a:ea typeface="Helvetica Neue"/>
                <a:cs typeface="Helvetica Neue"/>
                <a:sym typeface="Helvetica Neue"/>
              </a:endParaRPr>
            </a:p>
          </p:txBody>
        </p:sp>
      </p:grpSp>
      <p:grpSp>
        <p:nvGrpSpPr>
          <p:cNvPr id="154" name="Google Shape;154;p20"/>
          <p:cNvGrpSpPr/>
          <p:nvPr/>
        </p:nvGrpSpPr>
        <p:grpSpPr>
          <a:xfrm>
            <a:off x="5564055" y="2849483"/>
            <a:ext cx="1425566" cy="535606"/>
            <a:chOff x="5357" y="164351"/>
            <a:chExt cx="1601400" cy="960900"/>
          </a:xfrm>
        </p:grpSpPr>
        <p:sp>
          <p:nvSpPr>
            <p:cNvPr id="155" name="Google Shape;155;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56" name="Google Shape;156;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Dashboard</a:t>
              </a:r>
              <a:endParaRPr b="0" i="0" sz="1800" u="none" cap="none" strike="noStrike">
                <a:solidFill>
                  <a:srgbClr val="000000"/>
                </a:solidFill>
                <a:latin typeface="Helvetica Neue"/>
                <a:ea typeface="Helvetica Neue"/>
                <a:cs typeface="Helvetica Neue"/>
                <a:sym typeface="Helvetica Neue"/>
              </a:endParaRPr>
            </a:p>
          </p:txBody>
        </p:sp>
      </p:grpSp>
      <p:grpSp>
        <p:nvGrpSpPr>
          <p:cNvPr id="157" name="Google Shape;157;p20"/>
          <p:cNvGrpSpPr/>
          <p:nvPr/>
        </p:nvGrpSpPr>
        <p:grpSpPr>
          <a:xfrm>
            <a:off x="3744980" y="3984950"/>
            <a:ext cx="1425566" cy="535606"/>
            <a:chOff x="5357" y="164351"/>
            <a:chExt cx="1601400" cy="960900"/>
          </a:xfrm>
        </p:grpSpPr>
        <p:sp>
          <p:nvSpPr>
            <p:cNvPr id="158" name="Google Shape;158;p20"/>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59" name="Google Shape;159;p20"/>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800" u="none" cap="none" strike="noStrike">
                <a:solidFill>
                  <a:srgbClr val="000000"/>
                </a:solidFill>
                <a:latin typeface="Helvetica Neue"/>
                <a:ea typeface="Helvetica Neue"/>
                <a:cs typeface="Helvetica Neue"/>
                <a:sym typeface="Helvetica Neue"/>
              </a:endParaRPr>
            </a:p>
          </p:txBody>
        </p:sp>
      </p:grpSp>
      <p:grpSp>
        <p:nvGrpSpPr>
          <p:cNvPr id="160" name="Google Shape;160;p20"/>
          <p:cNvGrpSpPr/>
          <p:nvPr/>
        </p:nvGrpSpPr>
        <p:grpSpPr>
          <a:xfrm>
            <a:off x="7552091" y="2013976"/>
            <a:ext cx="1414356" cy="535606"/>
            <a:chOff x="5357" y="164351"/>
            <a:chExt cx="1601400" cy="960900"/>
          </a:xfrm>
        </p:grpSpPr>
        <p:sp>
          <p:nvSpPr>
            <p:cNvPr id="161" name="Google Shape;161;p20"/>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62" name="Google Shape;162;p20"/>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Developer</a:t>
              </a:r>
              <a:endParaRPr b="0" i="0" sz="1800" u="none" cap="none" strike="noStrike">
                <a:solidFill>
                  <a:srgbClr val="000000"/>
                </a:solidFill>
                <a:latin typeface="Helvetica Neue"/>
                <a:ea typeface="Helvetica Neue"/>
                <a:cs typeface="Helvetica Neue"/>
                <a:sym typeface="Helvetica Neue"/>
              </a:endParaRPr>
            </a:p>
          </p:txBody>
        </p:sp>
      </p:grpSp>
      <p:grpSp>
        <p:nvGrpSpPr>
          <p:cNvPr id="163" name="Google Shape;163;p20"/>
          <p:cNvGrpSpPr/>
          <p:nvPr/>
        </p:nvGrpSpPr>
        <p:grpSpPr>
          <a:xfrm>
            <a:off x="7553326" y="2844786"/>
            <a:ext cx="1414356" cy="535606"/>
            <a:chOff x="5357" y="164351"/>
            <a:chExt cx="1601400" cy="960900"/>
          </a:xfrm>
        </p:grpSpPr>
        <p:sp>
          <p:nvSpPr>
            <p:cNvPr id="164" name="Google Shape;164;p20"/>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65" name="Google Shape;165;p20"/>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90000"/>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Owner</a:t>
              </a:r>
              <a:endParaRPr b="0" i="0" sz="1800" u="none" cap="none" strike="noStrike">
                <a:solidFill>
                  <a:srgbClr val="000000"/>
                </a:solidFill>
                <a:latin typeface="Helvetica Neue"/>
                <a:ea typeface="Helvetica Neue"/>
                <a:cs typeface="Helvetica Neue"/>
                <a:sym typeface="Helvetica Neue"/>
              </a:endParaRPr>
            </a:p>
          </p:txBody>
        </p:sp>
      </p:grpSp>
      <p:grpSp>
        <p:nvGrpSpPr>
          <p:cNvPr id="166" name="Google Shape;166;p20"/>
          <p:cNvGrpSpPr/>
          <p:nvPr/>
        </p:nvGrpSpPr>
        <p:grpSpPr>
          <a:xfrm>
            <a:off x="7509970" y="4018365"/>
            <a:ext cx="1365674" cy="535606"/>
            <a:chOff x="5357" y="164351"/>
            <a:chExt cx="1601400" cy="960900"/>
          </a:xfrm>
        </p:grpSpPr>
        <p:sp>
          <p:nvSpPr>
            <p:cNvPr id="167" name="Google Shape;167;p20"/>
            <p:cNvSpPr/>
            <p:nvPr/>
          </p:nvSpPr>
          <p:spPr>
            <a:xfrm>
              <a:off x="5357" y="164351"/>
              <a:ext cx="1601400" cy="960900"/>
            </a:xfrm>
            <a:prstGeom prst="roundRect">
              <a:avLst>
                <a:gd fmla="val 10000" name="adj"/>
              </a:avLst>
            </a:prstGeom>
            <a:gradFill>
              <a:gsLst>
                <a:gs pos="0">
                  <a:srgbClr val="1A237D"/>
                </a:gs>
                <a:gs pos="33000">
                  <a:srgbClr val="1A237D"/>
                </a:gs>
                <a:gs pos="100000">
                  <a:srgbClr val="2F3F9E"/>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68" name="Google Shape;168;p20"/>
            <p:cNvSpPr/>
            <p:nvPr/>
          </p:nvSpPr>
          <p:spPr>
            <a:xfrm>
              <a:off x="33499" y="192493"/>
              <a:ext cx="1545000" cy="904500"/>
            </a:xfrm>
            <a:prstGeom prst="rect">
              <a:avLst/>
            </a:prstGeom>
            <a:gradFill>
              <a:gsLst>
                <a:gs pos="0">
                  <a:srgbClr val="1A237D"/>
                </a:gs>
                <a:gs pos="33000">
                  <a:srgbClr val="1A237D"/>
                </a:gs>
                <a:gs pos="100000">
                  <a:srgbClr val="2F3F9E"/>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Upstream Endpoints</a:t>
              </a:r>
              <a:endParaRPr b="0" i="0" sz="1800" u="none" cap="none" strike="noStrike">
                <a:solidFill>
                  <a:srgbClr val="000000"/>
                </a:solidFill>
                <a:latin typeface="Helvetica Neue"/>
                <a:ea typeface="Helvetica Neue"/>
                <a:cs typeface="Helvetica Neue"/>
                <a:sym typeface="Helvetica Neue"/>
              </a:endParaRPr>
            </a:p>
          </p:txBody>
        </p:sp>
      </p:grpSp>
      <p:sp>
        <p:nvSpPr>
          <p:cNvPr id="169" name="Google Shape;169;p20"/>
          <p:cNvSpPr/>
          <p:nvPr/>
        </p:nvSpPr>
        <p:spPr>
          <a:xfrm>
            <a:off x="1766452" y="1496543"/>
            <a:ext cx="5469600" cy="34002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TYK INFRASTRUCTURE</a:t>
            </a:r>
            <a:endParaRPr b="0" i="0" sz="1800" u="none" cap="none" strike="noStrike">
              <a:solidFill>
                <a:srgbClr val="000000"/>
              </a:solidFill>
              <a:latin typeface="Helvetica Neue"/>
              <a:ea typeface="Helvetica Neue"/>
              <a:cs typeface="Helvetica Neue"/>
              <a:sym typeface="Helvetica Neue"/>
            </a:endParaRPr>
          </a:p>
        </p:txBody>
      </p:sp>
      <p:sp>
        <p:nvSpPr>
          <p:cNvPr id="170" name="Google Shape;170;p20"/>
          <p:cNvSpPr/>
          <p:nvPr/>
        </p:nvSpPr>
        <p:spPr>
          <a:xfrm>
            <a:off x="3630430" y="3498812"/>
            <a:ext cx="1670700" cy="12474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3"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AUTO SCALING</a:t>
            </a:r>
            <a:endParaRPr b="0" i="0" sz="1800" u="none" cap="none" strike="noStrike">
              <a:solidFill>
                <a:srgbClr val="000000"/>
              </a:solidFill>
              <a:latin typeface="Helvetica Neue"/>
              <a:ea typeface="Helvetica Neue"/>
              <a:cs typeface="Helvetica Neue"/>
              <a:sym typeface="Helvetica Neue"/>
            </a:endParaRPr>
          </a:p>
        </p:txBody>
      </p:sp>
      <p:sp>
        <p:nvSpPr>
          <p:cNvPr id="171" name="Google Shape;171;p20"/>
          <p:cNvSpPr/>
          <p:nvPr/>
        </p:nvSpPr>
        <p:spPr>
          <a:xfrm>
            <a:off x="5434114" y="1664369"/>
            <a:ext cx="1674300" cy="19149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AUTO SCALING</a:t>
            </a:r>
            <a:endParaRPr b="0" i="0" sz="1800" u="none" cap="none" strike="noStrike">
              <a:solidFill>
                <a:srgbClr val="000000"/>
              </a:solidFill>
              <a:latin typeface="Helvetica Neue"/>
              <a:ea typeface="Helvetica Neue"/>
              <a:cs typeface="Helvetica Neue"/>
              <a:sym typeface="Helvetica Neue"/>
            </a:endParaRPr>
          </a:p>
        </p:txBody>
      </p:sp>
      <p:sp>
        <p:nvSpPr>
          <p:cNvPr id="172" name="Google Shape;172;p20"/>
          <p:cNvSpPr/>
          <p:nvPr/>
        </p:nvSpPr>
        <p:spPr>
          <a:xfrm>
            <a:off x="7374617" y="3732348"/>
            <a:ext cx="1648800" cy="9522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API OWNER INFRASTRUCTURE</a:t>
            </a:r>
            <a:endParaRPr b="0" i="0" sz="1800" u="none" cap="none" strike="noStrike">
              <a:solidFill>
                <a:srgbClr val="000000"/>
              </a:solidFill>
              <a:latin typeface="Helvetica Neue"/>
              <a:ea typeface="Helvetica Neue"/>
              <a:cs typeface="Helvetica Neue"/>
              <a:sym typeface="Helvetica Neue"/>
            </a:endParaRPr>
          </a:p>
        </p:txBody>
      </p:sp>
      <p:cxnSp>
        <p:nvCxnSpPr>
          <p:cNvPr id="173" name="Google Shape;173;p20"/>
          <p:cNvCxnSpPr>
            <a:stCxn id="137" idx="3"/>
            <a:endCxn id="140" idx="1"/>
          </p:cNvCxnSpPr>
          <p:nvPr/>
        </p:nvCxnSpPr>
        <p:spPr>
          <a:xfrm>
            <a:off x="1579059" y="4241506"/>
            <a:ext cx="363900" cy="0"/>
          </a:xfrm>
          <a:prstGeom prst="straightConnector1">
            <a:avLst/>
          </a:prstGeom>
          <a:noFill/>
          <a:ln cap="flat" cmpd="sng" w="19050">
            <a:solidFill>
              <a:srgbClr val="5A5A68"/>
            </a:solidFill>
            <a:prstDash val="solid"/>
            <a:round/>
            <a:headEnd len="sm" w="sm" type="none"/>
            <a:tailEnd len="sm" w="sm" type="none"/>
          </a:ln>
        </p:spPr>
      </p:cxnSp>
      <p:cxnSp>
        <p:nvCxnSpPr>
          <p:cNvPr id="174" name="Google Shape;174;p20"/>
          <p:cNvCxnSpPr>
            <a:stCxn id="140" idx="3"/>
          </p:cNvCxnSpPr>
          <p:nvPr/>
        </p:nvCxnSpPr>
        <p:spPr>
          <a:xfrm>
            <a:off x="3368637" y="4241506"/>
            <a:ext cx="261900" cy="0"/>
          </a:xfrm>
          <a:prstGeom prst="straightConnector1">
            <a:avLst/>
          </a:prstGeom>
          <a:noFill/>
          <a:ln cap="flat" cmpd="sng" w="19050">
            <a:solidFill>
              <a:srgbClr val="5A5A68"/>
            </a:solidFill>
            <a:prstDash val="solid"/>
            <a:round/>
            <a:headEnd len="sm" w="sm" type="none"/>
            <a:tailEnd len="sm" w="sm" type="none"/>
          </a:ln>
        </p:spPr>
      </p:cxnSp>
      <p:cxnSp>
        <p:nvCxnSpPr>
          <p:cNvPr id="175" name="Google Shape;175;p20"/>
          <p:cNvCxnSpPr>
            <a:stCxn id="143" idx="2"/>
          </p:cNvCxnSpPr>
          <p:nvPr/>
        </p:nvCxnSpPr>
        <p:spPr>
          <a:xfrm>
            <a:off x="2655854" y="3383776"/>
            <a:ext cx="0" cy="468300"/>
          </a:xfrm>
          <a:prstGeom prst="straightConnector1">
            <a:avLst/>
          </a:prstGeom>
          <a:noFill/>
          <a:ln cap="flat" cmpd="sng" w="19050">
            <a:solidFill>
              <a:srgbClr val="5A5A68"/>
            </a:solidFill>
            <a:prstDash val="solid"/>
            <a:round/>
            <a:headEnd len="sm" w="sm" type="none"/>
            <a:tailEnd len="sm" w="sm" type="none"/>
          </a:ln>
        </p:spPr>
      </p:cxnSp>
      <p:cxnSp>
        <p:nvCxnSpPr>
          <p:cNvPr id="176" name="Google Shape;176;p20"/>
          <p:cNvCxnSpPr/>
          <p:nvPr/>
        </p:nvCxnSpPr>
        <p:spPr>
          <a:xfrm flipH="1" rot="10800000">
            <a:off x="3367088" y="2286050"/>
            <a:ext cx="382500" cy="6300"/>
          </a:xfrm>
          <a:prstGeom prst="straightConnector1">
            <a:avLst/>
          </a:prstGeom>
          <a:noFill/>
          <a:ln cap="flat" cmpd="sng" w="19050">
            <a:solidFill>
              <a:srgbClr val="5A5A68"/>
            </a:solidFill>
            <a:prstDash val="solid"/>
            <a:round/>
            <a:headEnd len="sm" w="sm" type="none"/>
            <a:tailEnd len="sm" w="sm" type="none"/>
          </a:ln>
        </p:spPr>
      </p:cxnSp>
      <p:cxnSp>
        <p:nvCxnSpPr>
          <p:cNvPr id="177" name="Google Shape;177;p20"/>
          <p:cNvCxnSpPr>
            <a:stCxn id="146" idx="2"/>
            <a:endCxn id="143" idx="0"/>
          </p:cNvCxnSpPr>
          <p:nvPr/>
        </p:nvCxnSpPr>
        <p:spPr>
          <a:xfrm>
            <a:off x="2655854" y="2560940"/>
            <a:ext cx="0" cy="287100"/>
          </a:xfrm>
          <a:prstGeom prst="straightConnector1">
            <a:avLst/>
          </a:prstGeom>
          <a:noFill/>
          <a:ln cap="flat" cmpd="sng" w="19050">
            <a:solidFill>
              <a:srgbClr val="5A5A68"/>
            </a:solidFill>
            <a:prstDash val="solid"/>
            <a:round/>
            <a:headEnd len="sm" w="sm" type="none"/>
            <a:tailEnd len="sm" w="sm" type="none"/>
          </a:ln>
        </p:spPr>
      </p:cxnSp>
      <p:cxnSp>
        <p:nvCxnSpPr>
          <p:cNvPr id="178" name="Google Shape;178;p20"/>
          <p:cNvCxnSpPr>
            <a:stCxn id="149" idx="3"/>
          </p:cNvCxnSpPr>
          <p:nvPr/>
        </p:nvCxnSpPr>
        <p:spPr>
          <a:xfrm>
            <a:off x="5053416" y="2286627"/>
            <a:ext cx="381000" cy="6300"/>
          </a:xfrm>
          <a:prstGeom prst="straightConnector1">
            <a:avLst/>
          </a:prstGeom>
          <a:noFill/>
          <a:ln cap="flat" cmpd="sng" w="19050">
            <a:solidFill>
              <a:srgbClr val="5A5A68"/>
            </a:solidFill>
            <a:prstDash val="solid"/>
            <a:round/>
            <a:headEnd len="sm" w="sm" type="none"/>
            <a:tailEnd len="sm" w="sm" type="none"/>
          </a:ln>
        </p:spPr>
      </p:cxnSp>
      <p:cxnSp>
        <p:nvCxnSpPr>
          <p:cNvPr id="179" name="Google Shape;179;p20"/>
          <p:cNvCxnSpPr/>
          <p:nvPr/>
        </p:nvCxnSpPr>
        <p:spPr>
          <a:xfrm flipH="1" rot="10800000">
            <a:off x="5300663" y="4227400"/>
            <a:ext cx="2071800" cy="14400"/>
          </a:xfrm>
          <a:prstGeom prst="straightConnector1">
            <a:avLst/>
          </a:prstGeom>
          <a:noFill/>
          <a:ln cap="flat" cmpd="sng" w="19050">
            <a:solidFill>
              <a:srgbClr val="5A5A68"/>
            </a:solidFill>
            <a:prstDash val="solid"/>
            <a:round/>
            <a:headEnd len="sm" w="sm" type="none"/>
            <a:tailEnd len="sm" w="sm" type="none"/>
          </a:ln>
        </p:spPr>
      </p:cxnSp>
      <p:cxnSp>
        <p:nvCxnSpPr>
          <p:cNvPr id="180" name="Google Shape;180;p20"/>
          <p:cNvCxnSpPr>
            <a:stCxn id="155" idx="3"/>
            <a:endCxn id="164" idx="1"/>
          </p:cNvCxnSpPr>
          <p:nvPr/>
        </p:nvCxnSpPr>
        <p:spPr>
          <a:xfrm flipH="1" rot="10800000">
            <a:off x="6989621" y="3112486"/>
            <a:ext cx="563700" cy="4800"/>
          </a:xfrm>
          <a:prstGeom prst="straightConnector1">
            <a:avLst/>
          </a:prstGeom>
          <a:noFill/>
          <a:ln cap="flat" cmpd="sng" w="19050">
            <a:solidFill>
              <a:srgbClr val="5A5A68"/>
            </a:solidFill>
            <a:prstDash val="solid"/>
            <a:round/>
            <a:headEnd len="sm" w="sm" type="none"/>
            <a:tailEnd len="sm" w="sm" type="none"/>
          </a:ln>
        </p:spPr>
      </p:cxnSp>
      <p:cxnSp>
        <p:nvCxnSpPr>
          <p:cNvPr id="181" name="Google Shape;181;p20"/>
          <p:cNvCxnSpPr>
            <a:stCxn id="152" idx="3"/>
            <a:endCxn id="161" idx="1"/>
          </p:cNvCxnSpPr>
          <p:nvPr/>
        </p:nvCxnSpPr>
        <p:spPr>
          <a:xfrm flipH="1" rot="10800000">
            <a:off x="6989621" y="2281827"/>
            <a:ext cx="562500" cy="4800"/>
          </a:xfrm>
          <a:prstGeom prst="straightConnector1">
            <a:avLst/>
          </a:prstGeom>
          <a:noFill/>
          <a:ln cap="flat" cmpd="sng" w="19050">
            <a:solidFill>
              <a:srgbClr val="5A5A68"/>
            </a:solidFill>
            <a:prstDash val="solid"/>
            <a:round/>
            <a:headEnd len="sm" w="sm" type="none"/>
            <a:tailEnd len="sm" w="sm" type="none"/>
          </a:ln>
        </p:spPr>
      </p:cxnSp>
      <p:cxnSp>
        <p:nvCxnSpPr>
          <p:cNvPr id="182" name="Google Shape;182;p20"/>
          <p:cNvCxnSpPr/>
          <p:nvPr/>
        </p:nvCxnSpPr>
        <p:spPr>
          <a:xfrm rot="10800000">
            <a:off x="6283325" y="3579738"/>
            <a:ext cx="0" cy="276300"/>
          </a:xfrm>
          <a:prstGeom prst="straightConnector1">
            <a:avLst/>
          </a:prstGeom>
          <a:noFill/>
          <a:ln cap="flat" cmpd="sng" w="19050">
            <a:solidFill>
              <a:srgbClr val="5A5A68"/>
            </a:solidFill>
            <a:prstDash val="solid"/>
            <a:round/>
            <a:headEnd len="sm" w="sm" type="none"/>
            <a:tailEnd len="sm" w="sm" type="none"/>
          </a:ln>
        </p:spPr>
      </p:cxnSp>
      <p:cxnSp>
        <p:nvCxnSpPr>
          <p:cNvPr id="183" name="Google Shape;183;p20"/>
          <p:cNvCxnSpPr/>
          <p:nvPr/>
        </p:nvCxnSpPr>
        <p:spPr>
          <a:xfrm>
            <a:off x="3375025" y="3127375"/>
            <a:ext cx="2058900" cy="0"/>
          </a:xfrm>
          <a:prstGeom prst="straightConnector1">
            <a:avLst/>
          </a:prstGeom>
          <a:noFill/>
          <a:ln cap="flat" cmpd="sng" w="19050">
            <a:solidFill>
              <a:srgbClr val="5A5A68"/>
            </a:solidFill>
            <a:prstDash val="solid"/>
            <a:round/>
            <a:headEnd len="sm" w="sm" type="none"/>
            <a:tailEnd len="sm" w="sm" type="none"/>
          </a:ln>
        </p:spPr>
      </p:cxnSp>
      <p:cxnSp>
        <p:nvCxnSpPr>
          <p:cNvPr id="184" name="Google Shape;184;p20"/>
          <p:cNvCxnSpPr/>
          <p:nvPr/>
        </p:nvCxnSpPr>
        <p:spPr>
          <a:xfrm flipH="1">
            <a:off x="2655913" y="3849688"/>
            <a:ext cx="974700" cy="6300"/>
          </a:xfrm>
          <a:prstGeom prst="straightConnector1">
            <a:avLst/>
          </a:prstGeom>
          <a:noFill/>
          <a:ln cap="flat" cmpd="sng" w="19050">
            <a:solidFill>
              <a:srgbClr val="5A5A68"/>
            </a:solidFill>
            <a:prstDash val="solid"/>
            <a:round/>
            <a:headEnd len="sm" w="sm" type="none"/>
            <a:tailEnd len="sm" w="sm" type="none"/>
          </a:ln>
        </p:spPr>
      </p:cxnSp>
      <p:cxnSp>
        <p:nvCxnSpPr>
          <p:cNvPr id="185" name="Google Shape;185;p20"/>
          <p:cNvCxnSpPr/>
          <p:nvPr/>
        </p:nvCxnSpPr>
        <p:spPr>
          <a:xfrm rot="10800000">
            <a:off x="5300525" y="3849688"/>
            <a:ext cx="982800" cy="0"/>
          </a:xfrm>
          <a:prstGeom prst="straightConnector1">
            <a:avLst/>
          </a:prstGeom>
          <a:noFill/>
          <a:ln cap="flat" cmpd="sng" w="19050">
            <a:solidFill>
              <a:srgbClr val="5A5A68"/>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1"/>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3200"/>
              <a:t>Tyk Deployment Models: </a:t>
            </a:r>
            <a:r>
              <a:rPr lang="en-GB"/>
              <a:t>Hybrid Cloud</a:t>
            </a:r>
            <a:endParaRPr/>
          </a:p>
        </p:txBody>
      </p:sp>
      <p:sp>
        <p:nvSpPr>
          <p:cNvPr id="191" name="Google Shape;191;p21"/>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SzPts val="1600"/>
              <a:buChar char="●"/>
            </a:pPr>
            <a:r>
              <a:rPr lang="en-GB" sz="1400"/>
              <a:t>Hosting split between Tyk and customer’s infrastructure</a:t>
            </a:r>
            <a:endParaRPr sz="1400"/>
          </a:p>
          <a:p>
            <a:pPr indent="-330200" lvl="1" marL="914400" rtl="0" algn="l">
              <a:lnSpc>
                <a:spcPct val="150000"/>
              </a:lnSpc>
              <a:spcBef>
                <a:spcPts val="0"/>
              </a:spcBef>
              <a:spcAft>
                <a:spcPts val="0"/>
              </a:spcAft>
              <a:buSzPts val="1600"/>
              <a:buChar char="○"/>
            </a:pPr>
            <a:r>
              <a:rPr b="0" lang="en-GB" sz="1400"/>
              <a:t>Tyk Hosts:  Dashboard, Portal, MongoDB, and the primary Redis instance </a:t>
            </a:r>
            <a:endParaRPr b="0" sz="1400"/>
          </a:p>
          <a:p>
            <a:pPr indent="-330200" lvl="1" marL="914400" rtl="0" algn="l">
              <a:lnSpc>
                <a:spcPct val="150000"/>
              </a:lnSpc>
              <a:spcBef>
                <a:spcPts val="0"/>
              </a:spcBef>
              <a:spcAft>
                <a:spcPts val="0"/>
              </a:spcAft>
              <a:buSzPts val="1600"/>
              <a:buChar char="○"/>
            </a:pPr>
            <a:r>
              <a:rPr b="0" lang="en-GB" sz="1400"/>
              <a:t>Customer Hosts: Gateways and local Redis instance(s) </a:t>
            </a:r>
            <a:endParaRPr b="0" sz="1400"/>
          </a:p>
          <a:p>
            <a:pPr indent="-330200" lvl="2" marL="1371600" rtl="0" algn="l">
              <a:lnSpc>
                <a:spcPct val="150000"/>
              </a:lnSpc>
              <a:spcBef>
                <a:spcPts val="0"/>
              </a:spcBef>
              <a:spcAft>
                <a:spcPts val="0"/>
              </a:spcAft>
              <a:buSzPts val="1600"/>
              <a:buChar char="■"/>
            </a:pPr>
            <a:r>
              <a:rPr b="0" lang="en-GB" sz="1400"/>
              <a:t>Allows customers to put their gateways in closer proximity to their upstream endpoints</a:t>
            </a:r>
            <a:endParaRPr b="0" sz="1400"/>
          </a:p>
          <a:p>
            <a:pPr indent="-330200" lvl="2" marL="1371600" rtl="0" algn="l">
              <a:lnSpc>
                <a:spcPct val="150000"/>
              </a:lnSpc>
              <a:spcBef>
                <a:spcPts val="0"/>
              </a:spcBef>
              <a:spcAft>
                <a:spcPts val="0"/>
              </a:spcAft>
              <a:buSzPts val="1600"/>
              <a:buChar char="■"/>
            </a:pPr>
            <a:r>
              <a:rPr b="0" lang="en-GB" sz="1400"/>
              <a:t>Gateways an local Redis instance(s) is/are ephemeral so these can be spun up and down without worry about the loss of data, as all data is persisted on the primary Redis instance </a:t>
            </a:r>
            <a:endParaRPr b="0" sz="1400"/>
          </a:p>
          <a:p>
            <a:pPr indent="-330200" lvl="2" marL="1371600" rtl="0" algn="l">
              <a:lnSpc>
                <a:spcPct val="150000"/>
              </a:lnSpc>
              <a:spcBef>
                <a:spcPts val="0"/>
              </a:spcBef>
              <a:spcAft>
                <a:spcPts val="0"/>
              </a:spcAft>
              <a:buSzPts val="1600"/>
              <a:buChar char="■"/>
            </a:pPr>
            <a:r>
              <a:rPr b="0" lang="en-GB" sz="1400"/>
              <a:t>All API traffic is routed via client’s infrastructure, no API traffic passes through Tyk’s network</a:t>
            </a:r>
            <a:endParaRPr b="0" sz="1400"/>
          </a:p>
          <a:p>
            <a:pPr indent="-330200" lvl="0" marL="457200" rtl="0" algn="l">
              <a:lnSpc>
                <a:spcPct val="150000"/>
              </a:lnSpc>
              <a:spcBef>
                <a:spcPts val="0"/>
              </a:spcBef>
              <a:spcAft>
                <a:spcPts val="0"/>
              </a:spcAft>
              <a:buSzPts val="1600"/>
              <a:buChar char="●"/>
            </a:pPr>
            <a:r>
              <a:rPr lang="en-GB" sz="1400"/>
              <a:t>Requires the Multi Data Centre Bridge component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2"/>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400"/>
              <a:t>Tyk Deployment Models: Hybrid Cloud Architecture</a:t>
            </a:r>
            <a:endParaRPr sz="2400"/>
          </a:p>
        </p:txBody>
      </p:sp>
      <p:grpSp>
        <p:nvGrpSpPr>
          <p:cNvPr id="197" name="Google Shape;197;p22"/>
          <p:cNvGrpSpPr/>
          <p:nvPr/>
        </p:nvGrpSpPr>
        <p:grpSpPr>
          <a:xfrm>
            <a:off x="1946002" y="1972753"/>
            <a:ext cx="1568091" cy="442591"/>
            <a:chOff x="5357" y="164351"/>
            <a:chExt cx="1601400" cy="960900"/>
          </a:xfrm>
        </p:grpSpPr>
        <p:sp>
          <p:nvSpPr>
            <p:cNvPr id="198" name="Google Shape;198;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199" name="Google Shape;199;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 Secondary</a:t>
              </a:r>
              <a:endParaRPr b="0" i="0" sz="1800" u="none" cap="none" strike="noStrike">
                <a:solidFill>
                  <a:srgbClr val="000000"/>
                </a:solidFill>
                <a:latin typeface="Helvetica Neue"/>
                <a:ea typeface="Helvetica Neue"/>
                <a:cs typeface="Helvetica Neue"/>
                <a:sym typeface="Helvetica Neue"/>
              </a:endParaRPr>
            </a:p>
          </p:txBody>
        </p:sp>
      </p:grpSp>
      <p:grpSp>
        <p:nvGrpSpPr>
          <p:cNvPr id="200" name="Google Shape;200;p22"/>
          <p:cNvGrpSpPr/>
          <p:nvPr/>
        </p:nvGrpSpPr>
        <p:grpSpPr>
          <a:xfrm>
            <a:off x="3930068" y="3668999"/>
            <a:ext cx="1425566" cy="442591"/>
            <a:chOff x="5357" y="164351"/>
            <a:chExt cx="1601400" cy="960900"/>
          </a:xfrm>
        </p:grpSpPr>
        <p:sp>
          <p:nvSpPr>
            <p:cNvPr id="201" name="Google Shape;201;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02" name="Google Shape;202;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 Primary</a:t>
              </a:r>
              <a:endParaRPr b="0" i="0" sz="1800" u="none" cap="none" strike="noStrike">
                <a:solidFill>
                  <a:srgbClr val="000000"/>
                </a:solidFill>
                <a:latin typeface="Helvetica Neue"/>
                <a:ea typeface="Helvetica Neue"/>
                <a:cs typeface="Helvetica Neue"/>
                <a:sym typeface="Helvetica Neue"/>
              </a:endParaRPr>
            </a:p>
          </p:txBody>
        </p:sp>
      </p:grpSp>
      <p:grpSp>
        <p:nvGrpSpPr>
          <p:cNvPr id="203" name="Google Shape;203;p22"/>
          <p:cNvGrpSpPr/>
          <p:nvPr/>
        </p:nvGrpSpPr>
        <p:grpSpPr>
          <a:xfrm>
            <a:off x="212404" y="2810749"/>
            <a:ext cx="1425566" cy="442591"/>
            <a:chOff x="5357" y="164351"/>
            <a:chExt cx="1601400" cy="960900"/>
          </a:xfrm>
        </p:grpSpPr>
        <p:sp>
          <p:nvSpPr>
            <p:cNvPr id="204" name="Google Shape;204;p22"/>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05" name="Google Shape;205;p22"/>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Consumer</a:t>
              </a:r>
              <a:endParaRPr b="0" i="0" sz="1800" u="none" cap="none" strike="noStrike">
                <a:solidFill>
                  <a:srgbClr val="000000"/>
                </a:solidFill>
                <a:latin typeface="Helvetica Neue"/>
                <a:ea typeface="Helvetica Neue"/>
                <a:cs typeface="Helvetica Neue"/>
                <a:sym typeface="Helvetica Neue"/>
              </a:endParaRPr>
            </a:p>
          </p:txBody>
        </p:sp>
      </p:grpSp>
      <p:grpSp>
        <p:nvGrpSpPr>
          <p:cNvPr id="206" name="Google Shape;206;p22"/>
          <p:cNvGrpSpPr/>
          <p:nvPr/>
        </p:nvGrpSpPr>
        <p:grpSpPr>
          <a:xfrm>
            <a:off x="3924246" y="2810749"/>
            <a:ext cx="1425566" cy="442591"/>
            <a:chOff x="5357" y="164351"/>
            <a:chExt cx="1601400" cy="960900"/>
          </a:xfrm>
        </p:grpSpPr>
        <p:sp>
          <p:nvSpPr>
            <p:cNvPr id="207" name="Google Shape;207;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t" bIns="45700" lIns="91425" spcFirstLastPara="1" rIns="91425" wrap="square" tIns="45700">
              <a:noAutofit/>
            </a:bodyPr>
            <a:lstStyle/>
            <a:p>
              <a:pPr indent="0" lvl="0" marL="0" marR="0" rtl="0" algn="l">
                <a:lnSpc>
                  <a:spcPct val="138095"/>
                </a:lnSpc>
                <a:spcBef>
                  <a:spcPts val="0"/>
                </a:spcBef>
                <a:spcAft>
                  <a:spcPts val="0"/>
                </a:spcAft>
                <a:buClr>
                  <a:srgbClr val="000000"/>
                </a:buClr>
                <a:buSzPts val="1050"/>
                <a:buFont typeface="Helvetica Neue"/>
                <a:buNone/>
              </a:pPr>
              <a:r>
                <a:t/>
              </a:r>
              <a:endParaRPr b="0" i="0" sz="1050" u="none" cap="none" strike="noStrike">
                <a:solidFill>
                  <a:srgbClr val="FFFFFF"/>
                </a:solidFill>
                <a:latin typeface="Roboto Medium"/>
                <a:ea typeface="Roboto Medium"/>
                <a:cs typeface="Roboto Medium"/>
                <a:sym typeface="Roboto Medium"/>
              </a:endParaRPr>
            </a:p>
          </p:txBody>
        </p:sp>
        <p:sp>
          <p:nvSpPr>
            <p:cNvPr id="208" name="Google Shape;208;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MDCB</a:t>
              </a:r>
              <a:endParaRPr b="0" i="0" sz="1800" u="none" cap="none" strike="noStrike">
                <a:solidFill>
                  <a:srgbClr val="000000"/>
                </a:solidFill>
                <a:latin typeface="Helvetica Neue"/>
                <a:ea typeface="Helvetica Neue"/>
                <a:cs typeface="Helvetica Neue"/>
                <a:sym typeface="Helvetica Neue"/>
              </a:endParaRPr>
            </a:p>
          </p:txBody>
        </p:sp>
      </p:grpSp>
      <p:grpSp>
        <p:nvGrpSpPr>
          <p:cNvPr id="209" name="Google Shape;209;p22"/>
          <p:cNvGrpSpPr/>
          <p:nvPr/>
        </p:nvGrpSpPr>
        <p:grpSpPr>
          <a:xfrm>
            <a:off x="3918344" y="1974094"/>
            <a:ext cx="1425566" cy="442591"/>
            <a:chOff x="5357" y="164351"/>
            <a:chExt cx="1601400" cy="960900"/>
          </a:xfrm>
        </p:grpSpPr>
        <p:sp>
          <p:nvSpPr>
            <p:cNvPr id="210" name="Google Shape;210;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11" name="Google Shape;211;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MongoDB</a:t>
              </a:r>
              <a:endParaRPr b="0" i="0" sz="1800" u="none" cap="none" strike="noStrike">
                <a:solidFill>
                  <a:srgbClr val="000000"/>
                </a:solidFill>
                <a:latin typeface="Helvetica Neue"/>
                <a:ea typeface="Helvetica Neue"/>
                <a:cs typeface="Helvetica Neue"/>
                <a:sym typeface="Helvetica Neue"/>
              </a:endParaRPr>
            </a:p>
          </p:txBody>
        </p:sp>
      </p:grpSp>
      <p:grpSp>
        <p:nvGrpSpPr>
          <p:cNvPr id="212" name="Google Shape;212;p22"/>
          <p:cNvGrpSpPr/>
          <p:nvPr/>
        </p:nvGrpSpPr>
        <p:grpSpPr>
          <a:xfrm>
            <a:off x="5626735" y="1974094"/>
            <a:ext cx="1425566" cy="442591"/>
            <a:chOff x="5357" y="164351"/>
            <a:chExt cx="1601400" cy="960900"/>
          </a:xfrm>
        </p:grpSpPr>
        <p:sp>
          <p:nvSpPr>
            <p:cNvPr id="213" name="Google Shape;213;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14" name="Google Shape;214;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Portal</a:t>
              </a:r>
              <a:endParaRPr b="0" i="0" sz="1800" u="none" cap="none" strike="noStrike">
                <a:solidFill>
                  <a:srgbClr val="000000"/>
                </a:solidFill>
                <a:latin typeface="Helvetica Neue"/>
                <a:ea typeface="Helvetica Neue"/>
                <a:cs typeface="Helvetica Neue"/>
                <a:sym typeface="Helvetica Neue"/>
              </a:endParaRPr>
            </a:p>
          </p:txBody>
        </p:sp>
      </p:grpSp>
      <p:grpSp>
        <p:nvGrpSpPr>
          <p:cNvPr id="215" name="Google Shape;215;p22"/>
          <p:cNvGrpSpPr/>
          <p:nvPr/>
        </p:nvGrpSpPr>
        <p:grpSpPr>
          <a:xfrm>
            <a:off x="5626735" y="2804754"/>
            <a:ext cx="1425566" cy="442591"/>
            <a:chOff x="5357" y="164351"/>
            <a:chExt cx="1601400" cy="960900"/>
          </a:xfrm>
        </p:grpSpPr>
        <p:sp>
          <p:nvSpPr>
            <p:cNvPr id="216" name="Google Shape;216;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17" name="Google Shape;217;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Dashboard</a:t>
              </a:r>
              <a:endParaRPr b="0" i="0" sz="1800" u="none" cap="none" strike="noStrike">
                <a:solidFill>
                  <a:srgbClr val="000000"/>
                </a:solidFill>
                <a:latin typeface="Helvetica Neue"/>
                <a:ea typeface="Helvetica Neue"/>
                <a:cs typeface="Helvetica Neue"/>
                <a:sym typeface="Helvetica Neue"/>
              </a:endParaRPr>
            </a:p>
          </p:txBody>
        </p:sp>
      </p:grpSp>
      <p:grpSp>
        <p:nvGrpSpPr>
          <p:cNvPr id="218" name="Google Shape;218;p22"/>
          <p:cNvGrpSpPr/>
          <p:nvPr/>
        </p:nvGrpSpPr>
        <p:grpSpPr>
          <a:xfrm>
            <a:off x="1943340" y="2811478"/>
            <a:ext cx="1568091" cy="442591"/>
            <a:chOff x="5357" y="164351"/>
            <a:chExt cx="1601400" cy="960900"/>
          </a:xfrm>
        </p:grpSpPr>
        <p:sp>
          <p:nvSpPr>
            <p:cNvPr id="219" name="Google Shape;219;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20" name="Google Shape;220;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800" u="none" cap="none" strike="noStrike">
                <a:solidFill>
                  <a:srgbClr val="000000"/>
                </a:solidFill>
                <a:latin typeface="Helvetica Neue"/>
                <a:ea typeface="Helvetica Neue"/>
                <a:cs typeface="Helvetica Neue"/>
                <a:sym typeface="Helvetica Neue"/>
              </a:endParaRPr>
            </a:p>
          </p:txBody>
        </p:sp>
      </p:grpSp>
      <p:grpSp>
        <p:nvGrpSpPr>
          <p:cNvPr id="221" name="Google Shape;221;p22"/>
          <p:cNvGrpSpPr/>
          <p:nvPr/>
        </p:nvGrpSpPr>
        <p:grpSpPr>
          <a:xfrm>
            <a:off x="7541685" y="1966485"/>
            <a:ext cx="1425566" cy="442591"/>
            <a:chOff x="5357" y="164351"/>
            <a:chExt cx="1601400" cy="960900"/>
          </a:xfrm>
        </p:grpSpPr>
        <p:sp>
          <p:nvSpPr>
            <p:cNvPr id="222" name="Google Shape;222;p22"/>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23" name="Google Shape;223;p22"/>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Developer</a:t>
              </a:r>
              <a:endParaRPr b="0" i="0" sz="1800" u="none" cap="none" strike="noStrike">
                <a:solidFill>
                  <a:srgbClr val="000000"/>
                </a:solidFill>
                <a:latin typeface="Helvetica Neue"/>
                <a:ea typeface="Helvetica Neue"/>
                <a:cs typeface="Helvetica Neue"/>
                <a:sym typeface="Helvetica Neue"/>
              </a:endParaRPr>
            </a:p>
          </p:txBody>
        </p:sp>
      </p:grpSp>
      <p:grpSp>
        <p:nvGrpSpPr>
          <p:cNvPr id="224" name="Google Shape;224;p22"/>
          <p:cNvGrpSpPr/>
          <p:nvPr/>
        </p:nvGrpSpPr>
        <p:grpSpPr>
          <a:xfrm>
            <a:off x="7541685" y="2798515"/>
            <a:ext cx="1425566" cy="442591"/>
            <a:chOff x="5357" y="164351"/>
            <a:chExt cx="1601400" cy="960900"/>
          </a:xfrm>
        </p:grpSpPr>
        <p:sp>
          <p:nvSpPr>
            <p:cNvPr id="225" name="Google Shape;225;p22"/>
            <p:cNvSpPr/>
            <p:nvPr/>
          </p:nvSpPr>
          <p:spPr>
            <a:xfrm>
              <a:off x="5357" y="164351"/>
              <a:ext cx="1601400" cy="960900"/>
            </a:xfrm>
            <a:prstGeom prst="roundRect">
              <a:avLst>
                <a:gd fmla="val 10000" name="adj"/>
              </a:avLst>
            </a:prstGeom>
            <a:gradFill>
              <a:gsLst>
                <a:gs pos="0">
                  <a:srgbClr val="D23059"/>
                </a:gs>
                <a:gs pos="33000">
                  <a:srgbClr val="D23059"/>
                </a:gs>
                <a:gs pos="100000">
                  <a:srgbClr val="FF1745"/>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26" name="Google Shape;226;p22"/>
            <p:cNvSpPr/>
            <p:nvPr/>
          </p:nvSpPr>
          <p:spPr>
            <a:xfrm>
              <a:off x="33499" y="192493"/>
              <a:ext cx="1545000" cy="904500"/>
            </a:xfrm>
            <a:prstGeom prst="rect">
              <a:avLst/>
            </a:prstGeom>
            <a:gradFill>
              <a:gsLst>
                <a:gs pos="0">
                  <a:srgbClr val="D23059"/>
                </a:gs>
                <a:gs pos="33000">
                  <a:srgbClr val="D23059"/>
                </a:gs>
                <a:gs pos="100000">
                  <a:srgbClr val="FF1745"/>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Owner</a:t>
              </a:r>
              <a:endParaRPr b="0" i="0" sz="1800" u="none" cap="none" strike="noStrike">
                <a:solidFill>
                  <a:srgbClr val="000000"/>
                </a:solidFill>
                <a:latin typeface="Helvetica Neue"/>
                <a:ea typeface="Helvetica Neue"/>
                <a:cs typeface="Helvetica Neue"/>
                <a:sym typeface="Helvetica Neue"/>
              </a:endParaRPr>
            </a:p>
          </p:txBody>
        </p:sp>
      </p:grpSp>
      <p:sp>
        <p:nvSpPr>
          <p:cNvPr id="227" name="Google Shape;227;p22"/>
          <p:cNvSpPr/>
          <p:nvPr/>
        </p:nvSpPr>
        <p:spPr>
          <a:xfrm>
            <a:off x="3774353" y="1420343"/>
            <a:ext cx="3597000" cy="3399600"/>
          </a:xfrm>
          <a:prstGeom prst="rect">
            <a:avLst/>
          </a:prstGeom>
          <a:noFill/>
          <a:ln cap="flat" cmpd="sng" w="1270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TYK INFRASTRUCTURE</a:t>
            </a:r>
            <a:endParaRPr b="0" i="0" sz="1800" u="none" cap="none" strike="noStrike">
              <a:solidFill>
                <a:srgbClr val="000000"/>
              </a:solidFill>
              <a:latin typeface="Helvetica Neue"/>
              <a:ea typeface="Helvetica Neue"/>
              <a:cs typeface="Helvetica Neue"/>
              <a:sym typeface="Helvetica Neue"/>
            </a:endParaRPr>
          </a:p>
        </p:txBody>
      </p:sp>
      <p:sp>
        <p:nvSpPr>
          <p:cNvPr id="228" name="Google Shape;228;p22"/>
          <p:cNvSpPr/>
          <p:nvPr/>
        </p:nvSpPr>
        <p:spPr>
          <a:xfrm>
            <a:off x="5499334" y="1827612"/>
            <a:ext cx="1689900" cy="1540800"/>
          </a:xfrm>
          <a:prstGeom prst="rect">
            <a:avLst/>
          </a:prstGeom>
          <a:noFill/>
          <a:ln cap="flat" cmpd="sng" w="12700">
            <a:solidFill>
              <a:srgbClr val="5A5A68"/>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00"/>
              <a:buFont typeface="Helvetica Neue"/>
              <a:buNone/>
            </a:pPr>
            <a:r>
              <a:t/>
            </a:r>
            <a:endParaRPr b="0" i="0" sz="1000" u="none" cap="none" strike="noStrike">
              <a:solidFill>
                <a:srgbClr val="000000"/>
              </a:solidFill>
              <a:latin typeface="Helvetica Neue"/>
              <a:ea typeface="Helvetica Neue"/>
              <a:cs typeface="Helvetica Neue"/>
              <a:sym typeface="Helvetica Neue"/>
            </a:endParaRPr>
          </a:p>
        </p:txBody>
      </p:sp>
      <p:sp>
        <p:nvSpPr>
          <p:cNvPr id="229" name="Google Shape;229;p22"/>
          <p:cNvSpPr/>
          <p:nvPr/>
        </p:nvSpPr>
        <p:spPr>
          <a:xfrm>
            <a:off x="1790863" y="1420342"/>
            <a:ext cx="1883700" cy="3399600"/>
          </a:xfrm>
          <a:prstGeom prst="rect">
            <a:avLst/>
          </a:prstGeom>
          <a:noFill/>
          <a:ln cap="flat" cmpd="sng" w="1270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API OWNER INFRASTRUCTURE</a:t>
            </a:r>
            <a:endParaRPr b="0" i="0" sz="1800" u="none" cap="none" strike="noStrike">
              <a:solidFill>
                <a:srgbClr val="000000"/>
              </a:solidFill>
              <a:latin typeface="Helvetica Neue"/>
              <a:ea typeface="Helvetica Neue"/>
              <a:cs typeface="Helvetica Neue"/>
              <a:sym typeface="Helvetica Neue"/>
            </a:endParaRPr>
          </a:p>
        </p:txBody>
      </p:sp>
      <p:cxnSp>
        <p:nvCxnSpPr>
          <p:cNvPr id="230" name="Google Shape;230;p22"/>
          <p:cNvCxnSpPr>
            <a:stCxn id="208" idx="0"/>
            <a:endCxn id="210" idx="2"/>
          </p:cNvCxnSpPr>
          <p:nvPr/>
        </p:nvCxnSpPr>
        <p:spPr>
          <a:xfrm rot="10800000">
            <a:off x="4630978" y="2416611"/>
            <a:ext cx="6000" cy="407100"/>
          </a:xfrm>
          <a:prstGeom prst="straightConnector1">
            <a:avLst/>
          </a:prstGeom>
          <a:noFill/>
          <a:ln cap="flat" cmpd="sng" w="12700">
            <a:solidFill>
              <a:srgbClr val="5A5A68"/>
            </a:solidFill>
            <a:prstDash val="solid"/>
            <a:round/>
            <a:headEnd len="sm" w="sm" type="none"/>
            <a:tailEnd len="sm" w="sm" type="none"/>
          </a:ln>
        </p:spPr>
      </p:cxnSp>
      <p:cxnSp>
        <p:nvCxnSpPr>
          <p:cNvPr id="231" name="Google Shape;231;p22"/>
          <p:cNvCxnSpPr>
            <a:stCxn id="208" idx="2"/>
            <a:endCxn id="201" idx="0"/>
          </p:cNvCxnSpPr>
          <p:nvPr/>
        </p:nvCxnSpPr>
        <p:spPr>
          <a:xfrm>
            <a:off x="4636978" y="3240324"/>
            <a:ext cx="6000" cy="428700"/>
          </a:xfrm>
          <a:prstGeom prst="straightConnector1">
            <a:avLst/>
          </a:prstGeom>
          <a:noFill/>
          <a:ln cap="flat" cmpd="sng" w="12700">
            <a:solidFill>
              <a:srgbClr val="5A5A68"/>
            </a:solidFill>
            <a:prstDash val="solid"/>
            <a:round/>
            <a:headEnd len="sm" w="sm" type="none"/>
            <a:tailEnd len="sm" w="sm" type="none"/>
          </a:ln>
        </p:spPr>
      </p:cxnSp>
      <p:cxnSp>
        <p:nvCxnSpPr>
          <p:cNvPr id="232" name="Google Shape;232;p22"/>
          <p:cNvCxnSpPr>
            <a:stCxn id="210" idx="3"/>
          </p:cNvCxnSpPr>
          <p:nvPr/>
        </p:nvCxnSpPr>
        <p:spPr>
          <a:xfrm>
            <a:off x="5343910" y="2195389"/>
            <a:ext cx="165000" cy="0"/>
          </a:xfrm>
          <a:prstGeom prst="straightConnector1">
            <a:avLst/>
          </a:prstGeom>
          <a:noFill/>
          <a:ln cap="flat" cmpd="sng" w="12700">
            <a:solidFill>
              <a:srgbClr val="5A5A68"/>
            </a:solidFill>
            <a:prstDash val="solid"/>
            <a:round/>
            <a:headEnd len="sm" w="sm" type="none"/>
            <a:tailEnd len="sm" w="sm" type="none"/>
          </a:ln>
        </p:spPr>
      </p:cxnSp>
      <p:cxnSp>
        <p:nvCxnSpPr>
          <p:cNvPr id="233" name="Google Shape;233;p22"/>
          <p:cNvCxnSpPr>
            <a:stCxn id="204" idx="3"/>
            <a:endCxn id="219" idx="1"/>
          </p:cNvCxnSpPr>
          <p:nvPr/>
        </p:nvCxnSpPr>
        <p:spPr>
          <a:xfrm>
            <a:off x="1637970" y="3032044"/>
            <a:ext cx="305400" cy="600"/>
          </a:xfrm>
          <a:prstGeom prst="straightConnector1">
            <a:avLst/>
          </a:prstGeom>
          <a:noFill/>
          <a:ln cap="flat" cmpd="sng" w="12700">
            <a:solidFill>
              <a:srgbClr val="5A5A68"/>
            </a:solidFill>
            <a:prstDash val="solid"/>
            <a:round/>
            <a:headEnd len="sm" w="sm" type="none"/>
            <a:tailEnd len="sm" w="sm" type="none"/>
          </a:ln>
        </p:spPr>
      </p:cxnSp>
      <p:cxnSp>
        <p:nvCxnSpPr>
          <p:cNvPr id="234" name="Google Shape;234;p22"/>
          <p:cNvCxnSpPr>
            <a:stCxn id="216" idx="3"/>
            <a:endCxn id="225" idx="1"/>
          </p:cNvCxnSpPr>
          <p:nvPr/>
        </p:nvCxnSpPr>
        <p:spPr>
          <a:xfrm flipH="1" rot="10800000">
            <a:off x="7052301" y="3019749"/>
            <a:ext cx="489300" cy="6300"/>
          </a:xfrm>
          <a:prstGeom prst="straightConnector1">
            <a:avLst/>
          </a:prstGeom>
          <a:noFill/>
          <a:ln cap="flat" cmpd="sng" w="12700">
            <a:solidFill>
              <a:srgbClr val="5A5A68"/>
            </a:solidFill>
            <a:prstDash val="solid"/>
            <a:round/>
            <a:headEnd len="sm" w="sm" type="none"/>
            <a:tailEnd len="sm" w="sm" type="none"/>
          </a:ln>
        </p:spPr>
      </p:cxnSp>
      <p:cxnSp>
        <p:nvCxnSpPr>
          <p:cNvPr id="235" name="Google Shape;235;p22"/>
          <p:cNvCxnSpPr>
            <a:endCxn id="222" idx="1"/>
          </p:cNvCxnSpPr>
          <p:nvPr/>
        </p:nvCxnSpPr>
        <p:spPr>
          <a:xfrm>
            <a:off x="7060785" y="2187780"/>
            <a:ext cx="480900" cy="0"/>
          </a:xfrm>
          <a:prstGeom prst="straightConnector1">
            <a:avLst/>
          </a:prstGeom>
          <a:noFill/>
          <a:ln cap="flat" cmpd="sng" w="12700">
            <a:solidFill>
              <a:srgbClr val="5A5A68"/>
            </a:solidFill>
            <a:prstDash val="solid"/>
            <a:round/>
            <a:headEnd len="sm" w="sm" type="none"/>
            <a:tailEnd len="sm" w="sm" type="none"/>
          </a:ln>
        </p:spPr>
      </p:cxnSp>
      <p:cxnSp>
        <p:nvCxnSpPr>
          <p:cNvPr id="236" name="Google Shape;236;p22"/>
          <p:cNvCxnSpPr>
            <a:stCxn id="237" idx="0"/>
            <a:endCxn id="228" idx="2"/>
          </p:cNvCxnSpPr>
          <p:nvPr/>
        </p:nvCxnSpPr>
        <p:spPr>
          <a:xfrm rot="10800000">
            <a:off x="6344274" y="3368342"/>
            <a:ext cx="3900" cy="301800"/>
          </a:xfrm>
          <a:prstGeom prst="straightConnector1">
            <a:avLst/>
          </a:prstGeom>
          <a:noFill/>
          <a:ln cap="flat" cmpd="sng" w="12700">
            <a:solidFill>
              <a:srgbClr val="5A5A68"/>
            </a:solidFill>
            <a:prstDash val="solid"/>
            <a:round/>
            <a:headEnd len="sm" w="sm" type="none"/>
            <a:tailEnd len="sm" w="sm" type="none"/>
          </a:ln>
        </p:spPr>
      </p:cxnSp>
      <p:grpSp>
        <p:nvGrpSpPr>
          <p:cNvPr id="238" name="Google Shape;238;p22"/>
          <p:cNvGrpSpPr/>
          <p:nvPr/>
        </p:nvGrpSpPr>
        <p:grpSpPr>
          <a:xfrm>
            <a:off x="5635391" y="3670142"/>
            <a:ext cx="1425566" cy="442591"/>
            <a:chOff x="5357" y="164351"/>
            <a:chExt cx="1601400" cy="960900"/>
          </a:xfrm>
        </p:grpSpPr>
        <p:sp>
          <p:nvSpPr>
            <p:cNvPr id="237" name="Google Shape;237;p22"/>
            <p:cNvSpPr/>
            <p:nvPr/>
          </p:nvSpPr>
          <p:spPr>
            <a:xfrm>
              <a:off x="5357" y="164351"/>
              <a:ext cx="1601400" cy="960900"/>
            </a:xfrm>
            <a:prstGeom prst="roundRect">
              <a:avLst>
                <a:gd fmla="val 10000" name="adj"/>
              </a:avLst>
            </a:prstGeom>
            <a:gradFill>
              <a:gsLst>
                <a:gs pos="0">
                  <a:srgbClr val="109EAE"/>
                </a:gs>
                <a:gs pos="33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39" name="Google Shape;239;p22"/>
            <p:cNvSpPr/>
            <p:nvPr/>
          </p:nvSpPr>
          <p:spPr>
            <a:xfrm>
              <a:off x="33499" y="192493"/>
              <a:ext cx="1545000" cy="904500"/>
            </a:xfrm>
            <a:prstGeom prst="rect">
              <a:avLst/>
            </a:prstGeom>
            <a:gradFill>
              <a:gsLst>
                <a:gs pos="0">
                  <a:srgbClr val="109EAE"/>
                </a:gs>
                <a:gs pos="33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800" u="none" cap="none" strike="noStrike">
                <a:solidFill>
                  <a:srgbClr val="000000"/>
                </a:solidFill>
                <a:latin typeface="Helvetica Neue"/>
                <a:ea typeface="Helvetica Neue"/>
                <a:cs typeface="Helvetica Neue"/>
                <a:sym typeface="Helvetica Neue"/>
              </a:endParaRPr>
            </a:p>
          </p:txBody>
        </p:sp>
      </p:grpSp>
      <p:cxnSp>
        <p:nvCxnSpPr>
          <p:cNvPr id="240" name="Google Shape;240;p22"/>
          <p:cNvCxnSpPr>
            <a:stCxn id="201" idx="3"/>
            <a:endCxn id="237" idx="1"/>
          </p:cNvCxnSpPr>
          <p:nvPr/>
        </p:nvCxnSpPr>
        <p:spPr>
          <a:xfrm>
            <a:off x="5355634" y="3890294"/>
            <a:ext cx="279900" cy="1200"/>
          </a:xfrm>
          <a:prstGeom prst="straightConnector1">
            <a:avLst/>
          </a:prstGeom>
          <a:noFill/>
          <a:ln cap="flat" cmpd="sng" w="12700">
            <a:solidFill>
              <a:srgbClr val="5A5A68"/>
            </a:solidFill>
            <a:prstDash val="solid"/>
            <a:round/>
            <a:headEnd len="sm" w="sm" type="none"/>
            <a:tailEnd len="sm" w="sm" type="none"/>
          </a:ln>
        </p:spPr>
      </p:cxnSp>
      <p:cxnSp>
        <p:nvCxnSpPr>
          <p:cNvPr id="241" name="Google Shape;241;p22"/>
          <p:cNvCxnSpPr>
            <a:stCxn id="219" idx="0"/>
            <a:endCxn id="198" idx="2"/>
          </p:cNvCxnSpPr>
          <p:nvPr/>
        </p:nvCxnSpPr>
        <p:spPr>
          <a:xfrm flipH="1" rot="10800000">
            <a:off x="2727385" y="2415478"/>
            <a:ext cx="2700" cy="396000"/>
          </a:xfrm>
          <a:prstGeom prst="straightConnector1">
            <a:avLst/>
          </a:prstGeom>
          <a:noFill/>
          <a:ln cap="flat" cmpd="sng" w="12700">
            <a:solidFill>
              <a:srgbClr val="5A5A68"/>
            </a:solidFill>
            <a:prstDash val="solid"/>
            <a:round/>
            <a:headEnd len="sm" w="sm" type="none"/>
            <a:tailEnd len="sm" w="sm" type="none"/>
          </a:ln>
        </p:spPr>
      </p:cxnSp>
      <p:cxnSp>
        <p:nvCxnSpPr>
          <p:cNvPr id="242" name="Google Shape;242;p22"/>
          <p:cNvCxnSpPr>
            <a:endCxn id="219" idx="2"/>
          </p:cNvCxnSpPr>
          <p:nvPr/>
        </p:nvCxnSpPr>
        <p:spPr>
          <a:xfrm rot="10800000">
            <a:off x="2727385" y="3254068"/>
            <a:ext cx="0" cy="541200"/>
          </a:xfrm>
          <a:prstGeom prst="straightConnector1">
            <a:avLst/>
          </a:prstGeom>
          <a:noFill/>
          <a:ln cap="flat" cmpd="sng" w="12700">
            <a:solidFill>
              <a:srgbClr val="5A5A68"/>
            </a:solidFill>
            <a:prstDash val="solid"/>
            <a:round/>
            <a:headEnd len="sm" w="sm" type="none"/>
            <a:tailEnd len="sm" w="sm" type="none"/>
          </a:ln>
        </p:spPr>
      </p:cxnSp>
      <p:cxnSp>
        <p:nvCxnSpPr>
          <p:cNvPr id="243" name="Google Shape;243;p22"/>
          <p:cNvCxnSpPr>
            <a:stCxn id="219" idx="3"/>
            <a:endCxn id="207" idx="1"/>
          </p:cNvCxnSpPr>
          <p:nvPr/>
        </p:nvCxnSpPr>
        <p:spPr>
          <a:xfrm flipH="1" rot="10800000">
            <a:off x="3511431" y="3032173"/>
            <a:ext cx="412800" cy="600"/>
          </a:xfrm>
          <a:prstGeom prst="straightConnector1">
            <a:avLst/>
          </a:prstGeom>
          <a:noFill/>
          <a:ln cap="flat" cmpd="sng" w="12700">
            <a:solidFill>
              <a:srgbClr val="5A5A68"/>
            </a:solidFill>
            <a:prstDash val="solid"/>
            <a:round/>
            <a:headEnd len="sm" w="sm" type="none"/>
            <a:tailEnd len="sm" w="sm" type="none"/>
          </a:ln>
        </p:spPr>
      </p:cxnSp>
      <p:cxnSp>
        <p:nvCxnSpPr>
          <p:cNvPr id="244" name="Google Shape;244;p22"/>
          <p:cNvCxnSpPr/>
          <p:nvPr/>
        </p:nvCxnSpPr>
        <p:spPr>
          <a:xfrm flipH="1">
            <a:off x="5149900" y="3367088"/>
            <a:ext cx="349200" cy="295200"/>
          </a:xfrm>
          <a:prstGeom prst="straightConnector1">
            <a:avLst/>
          </a:prstGeom>
          <a:noFill/>
          <a:ln cap="flat" cmpd="sng" w="12700">
            <a:solidFill>
              <a:srgbClr val="5A5A68"/>
            </a:solidFill>
            <a:prstDash val="solid"/>
            <a:round/>
            <a:headEnd len="sm" w="sm" type="none"/>
            <a:tailEnd len="sm" w="sm" type="none"/>
          </a:ln>
        </p:spPr>
      </p:cxnSp>
      <p:grpSp>
        <p:nvGrpSpPr>
          <p:cNvPr id="245" name="Google Shape;245;p22"/>
          <p:cNvGrpSpPr/>
          <p:nvPr/>
        </p:nvGrpSpPr>
        <p:grpSpPr>
          <a:xfrm>
            <a:off x="1976570" y="3660441"/>
            <a:ext cx="1502273" cy="442591"/>
            <a:chOff x="5357" y="164351"/>
            <a:chExt cx="1601400" cy="960900"/>
          </a:xfrm>
        </p:grpSpPr>
        <p:sp>
          <p:nvSpPr>
            <p:cNvPr id="246" name="Google Shape;246;p22"/>
            <p:cNvSpPr/>
            <p:nvPr/>
          </p:nvSpPr>
          <p:spPr>
            <a:xfrm>
              <a:off x="5357" y="164351"/>
              <a:ext cx="1601400" cy="960900"/>
            </a:xfrm>
            <a:prstGeom prst="roundRect">
              <a:avLst>
                <a:gd fmla="val 10000" name="adj"/>
              </a:avLst>
            </a:prstGeom>
            <a:gradFill>
              <a:gsLst>
                <a:gs pos="0">
                  <a:srgbClr val="1A237D"/>
                </a:gs>
                <a:gs pos="33000">
                  <a:srgbClr val="1A237D"/>
                </a:gs>
                <a:gs pos="100000">
                  <a:srgbClr val="2F3F9E"/>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Helvetica Neue"/>
                <a:buNone/>
              </a:pPr>
              <a:r>
                <a:t/>
              </a:r>
              <a:endParaRPr b="0" i="0" sz="1800" u="none" cap="none" strike="noStrike">
                <a:solidFill>
                  <a:srgbClr val="000000"/>
                </a:solidFill>
                <a:latin typeface="Helvetica Neue"/>
                <a:ea typeface="Helvetica Neue"/>
                <a:cs typeface="Helvetica Neue"/>
                <a:sym typeface="Helvetica Neue"/>
              </a:endParaRPr>
            </a:p>
          </p:txBody>
        </p:sp>
        <p:sp>
          <p:nvSpPr>
            <p:cNvPr id="247" name="Google Shape;247;p22"/>
            <p:cNvSpPr/>
            <p:nvPr/>
          </p:nvSpPr>
          <p:spPr>
            <a:xfrm>
              <a:off x="33499" y="192492"/>
              <a:ext cx="1545000" cy="904500"/>
            </a:xfrm>
            <a:prstGeom prst="rect">
              <a:avLst/>
            </a:prstGeom>
            <a:gradFill>
              <a:gsLst>
                <a:gs pos="0">
                  <a:srgbClr val="1A237D"/>
                </a:gs>
                <a:gs pos="33000">
                  <a:srgbClr val="1A237D"/>
                </a:gs>
                <a:gs pos="100000">
                  <a:srgbClr val="2F3F9E"/>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Upstream Endpoints</a:t>
              </a:r>
              <a:endParaRPr b="0" i="0" sz="1800" u="none" cap="none" strike="noStrike">
                <a:solidFill>
                  <a:srgbClr val="000000"/>
                </a:solidFill>
                <a:latin typeface="Helvetica Neue"/>
                <a:ea typeface="Helvetica Neue"/>
                <a:cs typeface="Helvetica Neue"/>
                <a:sym typeface="Helvetica Neue"/>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3"/>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800"/>
              <a:t>Tyk Deployment Models: On-Premise</a:t>
            </a:r>
            <a:endParaRPr sz="2800"/>
          </a:p>
        </p:txBody>
      </p:sp>
      <p:sp>
        <p:nvSpPr>
          <p:cNvPr id="253" name="Google Shape;253;p23"/>
          <p:cNvSpPr txBox="1"/>
          <p:nvPr>
            <p:ph idx="2" type="title"/>
          </p:nvPr>
        </p:nvSpPr>
        <p:spPr>
          <a:xfrm>
            <a:off x="500550" y="1140600"/>
            <a:ext cx="8520600" cy="3916200"/>
          </a:xfrm>
          <a:prstGeom prst="rect">
            <a:avLst/>
          </a:prstGeom>
          <a:noFill/>
          <a:ln>
            <a:noFill/>
          </a:ln>
        </p:spPr>
        <p:txBody>
          <a:bodyPr anchorCtr="0" anchor="t" bIns="91425" lIns="91425" spcFirstLastPara="1" rIns="91425" wrap="square" tIns="91425">
            <a:noAutofit/>
          </a:bodyPr>
          <a:lstStyle/>
          <a:p>
            <a:pPr indent="-342900" lvl="0" marL="457200" rtl="0" algn="l">
              <a:lnSpc>
                <a:spcPct val="150000"/>
              </a:lnSpc>
              <a:spcBef>
                <a:spcPts val="0"/>
              </a:spcBef>
              <a:spcAft>
                <a:spcPts val="0"/>
              </a:spcAft>
              <a:buSzPts val="1800"/>
              <a:buChar char="●"/>
            </a:pPr>
            <a:r>
              <a:rPr lang="en-GB"/>
              <a:t>Solution hosted entirely on client’s infrastructure with no reliance on Tyk Cloud</a:t>
            </a:r>
            <a:endParaRPr/>
          </a:p>
          <a:p>
            <a:pPr indent="-342900" lvl="0" marL="457200" rtl="0" algn="l">
              <a:lnSpc>
                <a:spcPct val="150000"/>
              </a:lnSpc>
              <a:spcBef>
                <a:spcPts val="0"/>
              </a:spcBef>
              <a:spcAft>
                <a:spcPts val="0"/>
              </a:spcAft>
              <a:buSzPts val="1800"/>
              <a:buChar char="●"/>
            </a:pPr>
            <a:r>
              <a:rPr lang="en-GB"/>
              <a:t>Clients responsible for hosting of master and slave clusters</a:t>
            </a:r>
            <a:endParaRPr/>
          </a:p>
          <a:p>
            <a:pPr indent="-342900" lvl="0" marL="457200" rtl="0" algn="l">
              <a:lnSpc>
                <a:spcPct val="150000"/>
              </a:lnSpc>
              <a:spcBef>
                <a:spcPts val="0"/>
              </a:spcBef>
              <a:spcAft>
                <a:spcPts val="0"/>
              </a:spcAft>
              <a:buSzPts val="1800"/>
              <a:buChar char="●"/>
            </a:pPr>
            <a:r>
              <a:rPr lang="en-GB"/>
              <a:t>Can span multiple data centers and work across multiple regions</a:t>
            </a:r>
            <a:endParaRPr/>
          </a:p>
          <a:p>
            <a:pPr indent="-342900" lvl="0" marL="457200" rtl="0" algn="l">
              <a:lnSpc>
                <a:spcPct val="150000"/>
              </a:lnSpc>
              <a:spcBef>
                <a:spcPts val="0"/>
              </a:spcBef>
              <a:spcAft>
                <a:spcPts val="0"/>
              </a:spcAft>
              <a:buSzPts val="1800"/>
              <a:buChar char="●"/>
            </a:pPr>
            <a:r>
              <a:rPr lang="en-GB"/>
              <a:t>Requires the Multi Data Centre Bridge component</a:t>
            </a:r>
            <a:endParaRPr/>
          </a:p>
          <a:p>
            <a:pPr indent="0" lvl="0" marL="0" rtl="0" algn="l">
              <a:lnSpc>
                <a:spcPct val="150000"/>
              </a:lnSpc>
              <a:spcBef>
                <a:spcPts val="1000"/>
              </a:spcBef>
              <a:spcAft>
                <a:spcPts val="10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4"/>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400"/>
              <a:t>Tyk Deployment Models: On-Premise Architecture</a:t>
            </a:r>
            <a:endParaRPr sz="2400"/>
          </a:p>
        </p:txBody>
      </p:sp>
      <p:sp>
        <p:nvSpPr>
          <p:cNvPr id="259" name="Google Shape;259;p24"/>
          <p:cNvSpPr/>
          <p:nvPr/>
        </p:nvSpPr>
        <p:spPr>
          <a:xfrm>
            <a:off x="1605227" y="1263151"/>
            <a:ext cx="5896800" cy="34014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API OWNER INFRASTRUCTURE</a:t>
            </a:r>
            <a:endParaRPr b="0" i="0" sz="1400" u="none" cap="none" strike="noStrike">
              <a:solidFill>
                <a:srgbClr val="000000"/>
              </a:solidFill>
              <a:latin typeface="Arial"/>
              <a:ea typeface="Arial"/>
              <a:cs typeface="Arial"/>
              <a:sym typeface="Arial"/>
            </a:endParaRPr>
          </a:p>
        </p:txBody>
      </p:sp>
      <p:sp>
        <p:nvSpPr>
          <p:cNvPr id="260" name="Google Shape;260;p24"/>
          <p:cNvSpPr/>
          <p:nvPr/>
        </p:nvSpPr>
        <p:spPr>
          <a:xfrm>
            <a:off x="2058458" y="1833900"/>
            <a:ext cx="1591800" cy="2649900"/>
          </a:xfrm>
          <a:prstGeom prst="rect">
            <a:avLst/>
          </a:prstGeom>
          <a:noFill/>
          <a:ln cap="flat" cmpd="sng" w="19050">
            <a:solidFill>
              <a:srgbClr val="BFBFBF"/>
            </a:solidFill>
            <a:prstDash val="dash"/>
            <a:round/>
            <a:headEnd len="sm" w="sm" type="none"/>
            <a:tailEnd len="sm" w="sm" type="none"/>
          </a:ln>
        </p:spPr>
        <p:txBody>
          <a:bodyPr anchorCtr="0" anchor="b" bIns="72000" lIns="108000" spcFirstLastPara="1" rIns="45700" wrap="square" tIns="72000">
            <a:noAutofit/>
          </a:bodyPr>
          <a:lstStyle/>
          <a:p>
            <a:pPr indent="0" lvl="0" marL="0" marR="0" rtl="0" algn="l">
              <a:lnSpc>
                <a:spcPct val="100000"/>
              </a:lnSpc>
              <a:spcBef>
                <a:spcPts val="0"/>
              </a:spcBef>
              <a:spcAft>
                <a:spcPts val="0"/>
              </a:spcAft>
              <a:buClr>
                <a:srgbClr val="A5A5A5"/>
              </a:buClr>
              <a:buSzPts val="700"/>
              <a:buFont typeface="Roboto Medium"/>
              <a:buNone/>
            </a:pPr>
            <a:r>
              <a:rPr b="0" i="0" lang="en-GB" sz="700" u="none" cap="none" strike="noStrike">
                <a:solidFill>
                  <a:srgbClr val="A5A5A5"/>
                </a:solidFill>
                <a:latin typeface="Roboto Medium"/>
                <a:ea typeface="Roboto Medium"/>
                <a:cs typeface="Roboto Medium"/>
                <a:sym typeface="Roboto Medium"/>
              </a:rPr>
              <a:t>DATA CENTER N</a:t>
            </a:r>
            <a:endParaRPr b="0" i="0" sz="1400" u="none" cap="none" strike="noStrike">
              <a:solidFill>
                <a:srgbClr val="000000"/>
              </a:solidFill>
              <a:latin typeface="Arial"/>
              <a:ea typeface="Arial"/>
              <a:cs typeface="Arial"/>
              <a:sym typeface="Arial"/>
            </a:endParaRPr>
          </a:p>
        </p:txBody>
      </p:sp>
      <p:sp>
        <p:nvSpPr>
          <p:cNvPr id="261" name="Google Shape;261;p24"/>
          <p:cNvSpPr/>
          <p:nvPr/>
        </p:nvSpPr>
        <p:spPr>
          <a:xfrm>
            <a:off x="1914079" y="1700464"/>
            <a:ext cx="1591800" cy="2535000"/>
          </a:xfrm>
          <a:prstGeom prst="rect">
            <a:avLst/>
          </a:prstGeom>
          <a:noFill/>
          <a:ln cap="flat" cmpd="sng" w="19050">
            <a:solidFill>
              <a:srgbClr val="A5A5A5"/>
            </a:solidFill>
            <a:prstDash val="dash"/>
            <a:round/>
            <a:headEnd len="sm" w="sm" type="none"/>
            <a:tailEnd len="sm" w="sm" type="none"/>
          </a:ln>
        </p:spPr>
        <p:txBody>
          <a:bodyPr anchorCtr="0" anchor="b" bIns="72000" lIns="108000" spcFirstLastPara="1" rIns="45700" wrap="square" tIns="72000">
            <a:noAutofit/>
          </a:bodyPr>
          <a:lstStyle/>
          <a:p>
            <a:pPr indent="0" lvl="0" marL="0" marR="0" rtl="0" algn="l">
              <a:lnSpc>
                <a:spcPct val="100000"/>
              </a:lnSpc>
              <a:spcBef>
                <a:spcPts val="0"/>
              </a:spcBef>
              <a:spcAft>
                <a:spcPts val="0"/>
              </a:spcAft>
              <a:buClr>
                <a:srgbClr val="7F7F7F"/>
              </a:buClr>
              <a:buSzPts val="700"/>
              <a:buFont typeface="Roboto Medium"/>
              <a:buNone/>
            </a:pPr>
            <a:r>
              <a:rPr b="0" i="0" lang="en-GB" sz="700" u="none" cap="none" strike="noStrike">
                <a:solidFill>
                  <a:srgbClr val="7F7F7F"/>
                </a:solidFill>
                <a:latin typeface="Roboto Medium"/>
                <a:ea typeface="Roboto Medium"/>
                <a:cs typeface="Roboto Medium"/>
                <a:sym typeface="Roboto Medium"/>
              </a:rPr>
              <a:t>DATA CENTER 2</a:t>
            </a:r>
            <a:endParaRPr b="0" i="0" sz="1400" u="none" cap="none" strike="noStrike">
              <a:solidFill>
                <a:srgbClr val="000000"/>
              </a:solidFill>
              <a:latin typeface="Arial"/>
              <a:ea typeface="Arial"/>
              <a:cs typeface="Arial"/>
              <a:sym typeface="Arial"/>
            </a:endParaRPr>
          </a:p>
        </p:txBody>
      </p:sp>
      <p:sp>
        <p:nvSpPr>
          <p:cNvPr id="262" name="Google Shape;262;p24"/>
          <p:cNvSpPr/>
          <p:nvPr/>
        </p:nvSpPr>
        <p:spPr>
          <a:xfrm>
            <a:off x="1765878" y="1526544"/>
            <a:ext cx="1591800" cy="24360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DATA CENTER 1</a:t>
            </a:r>
            <a:endParaRPr b="0" i="0" sz="1400" u="none" cap="none" strike="noStrike">
              <a:solidFill>
                <a:srgbClr val="000000"/>
              </a:solidFill>
              <a:latin typeface="Arial"/>
              <a:ea typeface="Arial"/>
              <a:cs typeface="Arial"/>
              <a:sym typeface="Arial"/>
            </a:endParaRPr>
          </a:p>
        </p:txBody>
      </p:sp>
      <p:grpSp>
        <p:nvGrpSpPr>
          <p:cNvPr id="263" name="Google Shape;263;p24"/>
          <p:cNvGrpSpPr/>
          <p:nvPr/>
        </p:nvGrpSpPr>
        <p:grpSpPr>
          <a:xfrm>
            <a:off x="154378" y="2499174"/>
            <a:ext cx="1296013" cy="442591"/>
            <a:chOff x="5357" y="164351"/>
            <a:chExt cx="1601400" cy="960900"/>
          </a:xfrm>
        </p:grpSpPr>
        <p:sp>
          <p:nvSpPr>
            <p:cNvPr id="264" name="Google Shape;264;p24"/>
            <p:cNvSpPr/>
            <p:nvPr/>
          </p:nvSpPr>
          <p:spPr>
            <a:xfrm>
              <a:off x="5357" y="164351"/>
              <a:ext cx="1601400" cy="960900"/>
            </a:xfrm>
            <a:prstGeom prst="roundRect">
              <a:avLst>
                <a:gd fmla="val 10000" name="adj"/>
              </a:avLst>
            </a:prstGeom>
            <a:gradFill>
              <a:gsLst>
                <a:gs pos="0">
                  <a:srgbClr val="D23059"/>
                </a:gs>
                <a:gs pos="100000">
                  <a:srgbClr val="EE204D"/>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4"/>
            <p:cNvSpPr/>
            <p:nvPr/>
          </p:nvSpPr>
          <p:spPr>
            <a:xfrm>
              <a:off x="33499" y="192493"/>
              <a:ext cx="1545000" cy="904500"/>
            </a:xfrm>
            <a:prstGeom prst="rect">
              <a:avLst/>
            </a:prstGeom>
            <a:gradFill>
              <a:gsLst>
                <a:gs pos="0">
                  <a:srgbClr val="D23059"/>
                </a:gs>
                <a:gs pos="100000">
                  <a:srgbClr val="EE204D"/>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Consumer</a:t>
              </a:r>
              <a:endParaRPr b="0" i="0" sz="1400" u="none" cap="none" strike="noStrike">
                <a:solidFill>
                  <a:srgbClr val="000000"/>
                </a:solidFill>
                <a:latin typeface="Arial"/>
                <a:ea typeface="Arial"/>
                <a:cs typeface="Arial"/>
                <a:sym typeface="Arial"/>
              </a:endParaRPr>
            </a:p>
          </p:txBody>
        </p:sp>
      </p:grpSp>
      <p:grpSp>
        <p:nvGrpSpPr>
          <p:cNvPr id="266" name="Google Shape;266;p24"/>
          <p:cNvGrpSpPr/>
          <p:nvPr/>
        </p:nvGrpSpPr>
        <p:grpSpPr>
          <a:xfrm>
            <a:off x="1911069" y="1821188"/>
            <a:ext cx="1296013" cy="442591"/>
            <a:chOff x="5357" y="164351"/>
            <a:chExt cx="1601400" cy="960900"/>
          </a:xfrm>
        </p:grpSpPr>
        <p:sp>
          <p:nvSpPr>
            <p:cNvPr id="267" name="Google Shape;267;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 Secondary</a:t>
              </a:r>
              <a:endParaRPr b="0" i="0" sz="1400" u="none" cap="none" strike="noStrike">
                <a:solidFill>
                  <a:srgbClr val="000000"/>
                </a:solidFill>
                <a:latin typeface="Arial"/>
                <a:ea typeface="Arial"/>
                <a:cs typeface="Arial"/>
                <a:sym typeface="Arial"/>
              </a:endParaRPr>
            </a:p>
          </p:txBody>
        </p:sp>
      </p:grpSp>
      <p:grpSp>
        <p:nvGrpSpPr>
          <p:cNvPr id="269" name="Google Shape;269;p24"/>
          <p:cNvGrpSpPr/>
          <p:nvPr/>
        </p:nvGrpSpPr>
        <p:grpSpPr>
          <a:xfrm>
            <a:off x="4028140" y="3337786"/>
            <a:ext cx="1296013" cy="442591"/>
            <a:chOff x="5357" y="164351"/>
            <a:chExt cx="1601400" cy="960900"/>
          </a:xfrm>
        </p:grpSpPr>
        <p:sp>
          <p:nvSpPr>
            <p:cNvPr id="270" name="Google Shape;270;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Redis Primary</a:t>
              </a:r>
              <a:endParaRPr b="0" i="0" sz="1400" u="none" cap="none" strike="noStrike">
                <a:solidFill>
                  <a:srgbClr val="000000"/>
                </a:solidFill>
                <a:latin typeface="Arial"/>
                <a:ea typeface="Arial"/>
                <a:cs typeface="Arial"/>
                <a:sym typeface="Arial"/>
              </a:endParaRPr>
            </a:p>
          </p:txBody>
        </p:sp>
      </p:grpSp>
      <p:grpSp>
        <p:nvGrpSpPr>
          <p:cNvPr id="272" name="Google Shape;272;p24"/>
          <p:cNvGrpSpPr/>
          <p:nvPr/>
        </p:nvGrpSpPr>
        <p:grpSpPr>
          <a:xfrm>
            <a:off x="4028052" y="2498490"/>
            <a:ext cx="1296013" cy="442591"/>
            <a:chOff x="5357" y="164351"/>
            <a:chExt cx="1601400" cy="960900"/>
          </a:xfrm>
        </p:grpSpPr>
        <p:sp>
          <p:nvSpPr>
            <p:cNvPr id="273" name="Google Shape;273;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t" bIns="45700" lIns="91425" spcFirstLastPara="1" rIns="91425" wrap="square" tIns="45700">
              <a:noAutofit/>
            </a:bodyPr>
            <a:lstStyle/>
            <a:p>
              <a:pPr indent="0" lvl="0" marL="0" marR="0" rtl="0" algn="l">
                <a:lnSpc>
                  <a:spcPct val="138095"/>
                </a:lnSpc>
                <a:spcBef>
                  <a:spcPts val="0"/>
                </a:spcBef>
                <a:spcAft>
                  <a:spcPts val="0"/>
                </a:spcAft>
                <a:buClr>
                  <a:srgbClr val="000000"/>
                </a:buClr>
                <a:buSzPts val="1050"/>
                <a:buFont typeface="Helvetica Neue"/>
                <a:buNone/>
              </a:pPr>
              <a:r>
                <a:t/>
              </a:r>
              <a:endParaRPr b="0" i="0" sz="1050" u="none" cap="none" strike="noStrike">
                <a:solidFill>
                  <a:srgbClr val="FFFFFF"/>
                </a:solidFill>
                <a:latin typeface="Roboto Medium"/>
                <a:ea typeface="Roboto Medium"/>
                <a:cs typeface="Roboto Medium"/>
                <a:sym typeface="Roboto Medium"/>
              </a:endParaRPr>
            </a:p>
          </p:txBody>
        </p:sp>
        <p:sp>
          <p:nvSpPr>
            <p:cNvPr id="274" name="Google Shape;274;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MDCB</a:t>
              </a:r>
              <a:endParaRPr b="0" i="0" sz="1400" u="none" cap="none" strike="noStrike">
                <a:solidFill>
                  <a:srgbClr val="000000"/>
                </a:solidFill>
                <a:latin typeface="Arial"/>
                <a:ea typeface="Arial"/>
                <a:cs typeface="Arial"/>
                <a:sym typeface="Arial"/>
              </a:endParaRPr>
            </a:p>
          </p:txBody>
        </p:sp>
      </p:grpSp>
      <p:grpSp>
        <p:nvGrpSpPr>
          <p:cNvPr id="275" name="Google Shape;275;p24"/>
          <p:cNvGrpSpPr/>
          <p:nvPr/>
        </p:nvGrpSpPr>
        <p:grpSpPr>
          <a:xfrm>
            <a:off x="4030171" y="1814507"/>
            <a:ext cx="1296013" cy="442591"/>
            <a:chOff x="5357" y="164351"/>
            <a:chExt cx="1601400" cy="960900"/>
          </a:xfrm>
        </p:grpSpPr>
        <p:sp>
          <p:nvSpPr>
            <p:cNvPr id="276" name="Google Shape;276;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MongoDB</a:t>
              </a:r>
              <a:endParaRPr b="0" i="0" sz="1400" u="none" cap="none" strike="noStrike">
                <a:solidFill>
                  <a:srgbClr val="000000"/>
                </a:solidFill>
                <a:latin typeface="Arial"/>
                <a:ea typeface="Arial"/>
                <a:cs typeface="Arial"/>
                <a:sym typeface="Arial"/>
              </a:endParaRPr>
            </a:p>
          </p:txBody>
        </p:sp>
      </p:grpSp>
      <p:grpSp>
        <p:nvGrpSpPr>
          <p:cNvPr id="278" name="Google Shape;278;p24"/>
          <p:cNvGrpSpPr/>
          <p:nvPr/>
        </p:nvGrpSpPr>
        <p:grpSpPr>
          <a:xfrm>
            <a:off x="5746583" y="1822528"/>
            <a:ext cx="1296013" cy="442591"/>
            <a:chOff x="5357" y="164351"/>
            <a:chExt cx="1601400" cy="960900"/>
          </a:xfrm>
        </p:grpSpPr>
        <p:sp>
          <p:nvSpPr>
            <p:cNvPr id="279" name="Google Shape;279;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Portal</a:t>
              </a:r>
              <a:endParaRPr b="0" i="0" sz="1400" u="none" cap="none" strike="noStrike">
                <a:solidFill>
                  <a:srgbClr val="000000"/>
                </a:solidFill>
                <a:latin typeface="Arial"/>
                <a:ea typeface="Arial"/>
                <a:cs typeface="Arial"/>
                <a:sym typeface="Arial"/>
              </a:endParaRPr>
            </a:p>
          </p:txBody>
        </p:sp>
      </p:grpSp>
      <p:grpSp>
        <p:nvGrpSpPr>
          <p:cNvPr id="281" name="Google Shape;281;p24"/>
          <p:cNvGrpSpPr/>
          <p:nvPr/>
        </p:nvGrpSpPr>
        <p:grpSpPr>
          <a:xfrm>
            <a:off x="5738562" y="2484747"/>
            <a:ext cx="1296013" cy="442591"/>
            <a:chOff x="5357" y="164351"/>
            <a:chExt cx="1601400" cy="960900"/>
          </a:xfrm>
        </p:grpSpPr>
        <p:sp>
          <p:nvSpPr>
            <p:cNvPr id="282" name="Google Shape;282;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Dashboard</a:t>
              </a:r>
              <a:endParaRPr b="0" i="0" sz="1400" u="none" cap="none" strike="noStrike">
                <a:solidFill>
                  <a:srgbClr val="000000"/>
                </a:solidFill>
                <a:latin typeface="Arial"/>
                <a:ea typeface="Arial"/>
                <a:cs typeface="Arial"/>
                <a:sym typeface="Arial"/>
              </a:endParaRPr>
            </a:p>
          </p:txBody>
        </p:sp>
      </p:grpSp>
      <p:grpSp>
        <p:nvGrpSpPr>
          <p:cNvPr id="284" name="Google Shape;284;p24"/>
          <p:cNvGrpSpPr/>
          <p:nvPr/>
        </p:nvGrpSpPr>
        <p:grpSpPr>
          <a:xfrm>
            <a:off x="1908407" y="2499220"/>
            <a:ext cx="1296013" cy="442591"/>
            <a:chOff x="5357" y="164351"/>
            <a:chExt cx="1601400" cy="960900"/>
          </a:xfrm>
        </p:grpSpPr>
        <p:sp>
          <p:nvSpPr>
            <p:cNvPr id="285" name="Google Shape;285;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400" u="none" cap="none" strike="noStrike">
                <a:solidFill>
                  <a:srgbClr val="000000"/>
                </a:solidFill>
                <a:latin typeface="Arial"/>
                <a:ea typeface="Arial"/>
                <a:cs typeface="Arial"/>
                <a:sym typeface="Arial"/>
              </a:endParaRPr>
            </a:p>
          </p:txBody>
        </p:sp>
      </p:grpSp>
      <p:grpSp>
        <p:nvGrpSpPr>
          <p:cNvPr id="287" name="Google Shape;287;p24"/>
          <p:cNvGrpSpPr/>
          <p:nvPr/>
        </p:nvGrpSpPr>
        <p:grpSpPr>
          <a:xfrm>
            <a:off x="7671070" y="1820931"/>
            <a:ext cx="1296013" cy="442591"/>
            <a:chOff x="5357" y="164351"/>
            <a:chExt cx="1601400" cy="960900"/>
          </a:xfrm>
        </p:grpSpPr>
        <p:sp>
          <p:nvSpPr>
            <p:cNvPr id="288" name="Google Shape;288;p24"/>
            <p:cNvSpPr/>
            <p:nvPr/>
          </p:nvSpPr>
          <p:spPr>
            <a:xfrm>
              <a:off x="5357" y="164351"/>
              <a:ext cx="1601400" cy="960900"/>
            </a:xfrm>
            <a:prstGeom prst="roundRect">
              <a:avLst>
                <a:gd fmla="val 10000" name="adj"/>
              </a:avLst>
            </a:prstGeom>
            <a:gradFill>
              <a:gsLst>
                <a:gs pos="0">
                  <a:srgbClr val="D23059"/>
                </a:gs>
                <a:gs pos="100000">
                  <a:srgbClr val="EE204D"/>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4"/>
            <p:cNvSpPr/>
            <p:nvPr/>
          </p:nvSpPr>
          <p:spPr>
            <a:xfrm>
              <a:off x="33499" y="192493"/>
              <a:ext cx="1545000" cy="904500"/>
            </a:xfrm>
            <a:prstGeom prst="rect">
              <a:avLst/>
            </a:prstGeom>
            <a:gradFill>
              <a:gsLst>
                <a:gs pos="0">
                  <a:srgbClr val="D23059"/>
                </a:gs>
                <a:gs pos="100000">
                  <a:srgbClr val="EE204D"/>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Developer</a:t>
              </a:r>
              <a:endParaRPr b="0" i="0" sz="1400" u="none" cap="none" strike="noStrike">
                <a:solidFill>
                  <a:srgbClr val="000000"/>
                </a:solidFill>
                <a:latin typeface="Arial"/>
                <a:ea typeface="Arial"/>
                <a:cs typeface="Arial"/>
                <a:sym typeface="Arial"/>
              </a:endParaRPr>
            </a:p>
          </p:txBody>
        </p:sp>
      </p:grpSp>
      <p:grpSp>
        <p:nvGrpSpPr>
          <p:cNvPr id="290" name="Google Shape;290;p24"/>
          <p:cNvGrpSpPr/>
          <p:nvPr/>
        </p:nvGrpSpPr>
        <p:grpSpPr>
          <a:xfrm>
            <a:off x="7671070" y="2485442"/>
            <a:ext cx="1296013" cy="442591"/>
            <a:chOff x="5357" y="164351"/>
            <a:chExt cx="1601400" cy="960900"/>
          </a:xfrm>
        </p:grpSpPr>
        <p:sp>
          <p:nvSpPr>
            <p:cNvPr id="291" name="Google Shape;291;p24"/>
            <p:cNvSpPr/>
            <p:nvPr/>
          </p:nvSpPr>
          <p:spPr>
            <a:xfrm>
              <a:off x="5357" y="164351"/>
              <a:ext cx="1601400" cy="960900"/>
            </a:xfrm>
            <a:prstGeom prst="roundRect">
              <a:avLst>
                <a:gd fmla="val 10000" name="adj"/>
              </a:avLst>
            </a:prstGeom>
            <a:gradFill>
              <a:gsLst>
                <a:gs pos="0">
                  <a:srgbClr val="D23059"/>
                </a:gs>
                <a:gs pos="100000">
                  <a:srgbClr val="EE204D"/>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4"/>
            <p:cNvSpPr/>
            <p:nvPr/>
          </p:nvSpPr>
          <p:spPr>
            <a:xfrm>
              <a:off x="33499" y="192493"/>
              <a:ext cx="1545000" cy="904500"/>
            </a:xfrm>
            <a:prstGeom prst="rect">
              <a:avLst/>
            </a:prstGeom>
            <a:gradFill>
              <a:gsLst>
                <a:gs pos="0">
                  <a:srgbClr val="D23059"/>
                </a:gs>
                <a:gs pos="100000">
                  <a:srgbClr val="EE204D"/>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API Owner</a:t>
              </a:r>
              <a:endParaRPr b="0" i="0" sz="1400" u="none" cap="none" strike="noStrike">
                <a:solidFill>
                  <a:srgbClr val="000000"/>
                </a:solidFill>
                <a:latin typeface="Arial"/>
                <a:ea typeface="Arial"/>
                <a:cs typeface="Arial"/>
                <a:sym typeface="Arial"/>
              </a:endParaRPr>
            </a:p>
          </p:txBody>
        </p:sp>
      </p:grpSp>
      <p:grpSp>
        <p:nvGrpSpPr>
          <p:cNvPr id="293" name="Google Shape;293;p24"/>
          <p:cNvGrpSpPr/>
          <p:nvPr/>
        </p:nvGrpSpPr>
        <p:grpSpPr>
          <a:xfrm>
            <a:off x="1909842" y="3346540"/>
            <a:ext cx="1296013" cy="442591"/>
            <a:chOff x="5357" y="164351"/>
            <a:chExt cx="1601400" cy="960900"/>
          </a:xfrm>
        </p:grpSpPr>
        <p:sp>
          <p:nvSpPr>
            <p:cNvPr id="294" name="Google Shape;294;p24"/>
            <p:cNvSpPr/>
            <p:nvPr/>
          </p:nvSpPr>
          <p:spPr>
            <a:xfrm>
              <a:off x="5357" y="164351"/>
              <a:ext cx="1601400" cy="960900"/>
            </a:xfrm>
            <a:prstGeom prst="roundRect">
              <a:avLst>
                <a:gd fmla="val 10000" name="adj"/>
              </a:avLst>
            </a:prstGeom>
            <a:gradFill>
              <a:gsLst>
                <a:gs pos="0">
                  <a:srgbClr val="1A237D"/>
                </a:gs>
                <a:gs pos="100000">
                  <a:srgbClr val="2F3F9E"/>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24"/>
            <p:cNvSpPr/>
            <p:nvPr/>
          </p:nvSpPr>
          <p:spPr>
            <a:xfrm>
              <a:off x="33499" y="192493"/>
              <a:ext cx="1545000" cy="904500"/>
            </a:xfrm>
            <a:prstGeom prst="rect">
              <a:avLst/>
            </a:prstGeom>
            <a:gradFill>
              <a:gsLst>
                <a:gs pos="0">
                  <a:srgbClr val="1A237D"/>
                </a:gs>
                <a:gs pos="100000">
                  <a:srgbClr val="2F3F9E"/>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Upstream Endpoints</a:t>
              </a:r>
              <a:endParaRPr b="0" i="0" sz="1400" u="none" cap="none" strike="noStrike">
                <a:solidFill>
                  <a:srgbClr val="000000"/>
                </a:solidFill>
                <a:latin typeface="Arial"/>
                <a:ea typeface="Arial"/>
                <a:cs typeface="Arial"/>
                <a:sym typeface="Arial"/>
              </a:endParaRPr>
            </a:p>
          </p:txBody>
        </p:sp>
      </p:grpSp>
      <p:sp>
        <p:nvSpPr>
          <p:cNvPr id="296" name="Google Shape;296;p24"/>
          <p:cNvSpPr/>
          <p:nvPr/>
        </p:nvSpPr>
        <p:spPr>
          <a:xfrm>
            <a:off x="3855673" y="1526544"/>
            <a:ext cx="3474300" cy="2436000"/>
          </a:xfrm>
          <a:prstGeom prst="rect">
            <a:avLst/>
          </a:prstGeom>
          <a:noFill/>
          <a:ln cap="flat" cmpd="sng" w="19050">
            <a:solidFill>
              <a:srgbClr val="5A5A68"/>
            </a:solidFill>
            <a:prstDash val="dash"/>
            <a:round/>
            <a:headEnd len="sm" w="sm" type="none"/>
            <a:tailEnd len="sm" w="sm" type="none"/>
          </a:ln>
        </p:spPr>
        <p:txBody>
          <a:bodyPr anchorCtr="0" anchor="t" bIns="45700" lIns="108000" spcFirstLastPara="1" rIns="45700" wrap="square" tIns="72000">
            <a:noAutofit/>
          </a:bodyPr>
          <a:lstStyle/>
          <a:p>
            <a:pPr indent="0" lvl="0" marL="0" marR="0" rtl="0" algn="l">
              <a:lnSpc>
                <a:spcPct val="100000"/>
              </a:lnSpc>
              <a:spcBef>
                <a:spcPts val="0"/>
              </a:spcBef>
              <a:spcAft>
                <a:spcPts val="0"/>
              </a:spcAft>
              <a:buClr>
                <a:srgbClr val="5A5A68"/>
              </a:buClr>
              <a:buSzPts val="700"/>
              <a:buFont typeface="Roboto Medium"/>
              <a:buNone/>
            </a:pPr>
            <a:r>
              <a:rPr b="0" i="0" lang="en-GB" sz="700" u="none" cap="none" strike="noStrike">
                <a:solidFill>
                  <a:srgbClr val="5A5A68"/>
                </a:solidFill>
                <a:latin typeface="Roboto Medium"/>
                <a:ea typeface="Roboto Medium"/>
                <a:cs typeface="Roboto Medium"/>
                <a:sym typeface="Roboto Medium"/>
              </a:rPr>
              <a:t>MASTER DATA CENTER</a:t>
            </a:r>
            <a:endParaRPr b="0" i="0" sz="1400" u="none" cap="none" strike="noStrike">
              <a:solidFill>
                <a:srgbClr val="000000"/>
              </a:solidFill>
              <a:latin typeface="Arial"/>
              <a:ea typeface="Arial"/>
              <a:cs typeface="Arial"/>
              <a:sym typeface="Arial"/>
            </a:endParaRPr>
          </a:p>
        </p:txBody>
      </p:sp>
      <p:sp>
        <p:nvSpPr>
          <p:cNvPr id="297" name="Google Shape;297;p24"/>
          <p:cNvSpPr/>
          <p:nvPr/>
        </p:nvSpPr>
        <p:spPr>
          <a:xfrm>
            <a:off x="5601666" y="1676401"/>
            <a:ext cx="1585500" cy="1414800"/>
          </a:xfrm>
          <a:prstGeom prst="rect">
            <a:avLst/>
          </a:prstGeom>
          <a:noFill/>
          <a:ln cap="flat" cmpd="sng" w="19050">
            <a:solidFill>
              <a:srgbClr val="5A5A68"/>
            </a:solidFill>
            <a:prstDash val="dash"/>
            <a:round/>
            <a:headEnd len="sm" w="sm" type="none"/>
            <a:tailEnd len="sm" w="sm" type="none"/>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000"/>
              <a:buFont typeface="Helvetica Neue"/>
              <a:buNone/>
            </a:pPr>
            <a:r>
              <a:t/>
            </a:r>
            <a:endParaRPr b="0" i="0" sz="1000" u="none" cap="none" strike="noStrike">
              <a:solidFill>
                <a:srgbClr val="000000"/>
              </a:solidFill>
              <a:latin typeface="Helvetica Neue"/>
              <a:ea typeface="Helvetica Neue"/>
              <a:cs typeface="Helvetica Neue"/>
              <a:sym typeface="Helvetica Neue"/>
            </a:endParaRPr>
          </a:p>
        </p:txBody>
      </p:sp>
      <p:cxnSp>
        <p:nvCxnSpPr>
          <p:cNvPr id="298" name="Google Shape;298;p24"/>
          <p:cNvCxnSpPr>
            <a:stCxn id="274" idx="0"/>
            <a:endCxn id="276" idx="2"/>
          </p:cNvCxnSpPr>
          <p:nvPr/>
        </p:nvCxnSpPr>
        <p:spPr>
          <a:xfrm flipH="1" rot="10800000">
            <a:off x="4676012" y="2257052"/>
            <a:ext cx="2100" cy="254400"/>
          </a:xfrm>
          <a:prstGeom prst="straightConnector1">
            <a:avLst/>
          </a:prstGeom>
          <a:noFill/>
          <a:ln cap="flat" cmpd="sng" w="19050">
            <a:solidFill>
              <a:srgbClr val="5A5A68"/>
            </a:solidFill>
            <a:prstDash val="solid"/>
            <a:round/>
            <a:headEnd len="sm" w="sm" type="none"/>
            <a:tailEnd len="sm" w="sm" type="none"/>
          </a:ln>
        </p:spPr>
      </p:cxnSp>
      <p:cxnSp>
        <p:nvCxnSpPr>
          <p:cNvPr id="299" name="Google Shape;299;p24"/>
          <p:cNvCxnSpPr>
            <a:stCxn id="273" idx="2"/>
            <a:endCxn id="270" idx="0"/>
          </p:cNvCxnSpPr>
          <p:nvPr/>
        </p:nvCxnSpPr>
        <p:spPr>
          <a:xfrm>
            <a:off x="4676059" y="2941080"/>
            <a:ext cx="0" cy="396600"/>
          </a:xfrm>
          <a:prstGeom prst="straightConnector1">
            <a:avLst/>
          </a:prstGeom>
          <a:noFill/>
          <a:ln cap="flat" cmpd="sng" w="19050">
            <a:solidFill>
              <a:srgbClr val="5A5A68"/>
            </a:solidFill>
            <a:prstDash val="solid"/>
            <a:round/>
            <a:headEnd len="sm" w="sm" type="none"/>
            <a:tailEnd len="sm" w="sm" type="none"/>
          </a:ln>
        </p:spPr>
      </p:cxnSp>
      <p:cxnSp>
        <p:nvCxnSpPr>
          <p:cNvPr id="300" name="Google Shape;300;p24"/>
          <p:cNvCxnSpPr>
            <a:stCxn id="276" idx="3"/>
          </p:cNvCxnSpPr>
          <p:nvPr/>
        </p:nvCxnSpPr>
        <p:spPr>
          <a:xfrm flipH="1" rot="10800000">
            <a:off x="5326184" y="2032502"/>
            <a:ext cx="309600" cy="3300"/>
          </a:xfrm>
          <a:prstGeom prst="straightConnector1">
            <a:avLst/>
          </a:prstGeom>
          <a:noFill/>
          <a:ln cap="flat" cmpd="sng" w="19050">
            <a:solidFill>
              <a:srgbClr val="5A5A68"/>
            </a:solidFill>
            <a:prstDash val="solid"/>
            <a:round/>
            <a:headEnd len="sm" w="sm" type="none"/>
            <a:tailEnd len="sm" w="sm" type="none"/>
          </a:ln>
        </p:spPr>
      </p:cxnSp>
      <p:cxnSp>
        <p:nvCxnSpPr>
          <p:cNvPr id="301" name="Google Shape;301;p24"/>
          <p:cNvCxnSpPr>
            <a:stCxn id="264" idx="3"/>
            <a:endCxn id="285" idx="1"/>
          </p:cNvCxnSpPr>
          <p:nvPr/>
        </p:nvCxnSpPr>
        <p:spPr>
          <a:xfrm>
            <a:off x="1450391" y="2720469"/>
            <a:ext cx="458100" cy="0"/>
          </a:xfrm>
          <a:prstGeom prst="straightConnector1">
            <a:avLst/>
          </a:prstGeom>
          <a:noFill/>
          <a:ln cap="flat" cmpd="sng" w="19050">
            <a:solidFill>
              <a:srgbClr val="5A5A68"/>
            </a:solidFill>
            <a:prstDash val="solid"/>
            <a:round/>
            <a:headEnd len="sm" w="sm" type="none"/>
            <a:tailEnd len="sm" w="sm" type="none"/>
          </a:ln>
        </p:spPr>
      </p:cxnSp>
      <p:cxnSp>
        <p:nvCxnSpPr>
          <p:cNvPr id="302" name="Google Shape;302;p24"/>
          <p:cNvCxnSpPr>
            <a:stCxn id="282" idx="3"/>
            <a:endCxn id="291" idx="1"/>
          </p:cNvCxnSpPr>
          <p:nvPr/>
        </p:nvCxnSpPr>
        <p:spPr>
          <a:xfrm>
            <a:off x="7034575" y="2706042"/>
            <a:ext cx="636600" cy="600"/>
          </a:xfrm>
          <a:prstGeom prst="straightConnector1">
            <a:avLst/>
          </a:prstGeom>
          <a:noFill/>
          <a:ln cap="flat" cmpd="sng" w="19050">
            <a:solidFill>
              <a:srgbClr val="5A5A68"/>
            </a:solidFill>
            <a:prstDash val="solid"/>
            <a:round/>
            <a:headEnd len="sm" w="sm" type="none"/>
            <a:tailEnd len="sm" w="sm" type="none"/>
          </a:ln>
        </p:spPr>
      </p:cxnSp>
      <p:cxnSp>
        <p:nvCxnSpPr>
          <p:cNvPr id="303" name="Google Shape;303;p24"/>
          <p:cNvCxnSpPr>
            <a:stCxn id="279" idx="3"/>
            <a:endCxn id="288" idx="1"/>
          </p:cNvCxnSpPr>
          <p:nvPr/>
        </p:nvCxnSpPr>
        <p:spPr>
          <a:xfrm flipH="1" rot="10800000">
            <a:off x="7042596" y="2042323"/>
            <a:ext cx="628500" cy="1500"/>
          </a:xfrm>
          <a:prstGeom prst="straightConnector1">
            <a:avLst/>
          </a:prstGeom>
          <a:noFill/>
          <a:ln cap="flat" cmpd="sng" w="19050">
            <a:solidFill>
              <a:srgbClr val="5A5A68"/>
            </a:solidFill>
            <a:prstDash val="solid"/>
            <a:round/>
            <a:headEnd len="sm" w="sm" type="none"/>
            <a:tailEnd len="sm" w="sm" type="none"/>
          </a:ln>
        </p:spPr>
      </p:cxnSp>
      <p:cxnSp>
        <p:nvCxnSpPr>
          <p:cNvPr id="304" name="Google Shape;304;p24"/>
          <p:cNvCxnSpPr>
            <a:stCxn id="305" idx="0"/>
            <a:endCxn id="297" idx="2"/>
          </p:cNvCxnSpPr>
          <p:nvPr/>
        </p:nvCxnSpPr>
        <p:spPr>
          <a:xfrm flipH="1" rot="10800000">
            <a:off x="6394235" y="3091080"/>
            <a:ext cx="300" cy="260400"/>
          </a:xfrm>
          <a:prstGeom prst="straightConnector1">
            <a:avLst/>
          </a:prstGeom>
          <a:noFill/>
          <a:ln cap="flat" cmpd="sng" w="19050">
            <a:solidFill>
              <a:srgbClr val="5A5A68"/>
            </a:solidFill>
            <a:prstDash val="solid"/>
            <a:round/>
            <a:headEnd len="sm" w="sm" type="none"/>
            <a:tailEnd len="sm" w="sm" type="none"/>
          </a:ln>
        </p:spPr>
      </p:cxnSp>
      <p:grpSp>
        <p:nvGrpSpPr>
          <p:cNvPr id="306" name="Google Shape;306;p24"/>
          <p:cNvGrpSpPr/>
          <p:nvPr/>
        </p:nvGrpSpPr>
        <p:grpSpPr>
          <a:xfrm>
            <a:off x="5746275" y="3338518"/>
            <a:ext cx="1296013" cy="442591"/>
            <a:chOff x="5357" y="164351"/>
            <a:chExt cx="1601400" cy="960900"/>
          </a:xfrm>
        </p:grpSpPr>
        <p:sp>
          <p:nvSpPr>
            <p:cNvPr id="307" name="Google Shape;307;p24"/>
            <p:cNvSpPr/>
            <p:nvPr/>
          </p:nvSpPr>
          <p:spPr>
            <a:xfrm>
              <a:off x="5357" y="164351"/>
              <a:ext cx="1601400" cy="960900"/>
            </a:xfrm>
            <a:prstGeom prst="roundRect">
              <a:avLst>
                <a:gd fmla="val 10000" name="adj"/>
              </a:avLst>
            </a:prstGeom>
            <a:gradFill>
              <a:gsLst>
                <a:gs pos="0">
                  <a:srgbClr val="109EAE"/>
                </a:gs>
                <a:gs pos="38000">
                  <a:srgbClr val="109EAE"/>
                </a:gs>
                <a:gs pos="100000">
                  <a:srgbClr val="00D9BA"/>
                </a:gs>
              </a:gsLst>
              <a:lin ang="18900044"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24"/>
            <p:cNvSpPr/>
            <p:nvPr/>
          </p:nvSpPr>
          <p:spPr>
            <a:xfrm>
              <a:off x="33499" y="192493"/>
              <a:ext cx="1545000" cy="904500"/>
            </a:xfrm>
            <a:prstGeom prst="rect">
              <a:avLst/>
            </a:prstGeom>
            <a:gradFill>
              <a:gsLst>
                <a:gs pos="0">
                  <a:srgbClr val="109EAE"/>
                </a:gs>
                <a:gs pos="38000">
                  <a:srgbClr val="109EAE"/>
                </a:gs>
                <a:gs pos="100000">
                  <a:srgbClr val="00D9BA"/>
                </a:gs>
              </a:gsLst>
              <a:lin ang="18900044" scaled="0"/>
            </a:gradFill>
            <a:ln>
              <a:noFill/>
            </a:ln>
          </p:spPr>
          <p:txBody>
            <a:bodyPr anchorCtr="0" anchor="ctr" bIns="87625" lIns="87625" spcFirstLastPara="1" rIns="87625" wrap="square" tIns="87625">
              <a:noAutofit/>
            </a:bodyPr>
            <a:lstStyle/>
            <a:p>
              <a:pPr indent="0" lvl="0" marL="0" marR="0" rtl="0" algn="ctr">
                <a:lnSpc>
                  <a:spcPct val="138095"/>
                </a:lnSpc>
                <a:spcBef>
                  <a:spcPts val="0"/>
                </a:spcBef>
                <a:spcAft>
                  <a:spcPts val="0"/>
                </a:spcAft>
                <a:buClr>
                  <a:srgbClr val="FFFFFF"/>
                </a:buClr>
                <a:buSzPts val="1050"/>
                <a:buFont typeface="Roboto Medium"/>
                <a:buNone/>
              </a:pPr>
              <a:r>
                <a:rPr b="0" i="0" lang="en-GB" sz="1050" u="none" cap="none" strike="noStrike">
                  <a:solidFill>
                    <a:srgbClr val="FFFFFF"/>
                  </a:solidFill>
                  <a:latin typeface="Roboto Medium"/>
                  <a:ea typeface="Roboto Medium"/>
                  <a:cs typeface="Roboto Medium"/>
                  <a:sym typeface="Roboto Medium"/>
                </a:rPr>
                <a:t>Gateway</a:t>
              </a:r>
              <a:endParaRPr b="0" i="0" sz="1400" u="none" cap="none" strike="noStrike">
                <a:solidFill>
                  <a:srgbClr val="000000"/>
                </a:solidFill>
                <a:latin typeface="Arial"/>
                <a:ea typeface="Arial"/>
                <a:cs typeface="Arial"/>
                <a:sym typeface="Arial"/>
              </a:endParaRPr>
            </a:p>
          </p:txBody>
        </p:sp>
      </p:grpSp>
      <p:cxnSp>
        <p:nvCxnSpPr>
          <p:cNvPr id="308" name="Google Shape;308;p24"/>
          <p:cNvCxnSpPr>
            <a:stCxn id="270" idx="3"/>
            <a:endCxn id="307" idx="1"/>
          </p:cNvCxnSpPr>
          <p:nvPr/>
        </p:nvCxnSpPr>
        <p:spPr>
          <a:xfrm>
            <a:off x="5324153" y="3559081"/>
            <a:ext cx="422100" cy="600"/>
          </a:xfrm>
          <a:prstGeom prst="straightConnector1">
            <a:avLst/>
          </a:prstGeom>
          <a:noFill/>
          <a:ln cap="flat" cmpd="sng" w="19050">
            <a:solidFill>
              <a:srgbClr val="5A5A68"/>
            </a:solidFill>
            <a:prstDash val="solid"/>
            <a:round/>
            <a:headEnd len="sm" w="sm" type="none"/>
            <a:tailEnd len="sm" w="sm" type="none"/>
          </a:ln>
        </p:spPr>
      </p:cxnSp>
      <p:cxnSp>
        <p:nvCxnSpPr>
          <p:cNvPr id="309" name="Google Shape;309;p24"/>
          <p:cNvCxnSpPr>
            <a:stCxn id="285" idx="0"/>
            <a:endCxn id="267" idx="2"/>
          </p:cNvCxnSpPr>
          <p:nvPr/>
        </p:nvCxnSpPr>
        <p:spPr>
          <a:xfrm flipH="1" rot="10800000">
            <a:off x="2556414" y="2263720"/>
            <a:ext cx="2700" cy="235500"/>
          </a:xfrm>
          <a:prstGeom prst="straightConnector1">
            <a:avLst/>
          </a:prstGeom>
          <a:noFill/>
          <a:ln cap="flat" cmpd="sng" w="19050">
            <a:solidFill>
              <a:srgbClr val="5A5A68"/>
            </a:solidFill>
            <a:prstDash val="solid"/>
            <a:round/>
            <a:headEnd len="sm" w="sm" type="none"/>
            <a:tailEnd len="sm" w="sm" type="none"/>
          </a:ln>
        </p:spPr>
      </p:cxnSp>
      <p:cxnSp>
        <p:nvCxnSpPr>
          <p:cNvPr id="310" name="Google Shape;310;p24"/>
          <p:cNvCxnSpPr>
            <a:stCxn id="294" idx="0"/>
            <a:endCxn id="285" idx="2"/>
          </p:cNvCxnSpPr>
          <p:nvPr/>
        </p:nvCxnSpPr>
        <p:spPr>
          <a:xfrm rot="10800000">
            <a:off x="2556349" y="2941840"/>
            <a:ext cx="1500" cy="404700"/>
          </a:xfrm>
          <a:prstGeom prst="straightConnector1">
            <a:avLst/>
          </a:prstGeom>
          <a:noFill/>
          <a:ln cap="flat" cmpd="sng" w="19050">
            <a:solidFill>
              <a:srgbClr val="5A5A68"/>
            </a:solidFill>
            <a:prstDash val="solid"/>
            <a:round/>
            <a:headEnd len="sm" w="sm" type="none"/>
            <a:tailEnd len="sm" w="sm" type="none"/>
          </a:ln>
        </p:spPr>
      </p:cxnSp>
      <p:cxnSp>
        <p:nvCxnSpPr>
          <p:cNvPr id="311" name="Google Shape;311;p24"/>
          <p:cNvCxnSpPr>
            <a:stCxn id="285" idx="3"/>
            <a:endCxn id="273" idx="1"/>
          </p:cNvCxnSpPr>
          <p:nvPr/>
        </p:nvCxnSpPr>
        <p:spPr>
          <a:xfrm flipH="1" rot="10800000">
            <a:off x="3204420" y="2719915"/>
            <a:ext cx="823500" cy="600"/>
          </a:xfrm>
          <a:prstGeom prst="straightConnector1">
            <a:avLst/>
          </a:prstGeom>
          <a:noFill/>
          <a:ln cap="flat" cmpd="sng" w="19050">
            <a:solidFill>
              <a:srgbClr val="5A5A68"/>
            </a:solidFill>
            <a:prstDash val="solid"/>
            <a:round/>
            <a:headEnd len="sm" w="sm" type="none"/>
            <a:tailEnd len="sm" w="sm" type="none"/>
          </a:ln>
        </p:spPr>
      </p:cxnSp>
      <p:cxnSp>
        <p:nvCxnSpPr>
          <p:cNvPr id="312" name="Google Shape;312;p24"/>
          <p:cNvCxnSpPr/>
          <p:nvPr/>
        </p:nvCxnSpPr>
        <p:spPr>
          <a:xfrm flipH="1" rot="10800000">
            <a:off x="5303838" y="3098750"/>
            <a:ext cx="298500" cy="260400"/>
          </a:xfrm>
          <a:prstGeom prst="straightConnector1">
            <a:avLst/>
          </a:prstGeom>
          <a:noFill/>
          <a:ln cap="flat" cmpd="sng" w="19050">
            <a:solidFill>
              <a:srgbClr val="5A5A68"/>
            </a:solidFill>
            <a:prstDash val="solid"/>
            <a:round/>
            <a:headEnd len="sm" w="sm" type="none"/>
            <a:tailEnd len="sm" w="sm" type="none"/>
          </a:ln>
        </p:spPr>
      </p:cxnSp>
      <p:sp>
        <p:nvSpPr>
          <p:cNvPr id="313" name="Google Shape;313;p24"/>
          <p:cNvSpPr/>
          <p:nvPr/>
        </p:nvSpPr>
        <p:spPr>
          <a:xfrm>
            <a:off x="4447607" y="2387084"/>
            <a:ext cx="2487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Helvetica Neue"/>
              <a:buNone/>
            </a:pPr>
            <a:r>
              <a:rPr b="0" i="0" lang="en-GB" sz="1800" u="none" cap="none" strike="noStrike">
                <a:solidFill>
                  <a:srgbClr val="000000"/>
                </a:solidFill>
                <a:latin typeface="Helvetica Neue"/>
                <a:ea typeface="Helvetica Neue"/>
                <a:cs typeface="Helvetica Neue"/>
                <a:sym typeface="Helvetica Neue"/>
              </a:rPr>
              <a:t> </a:t>
            </a:r>
            <a:endParaRPr b="0" i="0" sz="1800" u="none" cap="none" strike="noStrike">
              <a:solidFill>
                <a:srgbClr val="000000"/>
              </a:solidFill>
              <a:latin typeface="Helvetica Neue"/>
              <a:ea typeface="Helvetica Neue"/>
              <a:cs typeface="Helvetica Neue"/>
              <a:sym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5"/>
          <p:cNvSpPr txBox="1"/>
          <p:nvPr>
            <p:ph type="title"/>
          </p:nvPr>
        </p:nvSpPr>
        <p:spPr>
          <a:xfrm>
            <a:off x="500400" y="1764300"/>
            <a:ext cx="8520600" cy="1614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800"/>
              <a:buNone/>
            </a:pPr>
            <a:r>
              <a:rPr lang="en-GB"/>
              <a:t>Software Architectures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6"/>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a:t>Software Architectures: Monolith</a:t>
            </a:r>
            <a:endParaRPr/>
          </a:p>
        </p:txBody>
      </p:sp>
      <p:sp>
        <p:nvSpPr>
          <p:cNvPr id="324" name="Google Shape;324;p26"/>
          <p:cNvSpPr txBox="1"/>
          <p:nvPr>
            <p:ph idx="2" type="title"/>
          </p:nvPr>
        </p:nvSpPr>
        <p:spPr>
          <a:xfrm>
            <a:off x="500550" y="1140600"/>
            <a:ext cx="4893900" cy="3916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GB"/>
              <a:t>Monoliths are self-contained systems</a:t>
            </a:r>
            <a:endParaRPr/>
          </a:p>
          <a:p>
            <a:pPr indent="0" lvl="0" marL="0" rtl="0" algn="l">
              <a:lnSpc>
                <a:spcPct val="150000"/>
              </a:lnSpc>
              <a:spcBef>
                <a:spcPts val="1000"/>
              </a:spcBef>
              <a:spcAft>
                <a:spcPts val="0"/>
              </a:spcAft>
              <a:buSzPts val="1800"/>
              <a:buNone/>
            </a:pPr>
            <a:r>
              <a:rPr lang="en-GB"/>
              <a:t>API Gateway enables communication between consumers and monolithic applications</a:t>
            </a:r>
            <a:endParaRPr/>
          </a:p>
          <a:p>
            <a:pPr indent="0" lvl="0" marL="0" rtl="0" algn="l">
              <a:lnSpc>
                <a:spcPct val="150000"/>
              </a:lnSpc>
              <a:spcBef>
                <a:spcPts val="1000"/>
              </a:spcBef>
              <a:spcAft>
                <a:spcPts val="0"/>
              </a:spcAft>
              <a:buSzPts val="1800"/>
              <a:buNone/>
            </a:pPr>
            <a:r>
              <a:rPr lang="en-GB"/>
              <a:t>Transformation of protocols and data</a:t>
            </a:r>
            <a:endParaRPr/>
          </a:p>
          <a:p>
            <a:pPr indent="0" lvl="0" marL="0" rtl="0" algn="l">
              <a:lnSpc>
                <a:spcPct val="150000"/>
              </a:lnSpc>
              <a:spcBef>
                <a:spcPts val="1000"/>
              </a:spcBef>
              <a:spcAft>
                <a:spcPts val="1000"/>
              </a:spcAft>
              <a:buSzPts val="1800"/>
              <a:buNone/>
            </a:pPr>
            <a:r>
              <a:rPr lang="en-GB"/>
              <a:t>Integration with legacy applications</a:t>
            </a:r>
            <a:endParaRPr/>
          </a:p>
        </p:txBody>
      </p:sp>
      <p:pic>
        <p:nvPicPr>
          <p:cNvPr id="325" name="Google Shape;325;p26"/>
          <p:cNvPicPr preferRelativeResize="0"/>
          <p:nvPr/>
        </p:nvPicPr>
        <p:blipFill rotWithShape="1">
          <a:blip r:embed="rId3">
            <a:alphaModFix/>
          </a:blip>
          <a:srcRect b="0" l="0" r="0" t="0"/>
          <a:stretch/>
        </p:blipFill>
        <p:spPr>
          <a:xfrm>
            <a:off x="6082150" y="722700"/>
            <a:ext cx="2230224" cy="3698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7"/>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sz="2400"/>
              <a:t>Software Architectures: Service Oriented Architecture</a:t>
            </a:r>
            <a:endParaRPr sz="2400"/>
          </a:p>
        </p:txBody>
      </p:sp>
      <p:sp>
        <p:nvSpPr>
          <p:cNvPr id="331" name="Google Shape;331;p27"/>
          <p:cNvSpPr txBox="1"/>
          <p:nvPr>
            <p:ph idx="2" type="title"/>
          </p:nvPr>
        </p:nvSpPr>
        <p:spPr>
          <a:xfrm>
            <a:off x="500550" y="1140600"/>
            <a:ext cx="4893900" cy="3916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GB"/>
              <a:t>Services are discrete units of functionality</a:t>
            </a:r>
            <a:endParaRPr/>
          </a:p>
          <a:p>
            <a:pPr indent="0" lvl="0" marL="0" rtl="0" algn="l">
              <a:lnSpc>
                <a:spcPct val="150000"/>
              </a:lnSpc>
              <a:spcBef>
                <a:spcPts val="1000"/>
              </a:spcBef>
              <a:spcAft>
                <a:spcPts val="0"/>
              </a:spcAft>
              <a:buSzPts val="1800"/>
              <a:buNone/>
            </a:pPr>
            <a:r>
              <a:rPr lang="en-GB"/>
              <a:t>Centralised Gateway manages all traffic between consumers and services</a:t>
            </a:r>
            <a:endParaRPr/>
          </a:p>
          <a:p>
            <a:pPr indent="0" lvl="0" marL="0" rtl="0" algn="l">
              <a:lnSpc>
                <a:spcPct val="150000"/>
              </a:lnSpc>
              <a:spcBef>
                <a:spcPts val="1000"/>
              </a:spcBef>
              <a:spcAft>
                <a:spcPts val="0"/>
              </a:spcAft>
              <a:buSzPts val="1800"/>
              <a:buNone/>
            </a:pPr>
            <a:r>
              <a:rPr lang="en-GB"/>
              <a:t>Gateway implements common controls, such as authentication, authorisation, rate limiting and quotas</a:t>
            </a:r>
            <a:endParaRPr/>
          </a:p>
          <a:p>
            <a:pPr indent="0" lvl="0" marL="0" rtl="0" algn="l">
              <a:lnSpc>
                <a:spcPct val="150000"/>
              </a:lnSpc>
              <a:spcBef>
                <a:spcPts val="1000"/>
              </a:spcBef>
              <a:spcAft>
                <a:spcPts val="1000"/>
              </a:spcAft>
              <a:buSzPts val="1800"/>
              <a:buNone/>
            </a:pPr>
            <a:r>
              <a:rPr lang="en-GB"/>
              <a:t>Service Discovery used to locate services</a:t>
            </a:r>
            <a:endParaRPr/>
          </a:p>
        </p:txBody>
      </p:sp>
      <p:pic>
        <p:nvPicPr>
          <p:cNvPr id="332" name="Google Shape;332;p27"/>
          <p:cNvPicPr preferRelativeResize="0"/>
          <p:nvPr/>
        </p:nvPicPr>
        <p:blipFill rotWithShape="1">
          <a:blip r:embed="rId3">
            <a:alphaModFix/>
          </a:blip>
          <a:srcRect b="0" l="0" r="0" t="0"/>
          <a:stretch/>
        </p:blipFill>
        <p:spPr>
          <a:xfrm>
            <a:off x="5394300" y="722700"/>
            <a:ext cx="3652946" cy="3698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8"/>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a:t>Software Architectures: Microservices</a:t>
            </a:r>
            <a:endParaRPr/>
          </a:p>
        </p:txBody>
      </p:sp>
      <p:sp>
        <p:nvSpPr>
          <p:cNvPr id="338" name="Google Shape;338;p28"/>
          <p:cNvSpPr txBox="1"/>
          <p:nvPr>
            <p:ph idx="2" type="title"/>
          </p:nvPr>
        </p:nvSpPr>
        <p:spPr>
          <a:xfrm>
            <a:off x="500550" y="1140600"/>
            <a:ext cx="4867500" cy="3916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GB" sz="1600"/>
              <a:t>Architecturally similar to SOA, but services are decomposed to a smaller scope</a:t>
            </a:r>
            <a:endParaRPr sz="1600"/>
          </a:p>
          <a:p>
            <a:pPr indent="0" lvl="0" marL="0" rtl="0" algn="l">
              <a:lnSpc>
                <a:spcPct val="150000"/>
              </a:lnSpc>
              <a:spcBef>
                <a:spcPts val="1000"/>
              </a:spcBef>
              <a:spcAft>
                <a:spcPts val="0"/>
              </a:spcAft>
              <a:buSzPts val="1800"/>
              <a:buNone/>
            </a:pPr>
            <a:r>
              <a:rPr lang="en-GB" sz="1600"/>
              <a:t>Higher interconnectivity between systems</a:t>
            </a:r>
            <a:endParaRPr sz="1600"/>
          </a:p>
          <a:p>
            <a:pPr indent="0" lvl="0" marL="0" rtl="0" algn="l">
              <a:lnSpc>
                <a:spcPct val="150000"/>
              </a:lnSpc>
              <a:spcBef>
                <a:spcPts val="1000"/>
              </a:spcBef>
              <a:spcAft>
                <a:spcPts val="0"/>
              </a:spcAft>
              <a:buSzPts val="1800"/>
              <a:buNone/>
            </a:pPr>
            <a:r>
              <a:rPr lang="en-GB" sz="1600"/>
              <a:t>Benefits for Microservice architectures:</a:t>
            </a:r>
            <a:endParaRPr sz="1600"/>
          </a:p>
          <a:p>
            <a:pPr indent="-342900" lvl="0" marL="457200" rtl="0" algn="l">
              <a:lnSpc>
                <a:spcPct val="150000"/>
              </a:lnSpc>
              <a:spcBef>
                <a:spcPts val="0"/>
              </a:spcBef>
              <a:spcAft>
                <a:spcPts val="0"/>
              </a:spcAft>
              <a:buSzPts val="1800"/>
              <a:buChar char="●"/>
            </a:pPr>
            <a:r>
              <a:rPr lang="en-GB" sz="1600"/>
              <a:t>Distributed tracing</a:t>
            </a:r>
            <a:endParaRPr sz="1600"/>
          </a:p>
          <a:p>
            <a:pPr indent="-342900" lvl="0" marL="457200" rtl="0" algn="l">
              <a:lnSpc>
                <a:spcPct val="150000"/>
              </a:lnSpc>
              <a:spcBef>
                <a:spcPts val="0"/>
              </a:spcBef>
              <a:spcAft>
                <a:spcPts val="0"/>
              </a:spcAft>
              <a:buSzPts val="1800"/>
              <a:buChar char="●"/>
            </a:pPr>
            <a:r>
              <a:rPr lang="en-GB" sz="1600"/>
              <a:t>Centralised logging</a:t>
            </a:r>
            <a:endParaRPr sz="1600"/>
          </a:p>
          <a:p>
            <a:pPr indent="-342900" lvl="0" marL="457200" rtl="0" algn="l">
              <a:lnSpc>
                <a:spcPct val="150000"/>
              </a:lnSpc>
              <a:spcBef>
                <a:spcPts val="0"/>
              </a:spcBef>
              <a:spcAft>
                <a:spcPts val="0"/>
              </a:spcAft>
              <a:buSzPts val="1800"/>
              <a:buChar char="●"/>
            </a:pPr>
            <a:r>
              <a:rPr lang="en-GB" sz="1600"/>
              <a:t>Centralised analytics</a:t>
            </a:r>
            <a:endParaRPr sz="1600"/>
          </a:p>
          <a:p>
            <a:pPr indent="-342900" lvl="0" marL="457200" rtl="0" algn="l">
              <a:lnSpc>
                <a:spcPct val="150000"/>
              </a:lnSpc>
              <a:spcBef>
                <a:spcPts val="0"/>
              </a:spcBef>
              <a:spcAft>
                <a:spcPts val="0"/>
              </a:spcAft>
              <a:buSzPts val="1800"/>
              <a:buChar char="●"/>
            </a:pPr>
            <a:r>
              <a:rPr lang="en-GB" sz="1600"/>
              <a:t>Access control</a:t>
            </a:r>
            <a:endParaRPr sz="1600"/>
          </a:p>
        </p:txBody>
      </p:sp>
      <p:pic>
        <p:nvPicPr>
          <p:cNvPr id="339" name="Google Shape;339;p28"/>
          <p:cNvPicPr preferRelativeResize="0"/>
          <p:nvPr/>
        </p:nvPicPr>
        <p:blipFill rotWithShape="1">
          <a:blip r:embed="rId3">
            <a:alphaModFix/>
          </a:blip>
          <a:srcRect b="0" l="0" r="0" t="0"/>
          <a:stretch/>
        </p:blipFill>
        <p:spPr>
          <a:xfrm>
            <a:off x="5368200" y="722700"/>
            <a:ext cx="3652946" cy="369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9"/>
          <p:cNvSpPr txBox="1"/>
          <p:nvPr>
            <p:ph type="title"/>
          </p:nvPr>
        </p:nvSpPr>
        <p:spPr>
          <a:xfrm>
            <a:off x="500550" y="0"/>
            <a:ext cx="8520600" cy="1140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000"/>
              <a:buNone/>
            </a:pPr>
            <a:r>
              <a:rPr lang="en-GB"/>
              <a:t>Software Architectures: Service Mesh</a:t>
            </a:r>
            <a:endParaRPr/>
          </a:p>
        </p:txBody>
      </p:sp>
      <p:sp>
        <p:nvSpPr>
          <p:cNvPr id="345" name="Google Shape;345;p29"/>
          <p:cNvSpPr txBox="1"/>
          <p:nvPr>
            <p:ph idx="2" type="title"/>
          </p:nvPr>
        </p:nvSpPr>
        <p:spPr>
          <a:xfrm>
            <a:off x="500550" y="1140600"/>
            <a:ext cx="5564400" cy="3916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SzPts val="1800"/>
              <a:buNone/>
            </a:pPr>
            <a:r>
              <a:rPr lang="en-GB" sz="1600"/>
              <a:t>Services are paired with Sidecar Gateways</a:t>
            </a:r>
            <a:endParaRPr sz="1600"/>
          </a:p>
          <a:p>
            <a:pPr indent="-342900" lvl="0" marL="457200" rtl="0" algn="l">
              <a:lnSpc>
                <a:spcPct val="150000"/>
              </a:lnSpc>
              <a:spcBef>
                <a:spcPts val="0"/>
              </a:spcBef>
              <a:spcAft>
                <a:spcPts val="0"/>
              </a:spcAft>
              <a:buSzPts val="1800"/>
              <a:buChar char="●"/>
            </a:pPr>
            <a:r>
              <a:rPr lang="en-GB" sz="1600"/>
              <a:t>Deployed within the same container</a:t>
            </a:r>
            <a:endParaRPr sz="1600"/>
          </a:p>
          <a:p>
            <a:pPr indent="-342900" lvl="0" marL="457200" rtl="0" algn="l">
              <a:lnSpc>
                <a:spcPct val="150000"/>
              </a:lnSpc>
              <a:spcBef>
                <a:spcPts val="0"/>
              </a:spcBef>
              <a:spcAft>
                <a:spcPts val="0"/>
              </a:spcAft>
              <a:buSzPts val="1800"/>
              <a:buChar char="●"/>
            </a:pPr>
            <a:r>
              <a:rPr lang="en-GB" sz="1600"/>
              <a:t>Controlled by 3rd party tooling, such as Istio</a:t>
            </a:r>
            <a:endParaRPr sz="1600"/>
          </a:p>
          <a:p>
            <a:pPr indent="0" lvl="0" marL="0" rtl="0" algn="l">
              <a:lnSpc>
                <a:spcPct val="150000"/>
              </a:lnSpc>
              <a:spcBef>
                <a:spcPts val="1000"/>
              </a:spcBef>
              <a:spcAft>
                <a:spcPts val="0"/>
              </a:spcAft>
              <a:buSzPts val="1800"/>
              <a:buNone/>
            </a:pPr>
            <a:r>
              <a:rPr lang="en-GB" sz="1600"/>
              <a:t>Ingress Gateway controlled by Tyk</a:t>
            </a:r>
            <a:endParaRPr sz="1600"/>
          </a:p>
          <a:p>
            <a:pPr indent="0" lvl="0" marL="0" rtl="0" algn="l">
              <a:lnSpc>
                <a:spcPct val="150000"/>
              </a:lnSpc>
              <a:spcBef>
                <a:spcPts val="1000"/>
              </a:spcBef>
              <a:spcAft>
                <a:spcPts val="0"/>
              </a:spcAft>
              <a:buSzPts val="1800"/>
              <a:buNone/>
            </a:pPr>
            <a:r>
              <a:rPr lang="en-GB" sz="1600"/>
              <a:t>Benefits for Service Mesh architectures:</a:t>
            </a:r>
            <a:endParaRPr sz="1600"/>
          </a:p>
          <a:p>
            <a:pPr indent="-342900" lvl="0" marL="457200" rtl="0" algn="l">
              <a:lnSpc>
                <a:spcPct val="150000"/>
              </a:lnSpc>
              <a:spcBef>
                <a:spcPts val="0"/>
              </a:spcBef>
              <a:spcAft>
                <a:spcPts val="0"/>
              </a:spcAft>
              <a:buSzPts val="1800"/>
              <a:buChar char="●"/>
            </a:pPr>
            <a:r>
              <a:rPr lang="en-GB" sz="1600"/>
              <a:t>Automation of traffic flows</a:t>
            </a:r>
            <a:endParaRPr sz="1600"/>
          </a:p>
          <a:p>
            <a:pPr indent="-342900" lvl="0" marL="457200" rtl="0" algn="l">
              <a:lnSpc>
                <a:spcPct val="150000"/>
              </a:lnSpc>
              <a:spcBef>
                <a:spcPts val="0"/>
              </a:spcBef>
              <a:spcAft>
                <a:spcPts val="0"/>
              </a:spcAft>
              <a:buSzPts val="1800"/>
              <a:buChar char="●"/>
            </a:pPr>
            <a:r>
              <a:rPr lang="en-GB" sz="1600"/>
              <a:t>Centralised policy enforcement and monitoring</a:t>
            </a:r>
            <a:endParaRPr sz="1600"/>
          </a:p>
        </p:txBody>
      </p:sp>
      <p:pic>
        <p:nvPicPr>
          <p:cNvPr id="346" name="Google Shape;346;p29"/>
          <p:cNvPicPr preferRelativeResize="0"/>
          <p:nvPr/>
        </p:nvPicPr>
        <p:blipFill rotWithShape="1">
          <a:blip r:embed="rId3">
            <a:alphaModFix/>
          </a:blip>
          <a:srcRect b="0" l="0" r="0" t="0"/>
          <a:stretch/>
        </p:blipFill>
        <p:spPr>
          <a:xfrm>
            <a:off x="6065089" y="1024849"/>
            <a:ext cx="2956061" cy="36981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yk main slide deck">
  <a:themeElements>
    <a:clrScheme name="Simple Light">
      <a:dk1>
        <a:srgbClr val="03031C"/>
      </a:dk1>
      <a:lt1>
        <a:srgbClr val="FFFFFF"/>
      </a:lt1>
      <a:dk2>
        <a:srgbClr val="8438FA"/>
      </a:dk2>
      <a:lt2>
        <a:srgbClr val="5900CB"/>
      </a:lt2>
      <a:accent1>
        <a:srgbClr val="FFC743"/>
      </a:accent1>
      <a:accent2>
        <a:srgbClr val="FFF500"/>
      </a:accent2>
      <a:accent3>
        <a:srgbClr val="20EDBA"/>
      </a:accent3>
      <a:accent4>
        <a:srgbClr val="00A3A0"/>
      </a:accent4>
      <a:accent5>
        <a:srgbClr val="BB11FF"/>
      </a:accent5>
      <a:accent6>
        <a:srgbClr val="EA26A9"/>
      </a:accent6>
      <a:hlink>
        <a:srgbClr val="E3CE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