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Inter"/>
      <p:regular r:id="rId12"/>
      <p:bold r:id="rId13"/>
      <p:italic r:id="rId14"/>
      <p:boldItalic r:id="rId15"/>
    </p:embeddedFont>
    <p:embeddedFont>
      <p:font typeface="Open Sans SemiBold"/>
      <p:regular r:id="rId16"/>
      <p:bold r:id="rId17"/>
      <p:italic r:id="rId18"/>
      <p:boldItalic r:id="rId19"/>
    </p:embeddedFont>
    <p:embeddedFont>
      <p:font typeface="Open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regular.fntdata"/><Relationship Id="rId11" Type="http://schemas.openxmlformats.org/officeDocument/2006/relationships/slide" Target="slides/slide6.xml"/><Relationship Id="rId22" Type="http://schemas.openxmlformats.org/officeDocument/2006/relationships/font" Target="fonts/OpenSans-italic.fntdata"/><Relationship Id="rId10" Type="http://schemas.openxmlformats.org/officeDocument/2006/relationships/slide" Target="slides/slide5.xml"/><Relationship Id="rId21" Type="http://schemas.openxmlformats.org/officeDocument/2006/relationships/font" Target="fonts/OpenSans-bold.fntdata"/><Relationship Id="rId13" Type="http://schemas.openxmlformats.org/officeDocument/2006/relationships/font" Target="fonts/Inter-bold.fntdata"/><Relationship Id="rId12" Type="http://schemas.openxmlformats.org/officeDocument/2006/relationships/font" Target="fonts/Inter-regular.fntdata"/><Relationship Id="rId23" Type="http://schemas.openxmlformats.org/officeDocument/2006/relationships/font" Target="fonts/Open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boldItalic.fntdata"/><Relationship Id="rId14" Type="http://schemas.openxmlformats.org/officeDocument/2006/relationships/font" Target="fonts/Inter-italic.fntdata"/><Relationship Id="rId17" Type="http://schemas.openxmlformats.org/officeDocument/2006/relationships/font" Target="fonts/OpenSansSemiBold-bold.fntdata"/><Relationship Id="rId16" Type="http://schemas.openxmlformats.org/officeDocument/2006/relationships/font" Target="fonts/OpenSansSemiBold-regular.fntdata"/><Relationship Id="rId5" Type="http://schemas.openxmlformats.org/officeDocument/2006/relationships/notesMaster" Target="notesMasters/notesMaster1.xml"/><Relationship Id="rId19" Type="http://schemas.openxmlformats.org/officeDocument/2006/relationships/font" Target="fonts/OpenSansSemiBold-boldItalic.fntdata"/><Relationship Id="rId6" Type="http://schemas.openxmlformats.org/officeDocument/2006/relationships/slide" Target="slides/slide1.xml"/><Relationship Id="rId18" Type="http://schemas.openxmlformats.org/officeDocument/2006/relationships/font" Target="fonts/OpenSansSemi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51dcb0dd5c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51dcb0dd5c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6a1223cf18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g36a1223cf18_1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Now let’s dive one level deeper — into endpoint-level rate limiting.</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This type of rate limiting lets you control how often a specific path or function in your API can be accessed. So instead of limiting an entire API or a whole user, you can target just one endpoint.</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Why is this useful?</a:t>
            </a:r>
            <a:endParaRPr/>
          </a:p>
          <a:p>
            <a:pPr indent="0" lvl="0" marL="0" rtl="0" algn="l">
              <a:lnSpc>
                <a:spcPct val="117999"/>
              </a:lnSpc>
              <a:spcBef>
                <a:spcPts val="0"/>
              </a:spcBef>
              <a:spcAft>
                <a:spcPts val="0"/>
              </a:spcAft>
              <a:buSzPts val="1400"/>
              <a:buNone/>
            </a:pPr>
            <a:r>
              <a:rPr lang="en-GB"/>
              <a:t>It helps protect critical or sensitive operations from being overloaded — such as payment gateways, account updates, or resource-intensive database queries.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Here’s a simple example:</a:t>
            </a:r>
            <a:endParaRPr/>
          </a:p>
          <a:p>
            <a:pPr indent="0" lvl="0" marL="0" rtl="0" algn="l">
              <a:lnSpc>
                <a:spcPct val="117999"/>
              </a:lnSpc>
              <a:spcBef>
                <a:spcPts val="0"/>
              </a:spcBef>
              <a:spcAft>
                <a:spcPts val="0"/>
              </a:spcAft>
              <a:buSzPts val="1400"/>
              <a:buNone/>
            </a:pPr>
            <a:r>
              <a:rPr lang="en-GB"/>
              <a:t>You might allow a user to make 10 requests per minute to the /checkout/pay endpoint — even if they’re allowed more requests overall.</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In Tyk, you configure this under key-level policies, where you can define custom limits for individual endpoints.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6a121277e6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6a121277e6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Encapsulation of rules</a:t>
            </a:r>
            <a:endParaRPr/>
          </a:p>
          <a:p>
            <a:pPr indent="0" lvl="0" marL="0" rtl="0" algn="l">
              <a:spcBef>
                <a:spcPts val="0"/>
              </a:spcBef>
              <a:spcAft>
                <a:spcPts val="0"/>
              </a:spcAft>
              <a:buNone/>
            </a:pPr>
            <a:r>
              <a:rPr lang="en-GB"/>
              <a:t>Policies give you a way to encapsulate security and other access settings into a pre-defined entity.</a:t>
            </a:r>
            <a:endParaRPr/>
          </a:p>
          <a:p>
            <a:pPr indent="0" lvl="0" marL="0" rtl="0" algn="l">
              <a:spcBef>
                <a:spcPts val="0"/>
              </a:spcBef>
              <a:spcAft>
                <a:spcPts val="0"/>
              </a:spcAft>
              <a:buNone/>
            </a:pPr>
            <a:r>
              <a:rPr lang="en-GB"/>
              <a:t>Purpose is to make your life easier when managing lots of tokens.</a:t>
            </a:r>
            <a:endParaRPr/>
          </a:p>
          <a:p>
            <a:pPr indent="0" lvl="0" marL="0" rtl="0" algn="l">
              <a:spcBef>
                <a:spcPts val="0"/>
              </a:spcBef>
              <a:spcAft>
                <a:spcPts val="0"/>
              </a:spcAft>
              <a:buNone/>
            </a:pPr>
            <a:r>
              <a:rPr lang="en-GB"/>
              <a:t>The important thing to understand about policies is that a single policy can apply to many tokens, so having a few policies can let you manage very large numbers of tokens easily.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They allow you to define:</a:t>
            </a:r>
            <a:endParaRPr/>
          </a:p>
          <a:p>
            <a:pPr indent="0" lvl="0" marL="0" rtl="0" algn="l">
              <a:spcBef>
                <a:spcPts val="0"/>
              </a:spcBef>
              <a:spcAft>
                <a:spcPts val="0"/>
              </a:spcAft>
              <a:buNone/>
            </a:pPr>
            <a:r>
              <a:rPr lang="en-GB"/>
              <a:t>An access control list, which sets which APIs, versions, endpoints and methods the policy can access.</a:t>
            </a:r>
            <a:endParaRPr/>
          </a:p>
          <a:p>
            <a:pPr indent="0" lvl="0" marL="0" rtl="0" algn="l">
              <a:spcBef>
                <a:spcPts val="0"/>
              </a:spcBef>
              <a:spcAft>
                <a:spcPts val="0"/>
              </a:spcAft>
              <a:buNone/>
            </a:pPr>
            <a:r>
              <a:rPr lang="en-GB"/>
              <a:t>Rate limit</a:t>
            </a:r>
            <a:endParaRPr/>
          </a:p>
          <a:p>
            <a:pPr indent="0" lvl="0" marL="0" rtl="0" algn="l">
              <a:spcBef>
                <a:spcPts val="0"/>
              </a:spcBef>
              <a:spcAft>
                <a:spcPts val="0"/>
              </a:spcAft>
              <a:buNone/>
            </a:pPr>
            <a:r>
              <a:rPr lang="en-GB"/>
              <a:t>Quota</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Dynamically attached</a:t>
            </a:r>
            <a:endParaRPr/>
          </a:p>
          <a:p>
            <a:pPr indent="0" lvl="0" marL="0" rtl="0" algn="l">
              <a:spcBef>
                <a:spcPts val="0"/>
              </a:spcBef>
              <a:spcAft>
                <a:spcPts val="0"/>
              </a:spcAft>
              <a:buNone/>
            </a:pPr>
            <a:r>
              <a:rPr lang="en-GB"/>
              <a:t>When a policy is saved on the Dashboard, it only takes around 10 seconds for it to take effect on the server.</a:t>
            </a:r>
            <a:endParaRPr/>
          </a:p>
          <a:p>
            <a:pPr indent="0" lvl="0" marL="0" rtl="0" algn="l">
              <a:spcBef>
                <a:spcPts val="0"/>
              </a:spcBef>
              <a:spcAft>
                <a:spcPts val="0"/>
              </a:spcAft>
              <a:buNone/>
            </a:pPr>
            <a:r>
              <a:rPr lang="en-GB"/>
              <a:t>Policies are attached to request sessions at the start of the Tyk processing pipeline, so updates are take effect immediately.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Partitioning</a:t>
            </a:r>
            <a:endParaRPr/>
          </a:p>
          <a:p>
            <a:pPr indent="0" lvl="0" marL="0" rtl="0" algn="l">
              <a:spcBef>
                <a:spcPts val="0"/>
              </a:spcBef>
              <a:spcAft>
                <a:spcPts val="0"/>
              </a:spcAft>
              <a:buNone/>
            </a:pPr>
            <a:r>
              <a:rPr lang="en-GB"/>
              <a:t>Once a policy is assigned to a token it will override the settings of that token. </a:t>
            </a:r>
            <a:endParaRPr/>
          </a:p>
          <a:p>
            <a:pPr indent="0" lvl="0" marL="0" rtl="0" algn="l">
              <a:spcBef>
                <a:spcPts val="0"/>
              </a:spcBef>
              <a:spcAft>
                <a:spcPts val="0"/>
              </a:spcAft>
              <a:buNone/>
            </a:pPr>
            <a:r>
              <a:rPr lang="en-GB"/>
              <a:t>However, with policy partitioning it is possible to override only a particular part of the token – the ACL, rate limit, or quota (or any combination of the three).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No effect on open APIs </a:t>
            </a:r>
            <a:endParaRPr/>
          </a:p>
          <a:p>
            <a:pPr indent="0" lvl="0" marL="0" rtl="0" algn="l">
              <a:spcBef>
                <a:spcPts val="0"/>
              </a:spcBef>
              <a:spcAft>
                <a:spcPts val="0"/>
              </a:spcAft>
              <a:buNone/>
            </a:pPr>
            <a:r>
              <a:rPr lang="en-GB"/>
              <a:t>Policies have no effect one APIs which have been configured to be open.</a:t>
            </a:r>
            <a:endParaRPr/>
          </a:p>
          <a:p>
            <a:pPr indent="0" lvl="0" marL="0" rtl="0" algn="l">
              <a:spcBef>
                <a:spcPts val="0"/>
              </a:spcBef>
              <a:spcAft>
                <a:spcPts val="0"/>
              </a:spcAft>
              <a:buNone/>
            </a:pPr>
            <a:r>
              <a:rPr lang="en-GB"/>
              <a:t>This is because the Tyk pipeline skips all authentication so does not process any tokens provided.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6a1223cf18_1_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g36a1223cf18_1_1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Now let’s dive one level deeper — into endpoint-level rate limiting.</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This type of rate limiting lets you control how often a specific path or function in your API can be accessed. So instead of limiting an entire API or a whole user, you can target just one endpoint.</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Why is this useful?</a:t>
            </a:r>
            <a:endParaRPr/>
          </a:p>
          <a:p>
            <a:pPr indent="0" lvl="0" marL="0" rtl="0" algn="l">
              <a:lnSpc>
                <a:spcPct val="117999"/>
              </a:lnSpc>
              <a:spcBef>
                <a:spcPts val="0"/>
              </a:spcBef>
              <a:spcAft>
                <a:spcPts val="0"/>
              </a:spcAft>
              <a:buSzPts val="1400"/>
              <a:buNone/>
            </a:pPr>
            <a:r>
              <a:rPr lang="en-GB"/>
              <a:t>It helps protect critical or sensitive operations from being overloaded — such as payment gateways, account updates, or resource-intensive database queries.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Here’s a simple example:</a:t>
            </a:r>
            <a:endParaRPr/>
          </a:p>
          <a:p>
            <a:pPr indent="0" lvl="0" marL="0" rtl="0" algn="l">
              <a:lnSpc>
                <a:spcPct val="117999"/>
              </a:lnSpc>
              <a:spcBef>
                <a:spcPts val="0"/>
              </a:spcBef>
              <a:spcAft>
                <a:spcPts val="0"/>
              </a:spcAft>
              <a:buSzPts val="1400"/>
              <a:buNone/>
            </a:pPr>
            <a:r>
              <a:rPr lang="en-GB"/>
              <a:t>You might allow a user to make 10 requests per minute to the /checkout/pay endpoint — even if they’re allowed more requests overall.</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In Tyk, you configure this under key-level policies, where you can define custom limits for individual endpoints.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a1223cf18_1_1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g36a1223cf18_1_1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Now let’s dive one level deeper — into endpoint-level rate limiting.</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This type of rate limiting lets you control how often a specific path or function in your API can be accessed. So instead of limiting an entire API or a whole user, you can target just one endpoint.</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Why is this useful?</a:t>
            </a:r>
            <a:endParaRPr/>
          </a:p>
          <a:p>
            <a:pPr indent="0" lvl="0" marL="0" rtl="0" algn="l">
              <a:lnSpc>
                <a:spcPct val="117999"/>
              </a:lnSpc>
              <a:spcBef>
                <a:spcPts val="0"/>
              </a:spcBef>
              <a:spcAft>
                <a:spcPts val="0"/>
              </a:spcAft>
              <a:buSzPts val="1400"/>
              <a:buNone/>
            </a:pPr>
            <a:r>
              <a:rPr lang="en-GB"/>
              <a:t>It helps protect critical or sensitive operations from being overloaded — such as payment gateways, account updates, or resource-intensive database queries.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Here’s a simple example:</a:t>
            </a:r>
            <a:endParaRPr/>
          </a:p>
          <a:p>
            <a:pPr indent="0" lvl="0" marL="0" rtl="0" algn="l">
              <a:lnSpc>
                <a:spcPct val="117999"/>
              </a:lnSpc>
              <a:spcBef>
                <a:spcPts val="0"/>
              </a:spcBef>
              <a:spcAft>
                <a:spcPts val="0"/>
              </a:spcAft>
              <a:buSzPts val="1400"/>
              <a:buNone/>
            </a:pPr>
            <a:r>
              <a:rPr lang="en-GB"/>
              <a:t>You might allow a user to make 10 requests per minute to the /checkout/pay endpoint — even if they’re allowed more requests overall.</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In Tyk, you configure this under key-level policies, where you can define custom limits for individual endpoints.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6a1223cf18_1_1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g36a1223cf18_1_1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Now let’s dive one level deeper — into endpoint-level rate limiting.</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This type of rate limiting lets you control how often a specific path or function in your API can be accessed. So instead of limiting an entire API or a whole user, you can target just one endpoint.</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Why is this useful?</a:t>
            </a:r>
            <a:endParaRPr/>
          </a:p>
          <a:p>
            <a:pPr indent="0" lvl="0" marL="0" rtl="0" algn="l">
              <a:lnSpc>
                <a:spcPct val="117999"/>
              </a:lnSpc>
              <a:spcBef>
                <a:spcPts val="0"/>
              </a:spcBef>
              <a:spcAft>
                <a:spcPts val="0"/>
              </a:spcAft>
              <a:buSzPts val="1400"/>
              <a:buNone/>
            </a:pPr>
            <a:r>
              <a:rPr lang="en-GB"/>
              <a:t>It helps protect critical or sensitive operations from being overloaded — such as payment gateways, account updates, or resource-intensive database queries.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Here’s a simple example:</a:t>
            </a:r>
            <a:endParaRPr/>
          </a:p>
          <a:p>
            <a:pPr indent="0" lvl="0" marL="0" rtl="0" algn="l">
              <a:lnSpc>
                <a:spcPct val="117999"/>
              </a:lnSpc>
              <a:spcBef>
                <a:spcPts val="0"/>
              </a:spcBef>
              <a:spcAft>
                <a:spcPts val="0"/>
              </a:spcAft>
              <a:buSzPts val="1400"/>
              <a:buNone/>
            </a:pPr>
            <a:r>
              <a:rPr lang="en-GB"/>
              <a:t>You might allow a user to make 10 requests per minute to the /checkout/pay endpoint — even if they’re allowed more requests overall.</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In Tyk, you configure this under key-level policies, where you can define custom limits for individual endpoints.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slide" showMasterSp="0">
  <p:cSld name="Light slide">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951731" y="1115566"/>
            <a:ext cx="5302200" cy="887700"/>
          </a:xfrm>
          <a:prstGeom prst="rect">
            <a:avLst/>
          </a:prstGeom>
          <a:noFill/>
          <a:ln>
            <a:noFill/>
          </a:ln>
        </p:spPr>
        <p:txBody>
          <a:bodyPr anchorCtr="0" anchor="t" bIns="0" lIns="0" spcFirstLastPara="1" rIns="0" wrap="square" tIns="0">
            <a:normAutofit/>
          </a:bodyPr>
          <a:lstStyle>
            <a:lvl1pPr indent="-419100" lvl="0" marL="457200" algn="l">
              <a:lnSpc>
                <a:spcPct val="100000"/>
              </a:lnSpc>
              <a:spcBef>
                <a:spcPts val="0"/>
              </a:spcBef>
              <a:spcAft>
                <a:spcPts val="0"/>
              </a:spcAft>
              <a:buClr>
                <a:srgbClr val="505071"/>
              </a:buClr>
              <a:buSzPts val="3000"/>
              <a:buFont typeface="Arial"/>
              <a:buChar char="●"/>
              <a:defRPr b="1" sz="3000">
                <a:solidFill>
                  <a:srgbClr val="505071"/>
                </a:solidFill>
                <a:latin typeface="Arial"/>
                <a:ea typeface="Arial"/>
                <a:cs typeface="Arial"/>
                <a:sym typeface="Arial"/>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52" name="Google Shape;52;p13"/>
          <p:cNvSpPr txBox="1"/>
          <p:nvPr>
            <p:ph idx="2" type="body"/>
          </p:nvPr>
        </p:nvSpPr>
        <p:spPr>
          <a:xfrm>
            <a:off x="934600" y="858391"/>
            <a:ext cx="2825700" cy="200100"/>
          </a:xfrm>
          <a:prstGeom prst="rect">
            <a:avLst/>
          </a:prstGeom>
          <a:noFill/>
          <a:ln>
            <a:noFill/>
          </a:ln>
        </p:spPr>
        <p:txBody>
          <a:bodyPr anchorCtr="0" anchor="t" bIns="19050" lIns="19050" spcFirstLastPara="1" rIns="19050" wrap="square" tIns="19050">
            <a:normAutofit/>
          </a:bodyPr>
          <a:lstStyle>
            <a:lvl1pPr indent="-273050" lvl="0" marL="457200" algn="l">
              <a:lnSpc>
                <a:spcPct val="10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pic>
        <p:nvPicPr>
          <p:cNvPr descr="logo_RGB-Transparent1-WEB.png" id="53" name="Google Shape;53;p13"/>
          <p:cNvPicPr preferRelativeResize="0"/>
          <p:nvPr/>
        </p:nvPicPr>
        <p:blipFill rotWithShape="1">
          <a:blip r:embed="rId2">
            <a:alphaModFix/>
          </a:blip>
          <a:srcRect b="40" l="0" r="0" t="40"/>
          <a:stretch/>
        </p:blipFill>
        <p:spPr>
          <a:xfrm>
            <a:off x="243186" y="4749582"/>
            <a:ext cx="279847" cy="142875"/>
          </a:xfrm>
          <a:prstGeom prst="rect">
            <a:avLst/>
          </a:prstGeom>
          <a:noFill/>
          <a:ln>
            <a:noFill/>
          </a:ln>
        </p:spPr>
      </p:pic>
      <p:sp>
        <p:nvSpPr>
          <p:cNvPr id="54" name="Google Shape;54;p13"/>
          <p:cNvSpPr txBox="1"/>
          <p:nvPr>
            <p:ph idx="3" type="body"/>
          </p:nvPr>
        </p:nvSpPr>
        <p:spPr>
          <a:xfrm>
            <a:off x="951731" y="2296477"/>
            <a:ext cx="3860100" cy="550500"/>
          </a:xfrm>
          <a:prstGeom prst="rect">
            <a:avLst/>
          </a:prstGeom>
          <a:noFill/>
          <a:ln>
            <a:noFill/>
          </a:ln>
        </p:spPr>
        <p:txBody>
          <a:bodyPr anchorCtr="0" anchor="t" bIns="0" lIns="0" spcFirstLastPara="1" rIns="0" wrap="square" tIns="0">
            <a:normAutofit/>
          </a:bodyPr>
          <a:lstStyle>
            <a:lvl1pPr indent="-273050" lvl="0" marL="457200" algn="l">
              <a:lnSpc>
                <a:spcPct val="12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55" name="Google Shape;55;p13"/>
          <p:cNvSpPr txBox="1"/>
          <p:nvPr>
            <p:ph idx="12" type="sldNum"/>
          </p:nvPr>
        </p:nvSpPr>
        <p:spPr>
          <a:xfrm>
            <a:off x="8543920" y="4773806"/>
            <a:ext cx="351600" cy="162000"/>
          </a:xfrm>
          <a:prstGeom prst="rect">
            <a:avLst/>
          </a:prstGeom>
          <a:noFill/>
          <a:ln>
            <a:noFill/>
          </a:ln>
        </p:spPr>
        <p:txBody>
          <a:bodyPr anchorCtr="0" anchor="b" bIns="0" lIns="0" spcFirstLastPara="1" rIns="0" wrap="square" tIns="0">
            <a:normAutofit/>
          </a:bodyPr>
          <a:lstStyle>
            <a:lvl1pPr indent="0" lvl="0"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1pPr>
            <a:lvl2pPr indent="0" lvl="1"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2pPr>
            <a:lvl3pPr indent="0" lvl="2"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3pPr>
            <a:lvl4pPr indent="0" lvl="3"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4pPr>
            <a:lvl5pPr indent="0" lvl="4"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5pPr>
            <a:lvl6pPr indent="0" lvl="5"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6pPr>
            <a:lvl7pPr indent="0" lvl="6"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7pPr>
            <a:lvl8pPr indent="0" lvl="7"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8pPr>
            <a:lvl9pPr indent="0" lvl="8"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Blank" showMasterSp="0">
  <p:cSld name="Light Blank">
    <p:bg>
      <p:bgPr>
        <a:solidFill>
          <a:srgbClr val="F7F9FF"/>
        </a:solidFill>
      </p:bgPr>
    </p:bg>
    <p:spTree>
      <p:nvGrpSpPr>
        <p:cNvPr id="56" name="Shape 56"/>
        <p:cNvGrpSpPr/>
        <p:nvPr/>
      </p:nvGrpSpPr>
      <p:grpSpPr>
        <a:xfrm>
          <a:off x="0" y="0"/>
          <a:ext cx="0" cy="0"/>
          <a:chOff x="0" y="0"/>
          <a:chExt cx="0" cy="0"/>
        </a:xfrm>
      </p:grpSpPr>
      <p:pic>
        <p:nvPicPr>
          <p:cNvPr descr="logo_RGB-Transparent1-WEB.png" id="57" name="Google Shape;57;p14"/>
          <p:cNvPicPr preferRelativeResize="0"/>
          <p:nvPr/>
        </p:nvPicPr>
        <p:blipFill rotWithShape="1">
          <a:blip r:embed="rId2">
            <a:alphaModFix/>
          </a:blip>
          <a:srcRect b="40" l="0" r="0" t="40"/>
          <a:stretch/>
        </p:blipFill>
        <p:spPr>
          <a:xfrm>
            <a:off x="243186" y="4749582"/>
            <a:ext cx="279847" cy="142875"/>
          </a:xfrm>
          <a:prstGeom prst="rect">
            <a:avLst/>
          </a:prstGeom>
          <a:noFill/>
          <a:ln>
            <a:noFill/>
          </a:ln>
        </p:spPr>
      </p:pic>
      <p:sp>
        <p:nvSpPr>
          <p:cNvPr id="58" name="Google Shape;58;p14"/>
          <p:cNvSpPr txBox="1"/>
          <p:nvPr>
            <p:ph idx="12" type="sldNum"/>
          </p:nvPr>
        </p:nvSpPr>
        <p:spPr>
          <a:xfrm>
            <a:off x="8739188" y="4762500"/>
            <a:ext cx="162600" cy="160200"/>
          </a:xfrm>
          <a:prstGeom prst="rect">
            <a:avLst/>
          </a:prstGeom>
          <a:noFill/>
          <a:ln>
            <a:noFill/>
          </a:ln>
          <a:effectLst>
            <a:outerShdw blurRad="381000" rotWithShape="0">
              <a:srgbClr val="000000">
                <a:alpha val="29409"/>
              </a:srgbClr>
            </a:outerShdw>
          </a:effectLst>
        </p:spPr>
        <p:txBody>
          <a:bodyPr anchorCtr="0" anchor="t" bIns="0" lIns="0" spcFirstLastPara="1" rIns="0" wrap="square" tIns="0">
            <a:noAutofit/>
          </a:bodyPr>
          <a:lstStyle>
            <a:lvl1pPr indent="0" lvl="0"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1pPr>
            <a:lvl2pPr indent="0" lvl="1"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2pPr>
            <a:lvl3pPr indent="0" lvl="2"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3pPr>
            <a:lvl4pPr indent="0" lvl="3"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4pPr>
            <a:lvl5pPr indent="0" lvl="4"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5pPr>
            <a:lvl6pPr indent="0" lvl="5"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6pPr>
            <a:lvl7pPr indent="0" lvl="6"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7pPr>
            <a:lvl8pPr indent="0" lvl="7"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8pPr>
            <a:lvl9pPr indent="0" lvl="8"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b="0" sz="900">
              <a:solidFill>
                <a:srgbClr val="7A79A1"/>
              </a:solidFill>
              <a:latin typeface="Open Sans"/>
              <a:ea typeface="Open Sans"/>
              <a:cs typeface="Open Sans"/>
              <a:sym typeface="Open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62" name="Shape 62"/>
        <p:cNvGrpSpPr/>
        <p:nvPr/>
      </p:nvGrpSpPr>
      <p:grpSpPr>
        <a:xfrm>
          <a:off x="0" y="0"/>
          <a:ext cx="0" cy="0"/>
          <a:chOff x="0" y="0"/>
          <a:chExt cx="0" cy="0"/>
        </a:xfrm>
      </p:grpSpPr>
      <p:sp>
        <p:nvSpPr>
          <p:cNvPr id="63" name="Google Shape;63;p15"/>
          <p:cNvSpPr txBox="1"/>
          <p:nvPr/>
        </p:nvSpPr>
        <p:spPr>
          <a:xfrm>
            <a:off x="376425" y="962175"/>
            <a:ext cx="8425200" cy="135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800">
                <a:solidFill>
                  <a:schemeClr val="lt1"/>
                </a:solidFill>
                <a:latin typeface="Inter"/>
                <a:ea typeface="Inter"/>
                <a:cs typeface="Inter"/>
                <a:sym typeface="Inter"/>
              </a:rPr>
              <a:t>API </a:t>
            </a:r>
            <a:r>
              <a:rPr b="1" lang="en-GB" sz="3800">
                <a:solidFill>
                  <a:schemeClr val="lt1"/>
                </a:solidFill>
                <a:latin typeface="Inter"/>
                <a:ea typeface="Inter"/>
                <a:cs typeface="Inter"/>
                <a:sym typeface="Inter"/>
              </a:rPr>
              <a:t>Security with Tyk:</a:t>
            </a:r>
            <a:endParaRPr b="1" sz="3800">
              <a:solidFill>
                <a:schemeClr val="lt1"/>
              </a:solidFill>
              <a:latin typeface="Inter"/>
              <a:ea typeface="Inter"/>
              <a:cs typeface="Inter"/>
              <a:sym typeface="Inter"/>
            </a:endParaRPr>
          </a:p>
          <a:p>
            <a:pPr indent="0" lvl="0" marL="0" rtl="0" algn="ctr">
              <a:spcBef>
                <a:spcPts val="0"/>
              </a:spcBef>
              <a:spcAft>
                <a:spcPts val="0"/>
              </a:spcAft>
              <a:buNone/>
            </a:pPr>
            <a:r>
              <a:rPr b="1" lang="en-GB" sz="3800">
                <a:solidFill>
                  <a:schemeClr val="lt1"/>
                </a:solidFill>
                <a:latin typeface="Inter"/>
                <a:ea typeface="Inter"/>
                <a:cs typeface="Inter"/>
                <a:sym typeface="Inter"/>
              </a:rPr>
              <a:t>Rate Limiting Algorithms</a:t>
            </a:r>
            <a:endParaRPr b="1" sz="3800">
              <a:solidFill>
                <a:schemeClr val="lt1"/>
              </a:solidFill>
              <a:latin typeface="Inter"/>
              <a:ea typeface="Inter"/>
              <a:cs typeface="Inter"/>
              <a:sym typeface="Inter"/>
            </a:endParaRPr>
          </a:p>
        </p:txBody>
      </p:sp>
      <p:sp>
        <p:nvSpPr>
          <p:cNvPr id="64" name="Google Shape;64;p15"/>
          <p:cNvSpPr txBox="1"/>
          <p:nvPr/>
        </p:nvSpPr>
        <p:spPr>
          <a:xfrm>
            <a:off x="1738950" y="2246175"/>
            <a:ext cx="5679300" cy="895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Tyk supports various types of algorithms. Discover how different algorithms help to smooth traffic spikes, enforce usage limits, and maintain API reliability under load.</a:t>
            </a:r>
            <a:endParaRPr>
              <a:solidFill>
                <a:schemeClr val="lt1"/>
              </a:solidFill>
              <a:latin typeface="Inter"/>
              <a:ea typeface="Inter"/>
              <a:cs typeface="Inter"/>
              <a:sym typeface="Inter"/>
            </a:endParaRPr>
          </a:p>
        </p:txBody>
      </p:sp>
      <p:sp>
        <p:nvSpPr>
          <p:cNvPr id="65" name="Google Shape;65;p1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 name="Google Shape;66;p15"/>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idx="4294967295" type="title"/>
          </p:nvPr>
        </p:nvSpPr>
        <p:spPr>
          <a:xfrm>
            <a:off x="352425" y="45225"/>
            <a:ext cx="8568300" cy="1140600"/>
          </a:xfrm>
          <a:prstGeom prst="rect">
            <a:avLst/>
          </a:prstGeom>
          <a:noFill/>
          <a:ln>
            <a:noFill/>
          </a:ln>
        </p:spPr>
        <p:txBody>
          <a:bodyPr anchorCtr="0" anchor="ctr" bIns="17150" lIns="17150" spcFirstLastPara="1" rIns="17150" wrap="square" tIns="17150">
            <a:noAutofit/>
          </a:bodyPr>
          <a:lstStyle/>
          <a:p>
            <a:pPr indent="0" lvl="0" marL="0" rtl="0" algn="l">
              <a:lnSpc>
                <a:spcPct val="100000"/>
              </a:lnSpc>
              <a:spcBef>
                <a:spcPts val="0"/>
              </a:spcBef>
              <a:spcAft>
                <a:spcPts val="0"/>
              </a:spcAft>
              <a:buSzPts val="3000"/>
              <a:buNone/>
            </a:pPr>
            <a:r>
              <a:rPr b="1" lang="en-GB" sz="3800">
                <a:solidFill>
                  <a:srgbClr val="5900CB"/>
                </a:solidFill>
                <a:latin typeface="Inter"/>
                <a:ea typeface="Inter"/>
                <a:cs typeface="Inter"/>
                <a:sym typeface="Inter"/>
              </a:rPr>
              <a:t>Why Multiple Algorithms?</a:t>
            </a:r>
            <a:endParaRPr b="1" sz="3800">
              <a:solidFill>
                <a:srgbClr val="5900CB"/>
              </a:solidFill>
              <a:latin typeface="Inter"/>
              <a:ea typeface="Inter"/>
              <a:cs typeface="Inter"/>
              <a:sym typeface="Inter"/>
            </a:endParaRPr>
          </a:p>
        </p:txBody>
      </p:sp>
      <p:sp>
        <p:nvSpPr>
          <p:cNvPr id="72" name="Google Shape;72;p16"/>
          <p:cNvSpPr txBox="1"/>
          <p:nvPr/>
        </p:nvSpPr>
        <p:spPr>
          <a:xfrm>
            <a:off x="813225" y="1236169"/>
            <a:ext cx="8411100" cy="2802900"/>
          </a:xfrm>
          <a:prstGeom prst="rect">
            <a:avLst/>
          </a:prstGeom>
          <a:noFill/>
          <a:ln>
            <a:noFill/>
          </a:ln>
        </p:spPr>
        <p:txBody>
          <a:bodyPr anchorCtr="0" anchor="t" bIns="34275" lIns="34275" spcFirstLastPara="1" rIns="34275" wrap="square" tIns="34275">
            <a:spAutoFit/>
          </a:bodyPr>
          <a:lstStyle/>
          <a:p>
            <a:pPr indent="0" lvl="0" marL="0" marR="0" rtl="0" algn="l">
              <a:lnSpc>
                <a:spcPct val="115000"/>
              </a:lnSpc>
              <a:spcBef>
                <a:spcPts val="0"/>
              </a:spcBef>
              <a:spcAft>
                <a:spcPts val="0"/>
              </a:spcAft>
              <a:buNone/>
            </a:pPr>
            <a:r>
              <a:rPr lang="en-GB" sz="1200">
                <a:solidFill>
                  <a:srgbClr val="505071"/>
                </a:solidFill>
                <a:latin typeface="Inter"/>
                <a:ea typeface="Inter"/>
                <a:cs typeface="Inter"/>
                <a:sym typeface="Inter"/>
              </a:rPr>
              <a:t>Not all API traffic are the same.</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rPr lang="en-GB" sz="1200">
                <a:solidFill>
                  <a:srgbClr val="505071"/>
                </a:solidFill>
                <a:latin typeface="Inter"/>
                <a:ea typeface="Inter"/>
                <a:cs typeface="Inter"/>
                <a:sym typeface="Inter"/>
              </a:rPr>
              <a:t>Examples:</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APIs get a </a:t>
            </a:r>
            <a:r>
              <a:rPr b="1" lang="en-GB" sz="1200">
                <a:solidFill>
                  <a:srgbClr val="505071"/>
                </a:solidFill>
                <a:latin typeface="Inter"/>
                <a:ea typeface="Inter"/>
                <a:cs typeface="Inter"/>
                <a:sym typeface="Inter"/>
              </a:rPr>
              <a:t>lot off</a:t>
            </a:r>
            <a:r>
              <a:rPr lang="en-GB" sz="1200">
                <a:solidFill>
                  <a:srgbClr val="505071"/>
                </a:solidFill>
                <a:latin typeface="Inter"/>
                <a:ea typeface="Inter"/>
                <a:cs typeface="Inter"/>
                <a:sym typeface="Inter"/>
              </a:rPr>
              <a:t> </a:t>
            </a:r>
            <a:r>
              <a:rPr b="1" lang="en-GB" sz="1200">
                <a:solidFill>
                  <a:srgbClr val="505071"/>
                </a:solidFill>
                <a:latin typeface="Inter"/>
                <a:ea typeface="Inter"/>
                <a:cs typeface="Inter"/>
                <a:sym typeface="Inter"/>
              </a:rPr>
              <a:t>traffic</a:t>
            </a:r>
            <a:endParaRPr b="1"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APIs get </a:t>
            </a:r>
            <a:r>
              <a:rPr b="1" lang="en-GB" sz="1200">
                <a:solidFill>
                  <a:srgbClr val="505071"/>
                </a:solidFill>
                <a:latin typeface="Inter"/>
                <a:ea typeface="Inter"/>
                <a:cs typeface="Inter"/>
                <a:sym typeface="Inter"/>
              </a:rPr>
              <a:t>bursts</a:t>
            </a:r>
            <a:endParaRPr b="1"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APIs need </a:t>
            </a:r>
            <a:r>
              <a:rPr b="1" lang="en-GB" sz="1200">
                <a:solidFill>
                  <a:srgbClr val="505071"/>
                </a:solidFill>
                <a:latin typeface="Inter"/>
                <a:ea typeface="Inter"/>
                <a:cs typeface="Inter"/>
                <a:sym typeface="Inter"/>
              </a:rPr>
              <a:t>fair sharing</a:t>
            </a:r>
            <a:endParaRPr b="1"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APIs need to </a:t>
            </a:r>
            <a:r>
              <a:rPr b="1" lang="en-GB" sz="1200">
                <a:solidFill>
                  <a:srgbClr val="505071"/>
                </a:solidFill>
                <a:latin typeface="Inter"/>
                <a:ea typeface="Inter"/>
                <a:cs typeface="Inter"/>
                <a:sym typeface="Inter"/>
              </a:rPr>
              <a:t>stay simple and light</a:t>
            </a:r>
            <a:endParaRPr b="1"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t/>
            </a:r>
            <a:endParaRPr b="1"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rPr lang="en-GB" sz="1200">
                <a:solidFill>
                  <a:srgbClr val="505071"/>
                </a:solidFill>
                <a:latin typeface="Inter"/>
                <a:ea typeface="Inter"/>
                <a:cs typeface="Inter"/>
                <a:sym typeface="Inter"/>
              </a:rPr>
              <a:t> Tyk offers various algorithms</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Distributed Rate Limited (DRL) - </a:t>
            </a:r>
            <a:r>
              <a:rPr b="1" lang="en-GB" sz="1200">
                <a:solidFill>
                  <a:srgbClr val="505071"/>
                </a:solidFill>
                <a:latin typeface="Inter"/>
                <a:ea typeface="Inter"/>
                <a:cs typeface="Inter"/>
                <a:sym typeface="Inter"/>
              </a:rPr>
              <a:t>Default</a:t>
            </a:r>
            <a:endParaRPr b="1"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Redis Rate Limiter (RRL) - sliding window log</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Fixed Window Rate Limiter - basic &amp; simple</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Redis Sentinel Rate Limiter - low latency + sliding log</a:t>
            </a:r>
            <a:endParaRPr sz="1200">
              <a:solidFill>
                <a:srgbClr val="505071"/>
              </a:solidFill>
              <a:latin typeface="Inter"/>
              <a:ea typeface="Inter"/>
              <a:cs typeface="Inter"/>
              <a:sym typeface="Inter"/>
            </a:endParaRPr>
          </a:p>
        </p:txBody>
      </p:sp>
      <p:sp>
        <p:nvSpPr>
          <p:cNvPr id="73" name="Google Shape;73;p1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 name="Google Shape;74;p16"/>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sp>
        <p:nvSpPr>
          <p:cNvPr id="79" name="Google Shape;79;p1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 name="Google Shape;80;p1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81" name="Google Shape;81;p17"/>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Types of Rate Limiting</a:t>
            </a:r>
            <a:endParaRPr b="1" sz="3800">
              <a:solidFill>
                <a:srgbClr val="03031C"/>
              </a:solidFill>
              <a:latin typeface="Inter"/>
              <a:ea typeface="Inter"/>
              <a:cs typeface="Inter"/>
              <a:sym typeface="Inter"/>
            </a:endParaRPr>
          </a:p>
        </p:txBody>
      </p:sp>
      <p:sp>
        <p:nvSpPr>
          <p:cNvPr id="82" name="Google Shape;82;p17"/>
          <p:cNvSpPr/>
          <p:nvPr/>
        </p:nvSpPr>
        <p:spPr>
          <a:xfrm>
            <a:off x="869950" y="1138249"/>
            <a:ext cx="7659600" cy="3130500"/>
          </a:xfrm>
          <a:prstGeom prst="rect">
            <a:avLst/>
          </a:prstGeom>
          <a:noFill/>
          <a:ln>
            <a:noFill/>
          </a:ln>
        </p:spPr>
        <p:txBody>
          <a:bodyPr anchorCtr="0" anchor="t" bIns="45700" lIns="45700" spcFirstLastPara="1" rIns="45700" wrap="square" tIns="45700">
            <a:noAutofit/>
          </a:bodyPr>
          <a:lstStyle/>
          <a:p>
            <a:pPr indent="0" lvl="0" marL="0" rtl="0" algn="l">
              <a:lnSpc>
                <a:spcPct val="150000"/>
              </a:lnSpc>
              <a:spcBef>
                <a:spcPts val="0"/>
              </a:spcBef>
              <a:spcAft>
                <a:spcPts val="0"/>
              </a:spcAft>
              <a:buNone/>
            </a:pPr>
            <a:r>
              <a:rPr lang="en-GB">
                <a:solidFill>
                  <a:schemeClr val="dk1"/>
                </a:solidFill>
                <a:latin typeface="Inter"/>
                <a:ea typeface="Inter"/>
                <a:cs typeface="Inter"/>
                <a:sym typeface="Inter"/>
              </a:rPr>
              <a:t>The Gateway implements the rate limiter, of which there are three types:</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Transactional</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Non-transactional</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Distributed</a:t>
            </a:r>
            <a:endParaRPr>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50000"/>
              </a:lnSpc>
              <a:spcBef>
                <a:spcPts val="0"/>
              </a:spcBef>
              <a:spcAft>
                <a:spcPts val="0"/>
              </a:spcAft>
              <a:buNone/>
            </a:pPr>
            <a:r>
              <a:rPr lang="en-GB">
                <a:solidFill>
                  <a:schemeClr val="dk1"/>
                </a:solidFill>
                <a:latin typeface="Inter"/>
                <a:ea typeface="Inter"/>
                <a:cs typeface="Inter"/>
                <a:sym typeface="Inter"/>
              </a:rPr>
              <a:t>Default choice is Distributed, but this can be overridden through tyk.conf:</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Set enable_redis_rolling_limiter to true for transactional</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In addition, set enable_non_transactional_rate_limiter to true for non-transactional</a:t>
            </a:r>
            <a:endParaRPr>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idx="4294967295" type="title"/>
          </p:nvPr>
        </p:nvSpPr>
        <p:spPr>
          <a:xfrm>
            <a:off x="352425" y="45225"/>
            <a:ext cx="8568300" cy="1140600"/>
          </a:xfrm>
          <a:prstGeom prst="rect">
            <a:avLst/>
          </a:prstGeom>
          <a:noFill/>
          <a:ln>
            <a:noFill/>
          </a:ln>
        </p:spPr>
        <p:txBody>
          <a:bodyPr anchorCtr="0" anchor="ctr" bIns="17150" lIns="17150" spcFirstLastPara="1" rIns="17150" wrap="square" tIns="17150">
            <a:noAutofit/>
          </a:bodyPr>
          <a:lstStyle/>
          <a:p>
            <a:pPr indent="0" lvl="0" marL="0" rtl="0" algn="l">
              <a:lnSpc>
                <a:spcPct val="100000"/>
              </a:lnSpc>
              <a:spcBef>
                <a:spcPts val="0"/>
              </a:spcBef>
              <a:spcAft>
                <a:spcPts val="0"/>
              </a:spcAft>
              <a:buSzPts val="3000"/>
              <a:buNone/>
            </a:pPr>
            <a:r>
              <a:rPr b="1" lang="en-GB" sz="3800">
                <a:solidFill>
                  <a:srgbClr val="5900CB"/>
                </a:solidFill>
                <a:latin typeface="Inter"/>
                <a:ea typeface="Inter"/>
                <a:cs typeface="Inter"/>
                <a:sym typeface="Inter"/>
              </a:rPr>
              <a:t>Distributed Rate Limiter (DRL)</a:t>
            </a:r>
            <a:endParaRPr b="1" sz="3800">
              <a:solidFill>
                <a:srgbClr val="5900CB"/>
              </a:solidFill>
              <a:latin typeface="Inter"/>
              <a:ea typeface="Inter"/>
              <a:cs typeface="Inter"/>
              <a:sym typeface="Inter"/>
            </a:endParaRPr>
          </a:p>
        </p:txBody>
      </p:sp>
      <p:sp>
        <p:nvSpPr>
          <p:cNvPr id="88" name="Google Shape;88;p18"/>
          <p:cNvSpPr txBox="1"/>
          <p:nvPr/>
        </p:nvSpPr>
        <p:spPr>
          <a:xfrm>
            <a:off x="584625" y="1312369"/>
            <a:ext cx="8411100" cy="2590500"/>
          </a:xfrm>
          <a:prstGeom prst="rect">
            <a:avLst/>
          </a:prstGeom>
          <a:noFill/>
          <a:ln>
            <a:noFill/>
          </a:ln>
        </p:spPr>
        <p:txBody>
          <a:bodyPr anchorCtr="0" anchor="t" bIns="34275" lIns="34275" spcFirstLastPara="1" rIns="34275" wrap="square" tIns="34275">
            <a:spAutoFit/>
          </a:bodyPr>
          <a:lstStyle/>
          <a:p>
            <a:pPr indent="0" lvl="0" marL="0" marR="0" rtl="0" algn="l">
              <a:lnSpc>
                <a:spcPct val="115000"/>
              </a:lnSpc>
              <a:spcBef>
                <a:spcPts val="0"/>
              </a:spcBef>
              <a:spcAft>
                <a:spcPts val="0"/>
              </a:spcAft>
              <a:buNone/>
            </a:pPr>
            <a:r>
              <a:rPr lang="en-GB" sz="1200">
                <a:solidFill>
                  <a:srgbClr val="505071"/>
                </a:solidFill>
                <a:latin typeface="Inter"/>
                <a:ea typeface="Inter"/>
                <a:cs typeface="Inter"/>
                <a:sym typeface="Inter"/>
              </a:rPr>
              <a:t>Think of this like having buckets on each gateway, and you divide the total allowed requests between them.</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Implemented using token bucket implementation that does not use redis</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Divides the configured rate limit between the number of gateway instances</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rPr lang="en-GB" sz="1200">
                <a:solidFill>
                  <a:srgbClr val="505071"/>
                </a:solidFill>
                <a:latin typeface="Inter"/>
                <a:ea typeface="Inter"/>
                <a:cs typeface="Inter"/>
                <a:sym typeface="Inter"/>
              </a:rPr>
              <a:t>Example:</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You set 100 requests per minute, and you have 2 gateways.</a:t>
            </a:r>
            <a:endParaRPr sz="1200">
              <a:solidFill>
                <a:srgbClr val="505071"/>
              </a:solidFill>
              <a:latin typeface="Inter"/>
              <a:ea typeface="Inter"/>
              <a:cs typeface="Inter"/>
              <a:sym typeface="Inter"/>
            </a:endParaRPr>
          </a:p>
          <a:p>
            <a:pPr indent="-304800" lvl="1" marL="9144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Each gateway gets 50 requests/minute.</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rPr lang="en-GB" sz="1200">
                <a:solidFill>
                  <a:srgbClr val="505071"/>
                </a:solidFill>
                <a:latin typeface="Inter"/>
                <a:ea typeface="Inter"/>
                <a:cs typeface="Inter"/>
                <a:sym typeface="Inter"/>
              </a:rPr>
              <a:t>If traffic is evenly distributed, this works great. But if one gateway gets more traffic than the other (due to sticky sessions or bad load balancing), it may rate limit early, even though the other gateway is idle.</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t/>
            </a:r>
            <a:endParaRPr sz="1200">
              <a:solidFill>
                <a:srgbClr val="505071"/>
              </a:solidFill>
              <a:latin typeface="Inter"/>
              <a:ea typeface="Inter"/>
              <a:cs typeface="Inter"/>
              <a:sym typeface="Inter"/>
            </a:endParaRPr>
          </a:p>
        </p:txBody>
      </p:sp>
      <p:sp>
        <p:nvSpPr>
          <p:cNvPr id="89" name="Google Shape;89;p1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 name="Google Shape;90;p18"/>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idx="4294967295" type="title"/>
          </p:nvPr>
        </p:nvSpPr>
        <p:spPr>
          <a:xfrm>
            <a:off x="352425" y="45225"/>
            <a:ext cx="8568300" cy="1140600"/>
          </a:xfrm>
          <a:prstGeom prst="rect">
            <a:avLst/>
          </a:prstGeom>
          <a:noFill/>
          <a:ln>
            <a:noFill/>
          </a:ln>
        </p:spPr>
        <p:txBody>
          <a:bodyPr anchorCtr="0" anchor="ctr" bIns="17150" lIns="17150" spcFirstLastPara="1" rIns="17150" wrap="square" tIns="17150">
            <a:noAutofit/>
          </a:bodyPr>
          <a:lstStyle/>
          <a:p>
            <a:pPr indent="0" lvl="0" marL="0" rtl="0" algn="l">
              <a:lnSpc>
                <a:spcPct val="100000"/>
              </a:lnSpc>
              <a:spcBef>
                <a:spcPts val="0"/>
              </a:spcBef>
              <a:spcAft>
                <a:spcPts val="0"/>
              </a:spcAft>
              <a:buSzPts val="3000"/>
              <a:buNone/>
            </a:pPr>
            <a:r>
              <a:rPr b="1" lang="en-GB" sz="3800">
                <a:solidFill>
                  <a:srgbClr val="5900CB"/>
                </a:solidFill>
                <a:latin typeface="Inter"/>
                <a:ea typeface="Inter"/>
                <a:cs typeface="Inter"/>
                <a:sym typeface="Inter"/>
              </a:rPr>
              <a:t>Redis Rate Limiter (RRL)</a:t>
            </a:r>
            <a:endParaRPr b="1" sz="3800">
              <a:solidFill>
                <a:srgbClr val="5900CB"/>
              </a:solidFill>
              <a:latin typeface="Inter"/>
              <a:ea typeface="Inter"/>
              <a:cs typeface="Inter"/>
              <a:sym typeface="Inter"/>
            </a:endParaRPr>
          </a:p>
        </p:txBody>
      </p:sp>
      <p:sp>
        <p:nvSpPr>
          <p:cNvPr id="96" name="Google Shape;96;p19"/>
          <p:cNvSpPr txBox="1"/>
          <p:nvPr/>
        </p:nvSpPr>
        <p:spPr>
          <a:xfrm>
            <a:off x="813225" y="1007569"/>
            <a:ext cx="8411100" cy="2590500"/>
          </a:xfrm>
          <a:prstGeom prst="rect">
            <a:avLst/>
          </a:prstGeom>
          <a:noFill/>
          <a:ln>
            <a:noFill/>
          </a:ln>
        </p:spPr>
        <p:txBody>
          <a:bodyPr anchorCtr="0" anchor="t" bIns="34275" lIns="34275" spcFirstLastPara="1" rIns="34275" wrap="square" tIns="34275">
            <a:spAutoFit/>
          </a:bodyPr>
          <a:lstStyle/>
          <a:p>
            <a:pPr indent="0" lvl="0" marL="0" marR="0" rtl="0" algn="l">
              <a:lnSpc>
                <a:spcPct val="115000"/>
              </a:lnSpc>
              <a:spcBef>
                <a:spcPts val="0"/>
              </a:spcBef>
              <a:spcAft>
                <a:spcPts val="0"/>
              </a:spcAft>
              <a:buNone/>
            </a:pPr>
            <a:r>
              <a:rPr lang="en-GB" sz="1200">
                <a:solidFill>
                  <a:srgbClr val="505071"/>
                </a:solidFill>
                <a:latin typeface="Inter"/>
                <a:ea typeface="Inter"/>
                <a:cs typeface="Inter"/>
                <a:sym typeface="Inter"/>
              </a:rPr>
              <a:t>This algorithm implements a sliding window log algorithm</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Spike arrest: </a:t>
            </a:r>
            <a:endParaRPr sz="1200">
              <a:solidFill>
                <a:srgbClr val="505071"/>
              </a:solidFill>
              <a:latin typeface="Inter"/>
              <a:ea typeface="Inter"/>
              <a:cs typeface="Inter"/>
              <a:sym typeface="Inter"/>
            </a:endParaRPr>
          </a:p>
          <a:p>
            <a:pPr indent="-304800" lvl="1" marL="9144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It won’t allow traffic again until the rate falls below the limit for a full window</a:t>
            </a:r>
            <a:endParaRPr sz="1200">
              <a:solidFill>
                <a:srgbClr val="505071"/>
              </a:solidFill>
              <a:latin typeface="Inter"/>
              <a:ea typeface="Inter"/>
              <a:cs typeface="Inter"/>
              <a:sym typeface="Inter"/>
            </a:endParaRPr>
          </a:p>
          <a:p>
            <a:pPr indent="-304800" lvl="0" marL="45720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Uses a lot of Redis CPU, since every request is logged.</a:t>
            </a:r>
            <a:endParaRPr sz="1200">
              <a:solidFill>
                <a:srgbClr val="505071"/>
              </a:solidFill>
              <a:latin typeface="Inter"/>
              <a:ea typeface="Inter"/>
              <a:cs typeface="Inter"/>
              <a:sym typeface="Inter"/>
            </a:endParaRPr>
          </a:p>
          <a:p>
            <a:pPr indent="-304800" lvl="0" marL="45720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Keeps a log of every request in Redis, If too many requests come in over the set time, it blocks them</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rPr lang="en-GB" sz="1200">
                <a:solidFill>
                  <a:srgbClr val="505071"/>
                </a:solidFill>
                <a:latin typeface="Inter"/>
                <a:ea typeface="Inter"/>
                <a:cs typeface="Inter"/>
                <a:sym typeface="Inter"/>
              </a:rPr>
              <a:t>Example:</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You set 3000 requests/min.</a:t>
            </a:r>
            <a:endParaRPr sz="1200">
              <a:solidFill>
                <a:srgbClr val="505071"/>
              </a:solidFill>
              <a:latin typeface="Inter"/>
              <a:ea typeface="Inter"/>
              <a:cs typeface="Inter"/>
              <a:sym typeface="Inter"/>
            </a:endParaRPr>
          </a:p>
          <a:p>
            <a:pPr indent="-304800" lvl="1" marL="9144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If a client sends 4000 requests in one minute, they get blocked.</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Even if they slow down, the system waits until the whole minute passes with fewer than 3000 requests before allowing access again.</a:t>
            </a:r>
            <a:endParaRPr sz="1200">
              <a:solidFill>
                <a:srgbClr val="505071"/>
              </a:solidFill>
              <a:latin typeface="Inter"/>
              <a:ea typeface="Inter"/>
              <a:cs typeface="Inter"/>
              <a:sym typeface="Inter"/>
            </a:endParaRPr>
          </a:p>
        </p:txBody>
      </p:sp>
      <p:sp>
        <p:nvSpPr>
          <p:cNvPr id="97" name="Google Shape;97;p1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8" name="Google Shape;98;p19"/>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idx="4294967295" type="title"/>
          </p:nvPr>
        </p:nvSpPr>
        <p:spPr>
          <a:xfrm>
            <a:off x="352425" y="45225"/>
            <a:ext cx="8568300" cy="1140600"/>
          </a:xfrm>
          <a:prstGeom prst="rect">
            <a:avLst/>
          </a:prstGeom>
          <a:noFill/>
          <a:ln>
            <a:noFill/>
          </a:ln>
        </p:spPr>
        <p:txBody>
          <a:bodyPr anchorCtr="0" anchor="ctr" bIns="17150" lIns="17150" spcFirstLastPara="1" rIns="17150" wrap="square" tIns="17150">
            <a:noAutofit/>
          </a:bodyPr>
          <a:lstStyle/>
          <a:p>
            <a:pPr indent="0" lvl="0" marL="0" rtl="0" algn="l">
              <a:lnSpc>
                <a:spcPct val="100000"/>
              </a:lnSpc>
              <a:spcBef>
                <a:spcPts val="0"/>
              </a:spcBef>
              <a:spcAft>
                <a:spcPts val="0"/>
              </a:spcAft>
              <a:buSzPts val="3000"/>
              <a:buNone/>
            </a:pPr>
            <a:r>
              <a:rPr b="1" lang="en-GB" sz="3800">
                <a:solidFill>
                  <a:srgbClr val="5900CB"/>
                </a:solidFill>
                <a:latin typeface="Inter"/>
                <a:ea typeface="Inter"/>
                <a:cs typeface="Inter"/>
                <a:sym typeface="Inter"/>
              </a:rPr>
              <a:t>Fixed Window Rate Limiter</a:t>
            </a:r>
            <a:endParaRPr b="1" sz="3800">
              <a:solidFill>
                <a:srgbClr val="5900CB"/>
              </a:solidFill>
              <a:latin typeface="Inter"/>
              <a:ea typeface="Inter"/>
              <a:cs typeface="Inter"/>
              <a:sym typeface="Inter"/>
            </a:endParaRPr>
          </a:p>
        </p:txBody>
      </p:sp>
      <p:sp>
        <p:nvSpPr>
          <p:cNvPr id="104" name="Google Shape;104;p20"/>
          <p:cNvSpPr txBox="1"/>
          <p:nvPr/>
        </p:nvSpPr>
        <p:spPr>
          <a:xfrm>
            <a:off x="813225" y="1159969"/>
            <a:ext cx="8411100" cy="2378100"/>
          </a:xfrm>
          <a:prstGeom prst="rect">
            <a:avLst/>
          </a:prstGeom>
          <a:noFill/>
          <a:ln>
            <a:noFill/>
          </a:ln>
        </p:spPr>
        <p:txBody>
          <a:bodyPr anchorCtr="0" anchor="t" bIns="34275" lIns="34275" spcFirstLastPara="1" rIns="34275" wrap="square" tIns="34275">
            <a:spAutoFit/>
          </a:bodyPr>
          <a:lstStyle/>
          <a:p>
            <a:pPr indent="0" lvl="0" marL="0" marR="0" rtl="0" algn="l">
              <a:lnSpc>
                <a:spcPct val="115000"/>
              </a:lnSpc>
              <a:spcBef>
                <a:spcPts val="0"/>
              </a:spcBef>
              <a:spcAft>
                <a:spcPts val="0"/>
              </a:spcAft>
              <a:buNone/>
            </a:pPr>
            <a:r>
              <a:rPr lang="en-GB" sz="1200">
                <a:solidFill>
                  <a:srgbClr val="505071"/>
                </a:solidFill>
                <a:latin typeface="Inter"/>
                <a:ea typeface="Inter"/>
                <a:cs typeface="Inter"/>
                <a:sym typeface="Inter"/>
              </a:rPr>
              <a:t>Fixed Window Rate Limiter will limit the number of requests in a particular window in time.</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rPr lang="en-GB" sz="1200">
                <a:solidFill>
                  <a:srgbClr val="505071"/>
                </a:solidFill>
                <a:latin typeface="Inter"/>
                <a:ea typeface="Inter"/>
                <a:cs typeface="Inter"/>
                <a:sym typeface="Inter"/>
              </a:rPr>
              <a:t>Once the defined rate limit has been reached, the requests will be blocked for the remainder of the configured window duration.</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Uses a simple counter per time window (e.g., per minute)</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Once the limit is hit, it blocks all further requests for that window</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t/>
            </a:r>
            <a:endParaRPr sz="1200">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rPr lang="en-GB" sz="1200">
                <a:solidFill>
                  <a:srgbClr val="505071"/>
                </a:solidFill>
                <a:latin typeface="Inter"/>
                <a:ea typeface="Inter"/>
                <a:cs typeface="Inter"/>
                <a:sym typeface="Inter"/>
              </a:rPr>
              <a:t>Example:</a:t>
            </a:r>
            <a:endParaRPr sz="1200">
              <a:solidFill>
                <a:srgbClr val="505071"/>
              </a:solidFill>
              <a:latin typeface="Inter"/>
              <a:ea typeface="Inter"/>
              <a:cs typeface="Inter"/>
              <a:sym typeface="Inter"/>
            </a:endParaRPr>
          </a:p>
          <a:p>
            <a:pPr indent="-304800" lvl="0" marL="4572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Set 100 requests per minute</a:t>
            </a:r>
            <a:endParaRPr sz="1200">
              <a:solidFill>
                <a:srgbClr val="505071"/>
              </a:solidFill>
              <a:latin typeface="Inter"/>
              <a:ea typeface="Inter"/>
              <a:cs typeface="Inter"/>
              <a:sym typeface="Inter"/>
            </a:endParaRPr>
          </a:p>
          <a:p>
            <a:pPr indent="-304800" lvl="1" marL="9144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Client sends 100 quickly → they're blocked for the rest of the minute</a:t>
            </a:r>
            <a:endParaRPr sz="1200">
              <a:solidFill>
                <a:srgbClr val="505071"/>
              </a:solidFill>
              <a:latin typeface="Inter"/>
              <a:ea typeface="Inter"/>
              <a:cs typeface="Inter"/>
              <a:sym typeface="Inter"/>
            </a:endParaRPr>
          </a:p>
          <a:p>
            <a:pPr indent="-304800" lvl="1" marL="914400" marR="0" rtl="0" algn="l">
              <a:lnSpc>
                <a:spcPct val="115000"/>
              </a:lnSpc>
              <a:spcBef>
                <a:spcPts val="0"/>
              </a:spcBef>
              <a:spcAft>
                <a:spcPts val="0"/>
              </a:spcAft>
              <a:buClr>
                <a:srgbClr val="505071"/>
              </a:buClr>
              <a:buSzPts val="1200"/>
              <a:buFont typeface="Inter"/>
              <a:buChar char="○"/>
            </a:pPr>
            <a:r>
              <a:rPr lang="en-GB" sz="1200">
                <a:solidFill>
                  <a:srgbClr val="505071"/>
                </a:solidFill>
                <a:latin typeface="Inter"/>
                <a:ea typeface="Inter"/>
                <a:cs typeface="Inter"/>
                <a:sym typeface="Inter"/>
              </a:rPr>
              <a:t>New minute starts → they can send 100 again</a:t>
            </a:r>
            <a:endParaRPr sz="1200">
              <a:solidFill>
                <a:srgbClr val="505071"/>
              </a:solidFill>
              <a:latin typeface="Inter"/>
              <a:ea typeface="Inter"/>
              <a:cs typeface="Inter"/>
              <a:sym typeface="Inter"/>
            </a:endParaRPr>
          </a:p>
        </p:txBody>
      </p:sp>
      <p:sp>
        <p:nvSpPr>
          <p:cNvPr id="105" name="Google Shape;105;p2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6" name="Google Shape;106;p20"/>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