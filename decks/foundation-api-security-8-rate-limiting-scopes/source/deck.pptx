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Inter"/>
      <p:regular r:id="rId10"/>
      <p:bold r:id="rId11"/>
      <p:italic r:id="rId12"/>
      <p:boldItalic r:id="rId13"/>
    </p:embeddedFont>
    <p:embeddedFont>
      <p:font typeface="Open Sans SemiBold"/>
      <p:regular r:id="rId14"/>
      <p:bold r:id="rId15"/>
      <p:italic r:id="rId16"/>
      <p:boldItalic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font" Target="fonts/Inter-bold.fntdata"/><Relationship Id="rId10" Type="http://schemas.openxmlformats.org/officeDocument/2006/relationships/font" Target="fonts/Inter-regular.fntdata"/><Relationship Id="rId21" Type="http://schemas.openxmlformats.org/officeDocument/2006/relationships/font" Target="fonts/OpenSans-boldItalic.fntdata"/><Relationship Id="rId13" Type="http://schemas.openxmlformats.org/officeDocument/2006/relationships/font" Target="fonts/Inter-boldItalic.fntdata"/><Relationship Id="rId12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SemiBold-bold.fntdata"/><Relationship Id="rId14" Type="http://schemas.openxmlformats.org/officeDocument/2006/relationships/font" Target="fonts/OpenSansSemiBold-regular.fntdata"/><Relationship Id="rId17" Type="http://schemas.openxmlformats.org/officeDocument/2006/relationships/font" Target="fonts/OpenSansSemiBold-boldItalic.fntdata"/><Relationship Id="rId16" Type="http://schemas.openxmlformats.org/officeDocument/2006/relationships/font" Target="fonts/OpenSansSemiBold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1dcb0dd5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1dcb0dd5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a13478705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g36a13478705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So first we’re talking about API level rate limiting.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This type of rate limiting is all about protecting the entire API — regardless of who the user is.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It sets a global limit on how much total traffic the API can handle in a given period. So whether you have one user or a hundred, they all share the same cap.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Why is this useful?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It protects your backend from being overwhelmed by too many requests at once.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Think of it like setting a maximum capacity for a restaurant. Once it's full, no more people can come in until others leave — regardless of whether they're VIPs or regulars.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a13478705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g36a13478705_0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While API-level rate limiting protects the entire API, key-level rate limiting focuses on individual users or API keys.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Think of it like giving each user their own quota — a personal limit on how many requests they can make.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This helps prevent any one user from hogging resources or overwhelming the system. You can think of it like giving each person a ticket that allows them, say, 100 entries per hour — once they use them all, they have to wait.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There are a few ways to apply key-level limits: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Global — This sets a total request limit across all APIs the user can access.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For example: “User123 can only make 500 requests per hour, no matter which APIs they call.”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Per API — This narrows it down to just one API.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Example: “User123 can only make 200 requests per hour to the Billing API.”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Per Endpoint — This goes even more granular. You can limit specific functions or paths.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Example: “User123 can only call /checkout/pay 10 times per minute.”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a13478705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g36a13478705_0_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Now let’s dive one level deeper — into endpoint-level rate limiting.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This type of rate limiting lets you control how often a specific path or function in your API can be accessed. So instead of limiting an entire API or a whole user, you can target just one endpoint.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Why is this useful?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It helps protect critical or sensitive operations from being overloaded — such as payment gateways, account updates, or resource-intensive database queries.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Here’s a simple example: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You might allow a user to make 10 requests per minute to the /checkout/pay endpoint — even if they’re allowed more requests overall.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In Tyk, you configure this under key-level policies, where you can define custom limits for individual endpoints.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53" name="Google Shape;53;p13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Blank" showMasterSp="0">
  <p:cSld name="Light Blank">
    <p:bg>
      <p:bgPr>
        <a:solidFill>
          <a:srgbClr val="F7F9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RGB-Transparent1-WEB.png" id="57" name="Google Shape;57;p14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739188" y="4762500"/>
            <a:ext cx="162600" cy="160200"/>
          </a:xfrm>
          <a:prstGeom prst="rect">
            <a:avLst/>
          </a:prstGeom>
          <a:noFill/>
          <a:ln>
            <a:noFill/>
          </a:ln>
          <a:effectLst>
            <a:outerShdw blurRad="381000" rotWithShape="0">
              <a:srgbClr val="000000">
                <a:alpha val="29409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9BA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00D9B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b="0" sz="900">
              <a:solidFill>
                <a:srgbClr val="7A79A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376425" y="962175"/>
            <a:ext cx="8425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API </a:t>
            </a: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Security with Tyk: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Rate Limiting Scopes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1738950" y="2246175"/>
            <a:ext cx="5679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Learn how to define how rate limits apply across different levels. Giving you fine-grained control to protect c</a:t>
            </a: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ritical</a:t>
            </a: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services and ensure reliable performance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4294967295" type="title"/>
          </p:nvPr>
        </p:nvSpPr>
        <p:spPr>
          <a:xfrm>
            <a:off x="352425" y="45225"/>
            <a:ext cx="8568300" cy="11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17150" spcFirstLastPara="1" rIns="17150" wrap="square" tIns="17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API-Level Rate Limiting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432225" y="1236169"/>
            <a:ext cx="8411100" cy="17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05071"/>
                </a:solidFill>
                <a:latin typeface="Inter"/>
                <a:ea typeface="Inter"/>
                <a:cs typeface="Inter"/>
                <a:sym typeface="Inter"/>
              </a:rPr>
              <a:t>Protecting the whole API</a:t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524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505071"/>
                </a:solidFill>
                <a:latin typeface="Inter"/>
                <a:ea typeface="Inter"/>
                <a:cs typeface="Inter"/>
                <a:sym typeface="Inter"/>
              </a:rPr>
              <a:t>This limits how much total traffic the entire API can handle — no matter who is making the requests</a:t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524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505071"/>
                </a:solidFill>
                <a:latin typeface="Inter"/>
                <a:ea typeface="Inter"/>
                <a:cs typeface="Inter"/>
                <a:sym typeface="Inter"/>
              </a:rPr>
              <a:t>It protects your backend system from getting too many requests at once (which could slow it down or crash it). Think of it like setting a maximum capacity for a restaurant — once it's full, no one else can enter.</a:t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1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4294967295" type="title"/>
          </p:nvPr>
        </p:nvSpPr>
        <p:spPr>
          <a:xfrm>
            <a:off x="352425" y="-107175"/>
            <a:ext cx="8568300" cy="11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17150" spcFirstLastPara="1" rIns="17150" wrap="square" tIns="17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Key-Level Rate Limiting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813225" y="855169"/>
            <a:ext cx="8411100" cy="3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05071"/>
                </a:solidFill>
                <a:latin typeface="Inter"/>
                <a:ea typeface="Inter"/>
                <a:cs typeface="Inter"/>
                <a:sym typeface="Inter"/>
              </a:rPr>
              <a:t>Controlling each user or app:</a:t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524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505071"/>
                </a:solidFill>
                <a:latin typeface="Inter"/>
                <a:ea typeface="Inter"/>
                <a:cs typeface="Inter"/>
                <a:sym typeface="Inter"/>
              </a:rPr>
              <a:t>Limits how many requests each individual user or API key can make</a:t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524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505071"/>
                </a:solidFill>
                <a:latin typeface="Inter"/>
                <a:ea typeface="Inter"/>
                <a:cs typeface="Inter"/>
                <a:sym typeface="Inter"/>
              </a:rPr>
              <a:t>Prevents any one user from hogging the system or abusing their access</a:t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05071"/>
                </a:solidFill>
                <a:latin typeface="Inter"/>
                <a:ea typeface="Inter"/>
                <a:cs typeface="Inter"/>
                <a:sym typeface="Inter"/>
              </a:rPr>
              <a:t>Types of Key-Level Limits:</a:t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524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1400"/>
              <a:buFont typeface="Inter"/>
              <a:buChar char="●"/>
            </a:pPr>
            <a:r>
              <a:rPr b="1" lang="en-GB">
                <a:solidFill>
                  <a:srgbClr val="505071"/>
                </a:solidFill>
                <a:latin typeface="Inter"/>
                <a:ea typeface="Inter"/>
                <a:cs typeface="Inter"/>
                <a:sym typeface="Inter"/>
              </a:rPr>
              <a:t>Global (all APIs)</a:t>
            </a:r>
            <a:r>
              <a:rPr lang="en-GB">
                <a:solidFill>
                  <a:srgbClr val="505071"/>
                </a:solidFill>
                <a:latin typeface="Inter"/>
                <a:ea typeface="Inter"/>
                <a:cs typeface="Inter"/>
                <a:sym typeface="Inter"/>
              </a:rPr>
              <a:t> – Limit how many total requests this user/API key can make across everything they have access to</a:t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77800" lvl="1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505071"/>
                </a:solidFill>
                <a:latin typeface="Inter"/>
                <a:ea typeface="Inter"/>
                <a:cs typeface="Inter"/>
                <a:sym typeface="Inter"/>
              </a:rPr>
              <a:t>Example: “User123 can only make 500 requests per hour total.”</a:t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524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1400"/>
              <a:buFont typeface="Inter"/>
              <a:buChar char="●"/>
            </a:pPr>
            <a:r>
              <a:rPr b="1" lang="en-GB">
                <a:solidFill>
                  <a:srgbClr val="505071"/>
                </a:solidFill>
                <a:latin typeface="Inter"/>
                <a:ea typeface="Inter"/>
                <a:cs typeface="Inter"/>
                <a:sym typeface="Inter"/>
              </a:rPr>
              <a:t>Per API</a:t>
            </a:r>
            <a:r>
              <a:rPr lang="en-GB">
                <a:solidFill>
                  <a:srgbClr val="505071"/>
                </a:solidFill>
                <a:latin typeface="Inter"/>
                <a:ea typeface="Inter"/>
                <a:cs typeface="Inter"/>
                <a:sym typeface="Inter"/>
              </a:rPr>
              <a:t> – Limit requests to one specific API</a:t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77800" lvl="1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505071"/>
                </a:solidFill>
                <a:latin typeface="Inter"/>
                <a:ea typeface="Inter"/>
                <a:cs typeface="Inter"/>
                <a:sym typeface="Inter"/>
              </a:rPr>
              <a:t>Example: “User123 can only make 200 requests per hour to the Billing API.”</a:t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52400" lvl="0" marL="177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1400"/>
              <a:buFont typeface="Inter"/>
              <a:buChar char="●"/>
            </a:pPr>
            <a:r>
              <a:rPr b="1" lang="en-GB">
                <a:solidFill>
                  <a:srgbClr val="505071"/>
                </a:solidFill>
                <a:latin typeface="Inter"/>
                <a:ea typeface="Inter"/>
                <a:cs typeface="Inter"/>
                <a:sym typeface="Inter"/>
              </a:rPr>
              <a:t>Per Endpoint</a:t>
            </a:r>
            <a:r>
              <a:rPr lang="en-GB">
                <a:solidFill>
                  <a:srgbClr val="505071"/>
                </a:solidFill>
                <a:latin typeface="Inter"/>
                <a:ea typeface="Inter"/>
                <a:cs typeface="Inter"/>
                <a:sym typeface="Inter"/>
              </a:rPr>
              <a:t> – Limit requests to a specific path or function</a:t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77800" lvl="1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505071"/>
                </a:solidFill>
                <a:latin typeface="Inter"/>
                <a:ea typeface="Inter"/>
                <a:cs typeface="Inter"/>
                <a:sym typeface="Inter"/>
              </a:rPr>
              <a:t>Example: “User123 can only call /checkout/pay 10 times per minute.”</a:t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4294967295" type="title"/>
          </p:nvPr>
        </p:nvSpPr>
        <p:spPr>
          <a:xfrm>
            <a:off x="352425" y="45225"/>
            <a:ext cx="8568300" cy="11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17150" spcFirstLastPara="1" rIns="17150" wrap="square" tIns="17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Endpoint-Level Rate Limiting 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508425" y="1236169"/>
            <a:ext cx="8411100" cy="17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05071"/>
                </a:solidFill>
                <a:latin typeface="Inter"/>
                <a:ea typeface="Inter"/>
                <a:cs typeface="Inter"/>
                <a:sym typeface="Inter"/>
              </a:rPr>
              <a:t>Endpoint-level rate limiting allows you to control how often a specific path or function in your API can be accessed </a:t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05071"/>
                </a:solidFill>
                <a:latin typeface="Inter"/>
                <a:ea typeface="Inter"/>
                <a:cs typeface="Inter"/>
                <a:sym typeface="Inter"/>
              </a:rPr>
              <a:t>Helps protect critical or sensitive operations from being overloaded or abused.</a:t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77800" lvl="1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505071"/>
                </a:solidFill>
                <a:latin typeface="Inter"/>
                <a:ea typeface="Inter"/>
                <a:cs typeface="Inter"/>
                <a:sym typeface="Inter"/>
              </a:rPr>
              <a:t>Example: User 123 can only make 10 req/min to checkout/pay</a:t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05071"/>
                </a:solidFill>
                <a:latin typeface="Inter"/>
                <a:ea typeface="Inter"/>
                <a:cs typeface="Inter"/>
                <a:sym typeface="Inter"/>
              </a:rPr>
              <a:t>In Tyk, you can set this under key-level policies by defining custom limits per endpoint.</a:t>
            </a:r>
            <a:endParaRPr>
              <a:solidFill>
                <a:srgbClr val="5050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