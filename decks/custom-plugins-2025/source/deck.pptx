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Inter Light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Open Sans SemiBold"/>
      <p:regular r:id="rId37"/>
      <p:bold r:id="rId38"/>
      <p:italic r:id="rId39"/>
      <p:boldItalic r:id="rId40"/>
    </p:embeddedFont>
    <p:embeddedFont>
      <p:font typeface="Roboto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454">
          <p15:clr>
            <a:srgbClr val="747775"/>
          </p15:clr>
        </p15:guide>
        <p15:guide id="3" pos="454">
          <p15:clr>
            <a:srgbClr val="747775"/>
          </p15:clr>
        </p15:guide>
        <p15:guide id="4" pos="5329">
          <p15:clr>
            <a:srgbClr val="747775"/>
          </p15:clr>
        </p15:guide>
        <p15:guide id="5" orient="horz" pos="27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4F6872-39F8-4AD4-BCB3-BEADD089F4A4}">
  <a:tblStyle styleId="{034F6872-39F8-4AD4-BCB3-BEADD089F4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454" orient="horz"/>
        <p:guide pos="454"/>
        <p:guide pos="5329"/>
        <p:guide pos="27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SemiBold-boldItalic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6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5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Light-bold.fntdata"/><Relationship Id="rId25" Type="http://schemas.openxmlformats.org/officeDocument/2006/relationships/font" Target="fonts/InterLight-regular.fntdata"/><Relationship Id="rId28" Type="http://schemas.openxmlformats.org/officeDocument/2006/relationships/font" Target="fonts/InterLight-boldItalic.fntdata"/><Relationship Id="rId27" Type="http://schemas.openxmlformats.org/officeDocument/2006/relationships/font" Target="fonts/InterLigh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schemas.openxmlformats.org/officeDocument/2006/relationships/font" Target="fonts/Inter-regular.fnt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-italic.fntdata"/><Relationship Id="rId12" Type="http://schemas.openxmlformats.org/officeDocument/2006/relationships/slide" Target="slides/slide6.xml"/><Relationship Id="rId34" Type="http://schemas.openxmlformats.org/officeDocument/2006/relationships/font" Target="fonts/Inter-bold.fntdata"/><Relationship Id="rId15" Type="http://schemas.openxmlformats.org/officeDocument/2006/relationships/slide" Target="slides/slide9.xml"/><Relationship Id="rId37" Type="http://schemas.openxmlformats.org/officeDocument/2006/relationships/font" Target="fonts/OpenSansSemiBold-regular.fntdata"/><Relationship Id="rId14" Type="http://schemas.openxmlformats.org/officeDocument/2006/relationships/slide" Target="slides/slide8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1.xml"/><Relationship Id="rId39" Type="http://schemas.openxmlformats.org/officeDocument/2006/relationships/font" Target="fonts/OpenSansSemiBold-italic.fntdata"/><Relationship Id="rId16" Type="http://schemas.openxmlformats.org/officeDocument/2006/relationships/slide" Target="slides/slide10.xml"/><Relationship Id="rId38" Type="http://schemas.openxmlformats.org/officeDocument/2006/relationships/font" Target="fonts/OpenSansSemiBol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53bf8e78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53bf8e78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7bd53b9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7bd53b9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7bd53b92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7bd53b92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Introduction: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"Custom Plugins in Tyk allow you to extend the functionality of the Gateway by writing your own code for tasks that go beyond standard middleware capabilities."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"You can use these plugins to add unique logic into specific parts of the API lifecycle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Key Concept: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"Tyk provides </a:t>
            </a:r>
            <a:r>
              <a:rPr b="1" lang="en-GB">
                <a:solidFill>
                  <a:schemeClr val="dk1"/>
                </a:solidFill>
              </a:rPr>
              <a:t>7 hooks</a:t>
            </a:r>
            <a:r>
              <a:rPr lang="en-GB">
                <a:solidFill>
                  <a:schemeClr val="dk1"/>
                </a:solidFill>
              </a:rPr>
              <a:t> that allow you to inject your custom code at various phases of a request lifecycle. This includes things like pre-processing a request, modifying the response, or handling authentication."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"Hooks determine </a:t>
            </a:r>
            <a:r>
              <a:rPr b="1" lang="en-GB">
                <a:solidFill>
                  <a:schemeClr val="dk1"/>
                </a:solidFill>
              </a:rPr>
              <a:t>when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how</a:t>
            </a:r>
            <a:r>
              <a:rPr lang="en-GB">
                <a:solidFill>
                  <a:schemeClr val="dk1"/>
                </a:solidFill>
              </a:rPr>
              <a:t> your plugin runs."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Example: Logging incoming requests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"Imagine you want to log the incoming request details before Tyk processes it. You can hook into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</a:t>
            </a:r>
            <a:r>
              <a:rPr lang="en-GB">
                <a:solidFill>
                  <a:schemeClr val="dk1"/>
                </a:solidFill>
              </a:rPr>
              <a:t> phase using a custom plugin."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Why Use Custom Plugins?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"By leveraging custom plugins, you can meet unique business requirements such as: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Custom rate limiting logic.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Integration with external services.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Real-time request and response transformation."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7bd53b92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7bd53b92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Overview of the Table: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"Here, I’ve summarized the key middleware hooks, their purpose, and common use cases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Hook Types and Execution Phases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Pre (Request) Hook – Request Plugin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"The Pre hook runs </a:t>
            </a:r>
            <a:r>
              <a:rPr b="1" lang="en-GB">
                <a:solidFill>
                  <a:schemeClr val="dk1"/>
                </a:solidFill>
              </a:rPr>
              <a:t>before the reverse proxy</a:t>
            </a:r>
            <a:r>
              <a:rPr lang="en-GB">
                <a:solidFill>
                  <a:schemeClr val="dk1"/>
                </a:solidFill>
              </a:rPr>
              <a:t> processes the request. This is the first middleware to execute."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"It’s commonly used for tasks like </a:t>
            </a:r>
            <a:r>
              <a:rPr b="1" lang="en-GB">
                <a:solidFill>
                  <a:schemeClr val="dk1"/>
                </a:solidFill>
              </a:rPr>
              <a:t>IP rate limiting</a:t>
            </a:r>
            <a:r>
              <a:rPr lang="en-GB">
                <a:solidFill>
                  <a:schemeClr val="dk1"/>
                </a:solidFill>
              </a:rPr>
              <a:t> or </a:t>
            </a:r>
            <a:r>
              <a:rPr b="1" lang="en-GB">
                <a:solidFill>
                  <a:schemeClr val="dk1"/>
                </a:solidFill>
              </a:rPr>
              <a:t>request enrichment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>
                <a:solidFill>
                  <a:schemeClr val="dk1"/>
                </a:solidFill>
              </a:rPr>
              <a:t>Example Use Case: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"You can use this hook to validate headers or inject metadata into the request before passing it further."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2"/>
            </a:pPr>
            <a:r>
              <a:rPr b="1" lang="en-GB">
                <a:solidFill>
                  <a:schemeClr val="dk1"/>
                </a:solidFill>
              </a:rPr>
              <a:t>Authentication Hook – Auth Plugin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"This hook runs before the reverse proxy as well, but it specifically handles </a:t>
            </a:r>
            <a:r>
              <a:rPr b="1" lang="en-GB">
                <a:solidFill>
                  <a:schemeClr val="dk1"/>
                </a:solidFill>
              </a:rPr>
              <a:t>authentication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"It replaces the default Tyk authentication flow, allowing you to integrate </a:t>
            </a:r>
            <a:r>
              <a:rPr b="1" lang="en-GB">
                <a:solidFill>
                  <a:schemeClr val="dk1"/>
                </a:solidFill>
              </a:rPr>
              <a:t>custom authentication logic</a:t>
            </a:r>
            <a:r>
              <a:rPr lang="en-GB">
                <a:solidFill>
                  <a:schemeClr val="dk1"/>
                </a:solidFill>
              </a:rPr>
              <a:t>, such as legacy auth systems."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>
                <a:solidFill>
                  <a:schemeClr val="dk1"/>
                </a:solidFill>
              </a:rPr>
              <a:t>Example Use Case: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"You can validate tokens against external identity providers or custom databases."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3"/>
            </a:pPr>
            <a:r>
              <a:rPr b="1" lang="en-GB">
                <a:solidFill>
                  <a:schemeClr val="dk1"/>
                </a:solidFill>
              </a:rPr>
              <a:t>Post-Auth (Request) Hook – Auth Plugin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"The Post-Auth hook runs </a:t>
            </a:r>
            <a:r>
              <a:rPr b="1" lang="en-GB">
                <a:solidFill>
                  <a:schemeClr val="dk1"/>
                </a:solidFill>
              </a:rPr>
              <a:t>after the authentication middleware</a:t>
            </a:r>
            <a:r>
              <a:rPr lang="en-GB">
                <a:solidFill>
                  <a:schemeClr val="dk1"/>
                </a:solidFill>
              </a:rPr>
              <a:t> but still before the reverse proxy."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"It allows you to add </a:t>
            </a:r>
            <a:r>
              <a:rPr b="1" lang="en-GB">
                <a:solidFill>
                  <a:schemeClr val="dk1"/>
                </a:solidFill>
              </a:rPr>
              <a:t>special custom authentication logic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>
                <a:solidFill>
                  <a:schemeClr val="dk1"/>
                </a:solidFill>
              </a:rPr>
              <a:t>Example Use Case: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"You can use it to implement additional authorization checks, like verifying user roles or permissions."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4"/>
            </a:pPr>
            <a:r>
              <a:rPr b="1" lang="en-GB">
                <a:solidFill>
                  <a:schemeClr val="dk1"/>
                </a:solidFill>
              </a:rPr>
              <a:t>Post (Request) Hook – Request Plugin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"The Post hook is executed </a:t>
            </a:r>
            <a:r>
              <a:rPr b="1" lang="en-GB">
                <a:solidFill>
                  <a:schemeClr val="dk1"/>
                </a:solidFill>
              </a:rPr>
              <a:t>at the final request phase</a:t>
            </a:r>
            <a:r>
              <a:rPr lang="en-GB">
                <a:solidFill>
                  <a:schemeClr val="dk1"/>
                </a:solidFill>
              </a:rPr>
              <a:t> before the reverse proxy sends the request to the upstream API."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"It’s ideal for modifying the request, such as adding headers or transforming payloads."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>
                <a:solidFill>
                  <a:schemeClr val="dk1"/>
                </a:solidFill>
              </a:rPr>
              <a:t>Example Use Case: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"You can dynamically append headers, like an API key or a custom tracking ID."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5"/>
            </a:pPr>
            <a:r>
              <a:rPr b="1" lang="en-GB">
                <a:solidFill>
                  <a:schemeClr val="dk1"/>
                </a:solidFill>
              </a:rPr>
              <a:t>Response Hook – Response Plugin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"The Response hook runs </a:t>
            </a:r>
            <a:r>
              <a:rPr b="1" lang="en-GB">
                <a:solidFill>
                  <a:schemeClr val="dk1"/>
                </a:solidFill>
              </a:rPr>
              <a:t>after the upstream API</a:t>
            </a:r>
            <a:r>
              <a:rPr lang="en-GB">
                <a:solidFill>
                  <a:schemeClr val="dk1"/>
                </a:solidFill>
              </a:rPr>
              <a:t> sends the response back to Tyk."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"It allows you to modify the response </a:t>
            </a:r>
            <a:r>
              <a:rPr b="1" lang="en-GB">
                <a:solidFill>
                  <a:schemeClr val="dk1"/>
                </a:solidFill>
              </a:rPr>
              <a:t>before it reaches the client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>
                <a:solidFill>
                  <a:schemeClr val="dk1"/>
                </a:solidFill>
              </a:rPr>
              <a:t>Example Use Case: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"You can obfuscate sensitive data, format JSON responses, or inject additional headers like caching policies."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6"/>
            </a:pPr>
            <a:r>
              <a:rPr b="1" lang="en-GB">
                <a:solidFill>
                  <a:schemeClr val="dk1"/>
                </a:solidFill>
              </a:rPr>
              <a:t>Analytics Hook – Analytics Plugin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"The Analytics hook operates at the </a:t>
            </a:r>
            <a:r>
              <a:rPr b="1" lang="en-GB">
                <a:solidFill>
                  <a:schemeClr val="dk1"/>
                </a:solidFill>
              </a:rPr>
              <a:t>final phase</a:t>
            </a:r>
            <a:r>
              <a:rPr lang="en-GB">
                <a:solidFill>
                  <a:schemeClr val="dk1"/>
                </a:solidFill>
              </a:rPr>
              <a:t> of request or response processing."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"It’s specifically used for </a:t>
            </a:r>
            <a:r>
              <a:rPr b="1" lang="en-GB">
                <a:solidFill>
                  <a:schemeClr val="dk1"/>
                </a:solidFill>
              </a:rPr>
              <a:t>logging and analytics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>
                <a:solidFill>
                  <a:schemeClr val="dk1"/>
                </a:solidFill>
              </a:rPr>
              <a:t>Example Use Case: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"You can obfuscate sensitive data in logs, ensuring compliance with data protection regulations."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Key Takeaways: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"By using these hooks, you gain full control over the request and response lifecycle."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"This is particularly useful for scenarios like </a:t>
            </a:r>
            <a:r>
              <a:rPr b="1" lang="en-GB">
                <a:solidFill>
                  <a:schemeClr val="dk1"/>
                </a:solidFill>
              </a:rPr>
              <a:t>custom authentication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rate limiting</a:t>
            </a:r>
            <a:r>
              <a:rPr lang="en-GB">
                <a:solidFill>
                  <a:schemeClr val="dk1"/>
                </a:solidFill>
              </a:rPr>
              <a:t>, or </a:t>
            </a:r>
            <a:r>
              <a:rPr b="1" lang="en-GB">
                <a:solidFill>
                  <a:schemeClr val="dk1"/>
                </a:solidFill>
              </a:rPr>
              <a:t>response transformation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"Each hook has its own specific execution phase, allowing you to optimize your middleware logic effectively."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7bd53b92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7bd53b92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Go Plugins: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"First, we have </a:t>
            </a:r>
            <a:r>
              <a:rPr b="1" lang="en-GB">
                <a:solidFill>
                  <a:schemeClr val="dk1"/>
                </a:solidFill>
              </a:rPr>
              <a:t>Go Plugins</a:t>
            </a:r>
            <a:r>
              <a:rPr lang="en-GB">
                <a:solidFill>
                  <a:schemeClr val="dk1"/>
                </a:solidFill>
              </a:rPr>
              <a:t>. These are native plugins written in the </a:t>
            </a:r>
            <a:r>
              <a:rPr b="1" lang="en-GB">
                <a:solidFill>
                  <a:schemeClr val="dk1"/>
                </a:solidFill>
              </a:rPr>
              <a:t>Go programming language</a:t>
            </a:r>
            <a:r>
              <a:rPr lang="en-GB">
                <a:solidFill>
                  <a:schemeClr val="dk1"/>
                </a:solidFill>
              </a:rPr>
              <a:t>, the same language that Tyk Gateway is built on."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"Because Go Plugins run natively within the Tyk Gateway, they deliver </a:t>
            </a:r>
            <a:r>
              <a:rPr b="1" lang="en-GB">
                <a:solidFill>
                  <a:schemeClr val="dk1"/>
                </a:solidFill>
              </a:rPr>
              <a:t>high performance</a:t>
            </a:r>
            <a:r>
              <a:rPr lang="en-GB">
                <a:solidFill>
                  <a:schemeClr val="dk1"/>
                </a:solidFill>
              </a:rPr>
              <a:t> and are ideal for production environments."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>
                <a:solidFill>
                  <a:schemeClr val="dk1"/>
                </a:solidFill>
              </a:rPr>
              <a:t>Example Use Case: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"You could implement a plugin to validate API requests or enhance rate-limiting logic using Go."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2"/>
            </a:pPr>
            <a:r>
              <a:rPr b="1" lang="en-GB">
                <a:solidFill>
                  <a:schemeClr val="dk1"/>
                </a:solidFill>
              </a:rPr>
              <a:t>gRPC Plugins: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"Next, we have </a:t>
            </a:r>
            <a:r>
              <a:rPr b="1" lang="en-GB">
                <a:solidFill>
                  <a:schemeClr val="dk1"/>
                </a:solidFill>
              </a:rPr>
              <a:t>gRPC Plugins</a:t>
            </a:r>
            <a:r>
              <a:rPr lang="en-GB">
                <a:solidFill>
                  <a:schemeClr val="dk1"/>
                </a:solidFill>
              </a:rPr>
              <a:t>. These plugins run on a </a:t>
            </a:r>
            <a:r>
              <a:rPr b="1" lang="en-GB">
                <a:solidFill>
                  <a:schemeClr val="dk1"/>
                </a:solidFill>
              </a:rPr>
              <a:t>gRPC server</a:t>
            </a:r>
            <a:r>
              <a:rPr lang="en-GB">
                <a:solidFill>
                  <a:schemeClr val="dk1"/>
                </a:solidFill>
              </a:rPr>
              <a:t>, which allows you to write plugins in </a:t>
            </a:r>
            <a:r>
              <a:rPr b="1" lang="en-GB">
                <a:solidFill>
                  <a:schemeClr val="dk1"/>
                </a:solidFill>
              </a:rPr>
              <a:t>any gRPC-compatible programming language</a:t>
            </a:r>
            <a:r>
              <a:rPr lang="en-GB">
                <a:solidFill>
                  <a:schemeClr val="dk1"/>
                </a:solidFill>
              </a:rPr>
              <a:t> like Python, Java, or Node.js."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"gRPC Plugins are executed remotely, making them ideal when you want to decouple the plugin logic from the Tyk Gateway."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>
                <a:solidFill>
                  <a:schemeClr val="dk1"/>
                </a:solidFill>
              </a:rPr>
              <a:t>Example Use Case: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"You could use a gRPC plugin to call an external service for advanced request validation."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3"/>
            </a:pPr>
            <a:r>
              <a:rPr b="1" lang="en-GB">
                <a:solidFill>
                  <a:schemeClr val="dk1"/>
                </a:solidFill>
              </a:rPr>
              <a:t>JavaScript Plugins (JSVM):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"Tyk also supports </a:t>
            </a:r>
            <a:r>
              <a:rPr b="1" lang="en-GB">
                <a:solidFill>
                  <a:schemeClr val="dk1"/>
                </a:solidFill>
              </a:rPr>
              <a:t>JavaScript Plugins</a:t>
            </a:r>
            <a:r>
              <a:rPr lang="en-GB">
                <a:solidFill>
                  <a:schemeClr val="dk1"/>
                </a:solidFill>
              </a:rPr>
              <a:t> that run within a </a:t>
            </a:r>
            <a:r>
              <a:rPr b="1" lang="en-GB">
                <a:solidFill>
                  <a:schemeClr val="dk1"/>
                </a:solidFill>
              </a:rPr>
              <a:t>JavaScript Virtual Machine (JSVM)</a:t>
            </a:r>
            <a:r>
              <a:rPr lang="en-GB">
                <a:solidFill>
                  <a:schemeClr val="dk1"/>
                </a:solidFill>
              </a:rPr>
              <a:t>, compatible with ECMAScript 5."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"These plugins are lightweight and easier to write, making them perfect for quick customizations or prototyping."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>
                <a:solidFill>
                  <a:schemeClr val="dk1"/>
                </a:solidFill>
              </a:rPr>
              <a:t>Example Use Case: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"You could add custom headers, transform payloads, or perform a quick check on incoming requests using JavaScript."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4"/>
            </a:pPr>
            <a:r>
              <a:rPr b="1" lang="en-GB">
                <a:solidFill>
                  <a:schemeClr val="dk1"/>
                </a:solidFill>
              </a:rPr>
              <a:t>Python Plugins: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"Finally, we have </a:t>
            </a:r>
            <a:r>
              <a:rPr b="1" lang="en-GB">
                <a:solidFill>
                  <a:schemeClr val="dk1"/>
                </a:solidFill>
              </a:rPr>
              <a:t>Python Plugins</a:t>
            </a:r>
            <a:r>
              <a:rPr lang="en-GB">
                <a:solidFill>
                  <a:schemeClr val="dk1"/>
                </a:solidFill>
              </a:rPr>
              <a:t>, which are embedded directly into the Tyk Gateway. This allows you to execute Python code </a:t>
            </a:r>
            <a:r>
              <a:rPr b="1" lang="en-GB">
                <a:solidFill>
                  <a:schemeClr val="dk1"/>
                </a:solidFill>
              </a:rPr>
              <a:t>within the same process</a:t>
            </a:r>
            <a:r>
              <a:rPr lang="en-GB">
                <a:solidFill>
                  <a:schemeClr val="dk1"/>
                </a:solidFill>
              </a:rPr>
              <a:t> as the gateway."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"Python plugins are a great choice for teams already familiar with Python and looking to quickly extend Tyk’s behavior."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>
                <a:solidFill>
                  <a:schemeClr val="dk1"/>
                </a:solidFill>
              </a:rPr>
              <a:t>Example Use Case: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"You can implement logic for advanced logging, API transformations, or even dynamic authentication."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Key Takeaways: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"Each plugin type has its advantages depending on your use case and development preferences."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"Go Plugins provide the best performance, while gRPC offers flexibility across languages. JavaScript and Python plugins are ideal for lightweight tasks and quick iterations."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"Choose the plugin type that aligns with your team’s expertise and performance needs."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7bd53b92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7bd53b92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"Let’s take a look at how a typical request flows through the Tyk Gateway and how plugins come into play to process the request."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Step-by-Step Explanation: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Step 1: The Client Sends a Request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"The process starts with a client sending an HTTP request to an API managed by the Tyk Gateway."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"This could be any type of client—an application, a web browser, or even a mobile app."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Step 2: Tyk Gateway Processes the Request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"The Tyk Gateway acts as the entry point for all incoming requests."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"It first evaluates the API request and checks for any configurations applied to that API, like authentication, rate limiting, or access policies."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Step 3: Plugins Execution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"Once the request reaches the gateway, any configured </a:t>
            </a:r>
            <a:r>
              <a:rPr b="1" lang="en-GB">
                <a:solidFill>
                  <a:schemeClr val="dk1"/>
                </a:solidFill>
              </a:rPr>
              <a:t>custom plugins</a:t>
            </a:r>
            <a:r>
              <a:rPr lang="en-GB">
                <a:solidFill>
                  <a:schemeClr val="dk1"/>
                </a:solidFill>
              </a:rPr>
              <a:t> are executed."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"Plugins can perform tasks such as:"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-GB">
                <a:solidFill>
                  <a:schemeClr val="dk1"/>
                </a:solidFill>
              </a:rPr>
              <a:t>Custom Authentication:</a:t>
            </a:r>
            <a:r>
              <a:rPr lang="en-GB">
                <a:solidFill>
                  <a:schemeClr val="dk1"/>
                </a:solidFill>
              </a:rPr>
              <a:t> Validate tokens or credentials.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-GB">
                <a:solidFill>
                  <a:schemeClr val="dk1"/>
                </a:solidFill>
              </a:rPr>
              <a:t>Data Transformation:</a:t>
            </a:r>
            <a:r>
              <a:rPr lang="en-GB">
                <a:solidFill>
                  <a:schemeClr val="dk1"/>
                </a:solidFill>
              </a:rPr>
              <a:t> Modify request payloads or headers.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-GB">
                <a:solidFill>
                  <a:schemeClr val="dk1"/>
                </a:solidFill>
              </a:rPr>
              <a:t>Rate Limiting Enforcement:</a:t>
            </a:r>
            <a:r>
              <a:rPr lang="en-GB">
                <a:solidFill>
                  <a:schemeClr val="dk1"/>
                </a:solidFill>
              </a:rPr>
              <a:t> Check if a request exceeds the rate limits."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"Plugins are essential for extending Tyk's capabilities with custom logic tailored to your needs."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Step 4: Forwarding to Upstream Services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"Once the plugins have processed the request, Tyk forwards the modified request to the </a:t>
            </a:r>
            <a:r>
              <a:rPr b="1" lang="en-GB">
                <a:solidFill>
                  <a:schemeClr val="dk1"/>
                </a:solidFill>
              </a:rPr>
              <a:t>upstream service</a:t>
            </a:r>
            <a:r>
              <a:rPr lang="en-GB">
                <a:solidFill>
                  <a:schemeClr val="dk1"/>
                </a:solidFill>
              </a:rPr>
              <a:t> or backend API."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"At this point, the request is fully ready and contains any transformations or additional checks performed by the plugins."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Step 5: Response Back to the Client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"The upstream service processes the request and returns a response to the Tyk Gateway."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"Tyk Gateway forwards the upstream response back to the client, completing the request-response cycle."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Key Takeaway: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"Tyk acts as a </a:t>
            </a:r>
            <a:r>
              <a:rPr b="1" lang="en-GB">
                <a:solidFill>
                  <a:schemeClr val="dk1"/>
                </a:solidFill>
              </a:rPr>
              <a:t>smart intermediary</a:t>
            </a:r>
            <a:r>
              <a:rPr lang="en-GB">
                <a:solidFill>
                  <a:schemeClr val="dk1"/>
                </a:solidFill>
              </a:rPr>
              <a:t>, not just forwarding requests but also performing critical operations using plugins."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"This modular approach ensures that you can handle complex use cases like authentication, rate limiting, and data manipulation if needed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7bd53b92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7bd53b92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Introduction: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"Tyk provides flexibility with a few  deployment options: Local Plugins, Plugin Bundles, and gRPC Plugins."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1. Local Plugins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"Local Plugins are the simplest option."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"Here, the plugin source code and its configuration are stored directly on the same file system as the Tyk Gateway."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"Configuration is defined within the </a:t>
            </a:r>
            <a:r>
              <a:rPr b="1" lang="en-GB">
                <a:solidFill>
                  <a:schemeClr val="dk1"/>
                </a:solidFill>
              </a:rPr>
              <a:t>API Definition</a:t>
            </a:r>
            <a:r>
              <a:rPr lang="en-GB">
                <a:solidFill>
                  <a:schemeClr val="dk1"/>
                </a:solidFill>
              </a:rPr>
              <a:t>, and the plugins execute locally."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"This is ideal for environments where the gateway and plugins reside on the same machine."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2. Plugin Bundles (Remote)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"In the second option, Plugin Bundles allow you to bundle your plugin source code and configuration into a zip file."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"These bundles are then uploaded to a </a:t>
            </a:r>
            <a:r>
              <a:rPr b="1" lang="en-GB">
                <a:solidFill>
                  <a:schemeClr val="dk1"/>
                </a:solidFill>
              </a:rPr>
              <a:t>remote web server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"The Tyk Gateway will download, extract, cache, and execute these plugins as part of the API lifecycle."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"This approach works well for distributed systems or when plugins are frequently updated."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Example Use Case: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"For production setups where plugins are managed centrally and shared across multiple Tyk Gateways."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3. gRPC Plugins (Remote)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"Lastly, Tyk supports gRPC-based remote plugins."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"With gRPC Plugins, your custom plugins are hosted on a </a:t>
            </a:r>
            <a:r>
              <a:rPr b="1" lang="en-GB">
                <a:solidFill>
                  <a:schemeClr val="dk1"/>
                </a:solidFill>
              </a:rPr>
              <a:t>remote server</a:t>
            </a:r>
            <a:r>
              <a:rPr lang="en-GB">
                <a:solidFill>
                  <a:schemeClr val="dk1"/>
                </a:solidFill>
              </a:rPr>
              <a:t> and executed via gRPC."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"The Tyk Gateway sends requests to the gRPC server during specific points in the API request/response lifecycle."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"This allows you to use </a:t>
            </a:r>
            <a:r>
              <a:rPr b="1" lang="en-GB">
                <a:solidFill>
                  <a:schemeClr val="dk1"/>
                </a:solidFill>
              </a:rPr>
              <a:t>any programming language</a:t>
            </a:r>
            <a:r>
              <a:rPr lang="en-GB">
                <a:solidFill>
                  <a:schemeClr val="dk1"/>
                </a:solidFill>
              </a:rPr>
              <a:t> to develop your plugins, not just Go or JavaScript."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Example Use Case: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"For enterprises that need high performance, remote plugin execution, or use other languages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Key Takeaways: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"To summarize, </a:t>
            </a:r>
            <a:r>
              <a:rPr b="1" lang="en-GB">
                <a:solidFill>
                  <a:schemeClr val="dk1"/>
                </a:solidFill>
              </a:rPr>
              <a:t>Local Plugins</a:t>
            </a:r>
            <a:r>
              <a:rPr lang="en-GB">
                <a:solidFill>
                  <a:schemeClr val="dk1"/>
                </a:solidFill>
              </a:rPr>
              <a:t> are simple and fast but tied to the Gateway's file system."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</a:t>
            </a:r>
            <a:r>
              <a:rPr b="1" lang="en-GB">
                <a:solidFill>
                  <a:schemeClr val="dk1"/>
                </a:solidFill>
              </a:rPr>
              <a:t>Plugin Bundles</a:t>
            </a:r>
            <a:r>
              <a:rPr lang="en-GB">
                <a:solidFill>
                  <a:schemeClr val="dk1"/>
                </a:solidFill>
              </a:rPr>
              <a:t> offer central management for shared plugins across multiple gateways."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</a:t>
            </a:r>
            <a:r>
              <a:rPr b="1" lang="en-GB">
                <a:solidFill>
                  <a:schemeClr val="dk1"/>
                </a:solidFill>
              </a:rPr>
              <a:t>gRPC Plugins</a:t>
            </a:r>
            <a:r>
              <a:rPr lang="en-GB">
                <a:solidFill>
                  <a:schemeClr val="dk1"/>
                </a:solidFill>
              </a:rPr>
              <a:t> provide the most flexibility with remote execution and multi-language support."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7bd53b92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7bd53b92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What are Local Plugins?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"Local Plugins are custom plugins where the source code is stored and executed </a:t>
            </a:r>
            <a:r>
              <a:rPr b="1" lang="en-GB">
                <a:solidFill>
                  <a:schemeClr val="dk1"/>
                </a:solidFill>
              </a:rPr>
              <a:t>directly</a:t>
            </a:r>
            <a:r>
              <a:rPr lang="en-GB">
                <a:solidFill>
                  <a:schemeClr val="dk1"/>
                </a:solidFill>
              </a:rPr>
              <a:t> on the Tyk Gateway."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"This approach ensures low latency and minimal dependencies."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Pros of Local Plugins: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Performance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"Because the plugin code is executed locally, the performance is high with minimal latency."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"This is ideal for real-time operations where speed matters."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Simplicity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"Local plugins are easy to configure and manage since everything resides within the Tyk Gateway."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No Network Dependencies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"You don’t need to worry about external communication or connectivity issues, making local plugins a good fit for isolated environments like on-prem setups."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Cons of Local Plugins: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Limited Scalability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"Local plugins don’t scale well in distributed environments or across multiple Tyk Gateway instances."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"If you need to reuse plugins across a fleet of gateways you will have to compile for each gateway that you are using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Harder to Manage Updates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"Every time you make an update to the plugin, you need to manually update it on each gateway."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"This can become time-consuming, especially as the infrastructure grows."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Summary: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"To summarize, Local Plugins are great for </a:t>
            </a:r>
            <a:r>
              <a:rPr b="1" lang="en-GB">
                <a:solidFill>
                  <a:schemeClr val="dk1"/>
                </a:solidFill>
              </a:rPr>
              <a:t>simplicity and performance</a:t>
            </a:r>
            <a:r>
              <a:rPr lang="en-GB">
                <a:solidFill>
                  <a:schemeClr val="dk1"/>
                </a:solidFill>
              </a:rPr>
              <a:t>, especially isolated environments."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7bd53b92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7bd53b92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Plugin Bundles allow you to bundle multiple plugins together and deploy them remotely."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"This makes it easy to reuse plugins across </a:t>
            </a:r>
            <a:r>
              <a:rPr b="1" lang="en-GB">
                <a:solidFill>
                  <a:schemeClr val="dk1"/>
                </a:solidFill>
              </a:rPr>
              <a:t>multiple APIs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Tyk Gateway instances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Pros of Plugin Bundles: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Reusability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"You can package multiple plugins together into a single bundle and reuse them across different APIs and Gateways."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"For example, a plugin bundle for rate limiting and authentication can be shared across multiple environments."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Centralized Management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"Plugins are stored on a </a:t>
            </a:r>
            <a:r>
              <a:rPr b="1" lang="en-GB">
                <a:solidFill>
                  <a:schemeClr val="dk1"/>
                </a:solidFill>
              </a:rPr>
              <a:t>central remote server</a:t>
            </a:r>
            <a:r>
              <a:rPr lang="en-GB">
                <a:solidFill>
                  <a:schemeClr val="dk1"/>
                </a:solidFill>
              </a:rPr>
              <a:t>, making it easier to update and manage changes."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"Instead of updating each Tyk Gateway manually, you simply update the bundle on the server."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Flexible Deployment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"Plugin Bundles are ideal for </a:t>
            </a:r>
            <a:r>
              <a:rPr b="1" lang="en-GB">
                <a:solidFill>
                  <a:schemeClr val="dk1"/>
                </a:solidFill>
              </a:rPr>
              <a:t>large, distributed architectures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"If you have multiple Gateways, they can download and execute plugins from the central bundle without requiring local storage."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Cons of Plugin Bundles: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Network Dependency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"The Tyk Gateway depends on a remote server to fetch the plugin bundle."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"If the server is down or experiences latency, the Gateway may be unable to execute the plugins."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Complexity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"Configuration and deployment of Plugin Bundles can be more complex compared to </a:t>
            </a:r>
            <a:r>
              <a:rPr b="1" lang="en-GB">
                <a:solidFill>
                  <a:schemeClr val="dk1"/>
                </a:solidFill>
              </a:rPr>
              <a:t>Local Plugins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"It involves managing the bundle, uploading it to a remote server, and configuring the Gateways to fetch it."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Summary: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"In summary, </a:t>
            </a:r>
            <a:r>
              <a:rPr b="1" lang="en-GB">
                <a:solidFill>
                  <a:schemeClr val="dk1"/>
                </a:solidFill>
              </a:rPr>
              <a:t>Plugin Bundles</a:t>
            </a:r>
            <a:r>
              <a:rPr lang="en-GB">
                <a:solidFill>
                  <a:schemeClr val="dk1"/>
                </a:solidFill>
              </a:rPr>
              <a:t> are great for centralized management and large-scale deployments, but they require careful consideration for network availability and setup complexity."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"If you have a distributed environment and want to scale efficiently, Plugin Bundles are the way to go."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7bd53b92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7bd53b92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What are gRPC Plugins?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"gRPC Plugins allow you to write and run plugins on a remote server using the gRPC protocol."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"This approach decouples plugin execution from the Tyk Gateway, making it lightweight and scalable."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Pros of gRPC Plugins: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Language Flexibility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"You can write plugins in </a:t>
            </a:r>
            <a:r>
              <a:rPr b="1" lang="en-GB">
                <a:solidFill>
                  <a:schemeClr val="dk1"/>
                </a:solidFill>
              </a:rPr>
              <a:t>any gRPC-supported language</a:t>
            </a:r>
            <a:r>
              <a:rPr lang="en-GB">
                <a:solidFill>
                  <a:schemeClr val="dk1"/>
                </a:solidFill>
              </a:rPr>
              <a:t>, such as Python, Go, or Java."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"This flexibility gives developers the freedom to use their preferred programming language."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Scalability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"gRPC Plugins are ideal for large-scale deployments where plugins need to run across distributed systems."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"The remote execution model ensures efficient resource utilization and improved performance."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Separation of Concerns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"By executing plugins remotely, the Tyk Gateway remains </a:t>
            </a:r>
            <a:r>
              <a:rPr b="1" lang="en-GB">
                <a:solidFill>
                  <a:schemeClr val="dk1"/>
                </a:solidFill>
              </a:rPr>
              <a:t>lightweight</a:t>
            </a:r>
            <a:r>
              <a:rPr lang="en-GB">
                <a:solidFill>
                  <a:schemeClr val="dk1"/>
                </a:solidFill>
              </a:rPr>
              <a:t> and focused on its core tasks."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"The plugin logic resides on a dedicated server, simplifying the Gateway’s responsibilities."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Cons of gRPC Plugins: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Network Latency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"Since plugins are executed remotely, there can be additional </a:t>
            </a:r>
            <a:r>
              <a:rPr b="1" lang="en-GB">
                <a:solidFill>
                  <a:schemeClr val="dk1"/>
                </a:solidFill>
              </a:rPr>
              <a:t>latency</a:t>
            </a:r>
            <a:r>
              <a:rPr lang="en-GB">
                <a:solidFill>
                  <a:schemeClr val="dk1"/>
                </a:solidFill>
              </a:rPr>
              <a:t> depending on the server’s location and network load."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Complex Setup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"gRPC Plugins require additional infrastructure, such as a </a:t>
            </a:r>
            <a:r>
              <a:rPr b="1" lang="en-GB">
                <a:solidFill>
                  <a:schemeClr val="dk1"/>
                </a:solidFill>
              </a:rPr>
              <a:t>gRPC server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"This means more configuration and management compared to Local Plugins."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Potential Failures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"If the external gRPC server goes down, the plugin execution will fail."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"This could lead to </a:t>
            </a:r>
            <a:r>
              <a:rPr b="1" lang="en-GB">
                <a:solidFill>
                  <a:schemeClr val="dk1"/>
                </a:solidFill>
              </a:rPr>
              <a:t>service disruptions</a:t>
            </a:r>
            <a:r>
              <a:rPr lang="en-GB">
                <a:solidFill>
                  <a:schemeClr val="dk1"/>
                </a:solidFill>
              </a:rPr>
              <a:t> if not properly managed with retries or failover strategies."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Example Use Case: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"Imagine you want to run a plugin written in Python for a custom </a:t>
            </a:r>
            <a:r>
              <a:rPr b="1" lang="en-GB">
                <a:solidFill>
                  <a:schemeClr val="dk1"/>
                </a:solidFill>
              </a:rPr>
              <a:t>data transformation</a:t>
            </a:r>
            <a:r>
              <a:rPr lang="en-GB">
                <a:solidFill>
                  <a:schemeClr val="dk1"/>
                </a:solidFill>
              </a:rPr>
              <a:t>. Instead of running the plugin locally, you can deploy it on a gRPC server and configure Tyk to call it remotely during the API request lifecycle."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Summary: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"In summary, gRPC Plugins are a fantastic choice for large-scale, distributed environments where you need </a:t>
            </a:r>
            <a:r>
              <a:rPr b="1" lang="en-GB">
                <a:solidFill>
                  <a:schemeClr val="dk1"/>
                </a:solidFill>
              </a:rPr>
              <a:t>language flexibility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separation of concerns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"However, they do require careful planning around infrastructure, latency, and server availability."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7bd53b92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7bd53b92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Step 1: Initialize the Go Module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This is an example of a plugin dev flow using go plugins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"First, you need to set up your plugin’s workspace. Start by creating a folder for your plugin."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"Next, initialize Go modules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"This command prepares your workspace for dependency management."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Step 2: Write the Plugin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"The core of the plugin development lies in writing your custom logic."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Plugin Structure: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"The plugin must have a </a:t>
            </a:r>
            <a:r>
              <a:rPr b="1" lang="en-GB">
                <a:solidFill>
                  <a:schemeClr val="dk1"/>
                </a:solidFill>
              </a:rPr>
              <a:t>Go main package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"Within the package, create an exported function. For example:"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 AddFooBarHeader() {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// Custom logic here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"This function will contain the code you want the Tyk Gateway to execute, like modifying requests, responses, or performing authentication."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Step 3: Sync Dependencies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"After writing your plugin code, you need to ensure all dependencies are in sync."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"This will fetch and clean up all required dependencies for your plugin."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Step 4: Build the Plugin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"The final step is to build the Go plugin as a shared library (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.so</a:t>
            </a:r>
            <a:r>
              <a:rPr lang="en-GB">
                <a:solidFill>
                  <a:schemeClr val="dk1"/>
                </a:solidFill>
              </a:rPr>
              <a:t> file), which can be used by the Tyk Gateway."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"You can do this in two ways:"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Using Docker: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"Use Tyk’s official plugin compiler Docker image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Using Go Build Commands: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"Alternatively, you can build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.so</a:t>
            </a:r>
            <a:r>
              <a:rPr lang="en-GB">
                <a:solidFill>
                  <a:schemeClr val="dk1"/>
                </a:solidFill>
              </a:rPr>
              <a:t> file directly using Go:"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go build -buildmode=plugin -o plugin.so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"This process generates a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plugin.so</a:t>
            </a:r>
            <a:r>
              <a:rPr lang="en-GB">
                <a:solidFill>
                  <a:schemeClr val="dk1"/>
                </a:solidFill>
              </a:rPr>
              <a:t> file, which Tyk will load as part of the plugin execution."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Summary: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"In summary, the </a:t>
            </a:r>
            <a:r>
              <a:rPr b="1" lang="en-GB">
                <a:solidFill>
                  <a:schemeClr val="dk1"/>
                </a:solidFill>
              </a:rPr>
              <a:t>plugin development flow</a:t>
            </a:r>
            <a:r>
              <a:rPr lang="en-GB">
                <a:solidFill>
                  <a:schemeClr val="dk1"/>
                </a:solidFill>
              </a:rPr>
              <a:t> involves initialization, writing custom logic, syncing dependencies, and building a shared library."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7bd53b92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7bd53b92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Step 1: Open Tyk Classic API Definition Editor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"Start by navigating to the </a:t>
            </a:r>
            <a:r>
              <a:rPr b="1" lang="en-GB">
                <a:solidFill>
                  <a:schemeClr val="dk1"/>
                </a:solidFill>
              </a:rPr>
              <a:t>Tyk Dashboard</a:t>
            </a:r>
            <a:r>
              <a:rPr lang="en-GB">
                <a:solidFill>
                  <a:schemeClr val="dk1"/>
                </a:solidFill>
              </a:rPr>
              <a:t> and selecting the API you want to edit."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"Click on </a:t>
            </a:r>
            <a:r>
              <a:rPr b="1" lang="en-GB">
                <a:solidFill>
                  <a:schemeClr val="dk1"/>
                </a:solidFill>
              </a:rPr>
              <a:t>View Raw Definition</a:t>
            </a:r>
            <a:r>
              <a:rPr lang="en-GB">
                <a:solidFill>
                  <a:schemeClr val="dk1"/>
                </a:solidFill>
              </a:rPr>
              <a:t> to access the API Definition editor."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"This editor allows you to see and modify the entire API configuration in JSON format."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Step 2: Edit the API Definition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"Locate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custom_middleware</a:t>
            </a:r>
            <a:r>
              <a:rPr lang="en-GB">
                <a:solidFill>
                  <a:schemeClr val="dk1"/>
                </a:solidFill>
              </a:rPr>
              <a:t> section in the raw API Definition."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"Here, you’ll specify your plugin configuration by adding the following details: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The plugin </a:t>
            </a:r>
            <a:r>
              <a:rPr b="1" lang="en-GB">
                <a:solidFill>
                  <a:schemeClr val="dk1"/>
                </a:solidFill>
              </a:rPr>
              <a:t>path</a:t>
            </a:r>
            <a:r>
              <a:rPr lang="en-GB">
                <a:solidFill>
                  <a:schemeClr val="dk1"/>
                </a:solidFill>
              </a:rPr>
              <a:t> or shared library name.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Hook points where the plugin will be executed, such as </a:t>
            </a:r>
            <a:r>
              <a:rPr b="1" lang="en-GB">
                <a:solidFill>
                  <a:schemeClr val="dk1"/>
                </a:solidFill>
              </a:rPr>
              <a:t>Pre-request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Post-request</a:t>
            </a:r>
            <a:r>
              <a:rPr lang="en-GB">
                <a:solidFill>
                  <a:schemeClr val="dk1"/>
                </a:solidFill>
              </a:rPr>
              <a:t>, or </a:t>
            </a:r>
            <a:r>
              <a:rPr b="1" lang="en-GB">
                <a:solidFill>
                  <a:schemeClr val="dk1"/>
                </a:solidFill>
              </a:rPr>
              <a:t>Response hooks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"In this configuration: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GB">
                <a:solidFill>
                  <a:schemeClr val="dk1"/>
                </a:solidFill>
              </a:rPr>
              <a:t> refers to the plugin name.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path</a:t>
            </a:r>
            <a:r>
              <a:rPr lang="en-GB">
                <a:solidFill>
                  <a:schemeClr val="dk1"/>
                </a:solidFill>
              </a:rPr>
              <a:t> specifies the location of your shared plugin file."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Driver specifies which language you are using (mandatory)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Step 3: Save Changes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"Once you’ve updated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custom_middleware</a:t>
            </a:r>
            <a:r>
              <a:rPr lang="en-GB">
                <a:solidFill>
                  <a:schemeClr val="dk1"/>
                </a:solidFill>
              </a:rPr>
              <a:t> section, save your changes by clicking </a:t>
            </a:r>
            <a:r>
              <a:rPr b="1" lang="en-GB">
                <a:solidFill>
                  <a:schemeClr val="dk1"/>
                </a:solidFill>
              </a:rPr>
              <a:t>Update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"Tyk will reload the API Definition and load the configured plugin. Make sure your Tyk Gateway has access to the plugin path or remote plugin server."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Key Notes to Remember: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"Double-check the file path or endpoint configuration to avoid deployment issues."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"Test your plugin by sending requests to the API and verifying the expected behavior."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7bd53b92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7bd53b92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Introduction:</a:t>
            </a:r>
            <a:r>
              <a:rPr lang="en-GB">
                <a:solidFill>
                  <a:schemeClr val="dk1"/>
                </a:solidFill>
              </a:rPr>
              <a:t> "Let’s now discuss the process of bundling plugins in Tyk. Bundling is an efficient way to manage custom plugins by centralizing and distributing them across multiple Tyk Gateways."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Step 1: Plugin Creation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"First, you write the </a:t>
            </a:r>
            <a:r>
              <a:rPr b="1" lang="en-GB">
                <a:solidFill>
                  <a:schemeClr val="dk1"/>
                </a:solidFill>
              </a:rPr>
              <a:t>plugin source code</a:t>
            </a:r>
            <a:r>
              <a:rPr lang="en-GB">
                <a:solidFill>
                  <a:schemeClr val="dk1"/>
                </a:solidFill>
              </a:rPr>
              <a:t> and create a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manifest.json</a:t>
            </a:r>
            <a:r>
              <a:rPr lang="en-GB">
                <a:solidFill>
                  <a:schemeClr val="dk1"/>
                </a:solidFill>
              </a:rPr>
              <a:t> file."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manifest.json</a:t>
            </a:r>
            <a:r>
              <a:rPr lang="en-GB">
                <a:solidFill>
                  <a:schemeClr val="dk1"/>
                </a:solidFill>
              </a:rPr>
              <a:t> file contains metadata about your plugin, such as the name, version, and entry points."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Example of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manifest.json</a:t>
            </a:r>
            <a:r>
              <a:rPr b="1" lang="en-GB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Step 2: Upload to Web Server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"Next, you upload the bundled plugin—source code and manifest file—to a </a:t>
            </a:r>
            <a:r>
              <a:rPr b="1" lang="en-GB">
                <a:solidFill>
                  <a:schemeClr val="dk1"/>
                </a:solidFill>
              </a:rPr>
              <a:t>web server</a:t>
            </a:r>
            <a:r>
              <a:rPr lang="en-GB">
                <a:solidFill>
                  <a:schemeClr val="dk1"/>
                </a:solidFill>
              </a:rPr>
              <a:t>. This can be an external file server"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"The server acts as a central repository where Tyk Gateways can fetch the plugin."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Step 3: Download and Execution in Tyk Gateway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"When a Tyk Gateway starts or reloads the API, it downloads the plugin bundle from the web server."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"Tyk then </a:t>
            </a:r>
            <a:r>
              <a:rPr b="1" lang="en-GB">
                <a:solidFill>
                  <a:schemeClr val="dk1"/>
                </a:solidFill>
              </a:rPr>
              <a:t>caches, extracts, and executes</a:t>
            </a:r>
            <a:r>
              <a:rPr lang="en-GB">
                <a:solidFill>
                  <a:schemeClr val="dk1"/>
                </a:solidFill>
              </a:rPr>
              <a:t> the plugin according to the configuration in the API definition."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"This allows the Gateway to efficiently use the plugin without repeatedly downloading it."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Key Benefits of Bundling Plugins: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Centralized Management</a:t>
            </a:r>
            <a:r>
              <a:rPr lang="en-GB">
                <a:solidFill>
                  <a:schemeClr val="dk1"/>
                </a:solidFill>
              </a:rPr>
              <a:t> – "Plugins can be updated in one location and distributed across all Gateways."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Scalability</a:t>
            </a:r>
            <a:r>
              <a:rPr lang="en-GB">
                <a:solidFill>
                  <a:schemeClr val="dk1"/>
                </a:solidFill>
              </a:rPr>
              <a:t> – "Suitable for distributed architectures where multiple Gateways need the same plugins."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Performance Optimization</a:t>
            </a:r>
            <a:r>
              <a:rPr lang="en-GB">
                <a:solidFill>
                  <a:schemeClr val="dk1"/>
                </a:solidFill>
              </a:rPr>
              <a:t> – "Tyk caches plugins locally, reducing network calls after the first download."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7bd53b92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7bd53b92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Introduction</a:t>
            </a:r>
            <a:br>
              <a:rPr b="1"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"Let's dive into how </a:t>
            </a:r>
            <a:r>
              <a:rPr b="1" lang="en-GB">
                <a:solidFill>
                  <a:schemeClr val="dk1"/>
                </a:solidFill>
              </a:rPr>
              <a:t>bundling plugins</a:t>
            </a:r>
            <a:r>
              <a:rPr lang="en-GB">
                <a:solidFill>
                  <a:schemeClr val="dk1"/>
                </a:solidFill>
              </a:rPr>
              <a:t> works in Tyk. Bundling plugins enables efficient management and execution of custom middleware across Tyk Gateways."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How Plugin Bundles Work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"A </a:t>
            </a:r>
            <a:r>
              <a:rPr b="1" lang="en-GB">
                <a:solidFill>
                  <a:schemeClr val="dk1"/>
                </a:solidFill>
              </a:rPr>
              <a:t>plugin bundle</a:t>
            </a:r>
            <a:r>
              <a:rPr lang="en-GB">
                <a:solidFill>
                  <a:schemeClr val="dk1"/>
                </a:solidFill>
              </a:rPr>
              <a:t> is a ZIP file that contains the </a:t>
            </a:r>
            <a:r>
              <a:rPr b="1" lang="en-GB">
                <a:solidFill>
                  <a:schemeClr val="dk1"/>
                </a:solidFill>
              </a:rPr>
              <a:t>source code</a:t>
            </a:r>
            <a:r>
              <a:rPr lang="en-GB">
                <a:solidFill>
                  <a:schemeClr val="dk1"/>
                </a:solidFill>
              </a:rPr>
              <a:t> and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manifest.json</a:t>
            </a:r>
            <a:r>
              <a:rPr lang="en-GB">
                <a:solidFill>
                  <a:schemeClr val="dk1"/>
                </a:solidFill>
              </a:rPr>
              <a:t> file."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"The API definition references the plugin bundle name to identify it."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"The </a:t>
            </a:r>
            <a:r>
              <a:rPr b="1" lang="en-GB">
                <a:solidFill>
                  <a:schemeClr val="dk1"/>
                </a:solidFill>
              </a:rPr>
              <a:t>Tyk Gateway</a:t>
            </a:r>
            <a:r>
              <a:rPr lang="en-GB">
                <a:solidFill>
                  <a:schemeClr val="dk1"/>
                </a:solidFill>
              </a:rPr>
              <a:t> takes care of downloading, caching, extracting, and executing the plugin from the bundle."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Bundle Caching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"For performance, Tyk caches plugin bundles locally."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"To ensure updates to a plugin bundle, you can use </a:t>
            </a:r>
            <a:r>
              <a:rPr b="1" lang="en-GB">
                <a:solidFill>
                  <a:schemeClr val="dk1"/>
                </a:solidFill>
              </a:rPr>
              <a:t>unique filenames</a:t>
            </a:r>
            <a:r>
              <a:rPr lang="en-GB">
                <a:solidFill>
                  <a:schemeClr val="dk1"/>
                </a:solidFill>
              </a:rPr>
              <a:t>, such as version numbers."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"The cached location is: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{TYK_ROOT}/{CONFIG_MIDDLEWARE_PATH}/bundles</a:t>
            </a:r>
            <a:r>
              <a:rPr lang="en-GB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Gateway Configuration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"To enable plugin bundles, you need to update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tyk.conf</a:t>
            </a:r>
            <a:r>
              <a:rPr lang="en-GB">
                <a:solidFill>
                  <a:schemeClr val="dk1"/>
                </a:solidFill>
              </a:rPr>
              <a:t> file with the following configurations: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Explanation: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enable_bundle_downloader</a:t>
            </a:r>
            <a:r>
              <a:rPr lang="en-GB">
                <a:solidFill>
                  <a:schemeClr val="dk1"/>
                </a:solidFill>
              </a:rPr>
              <a:t>: Enables the Tyk Gateway to download bundles from a specified URL.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bundle_base_url</a:t>
            </a:r>
            <a:r>
              <a:rPr lang="en-GB">
                <a:solidFill>
                  <a:schemeClr val="dk1"/>
                </a:solidFill>
              </a:rPr>
              <a:t>: The base URL where the plugin bundles are stored.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public_key_path</a:t>
            </a:r>
            <a:r>
              <a:rPr lang="en-GB">
                <a:solidFill>
                  <a:schemeClr val="dk1"/>
                </a:solidFill>
              </a:rPr>
              <a:t>: Path to the public key for verifying signed bundles.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enable_coprocess</a:t>
            </a:r>
            <a:r>
              <a:rPr lang="en-GB">
                <a:solidFill>
                  <a:schemeClr val="dk1"/>
                </a:solidFill>
              </a:rPr>
              <a:t>: Enables advanced plugin execution features, such as </a:t>
            </a:r>
            <a:r>
              <a:rPr b="1" lang="en-GB">
                <a:solidFill>
                  <a:schemeClr val="dk1"/>
                </a:solidFill>
              </a:rPr>
              <a:t>rich plugins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7bd53b92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7bd53b92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What is the Bundler CLI Tool?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"The Bundler CLI Tool allows you to package all the components required for your plugin into a single </a:t>
            </a:r>
            <a:r>
              <a:rPr b="1" lang="en-GB">
                <a:solidFill>
                  <a:schemeClr val="dk1"/>
                </a:solidFill>
              </a:rPr>
              <a:t>ZIP bundle</a:t>
            </a:r>
            <a:r>
              <a:rPr lang="en-GB">
                <a:solidFill>
                  <a:schemeClr val="dk1"/>
                </a:solidFill>
              </a:rPr>
              <a:t>. This makes it easy to deploy plugins to Tyk Gateways."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What You Need to Create a Plugin Bundle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To successfully create a plugin bundle, you will need: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Manifest.json</a:t>
            </a:r>
            <a:r>
              <a:rPr lang="en-GB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This file contains metadata and configuration for the plugin, including pre/post middleware logic, driver type, and file inclusion list.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Plugin Source Code Files</a:t>
            </a:r>
            <a:r>
              <a:rPr lang="en-GB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These are the actual code files (e.g.,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.py</a:t>
            </a:r>
            <a:r>
              <a:rPr lang="en-GB">
                <a:solidFill>
                  <a:schemeClr val="dk1"/>
                </a:solidFill>
              </a:rPr>
              <a:t> for Python,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.so</a:t>
            </a:r>
            <a:r>
              <a:rPr lang="en-GB">
                <a:solidFill>
                  <a:schemeClr val="dk1"/>
                </a:solidFill>
              </a:rPr>
              <a:t> for Go) that implement the plugin’s logic.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Certificate Key (Optional)</a:t>
            </a:r>
            <a:r>
              <a:rPr lang="en-GB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Certificates can be used to </a:t>
            </a:r>
            <a:r>
              <a:rPr b="1" lang="en-GB">
                <a:solidFill>
                  <a:schemeClr val="dk1"/>
                </a:solidFill>
              </a:rPr>
              <a:t>sign the bundle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How to Build a Bundle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Run the Command</a:t>
            </a:r>
            <a:r>
              <a:rPr lang="en-GB">
                <a:solidFill>
                  <a:schemeClr val="dk1"/>
                </a:solidFill>
              </a:rPr>
              <a:t>: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"To create a plugin bundle, you can run the following command:"</a:t>
            </a:r>
            <a:br>
              <a:rPr lang="en-GB">
                <a:solidFill>
                  <a:schemeClr val="dk1"/>
                </a:solidFill>
              </a:rPr>
            </a:b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 tyk bundle build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What Happens After?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"The resulting ZIP file will include: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All specified files (based on the manifest).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A modified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manifest.json</a:t>
            </a:r>
            <a:r>
              <a:rPr lang="en-GB">
                <a:solidFill>
                  <a:schemeClr val="dk1"/>
                </a:solidFill>
              </a:rPr>
              <a:t> with the necessary </a:t>
            </a:r>
            <a:r>
              <a:rPr b="1" lang="en-GB">
                <a:solidFill>
                  <a:schemeClr val="dk1"/>
                </a:solidFill>
              </a:rPr>
              <a:t>checksum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signature</a:t>
            </a:r>
            <a:r>
              <a:rPr lang="en-GB">
                <a:solidFill>
                  <a:schemeClr val="dk1"/>
                </a:solidFill>
              </a:rPr>
              <a:t> fields added, if required."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Security Note</a:t>
            </a:r>
            <a:r>
              <a:rPr lang="en-GB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"By default, Tyk will attempt to </a:t>
            </a:r>
            <a:r>
              <a:rPr b="1" lang="en-GB">
                <a:solidFill>
                  <a:schemeClr val="dk1"/>
                </a:solidFill>
              </a:rPr>
              <a:t>sign plugin bundles</a:t>
            </a:r>
            <a:r>
              <a:rPr lang="en-GB">
                <a:solidFill>
                  <a:schemeClr val="dk1"/>
                </a:solidFill>
              </a:rPr>
              <a:t> for security purposes.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If no private key is specified, you’ll be prompted for confirmation.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Why Use the Bundler CLI Tool?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"It simplifies the process of creating and deploying plugins by automating file inclusion, checksum generation, and signature validation.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It ensures the plugin is packaged securely and ready for execution by the Tyk Gateway."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7bd53b92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7bd53b92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Introduction</a:t>
            </a:r>
            <a:br>
              <a:rPr b="1"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"Next, we’ll discuss the </a:t>
            </a:r>
            <a:r>
              <a:rPr b="1" lang="en-GB">
                <a:solidFill>
                  <a:schemeClr val="dk1"/>
                </a:solidFill>
              </a:rPr>
              <a:t>manifest files</a:t>
            </a:r>
            <a:r>
              <a:rPr lang="en-GB">
                <a:solidFill>
                  <a:schemeClr val="dk1"/>
                </a:solidFill>
              </a:rPr>
              <a:t> within plugin bundles and their importance in configuring plugins for Tyk."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What is a Manifest File?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"A manifest file is a critical configuration file for your plugin bundle."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"It </a:t>
            </a:r>
            <a:r>
              <a:rPr b="1" lang="en-GB">
                <a:solidFill>
                  <a:schemeClr val="dk1"/>
                </a:solidFill>
              </a:rPr>
              <a:t>defines which source code files</a:t>
            </a:r>
            <a:r>
              <a:rPr lang="en-GB">
                <a:solidFill>
                  <a:schemeClr val="dk1"/>
                </a:solidFill>
              </a:rPr>
              <a:t> are included in the bundle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"If a file isn’t listed in the manifest, it will be ignored, even if it’s present in the plugin directory."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Key Components of the Manifest File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file_list</a:t>
            </a:r>
            <a:r>
              <a:rPr b="1" lang="en-GB">
                <a:solidFill>
                  <a:schemeClr val="dk1"/>
                </a:solidFill>
              </a:rPr>
              <a:t> Block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"This block specifies the source files to include in the plugin bundle.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custom_middleware</a:t>
            </a:r>
            <a:r>
              <a:rPr b="1" lang="en-GB">
                <a:solidFill>
                  <a:schemeClr val="dk1"/>
                </a:solidFill>
              </a:rPr>
              <a:t> Block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"This block allows you to define pre and post execution middleware.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For instance: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"custom_middleware": {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"pre": [ { "name": "PreMiddleware" } ],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"post": [ { "name": "PostMiddleware" } ]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</a:t>
            </a:r>
            <a:r>
              <a:rPr b="1" lang="en-GB">
                <a:solidFill>
                  <a:schemeClr val="dk1"/>
                </a:solidFill>
              </a:rPr>
              <a:t> block</a:t>
            </a:r>
            <a:r>
              <a:rPr lang="en-GB">
                <a:solidFill>
                  <a:schemeClr val="dk1"/>
                </a:solidFill>
              </a:rPr>
              <a:t> runs before the request is proxied to the upstream.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</a:t>
            </a:r>
            <a:r>
              <a:rPr b="1" lang="en-GB">
                <a:solidFill>
                  <a:schemeClr val="dk1"/>
                </a:solidFill>
              </a:rPr>
              <a:t> block</a:t>
            </a:r>
            <a:r>
              <a:rPr lang="en-GB">
                <a:solidFill>
                  <a:schemeClr val="dk1"/>
                </a:solidFill>
              </a:rPr>
              <a:t> runs after receiving a response from the upstream."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driver</a:t>
            </a:r>
            <a:r>
              <a:rPr b="1" lang="en-GB">
                <a:solidFill>
                  <a:schemeClr val="dk1"/>
                </a:solidFill>
              </a:rPr>
              <a:t> Field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driver</a:t>
            </a:r>
            <a:r>
              <a:rPr lang="en-GB">
                <a:solidFill>
                  <a:schemeClr val="dk1"/>
                </a:solidFill>
              </a:rPr>
              <a:t> specifies the programming language used for the plugin.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checksum</a:t>
            </a:r>
            <a:r>
              <a:rPr b="1"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signature</a:t>
            </a:r>
            <a:r>
              <a:rPr b="1" lang="en-GB">
                <a:solidFill>
                  <a:schemeClr val="dk1"/>
                </a:solidFill>
              </a:rPr>
              <a:t> Fields are usually autofilled during the build process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"These fields ensure the integrity of the plugin bundle: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checksum</a:t>
            </a:r>
            <a:r>
              <a:rPr lang="en-GB">
                <a:solidFill>
                  <a:schemeClr val="dk1"/>
                </a:solidFill>
              </a:rPr>
              <a:t>: Automatically generated during the build process to validate the content.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signature</a:t>
            </a:r>
            <a:r>
              <a:rPr lang="en-GB">
                <a:solidFill>
                  <a:schemeClr val="dk1"/>
                </a:solidFill>
              </a:rPr>
              <a:t>: Provides an additional layer of security to confirm the bundle is trusted."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Why is the Manifest File Important?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"The manifest file ensures that: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Only the required source files are included in the bundle.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Execution behavior (pre/post middleware) is explicitly defined.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The plugin bundle is secure and tamper-proof through checksums and signatures."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7bd53b92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7bd53b92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7bd53b92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7bd53b92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52" name="Google Shape;52;p13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438F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"/>
            <a:ext cx="9144003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/>
          <p:nvPr/>
        </p:nvSpPr>
        <p:spPr>
          <a:xfrm>
            <a:off x="691670" y="1274800"/>
            <a:ext cx="3765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4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Tyk Onboarding</a:t>
            </a:r>
            <a:endParaRPr b="1" sz="4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9" name="Google Shape;6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200" y="720001"/>
            <a:ext cx="584925" cy="29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/>
        </p:nvSpPr>
        <p:spPr>
          <a:xfrm>
            <a:off x="720000" y="4008000"/>
            <a:ext cx="4246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Rahmat - Sr. Customer Solutions Architect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1123350" y="1933875"/>
            <a:ext cx="6897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Custom Plugins</a:t>
            </a:r>
            <a:endParaRPr b="1" sz="3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1774500" y="2703375"/>
            <a:ext cx="573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Exploring custom plugins in Tyk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Custom Plugins in Tyk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500550" y="1140600"/>
            <a:ext cx="8520600" cy="3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en-GB" sz="1200">
                <a:latin typeface="Inter"/>
                <a:ea typeface="Inter"/>
                <a:cs typeface="Inter"/>
                <a:sym typeface="Inter"/>
              </a:rPr>
              <a:t>Custom Plugins enable execution of specific custom code for unique tasks, beyond Tyk’s standard middleware.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en-GB" sz="1200">
                <a:latin typeface="Inter"/>
                <a:ea typeface="Inter"/>
                <a:cs typeface="Inter"/>
                <a:sym typeface="Inter"/>
              </a:rPr>
              <a:t>Users can hook plugins into various phases of the API lifecycle.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en-GB" sz="1200">
                <a:latin typeface="Inter"/>
                <a:ea typeface="Inter"/>
                <a:cs typeface="Inter"/>
                <a:sym typeface="Inter"/>
              </a:rPr>
              <a:t>Tyk includes 7 hooks for custom plugins across the middleware execution order.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Custom Middleware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92" name="Google Shape;92;p19"/>
          <p:cNvGraphicFramePr/>
          <p:nvPr/>
        </p:nvGraphicFramePr>
        <p:xfrm>
          <a:off x="658825" y="926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{034F6872-39F8-4AD4-BCB3-BEADD089F4A4}</a:tableStyleId>
              </a:tblPr>
              <a:tblGrid>
                <a:gridCol w="1356125"/>
                <a:gridCol w="1356125"/>
                <a:gridCol w="1544750"/>
                <a:gridCol w="1167525"/>
                <a:gridCol w="1356125"/>
                <a:gridCol w="1356125"/>
              </a:tblGrid>
              <a:tr h="42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Hook Type	</a:t>
                      </a:r>
                      <a:endParaRPr b="1"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Plugin Type</a:t>
                      </a:r>
                      <a:endParaRPr b="1"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</a:t>
                      </a:r>
                      <a:endParaRPr b="1"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Execution</a:t>
                      </a:r>
                      <a:endParaRPr b="1"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Details</a:t>
                      </a:r>
                      <a:endParaRPr b="1"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Common Use Cases</a:t>
                      </a:r>
                      <a:endParaRPr b="1"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</a:tr>
              <a:tr h="42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Pre (Request)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Request Plugin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HTTP Request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Before reverse proxy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First to execute, before middleware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IP rate limiting, request enrichment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  <a:tr h="42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Authentication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Auth Plugin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HTTP Request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Before reverse proxy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Replaces default authentication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Custom auth flow (e.g. legacy auth)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  <a:tr h="55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Post-Auth (Request)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Auth Plugin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HTTP Request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Before reverse proxy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After auth middleware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Special custom authentication logic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  <a:tr h="55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Post (Request)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Request Plugin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HTTP Request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Before reverse proxy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Final request phase middleware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Modify request (e.g., add headers)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  <a:tr h="55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Response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Response Plugin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HTTP Response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After reverse proxy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Executes after upstream API response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Modify response before returning to client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55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Analytics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Analytics Plugin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Request/Response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After reverse proxy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Final middleware for analytics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Obfuscate sensitive data in logs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Plugin Types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98" name="Google Shape;98;p20"/>
          <p:cNvGraphicFramePr/>
          <p:nvPr/>
        </p:nvGraphicFramePr>
        <p:xfrm>
          <a:off x="658825" y="926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{034F6872-39F8-4AD4-BCB3-BEADD089F4A4}</a:tableStyleId>
              </a:tblPr>
              <a:tblGrid>
                <a:gridCol w="1356125"/>
                <a:gridCol w="6779575"/>
              </a:tblGrid>
              <a:tr h="42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Plugin Type</a:t>
                      </a:r>
                      <a:endParaRPr b="1"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Description</a:t>
                      </a:r>
                      <a:endParaRPr b="1"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</a:tr>
              <a:tr h="42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Go Plugins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Native plugins implemented in Go, the same language as Tyk Gateway, offering high performance.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  <a:tr h="42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gRPC Plugins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Executed remotely on a gRPC server, supporting development in any gRPC-compatible language.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  <a:tr h="55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JavaScript (JSVM)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JavaScript plugins run within an ECMAScript 5 compatible JavaScript Virtual Machine (JSVM).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  <a:tr h="55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Python Plugins	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Embedded directly in Tyk Gateway, allowing Python code to run within the same process.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How it works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6528" y="1174725"/>
            <a:ext cx="4428751" cy="31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680675" y="1290000"/>
            <a:ext cx="3655800" cy="3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client sends request to API on Tyk Gateway.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processes the request and forwards it to one or more plugins implemented and configured for that API.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plugin performs operations (e.g., custom authentication, data transformation).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processed request is then returned to Tyk Gateway, which forwards it upstream.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Finally, the upstream response is sent back to the client.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Plugin Deployment Options in Tyk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22"/>
          <p:cNvSpPr txBox="1"/>
          <p:nvPr/>
        </p:nvSpPr>
        <p:spPr>
          <a:xfrm>
            <a:off x="680675" y="1290000"/>
            <a:ext cx="8019900" cy="3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Local Plugins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plugin source code and configuration are stored locally on the same file system as the Tyk Gateway.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Configuration is specified within the API Definition.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Plugin Bundles (Remote)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Plugin source code and configuration are bundled into a zip file and uploaded to a remote web server.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Gateway downloads, extracts, caches, and executes these plugins for the configured phases of the API lifecycle.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gRPC Plugins (Remote)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Custom plugins are hosted on a remote server and executed via gRPC.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Gateway sends requests to the gRPC server, allowing plugins to run at specific points during the API request/response lifecycle, using any preferred programming language.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Local Plugins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23"/>
          <p:cNvSpPr txBox="1"/>
          <p:nvPr/>
        </p:nvSpPr>
        <p:spPr>
          <a:xfrm>
            <a:off x="680675" y="1290000"/>
            <a:ext cx="8019900" cy="3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Local Plugins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Pros: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Performance: Since the plugin code is stored locally, execution is fast with minimal latency.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Simplicity: Easy to configure and manage directly within Tyk Gateway.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network dependencies: No need for external communication, making it ideal for environments without external connectivity.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Cons: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Limited scalability: Not suitable for large, distributed environments or for reusing plugins across multiple instances of Tyk Gateway.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Harder to manage updates: Every update requires manual changes on each Tyk instance.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Plugin Bundles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680675" y="1290000"/>
            <a:ext cx="8019900" cy="3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Plugin Bundles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Pros: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Reusability: Multiple plugins can be bundled together and reused across different APIs and Tyk Gateways.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Centralized management: Plugins can be centrally stored and updated on a remote server, making it easier to manage changes.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Flexible deployment: Suitable for large, distributed architectures where plugins need to be updated across multiple gateways.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Cons: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Network dependency: Tyk Gateway depends on the remote server, which may introduce latency or fail if the server is down.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Complexity: Configuration and deployment can be more complex compared to local plugins.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gRPC Plugins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25"/>
          <p:cNvSpPr txBox="1"/>
          <p:nvPr/>
        </p:nvSpPr>
        <p:spPr>
          <a:xfrm>
            <a:off x="680675" y="1290000"/>
            <a:ext cx="8019900" cy="3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gRPC Plugins (Remote)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Pros: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Language flexibility: You can write plugins in any gRPC-supported language, offering more flexibility for developers.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Scalability: Ideal for large-scale environments where plugins need to run across distributed systems.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Separation of concerns: Plugins are executed remotely, keeping the Tyk Gateway lightweight.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Cons: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Network latency: Involves remote execution, which can add network latency depending on the server’s location and load.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More complex setup: Requires additional infrastructure (e.g., a gRPC server) and more configuration.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Potential failures: Relies on external gRPC server availability, which could lead to service disruptions if the server fails.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Plugin Development Flow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26"/>
          <p:cNvSpPr txBox="1"/>
          <p:nvPr/>
        </p:nvSpPr>
        <p:spPr>
          <a:xfrm>
            <a:off x="680675" y="1290000"/>
            <a:ext cx="8019900" cy="3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 1: Initialize Go Module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Create a folder for your plugin.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Initialize Go modules - </a:t>
            </a: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go mod init tyk-plugin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 2: Write the Plugin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Plugin structure: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Go main package.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 exported function like </a:t>
            </a: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AddFooBarHeader()</a:t>
            </a: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for custom logic.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 3: Sync Dependencies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Run </a:t>
            </a: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go mod tidy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 4: Build the Plugin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Build the Go plugin as a shared library (.so) using Tyk’s Docker image or Go commands.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■"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docker run --rm -v `pwd`:/plugin-source \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tykio/tyk-plugin-compiler:v5.2.1 plugin.so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Deploying Plugins Tyk Classic Def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27"/>
          <p:cNvSpPr txBox="1"/>
          <p:nvPr/>
        </p:nvSpPr>
        <p:spPr>
          <a:xfrm>
            <a:off x="680675" y="1290000"/>
            <a:ext cx="8019900" cy="3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 1: Open Tyk Classic API Definition Editor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Select your API from the list of created APIs.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Click View Raw Definition to access the API Definition editor.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 2: Edit API Definition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 the editor, navigate to the </a:t>
            </a: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custom_middleware</a:t>
            </a: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section.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Configure the plugins by updating this section with the necessary plugin settings.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 3: Save Changes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Click Update to apply the changes to your Tyk Classic API Definition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	</a:t>
            </a:r>
            <a:r>
              <a:rPr lang="en-GB" sz="8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"custom_middleware": {</a:t>
            </a:r>
            <a:endParaRPr sz="8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    "pre": [</a:t>
            </a:r>
            <a:endParaRPr sz="8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        {</a:t>
            </a:r>
            <a:endParaRPr sz="8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"name": "myCustomPlugin",</a:t>
            </a:r>
            <a:endParaRPr sz="8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"path": "/opt/tyk-gateway/plugins/plugin.so"</a:t>
            </a:r>
            <a:endParaRPr sz="8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"driver": "otto/goplugin",</a:t>
            </a:r>
            <a:endParaRPr sz="8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8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    ]</a:t>
            </a:r>
            <a:endParaRPr sz="8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8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Bundling Plugins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64775"/>
            <a:ext cx="8839200" cy="2121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Bundling Plugins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29"/>
          <p:cNvSpPr txBox="1"/>
          <p:nvPr/>
        </p:nvSpPr>
        <p:spPr>
          <a:xfrm>
            <a:off x="680675" y="1290000"/>
            <a:ext cx="8019900" cy="3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How Plugin Bundles Work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ZIP contains source code + manifest file.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 definition references the plugin bundle name.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Gateway downloads, caches, extracts, and executes plugins from the bundle.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Bundle Caching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Plugin bundles are cached locally for efficiency.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unique filenames (e.g., version numbers) to update bundles.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Cache location: {TYK_ROOT}/{CONFIG_MIDDLEWARE_PATH}/bundles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Gateway Configuration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 the following to tyk.conf: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■"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"enable_bundle_downloader": true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■"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"bundle_base_url": "http://my-bundle-server.com/bundles/"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■"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"public_key_path": "/path/to/my/pubkey"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"enable_coprocess": true</a:t>
            </a: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(for rich plugins)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Bundler CLI Tool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30"/>
          <p:cNvSpPr txBox="1"/>
          <p:nvPr/>
        </p:nvSpPr>
        <p:spPr>
          <a:xfrm>
            <a:off x="680675" y="1290000"/>
            <a:ext cx="8019900" cy="3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Bundler tool is a CLI service, provided by the Gateway as part of its binary since v2.8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 create plugin bundles, you will need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Manifest.json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Pugin source code files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Certificate key(optional)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the following command to create a bundle: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$ tyk bundle build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resulting file will contain all your specified files and a modified manifest.json with the checksum and signature (if required) applied, in ZIP format.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By default, Tyk will attempt to sign plugin bundles for improved security. If no private key is specified, the program will prompt for a confirmation. Use -y to override this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Bundles - Manifest Files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31"/>
          <p:cNvSpPr txBox="1"/>
          <p:nvPr/>
        </p:nvSpPr>
        <p:spPr>
          <a:xfrm>
            <a:off x="680675" y="1290000"/>
            <a:ext cx="5050200" cy="3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Contains critical configuration details for the plugin bundle.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Lists the source code files to be included.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Files not specified in the manifest will not be included, even if present in the directory.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Key Notes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custom_middleware</a:t>
            </a: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block defines pre/post execution logic.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driver</a:t>
            </a: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specifies the plugin language (e.g., Python).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checksum</a:t>
            </a: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signature</a:t>
            </a: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are auto-filled during the build process.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4800" y="926575"/>
            <a:ext cx="2159667" cy="391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Javascript custom plugin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680675" y="1290000"/>
            <a:ext cx="8019900" cy="3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 1: Create a plugin within the gateway directory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injectCustomHeader.js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 2: Modify the API definition on the Dashboard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"pre": [</a:t>
            </a:r>
            <a:endParaRPr sz="9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        {</a:t>
            </a:r>
            <a:endParaRPr sz="9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"disabled": false,</a:t>
            </a:r>
            <a:endParaRPr sz="9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"name": "injectCustomHeader",</a:t>
            </a:r>
            <a:endParaRPr sz="9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"path": "/opt/tyk-gateway/jsvm/injectCustomHeader.js",</a:t>
            </a:r>
            <a:endParaRPr sz="9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"require_session": false,</a:t>
            </a:r>
            <a:endParaRPr sz="9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"raw_body_only": false</a:t>
            </a:r>
            <a:endParaRPr sz="9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9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Test via postman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/>
        </p:nvSpPr>
        <p:spPr>
          <a:xfrm>
            <a:off x="720000" y="157075"/>
            <a:ext cx="846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JSVM Custom plugin /w Bundles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33"/>
          <p:cNvSpPr txBox="1"/>
          <p:nvPr/>
        </p:nvSpPr>
        <p:spPr>
          <a:xfrm>
            <a:off x="680675" y="1290000"/>
            <a:ext cx="8019900" cy="3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 1: Create 2 plugins within the gateway directory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injectCustomHeader.js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tracingHeader.js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 2: Create a manifest.json file and place define both plugins in json file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 3: Use tyk bundler CLI to create a bundle and serve it to the web server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 4: Ensure you have a web server up and running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 5: Update the API definition to receive plugins via the bundle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		</a:t>
            </a:r>
            <a:r>
              <a:rPr lang="en-GB" sz="92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"custom_middleware_bundle": "bundle.zip",</a:t>
            </a:r>
            <a:endParaRPr sz="9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 6: Test via postman</a:t>
            </a:r>
            <a:endParaRPr sz="9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">
              <a:solidFill>
                <a:srgbClr val="0000C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