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Inter Light"/>
      <p:regular r:id="rId14"/>
      <p:bold r:id="rId15"/>
      <p:italic r:id="rId16"/>
      <p:boldItalic r:id="rId17"/>
    </p:embeddedFont>
    <p:embeddedFont>
      <p:font typeface="Roboto"/>
      <p:regular r:id="rId18"/>
      <p:bold r:id="rId19"/>
      <p:italic r:id="rId20"/>
      <p:boldItalic r:id="rId21"/>
    </p:embeddedFont>
    <p:embeddedFont>
      <p:font typeface="Inter"/>
      <p:regular r:id="rId22"/>
      <p:bold r:id="rId23"/>
      <p:italic r:id="rId24"/>
      <p:boldItalic r:id="rId25"/>
    </p:embeddedFont>
    <p:embeddedFont>
      <p:font typeface="Open Sans SemiBold"/>
      <p:regular r:id="rId26"/>
      <p:bold r:id="rId27"/>
      <p:italic r:id="rId28"/>
      <p:boldItalic r:id="rId29"/>
    </p:embeddedFont>
    <p:embeddedFont>
      <p:font typeface="Helvetica Neue"/>
      <p:regular r:id="rId30"/>
      <p:bold r:id="rId31"/>
      <p:italic r:id="rId32"/>
      <p:boldItalic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Inter-regular.fntdata"/><Relationship Id="rId21" Type="http://schemas.openxmlformats.org/officeDocument/2006/relationships/font" Target="fonts/Roboto-boldItalic.fntdata"/><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penSansSemiBold-regular.fntdata"/><Relationship Id="rId25" Type="http://schemas.openxmlformats.org/officeDocument/2006/relationships/font" Target="fonts/Inter-boldItalic.fntdata"/><Relationship Id="rId28" Type="http://schemas.openxmlformats.org/officeDocument/2006/relationships/font" Target="fonts/OpenSansSemiBold-italic.fntdata"/><Relationship Id="rId27" Type="http://schemas.openxmlformats.org/officeDocument/2006/relationships/font" Target="fonts/OpenSansSemiBo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penSansSemiBold-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5.xml"/><Relationship Id="rId33" Type="http://schemas.openxmlformats.org/officeDocument/2006/relationships/font" Target="fonts/HelveticaNeue-boldItalic.fntdata"/><Relationship Id="rId10" Type="http://schemas.openxmlformats.org/officeDocument/2006/relationships/slide" Target="slides/slide4.xml"/><Relationship Id="rId32" Type="http://schemas.openxmlformats.org/officeDocument/2006/relationships/font" Target="fonts/HelveticaNeue-italic.fntdata"/><Relationship Id="rId13" Type="http://schemas.openxmlformats.org/officeDocument/2006/relationships/slide" Target="slides/slide7.xml"/><Relationship Id="rId35" Type="http://schemas.openxmlformats.org/officeDocument/2006/relationships/font" Target="fonts/OpenSans-bold.fntdata"/><Relationship Id="rId12" Type="http://schemas.openxmlformats.org/officeDocument/2006/relationships/slide" Target="slides/slide6.xml"/><Relationship Id="rId34" Type="http://schemas.openxmlformats.org/officeDocument/2006/relationships/font" Target="fonts/OpenSans-regular.fntdata"/><Relationship Id="rId15" Type="http://schemas.openxmlformats.org/officeDocument/2006/relationships/font" Target="fonts/InterLight-bold.fntdata"/><Relationship Id="rId37" Type="http://schemas.openxmlformats.org/officeDocument/2006/relationships/font" Target="fonts/OpenSans-boldItalic.fntdata"/><Relationship Id="rId14" Type="http://schemas.openxmlformats.org/officeDocument/2006/relationships/font" Target="fonts/InterLight-regular.fntdata"/><Relationship Id="rId36" Type="http://schemas.openxmlformats.org/officeDocument/2006/relationships/font" Target="fonts/OpenSans-italic.fntdata"/><Relationship Id="rId17" Type="http://schemas.openxmlformats.org/officeDocument/2006/relationships/font" Target="fonts/InterLight-boldItalic.fntdata"/><Relationship Id="rId16" Type="http://schemas.openxmlformats.org/officeDocument/2006/relationships/font" Target="fonts/InterLight-italic.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1dcc420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1dcc420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1dcc420b1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1dcc420b1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dk1"/>
              </a:buClr>
              <a:buSzPts val="1800"/>
              <a:buFont typeface="Inter"/>
              <a:buChar char="●"/>
            </a:pPr>
            <a:r>
              <a:rPr lang="en-GB">
                <a:solidFill>
                  <a:schemeClr val="dk1"/>
                </a:solidFill>
              </a:rPr>
              <a:t>Let's talk about how the Tyk Gateway enforces control and governance over your API traffic in real time.</a:t>
            </a:r>
            <a:endParaRPr>
              <a:solidFill>
                <a:schemeClr val="dk1"/>
              </a:solidFill>
            </a:endParaRPr>
          </a:p>
          <a:p>
            <a:pPr indent="-342900" lvl="0" marL="457200" rtl="0" algn="l">
              <a:lnSpc>
                <a:spcPct val="115000"/>
              </a:lnSpc>
              <a:spcBef>
                <a:spcPts val="0"/>
              </a:spcBef>
              <a:spcAft>
                <a:spcPts val="0"/>
              </a:spcAft>
              <a:buClr>
                <a:schemeClr val="dk1"/>
              </a:buClr>
              <a:buSzPts val="1800"/>
              <a:buFont typeface="Inter"/>
              <a:buChar char="●"/>
            </a:pPr>
            <a:r>
              <a:rPr lang="en-GB">
                <a:solidFill>
                  <a:schemeClr val="dk1"/>
                </a:solidFill>
              </a:rPr>
              <a:t>The Tyk Gateway is the core component that </a:t>
            </a:r>
            <a:r>
              <a:rPr b="1" lang="en-GB">
                <a:solidFill>
                  <a:schemeClr val="dk1"/>
                </a:solidFill>
              </a:rPr>
              <a:t>handles all inbound API traffic</a:t>
            </a:r>
            <a:r>
              <a:rPr lang="en-GB">
                <a:solidFill>
                  <a:schemeClr val="dk1"/>
                </a:solidFill>
              </a:rPr>
              <a:t>. Every request coming into your system first passes through the Gateway, making it the front line for traffic control.</a:t>
            </a:r>
            <a:endParaRPr>
              <a:solidFill>
                <a:schemeClr val="dk1"/>
              </a:solidFill>
            </a:endParaRPr>
          </a:p>
          <a:p>
            <a:pPr indent="-342900" lvl="0" marL="457200" rtl="0" algn="l">
              <a:lnSpc>
                <a:spcPct val="115000"/>
              </a:lnSpc>
              <a:spcBef>
                <a:spcPts val="0"/>
              </a:spcBef>
              <a:spcAft>
                <a:spcPts val="0"/>
              </a:spcAft>
              <a:buClr>
                <a:schemeClr val="dk1"/>
              </a:buClr>
              <a:buSzPts val="1800"/>
              <a:buFont typeface="Inter"/>
              <a:buChar char="●"/>
            </a:pPr>
            <a:r>
              <a:rPr lang="en-GB">
                <a:solidFill>
                  <a:schemeClr val="dk1"/>
                </a:solidFill>
              </a:rPr>
              <a:t>One of its primary responsibilities is </a:t>
            </a:r>
            <a:r>
              <a:rPr b="1" lang="en-GB">
                <a:solidFill>
                  <a:schemeClr val="dk1"/>
                </a:solidFill>
              </a:rPr>
              <a:t>Authentication and Authorization</a:t>
            </a:r>
            <a:r>
              <a:rPr lang="en-GB">
                <a:solidFill>
                  <a:schemeClr val="dk1"/>
                </a:solidFill>
              </a:rPr>
              <a:t>. Tyk verifies that incoming requests are from legitimate clients and ensures those clients have the right permissions to access the resources they're asking for.</a:t>
            </a:r>
            <a:endParaRPr>
              <a:solidFill>
                <a:schemeClr val="dk1"/>
              </a:solidFill>
            </a:endParaRPr>
          </a:p>
          <a:p>
            <a:pPr indent="-342900" lvl="0" marL="457200" rtl="0" algn="l">
              <a:lnSpc>
                <a:spcPct val="115000"/>
              </a:lnSpc>
              <a:spcBef>
                <a:spcPts val="0"/>
              </a:spcBef>
              <a:spcAft>
                <a:spcPts val="0"/>
              </a:spcAft>
              <a:buClr>
                <a:schemeClr val="dk1"/>
              </a:buClr>
              <a:buSzPts val="1800"/>
              <a:buFont typeface="Inter"/>
              <a:buChar char="●"/>
            </a:pPr>
            <a:r>
              <a:rPr lang="en-GB">
                <a:solidFill>
                  <a:schemeClr val="dk1"/>
                </a:solidFill>
              </a:rPr>
              <a:t>Next, it applies </a:t>
            </a:r>
            <a:r>
              <a:rPr b="1" lang="en-GB">
                <a:solidFill>
                  <a:schemeClr val="dk1"/>
                </a:solidFill>
              </a:rPr>
              <a:t>Rate Limiting and Quotas</a:t>
            </a:r>
            <a:r>
              <a:rPr lang="en-GB">
                <a:solidFill>
                  <a:schemeClr val="dk1"/>
                </a:solidFill>
              </a:rPr>
              <a:t> to protect your backend systems. This means you can control how many requests a client can make within a certain time period, helping to prevent abuse or overload.</a:t>
            </a:r>
            <a:endParaRPr>
              <a:solidFill>
                <a:schemeClr val="dk1"/>
              </a:solidFill>
            </a:endParaRPr>
          </a:p>
          <a:p>
            <a:pPr indent="-342900" lvl="0" marL="457200" rtl="0" algn="l">
              <a:lnSpc>
                <a:spcPct val="115000"/>
              </a:lnSpc>
              <a:spcBef>
                <a:spcPts val="0"/>
              </a:spcBef>
              <a:spcAft>
                <a:spcPts val="0"/>
              </a:spcAft>
              <a:buClr>
                <a:schemeClr val="dk1"/>
              </a:buClr>
              <a:buSzPts val="1800"/>
              <a:buFont typeface="Inter"/>
              <a:buChar char="●"/>
            </a:pPr>
            <a:r>
              <a:rPr lang="en-GB">
                <a:solidFill>
                  <a:schemeClr val="dk1"/>
                </a:solidFill>
              </a:rPr>
              <a:t>It also </a:t>
            </a:r>
            <a:r>
              <a:rPr b="1" lang="en-GB">
                <a:solidFill>
                  <a:schemeClr val="dk1"/>
                </a:solidFill>
              </a:rPr>
              <a:t>enforces policies</a:t>
            </a:r>
            <a:r>
              <a:rPr lang="en-GB">
                <a:solidFill>
                  <a:schemeClr val="dk1"/>
                </a:solidFill>
              </a:rPr>
              <a:t> in real time—these policies might define access levels, transformations, or usage plans—ensuring that every request complies with the rules you’ve set.</a:t>
            </a:r>
            <a:endParaRPr>
              <a:solidFill>
                <a:schemeClr val="dk1"/>
              </a:solidFill>
            </a:endParaRPr>
          </a:p>
          <a:p>
            <a:pPr indent="-342900" lvl="0" marL="457200" rtl="0" algn="l">
              <a:lnSpc>
                <a:spcPct val="115000"/>
              </a:lnSpc>
              <a:spcBef>
                <a:spcPts val="0"/>
              </a:spcBef>
              <a:spcAft>
                <a:spcPts val="0"/>
              </a:spcAft>
              <a:buClr>
                <a:schemeClr val="dk1"/>
              </a:buClr>
              <a:buSzPts val="1800"/>
              <a:buFont typeface="Inter"/>
              <a:buChar char="●"/>
            </a:pPr>
            <a:r>
              <a:rPr lang="en-GB">
                <a:solidFill>
                  <a:schemeClr val="dk1"/>
                </a:solidFill>
              </a:rPr>
              <a:t>And finally, the Gateway provides </a:t>
            </a:r>
            <a:r>
              <a:rPr b="1" lang="en-GB">
                <a:solidFill>
                  <a:schemeClr val="dk1"/>
                </a:solidFill>
              </a:rPr>
              <a:t>Observability</a:t>
            </a:r>
            <a:r>
              <a:rPr lang="en-GB">
                <a:solidFill>
                  <a:schemeClr val="dk1"/>
                </a:solidFill>
              </a:rPr>
              <a:t> out of the box. It captures rich telemetry—such as request logs, latencies, errors, and usage metrics—so you can monitor and analyze traffic patterns, detect anomalies, and troubleshoot issues effectively.</a:t>
            </a:r>
            <a:endParaRPr>
              <a:solidFill>
                <a:schemeClr val="dk1"/>
              </a:solidFill>
            </a:endParaRPr>
          </a:p>
          <a:p>
            <a:pPr indent="-342900" lvl="0" marL="457200" rtl="0" algn="l">
              <a:lnSpc>
                <a:spcPct val="115000"/>
              </a:lnSpc>
              <a:spcBef>
                <a:spcPts val="0"/>
              </a:spcBef>
              <a:spcAft>
                <a:spcPts val="0"/>
              </a:spcAft>
              <a:buClr>
                <a:schemeClr val="dk1"/>
              </a:buClr>
              <a:buSzPts val="1800"/>
              <a:buFont typeface="Inter"/>
              <a:buChar char="●"/>
            </a:pPr>
            <a:r>
              <a:rPr lang="en-GB">
                <a:solidFill>
                  <a:schemeClr val="dk1"/>
                </a:solidFill>
              </a:rPr>
              <a:t>In short, the Tyk Gateway acts as a smart, real-time traffic enforcer that ensures every API call is secure, compliant, and well-governed.</a:t>
            </a:r>
            <a:endParaRPr sz="1800">
              <a:solidFill>
                <a:schemeClr val="dk1"/>
              </a:solidFill>
              <a:latin typeface="Inter"/>
              <a:ea typeface="Inter"/>
              <a:cs typeface="Inter"/>
              <a:sym typeface="Inter"/>
            </a:endParaRPr>
          </a:p>
          <a:p>
            <a:pPr indent="0" lvl="0" marL="0" rtl="0" algn="l">
              <a:lnSpc>
                <a:spcPct val="117999"/>
              </a:lnSpc>
              <a:spcBef>
                <a:spcPts val="1200"/>
              </a:spcBef>
              <a:spcAft>
                <a:spcPts val="0"/>
              </a:spcAft>
              <a:buClr>
                <a:schemeClr val="dk1"/>
              </a:buClr>
              <a:buSzPts val="14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f11439d0d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f11439d0d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Redis is a core component in the Tyk stack, powering </a:t>
            </a:r>
            <a:r>
              <a:rPr b="1" lang="en-GB">
                <a:solidFill>
                  <a:schemeClr val="dk1"/>
                </a:solidFill>
              </a:rPr>
              <a:t>real-time request validation</a:t>
            </a:r>
            <a:r>
              <a:rPr lang="en-GB">
                <a:solidFill>
                  <a:schemeClr val="dk1"/>
                </a:solidFill>
              </a:rPr>
              <a:t> through its </a:t>
            </a:r>
            <a:r>
              <a:rPr b="1" lang="en-GB">
                <a:solidFill>
                  <a:schemeClr val="dk1"/>
                </a:solidFill>
              </a:rPr>
              <a:t>fast, in-memory performance</a:t>
            </a:r>
            <a:r>
              <a:rPr lang="en-GB">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It’s designed to minimize latency, making it ideal for </a:t>
            </a:r>
            <a:r>
              <a:rPr b="1" lang="en-GB">
                <a:solidFill>
                  <a:schemeClr val="dk1"/>
                </a:solidFill>
              </a:rPr>
              <a:t>high-throughput APIs</a:t>
            </a:r>
            <a:r>
              <a:rPr lang="en-GB">
                <a:solidFill>
                  <a:schemeClr val="dk1"/>
                </a:solidFill>
              </a:rPr>
              <a:t> where speed is critical.</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Redis stores important runtime data such as </a:t>
            </a:r>
            <a:r>
              <a:rPr b="1" lang="en-GB">
                <a:solidFill>
                  <a:schemeClr val="dk1"/>
                </a:solidFill>
              </a:rPr>
              <a:t>rate limit counters</a:t>
            </a:r>
            <a:r>
              <a:rPr lang="en-GB">
                <a:solidFill>
                  <a:schemeClr val="dk1"/>
                </a:solidFill>
              </a:rPr>
              <a:t>, </a:t>
            </a:r>
            <a:r>
              <a:rPr b="1" lang="en-GB">
                <a:solidFill>
                  <a:schemeClr val="dk1"/>
                </a:solidFill>
              </a:rPr>
              <a:t>session tokens</a:t>
            </a:r>
            <a:r>
              <a:rPr lang="en-GB">
                <a:solidFill>
                  <a:schemeClr val="dk1"/>
                </a:solidFill>
              </a:rPr>
              <a:t>, and </a:t>
            </a:r>
            <a:r>
              <a:rPr b="1" lang="en-GB">
                <a:solidFill>
                  <a:schemeClr val="dk1"/>
                </a:solidFill>
              </a:rPr>
              <a:t>API key states</a:t>
            </a:r>
            <a:r>
              <a:rPr lang="en-GB">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allows the Tyk Gateway to make decisions quickly—like whether a request is within quota or if an API key is valid—without hitting the database.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multi-node environments, Redis also ensures </a:t>
            </a:r>
            <a:r>
              <a:rPr b="1" lang="en-GB">
                <a:solidFill>
                  <a:schemeClr val="dk1"/>
                </a:solidFill>
              </a:rPr>
              <a:t>shared state across all gateways</a:t>
            </a:r>
            <a:r>
              <a:rPr lang="en-GB">
                <a:solidFill>
                  <a:schemeClr val="dk1"/>
                </a:solidFill>
              </a:rPr>
              <a:t>. It </a:t>
            </a:r>
            <a:r>
              <a:rPr b="1" lang="en-GB">
                <a:solidFill>
                  <a:schemeClr val="dk1"/>
                </a:solidFill>
              </a:rPr>
              <a:t>synchronizes usage data</a:t>
            </a:r>
            <a:r>
              <a:rPr lang="en-GB">
                <a:solidFill>
                  <a:schemeClr val="dk1"/>
                </a:solidFill>
              </a:rPr>
              <a:t>, so no matter which gateway handles the request, it sees the same usage picture.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On top of that, Redis acts as a </a:t>
            </a:r>
            <a:r>
              <a:rPr b="1" lang="en-GB">
                <a:solidFill>
                  <a:schemeClr val="dk1"/>
                </a:solidFill>
              </a:rPr>
              <a:t>Pub/Sub broker</a:t>
            </a:r>
            <a:r>
              <a:rPr lang="en-GB">
                <a:solidFill>
                  <a:schemeClr val="dk1"/>
                </a:solidFill>
              </a:rPr>
              <a:t> to deliver </a:t>
            </a:r>
            <a:r>
              <a:rPr b="1" lang="en-GB">
                <a:solidFill>
                  <a:schemeClr val="dk1"/>
                </a:solidFill>
              </a:rPr>
              <a:t>cluster-wide notifications</a:t>
            </a:r>
            <a:r>
              <a:rPr lang="en-GB">
                <a:solidFill>
                  <a:schemeClr val="dk1"/>
                </a:solidFill>
              </a:rPr>
              <a:t>. This helps with cache purging, policy updates, and other real-time coordination between nodes.</a:t>
            </a:r>
            <a:endParaRPr>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GB">
                <a:solidFill>
                  <a:schemeClr val="dk1"/>
                </a:solidFill>
              </a:rPr>
              <a:t>In short, Redis enables Tyk to deliver both </a:t>
            </a:r>
            <a:r>
              <a:rPr b="1" lang="en-GB">
                <a:solidFill>
                  <a:schemeClr val="dk1"/>
                </a:solidFill>
              </a:rPr>
              <a:t>high performance and consistent behavior</a:t>
            </a:r>
            <a:r>
              <a:rPr lang="en-GB">
                <a:solidFill>
                  <a:schemeClr val="dk1"/>
                </a:solidFill>
              </a:rPr>
              <a:t> across your entire API infrastructure.</a:t>
            </a:r>
            <a:endParaRPr sz="1800">
              <a:solidFill>
                <a:schemeClr val="dk1"/>
              </a:solidFill>
              <a:latin typeface="Inter"/>
              <a:ea typeface="Inter"/>
              <a:cs typeface="Inter"/>
              <a:sym typeface="Inte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51dcc420b1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51dcc420b1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a:t>
            </a:r>
            <a:r>
              <a:rPr b="1" lang="en-GB">
                <a:solidFill>
                  <a:schemeClr val="dk1"/>
                </a:solidFill>
              </a:rPr>
              <a:t>Tyk Dashboard</a:t>
            </a:r>
            <a:r>
              <a:rPr lang="en-GB">
                <a:solidFill>
                  <a:schemeClr val="dk1"/>
                </a:solidFill>
              </a:rPr>
              <a:t> is a </a:t>
            </a:r>
            <a:r>
              <a:rPr b="1" lang="en-GB">
                <a:solidFill>
                  <a:schemeClr val="dk1"/>
                </a:solidFill>
              </a:rPr>
              <a:t>web-based admin interface</a:t>
            </a:r>
            <a:r>
              <a:rPr lang="en-GB">
                <a:solidFill>
                  <a:schemeClr val="dk1"/>
                </a:solidFill>
              </a:rPr>
              <a:t> that gives you full control over your API ecosystem—without needing to touch raw JSON or configuration files.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 allows you to </a:t>
            </a:r>
            <a:r>
              <a:rPr b="1" lang="en-GB">
                <a:solidFill>
                  <a:schemeClr val="dk1"/>
                </a:solidFill>
              </a:rPr>
              <a:t>create, update, and organize your APIs visually</a:t>
            </a:r>
            <a:r>
              <a:rPr lang="en-GB">
                <a:solidFill>
                  <a:schemeClr val="dk1"/>
                </a:solidFill>
              </a:rPr>
              <a:t>. You can define endpoints, set authentication methods, and apply rate limits—all from an intuitive UI.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 the Dashboard, you can also </a:t>
            </a:r>
            <a:r>
              <a:rPr b="1" lang="en-GB">
                <a:solidFill>
                  <a:schemeClr val="dk1"/>
                </a:solidFill>
              </a:rPr>
              <a:t>define access policies</a:t>
            </a:r>
            <a:r>
              <a:rPr lang="en-GB">
                <a:solidFill>
                  <a:schemeClr val="dk1"/>
                </a:solidFill>
              </a:rPr>
              <a:t>. These policies let you control </a:t>
            </a:r>
            <a:r>
              <a:rPr b="1" lang="en-GB">
                <a:solidFill>
                  <a:schemeClr val="dk1"/>
                </a:solidFill>
              </a:rPr>
              <a:t>who can access your APIs</a:t>
            </a:r>
            <a:r>
              <a:rPr lang="en-GB">
                <a:solidFill>
                  <a:schemeClr val="dk1"/>
                </a:solidFill>
              </a:rPr>
              <a:t>, </a:t>
            </a:r>
            <a:r>
              <a:rPr b="1" lang="en-GB">
                <a:solidFill>
                  <a:schemeClr val="dk1"/>
                </a:solidFill>
              </a:rPr>
              <a:t>how often</a:t>
            </a:r>
            <a:r>
              <a:rPr lang="en-GB">
                <a:solidFill>
                  <a:schemeClr val="dk1"/>
                </a:solidFill>
              </a:rPr>
              <a:t>, and </a:t>
            </a:r>
            <a:r>
              <a:rPr b="1" lang="en-GB">
                <a:solidFill>
                  <a:schemeClr val="dk1"/>
                </a:solidFill>
              </a:rPr>
              <a:t>what credentials</a:t>
            </a:r>
            <a:r>
              <a:rPr lang="en-GB">
                <a:solidFill>
                  <a:schemeClr val="dk1"/>
                </a:solidFill>
              </a:rPr>
              <a:t> they must use—such as API keys, JWTs, or OAuth tokens.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Dashboard includes powerful </a:t>
            </a:r>
            <a:r>
              <a:rPr b="1" lang="en-GB">
                <a:solidFill>
                  <a:schemeClr val="dk1"/>
                </a:solidFill>
              </a:rPr>
              <a:t>user and team management</a:t>
            </a:r>
            <a:r>
              <a:rPr lang="en-GB">
                <a:solidFill>
                  <a:schemeClr val="dk1"/>
                </a:solidFill>
              </a:rPr>
              <a:t> features. You can assign </a:t>
            </a:r>
            <a:r>
              <a:rPr b="1" lang="en-GB">
                <a:solidFill>
                  <a:schemeClr val="dk1"/>
                </a:solidFill>
              </a:rPr>
              <a:t>roles and permissions</a:t>
            </a:r>
            <a:r>
              <a:rPr lang="en-GB">
                <a:solidFill>
                  <a:schemeClr val="dk1"/>
                </a:solidFill>
              </a:rPr>
              <a:t>, ensuring that only authorized users can make changes or access specific parts of the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addition, the Dashboard provides </a:t>
            </a:r>
            <a:r>
              <a:rPr b="1" lang="en-GB">
                <a:solidFill>
                  <a:schemeClr val="dk1"/>
                </a:solidFill>
              </a:rPr>
              <a:t>real-time analytics</a:t>
            </a:r>
            <a:r>
              <a:rPr lang="en-GB">
                <a:solidFill>
                  <a:schemeClr val="dk1"/>
                </a:solidFill>
              </a:rPr>
              <a:t>. You can monitor </a:t>
            </a:r>
            <a:r>
              <a:rPr b="1" lang="en-GB">
                <a:solidFill>
                  <a:schemeClr val="dk1"/>
                </a:solidFill>
              </a:rPr>
              <a:t>traffic volume</a:t>
            </a:r>
            <a:r>
              <a:rPr lang="en-GB">
                <a:solidFill>
                  <a:schemeClr val="dk1"/>
                </a:solidFill>
              </a:rPr>
              <a:t>, </a:t>
            </a:r>
            <a:r>
              <a:rPr b="1" lang="en-GB">
                <a:solidFill>
                  <a:schemeClr val="dk1"/>
                </a:solidFill>
              </a:rPr>
              <a:t>error rates</a:t>
            </a:r>
            <a:r>
              <a:rPr lang="en-GB">
                <a:solidFill>
                  <a:schemeClr val="dk1"/>
                </a:solidFill>
              </a:rPr>
              <a:t>, </a:t>
            </a:r>
            <a:r>
              <a:rPr b="1" lang="en-GB">
                <a:solidFill>
                  <a:schemeClr val="dk1"/>
                </a:solidFill>
              </a:rPr>
              <a:t>latency</a:t>
            </a:r>
            <a:r>
              <a:rPr lang="en-GB">
                <a:solidFill>
                  <a:schemeClr val="dk1"/>
                </a:solidFill>
              </a:rPr>
              <a:t>, and </a:t>
            </a:r>
            <a:r>
              <a:rPr b="1" lang="en-GB">
                <a:solidFill>
                  <a:schemeClr val="dk1"/>
                </a:solidFill>
              </a:rPr>
              <a:t>usage trends</a:t>
            </a:r>
            <a:r>
              <a:rPr lang="en-GB">
                <a:solidFill>
                  <a:schemeClr val="dk1"/>
                </a:solidFill>
              </a:rPr>
              <a:t>, helping you stay on top of performance and troubleshoot issues quickly.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you make configuration changes—like updating an API definition or editing a policy—those changes are </a:t>
            </a:r>
            <a:r>
              <a:rPr b="1" lang="en-GB">
                <a:solidFill>
                  <a:schemeClr val="dk1"/>
                </a:solidFill>
              </a:rPr>
              <a:t>automatically synced with the Tyk Gateway</a:t>
            </a:r>
            <a:r>
              <a:rPr lang="en-GB">
                <a:solidFill>
                  <a:schemeClr val="dk1"/>
                </a:solidFill>
              </a:rPr>
              <a:t>. This keeps your Gateway configuration up to date without requiring a manual redeploy.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And finally, for enterprise environments, the Dashboard supports </a:t>
            </a:r>
            <a:r>
              <a:rPr b="1" lang="en-GB">
                <a:solidFill>
                  <a:schemeClr val="dk1"/>
                </a:solidFill>
              </a:rPr>
              <a:t>Single Sign-On (SSO)</a:t>
            </a:r>
            <a:r>
              <a:rPr lang="en-GB">
                <a:solidFill>
                  <a:schemeClr val="dk1"/>
                </a:solidFill>
              </a:rPr>
              <a:t> via SAML or OIDC, allowing you to integrate with your identity provider and streamline user access management.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short, the Tyk Dashboard makes managing, securing, and monitoring your APIs straightforward—so you can focus on building, not babysitting infrastructure</a:t>
            </a:r>
            <a:endParaRPr/>
          </a:p>
          <a:p>
            <a:pPr indent="0" lvl="0" marL="0" rtl="0" algn="l">
              <a:lnSpc>
                <a:spcPct val="117999"/>
              </a:lnSpc>
              <a:spcBef>
                <a:spcPts val="1200"/>
              </a:spcBef>
              <a:spcAft>
                <a:spcPts val="0"/>
              </a:spcAft>
              <a:buClr>
                <a:schemeClr val="dk1"/>
              </a:buClr>
              <a:buSzPts val="14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51dcc420b1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51dcc420b1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Tyk Dashboard requires a database to store and manage various types of data that are essential for its operation and the enhanced features it provides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The database stores API configurations, policies, and user settings. This allows the Dashboard to persistently manage and apply configurations across restarts and updates.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The database is used to store detailed analytics data collected from the Gateway. This data includes API usage statistics, performance metrics, and traffic logs, which the Dashboard processes to generate reports and insights.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Information about users, roles, and permissions is stored in the database. This supports the Dashboard's role-based access control and team collaboration features.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The database maintains audit logs of changes made through the Dashboard, providing a history of configuration changes and user actions for compliance and troubleshooting purposes.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b="1" lang="en-GB" sz="2200">
                <a:solidFill>
                  <a:schemeClr val="dk1"/>
                </a:solidFill>
                <a:latin typeface="Helvetica Neue"/>
                <a:ea typeface="Helvetica Neue"/>
                <a:cs typeface="Helvetica Neue"/>
                <a:sym typeface="Helvetica Neue"/>
              </a:rPr>
              <a:t>Dashboard data store</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2200">
                <a:solidFill>
                  <a:schemeClr val="dk1"/>
                </a:solidFill>
                <a:latin typeface="Helvetica Neue"/>
                <a:ea typeface="Helvetica Neue"/>
                <a:cs typeface="Helvetica Neue"/>
                <a:sym typeface="Helvetica Neue"/>
              </a:rPr>
              <a:t>Used by the Dashboard for data storage.</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2200"/>
              <a:buFont typeface="Helvetica Neue"/>
              <a:buNone/>
            </a:pPr>
            <a:r>
              <a:rPr lang="en-GB" sz="2200">
                <a:solidFill>
                  <a:schemeClr val="dk1"/>
                </a:solidFill>
                <a:latin typeface="Helvetica Neue"/>
                <a:ea typeface="Helvetica Neue"/>
                <a:cs typeface="Helvetica Neue"/>
                <a:sym typeface="Helvetica Neue"/>
              </a:rPr>
              <a:t>For production environments it is recommended to run MongoDB in a highly available manner e.g. MongoDB replica sets.</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b="1" lang="en-GB" sz="2200">
                <a:solidFill>
                  <a:schemeClr val="dk1"/>
                </a:solidFill>
                <a:latin typeface="Helvetica Neue"/>
                <a:ea typeface="Helvetica Neue"/>
                <a:cs typeface="Helvetica Neue"/>
                <a:sym typeface="Helvetica Neue"/>
              </a:rPr>
              <a:t>API configurations</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2200">
                <a:solidFill>
                  <a:schemeClr val="dk1"/>
                </a:solidFill>
                <a:latin typeface="Helvetica Neue"/>
                <a:ea typeface="Helvetica Neue"/>
                <a:cs typeface="Helvetica Neue"/>
                <a:sym typeface="Helvetica Neue"/>
              </a:rPr>
              <a:t>Stores API configurations, analytics, Dashboard configurations, dashboard users, portal developers, portal configuration, policies, organisations.</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b="1" lang="en-GB" sz="2200">
                <a:solidFill>
                  <a:schemeClr val="dk1"/>
                </a:solidFill>
                <a:latin typeface="Helvetica Neue"/>
                <a:ea typeface="Helvetica Neue"/>
                <a:cs typeface="Helvetica Neue"/>
                <a:sym typeface="Helvetica Neue"/>
              </a:rPr>
              <a:t>Large size</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2200">
                <a:solidFill>
                  <a:schemeClr val="dk1"/>
                </a:solidFill>
                <a:latin typeface="Helvetica Neue"/>
                <a:ea typeface="Helvetica Neue"/>
                <a:cs typeface="Helvetica Neue"/>
                <a:sym typeface="Helvetica Neue"/>
              </a:rPr>
              <a:t>Collections can grow large due to the amount of data collected.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1dcc420b1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1dcc420b1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7999"/>
              </a:lnSpc>
              <a:spcBef>
                <a:spcPts val="0"/>
              </a:spcBef>
              <a:spcAft>
                <a:spcPts val="0"/>
              </a:spcAft>
              <a:buClr>
                <a:schemeClr val="dk1"/>
              </a:buClr>
              <a:buSzPts val="1400"/>
              <a:buFont typeface="Arial"/>
              <a:buNone/>
            </a:pPr>
            <a:r>
              <a:rPr lang="en-GB" sz="2200">
                <a:solidFill>
                  <a:schemeClr val="dk1"/>
                </a:solidFill>
                <a:latin typeface="Helvetica Neue"/>
                <a:ea typeface="Helvetica Neue"/>
                <a:cs typeface="Helvetica Neue"/>
                <a:sym typeface="Helvetica Neue"/>
              </a:rPr>
              <a:t>Tyk Pump is a component of the Tyk API Management platform designed to handle the extraction, transformation, and loading (ETL) of analytics data from the Tyk Gateway into various storage backends.</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2200">
              <a:solidFill>
                <a:schemeClr val="dk1"/>
              </a:solidFill>
              <a:latin typeface="Helvetica Neue"/>
              <a:ea typeface="Helvetica Neue"/>
              <a:cs typeface="Helvetica Neue"/>
              <a:sym typeface="Helvetica Neue"/>
            </a:endParaRPr>
          </a:p>
          <a:p>
            <a:pPr indent="-368300" lvl="0" marL="457200" rtl="0" algn="l">
              <a:lnSpc>
                <a:spcPct val="117999"/>
              </a:lnSpc>
              <a:spcBef>
                <a:spcPts val="0"/>
              </a:spcBef>
              <a:spcAft>
                <a:spcPts val="0"/>
              </a:spcAft>
              <a:buClr>
                <a:schemeClr val="dk1"/>
              </a:buClr>
              <a:buSzPts val="2200"/>
              <a:buFont typeface="Helvetica Neue"/>
              <a:buChar char="●"/>
            </a:pPr>
            <a:r>
              <a:rPr lang="en-GB" sz="2200">
                <a:solidFill>
                  <a:schemeClr val="dk1"/>
                </a:solidFill>
                <a:latin typeface="Helvetica Neue"/>
                <a:ea typeface="Helvetica Neue"/>
                <a:cs typeface="Helvetica Neue"/>
                <a:sym typeface="Helvetica Neue"/>
              </a:rPr>
              <a:t>Tyk Pump collects raw analytics data from the Tyk Gateway, which includes API usage statistics, performance metrics, and traffic logs.</a:t>
            </a:r>
            <a:endParaRPr sz="2200">
              <a:solidFill>
                <a:schemeClr val="dk1"/>
              </a:solidFill>
              <a:latin typeface="Helvetica Neue"/>
              <a:ea typeface="Helvetica Neue"/>
              <a:cs typeface="Helvetica Neue"/>
              <a:sym typeface="Helvetica Neue"/>
            </a:endParaRPr>
          </a:p>
          <a:p>
            <a:pPr indent="-368300" lvl="0" marL="457200" rtl="0" algn="l">
              <a:lnSpc>
                <a:spcPct val="117999"/>
              </a:lnSpc>
              <a:spcBef>
                <a:spcPts val="0"/>
              </a:spcBef>
              <a:spcAft>
                <a:spcPts val="0"/>
              </a:spcAft>
              <a:buClr>
                <a:schemeClr val="dk1"/>
              </a:buClr>
              <a:buSzPts val="2200"/>
              <a:buFont typeface="Helvetica Neue"/>
              <a:buChar char="●"/>
            </a:pPr>
            <a:r>
              <a:rPr lang="en-GB" sz="2200">
                <a:solidFill>
                  <a:schemeClr val="dk1"/>
                </a:solidFill>
                <a:latin typeface="Helvetica Neue"/>
                <a:ea typeface="Helvetica Neue"/>
                <a:cs typeface="Helvetica Neue"/>
                <a:sym typeface="Helvetica Neue"/>
              </a:rPr>
              <a:t>It processes and transforms this data into a format suitable for storage and analysis, ensuring that it is structured and optimized for querying.</a:t>
            </a:r>
            <a:endParaRPr sz="2200">
              <a:solidFill>
                <a:schemeClr val="dk1"/>
              </a:solidFill>
              <a:latin typeface="Helvetica Neue"/>
              <a:ea typeface="Helvetica Neue"/>
              <a:cs typeface="Helvetica Neue"/>
              <a:sym typeface="Helvetica Neue"/>
            </a:endParaRPr>
          </a:p>
          <a:p>
            <a:pPr indent="-368300" lvl="0" marL="457200" rtl="0" algn="l">
              <a:lnSpc>
                <a:spcPct val="117999"/>
              </a:lnSpc>
              <a:spcBef>
                <a:spcPts val="0"/>
              </a:spcBef>
              <a:spcAft>
                <a:spcPts val="0"/>
              </a:spcAft>
              <a:buClr>
                <a:schemeClr val="dk1"/>
              </a:buClr>
              <a:buSzPts val="2200"/>
              <a:buFont typeface="Helvetica Neue"/>
              <a:buChar char="●"/>
            </a:pPr>
            <a:r>
              <a:rPr lang="en-GB" sz="2200">
                <a:solidFill>
                  <a:schemeClr val="dk1"/>
                </a:solidFill>
                <a:latin typeface="Helvetica Neue"/>
                <a:ea typeface="Helvetica Neue"/>
                <a:cs typeface="Helvetica Neue"/>
                <a:sym typeface="Helvetica Neue"/>
              </a:rPr>
              <a:t>Tyk Pump exports the transformed data to various storage backends, such as databases (e.g., MongoDB, PostgreSQL), data warehouses, or analytics platforms. This allows for long-term storage and detailed analysis.</a:t>
            </a:r>
            <a:endParaRPr sz="2200">
              <a:solidFill>
                <a:schemeClr val="dk1"/>
              </a:solidFill>
              <a:latin typeface="Helvetica Neue"/>
              <a:ea typeface="Helvetica Neue"/>
              <a:cs typeface="Helvetica Neue"/>
              <a:sym typeface="Helvetica Neue"/>
            </a:endParaRPr>
          </a:p>
          <a:p>
            <a:pPr indent="-368300" lvl="0" marL="457200" rtl="0" algn="l">
              <a:lnSpc>
                <a:spcPct val="117999"/>
              </a:lnSpc>
              <a:spcBef>
                <a:spcPts val="0"/>
              </a:spcBef>
              <a:spcAft>
                <a:spcPts val="0"/>
              </a:spcAft>
              <a:buClr>
                <a:schemeClr val="dk1"/>
              </a:buClr>
              <a:buSzPts val="2200"/>
              <a:buFont typeface="Helvetica Neue"/>
              <a:buChar char="●"/>
            </a:pPr>
            <a:r>
              <a:rPr lang="en-GB" sz="2200">
                <a:solidFill>
                  <a:schemeClr val="dk1"/>
                </a:solidFill>
                <a:latin typeface="Helvetica Neue"/>
                <a:ea typeface="Helvetica Neue"/>
                <a:cs typeface="Helvetica Neue"/>
                <a:sym typeface="Helvetica Neue"/>
              </a:rPr>
              <a:t>Tyk Pump supports multiple output targets, allowing organizations to choose the most suitable storage solution for their analytics needs.</a:t>
            </a:r>
            <a:endParaRPr sz="2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6f0875b8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6f0875b8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68300" lvl="0" marL="457200" rtl="0" algn="l">
              <a:lnSpc>
                <a:spcPct val="117999"/>
              </a:lnSpc>
              <a:spcBef>
                <a:spcPts val="0"/>
              </a:spcBef>
              <a:spcAft>
                <a:spcPts val="0"/>
              </a:spcAft>
              <a:buClr>
                <a:schemeClr val="dk1"/>
              </a:buClr>
              <a:buSzPts val="2200"/>
              <a:buFont typeface="Helvetica Neue"/>
              <a:buChar char="●"/>
            </a:pPr>
            <a:r>
              <a:rPr lang="en-GB" sz="2200">
                <a:solidFill>
                  <a:schemeClr val="dk1"/>
                </a:solidFill>
                <a:latin typeface="Helvetica Neue"/>
                <a:ea typeface="Helvetica Neue"/>
                <a:cs typeface="Helvetica Neue"/>
                <a:sym typeface="Helvetica Neue"/>
              </a:rPr>
              <a:t>That sums up the main components that are part of the Tyk stack. </a:t>
            </a:r>
            <a:endParaRPr sz="2200">
              <a:solidFill>
                <a:schemeClr val="dk1"/>
              </a:solidFill>
              <a:latin typeface="Helvetica Neue"/>
              <a:ea typeface="Helvetica Neue"/>
              <a:cs typeface="Helvetica Neue"/>
              <a:sym typeface="Helvetica Neue"/>
            </a:endParaRPr>
          </a:p>
          <a:p>
            <a:pPr indent="-368300" lvl="0" marL="457200" rtl="0" algn="l">
              <a:lnSpc>
                <a:spcPct val="117999"/>
              </a:lnSpc>
              <a:spcBef>
                <a:spcPts val="0"/>
              </a:spcBef>
              <a:spcAft>
                <a:spcPts val="0"/>
              </a:spcAft>
              <a:buClr>
                <a:schemeClr val="dk1"/>
              </a:buClr>
              <a:buSzPts val="2200"/>
              <a:buFont typeface="Helvetica Neue"/>
              <a:buChar char="●"/>
            </a:pPr>
            <a:r>
              <a:rPr lang="en-GB" sz="2200">
                <a:solidFill>
                  <a:schemeClr val="dk1"/>
                </a:solidFill>
                <a:latin typeface="Helvetica Neue"/>
                <a:ea typeface="Helvetica Neue"/>
                <a:cs typeface="Helvetica Neue"/>
                <a:sym typeface="Helvetica Neue"/>
              </a:rPr>
              <a:t>The Tyk stack is the full API management platform that runs on a single data center to meeting all your end to end API management needs.</a:t>
            </a:r>
            <a:endParaRPr sz="2200">
              <a:solidFill>
                <a:schemeClr val="dk1"/>
              </a:solidFill>
              <a:latin typeface="Helvetica Neue"/>
              <a:ea typeface="Helvetica Neue"/>
              <a:cs typeface="Helvetica Neue"/>
              <a:sym typeface="Helvetica Neue"/>
            </a:endParaRPr>
          </a:p>
          <a:p>
            <a:pPr indent="-368300" lvl="0" marL="457200" rtl="0" algn="l">
              <a:lnSpc>
                <a:spcPct val="117999"/>
              </a:lnSpc>
              <a:spcBef>
                <a:spcPts val="0"/>
              </a:spcBef>
              <a:spcAft>
                <a:spcPts val="0"/>
              </a:spcAft>
              <a:buClr>
                <a:schemeClr val="dk1"/>
              </a:buClr>
              <a:buSzPts val="2200"/>
              <a:buFont typeface="Helvetica Neue"/>
              <a:buChar char="●"/>
            </a:pPr>
            <a:r>
              <a:rPr lang="en-GB" sz="2200">
                <a:solidFill>
                  <a:schemeClr val="dk1"/>
                </a:solidFill>
                <a:latin typeface="Helvetica Neue"/>
                <a:ea typeface="Helvetica Neue"/>
                <a:cs typeface="Helvetica Neue"/>
                <a:sym typeface="Helvetica Neue"/>
              </a:rPr>
              <a:t>In a later course, we will cover how from this Tyk Pro deployment in a single data center can be expanded to a multi-data center deployment. Let’s take a quick look at it</a:t>
            </a:r>
            <a:endParaRPr sz="2200">
              <a:solidFill>
                <a:schemeClr val="dk1"/>
              </a:solidFill>
              <a:latin typeface="Helvetica Neue"/>
              <a:ea typeface="Helvetica Neue"/>
              <a:cs typeface="Helvetica Neue"/>
              <a:sym typeface="Helvetica Neue"/>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4" name="Shape 64"/>
        <p:cNvGrpSpPr/>
        <p:nvPr/>
      </p:nvGrpSpPr>
      <p:grpSpPr>
        <a:xfrm>
          <a:off x="0" y="0"/>
          <a:ext cx="0" cy="0"/>
          <a:chOff x="0" y="0"/>
          <a:chExt cx="0" cy="0"/>
        </a:xfrm>
      </p:grpSpPr>
      <p:sp>
        <p:nvSpPr>
          <p:cNvPr id="65" name="Google Shape;65;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66" name="Google Shape;66;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 name="Google Shape;67;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71" name="Google Shape;7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 name="Shape 72"/>
        <p:cNvGrpSpPr/>
        <p:nvPr/>
      </p:nvGrpSpPr>
      <p:grpSpPr>
        <a:xfrm>
          <a:off x="0" y="0"/>
          <a:ext cx="0" cy="0"/>
          <a:chOff x="0" y="0"/>
          <a:chExt cx="0" cy="0"/>
        </a:xfrm>
      </p:grpSpPr>
      <p:sp>
        <p:nvSpPr>
          <p:cNvPr id="73" name="Google Shape;73;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19"/>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 name="Google Shape;75;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8" name="Google Shape;7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sp>
        <p:nvSpPr>
          <p:cNvPr id="80" name="Google Shape;80;p21"/>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2" name="Google Shape;82;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3" name="Google Shape;83;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84" name="Google Shape;8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 name="Shape 85"/>
        <p:cNvGrpSpPr/>
        <p:nvPr/>
      </p:nvGrpSpPr>
      <p:grpSpPr>
        <a:xfrm>
          <a:off x="0" y="0"/>
          <a:ext cx="0" cy="0"/>
          <a:chOff x="0" y="0"/>
          <a:chExt cx="0" cy="0"/>
        </a:xfrm>
      </p:grpSpPr>
      <p:sp>
        <p:nvSpPr>
          <p:cNvPr id="86" name="Google Shape;86;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7" name="Google Shape;8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 name="Shape 88"/>
        <p:cNvGrpSpPr/>
        <p:nvPr/>
      </p:nvGrpSpPr>
      <p:grpSpPr>
        <a:xfrm>
          <a:off x="0" y="0"/>
          <a:ext cx="0" cy="0"/>
          <a:chOff x="0" y="0"/>
          <a:chExt cx="0" cy="0"/>
        </a:xfrm>
      </p:grpSpPr>
      <p:sp>
        <p:nvSpPr>
          <p:cNvPr id="89" name="Google Shape;89;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0" name="Google Shape;90;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1" name="Google Shape;9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slide" showMasterSp="0">
  <p:cSld name="Light slide">
    <p:bg>
      <p:bgPr>
        <a:solidFill>
          <a:srgbClr val="FFFFFF"/>
        </a:solidFill>
      </p:bgPr>
    </p:bg>
    <p:spTree>
      <p:nvGrpSpPr>
        <p:cNvPr id="94" name="Shape 94"/>
        <p:cNvGrpSpPr/>
        <p:nvPr/>
      </p:nvGrpSpPr>
      <p:grpSpPr>
        <a:xfrm>
          <a:off x="0" y="0"/>
          <a:ext cx="0" cy="0"/>
          <a:chOff x="0" y="0"/>
          <a:chExt cx="0" cy="0"/>
        </a:xfrm>
      </p:grpSpPr>
      <p:sp>
        <p:nvSpPr>
          <p:cNvPr id="95" name="Google Shape;95;p25"/>
          <p:cNvSpPr txBox="1"/>
          <p:nvPr>
            <p:ph idx="1" type="body"/>
          </p:nvPr>
        </p:nvSpPr>
        <p:spPr>
          <a:xfrm>
            <a:off x="951731" y="1115566"/>
            <a:ext cx="5302200" cy="887700"/>
          </a:xfrm>
          <a:prstGeom prst="rect">
            <a:avLst/>
          </a:prstGeom>
          <a:noFill/>
          <a:ln>
            <a:noFill/>
          </a:ln>
        </p:spPr>
        <p:txBody>
          <a:bodyPr anchorCtr="0" anchor="t" bIns="0" lIns="0" spcFirstLastPara="1" rIns="0" wrap="square" tIns="0">
            <a:normAutofit/>
          </a:bodyPr>
          <a:lstStyle>
            <a:lvl1pPr indent="-419100" lvl="0" marL="457200" algn="l">
              <a:lnSpc>
                <a:spcPct val="100000"/>
              </a:lnSpc>
              <a:spcBef>
                <a:spcPts val="0"/>
              </a:spcBef>
              <a:spcAft>
                <a:spcPts val="0"/>
              </a:spcAft>
              <a:buClr>
                <a:srgbClr val="505071"/>
              </a:buClr>
              <a:buSzPts val="3000"/>
              <a:buFont typeface="Arial"/>
              <a:buChar char="●"/>
              <a:defRPr b="1" sz="3000">
                <a:solidFill>
                  <a:srgbClr val="505071"/>
                </a:solidFill>
                <a:latin typeface="Arial"/>
                <a:ea typeface="Arial"/>
                <a:cs typeface="Arial"/>
                <a:sym typeface="Arial"/>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96" name="Google Shape;96;p25"/>
          <p:cNvSpPr txBox="1"/>
          <p:nvPr>
            <p:ph idx="2" type="body"/>
          </p:nvPr>
        </p:nvSpPr>
        <p:spPr>
          <a:xfrm>
            <a:off x="934600" y="858391"/>
            <a:ext cx="2825700" cy="200100"/>
          </a:xfrm>
          <a:prstGeom prst="rect">
            <a:avLst/>
          </a:prstGeom>
          <a:noFill/>
          <a:ln>
            <a:noFill/>
          </a:ln>
        </p:spPr>
        <p:txBody>
          <a:bodyPr anchorCtr="0" anchor="t" bIns="19050" lIns="19050" spcFirstLastPara="1" rIns="19050" wrap="square" tIns="19050">
            <a:normAutofit/>
          </a:bodyPr>
          <a:lstStyle>
            <a:lvl1pPr indent="-273050" lvl="0" marL="457200" algn="l">
              <a:lnSpc>
                <a:spcPct val="10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pic>
        <p:nvPicPr>
          <p:cNvPr descr="logo_RGB-Transparent1-WEB.png" id="97" name="Google Shape;97;p25"/>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98" name="Google Shape;98;p25"/>
          <p:cNvSpPr txBox="1"/>
          <p:nvPr>
            <p:ph idx="3" type="body"/>
          </p:nvPr>
        </p:nvSpPr>
        <p:spPr>
          <a:xfrm>
            <a:off x="951731" y="2296477"/>
            <a:ext cx="3860100" cy="550500"/>
          </a:xfrm>
          <a:prstGeom prst="rect">
            <a:avLst/>
          </a:prstGeom>
          <a:noFill/>
          <a:ln>
            <a:noFill/>
          </a:ln>
        </p:spPr>
        <p:txBody>
          <a:bodyPr anchorCtr="0" anchor="t" bIns="0" lIns="0" spcFirstLastPara="1" rIns="0" wrap="square" tIns="0">
            <a:normAutofit/>
          </a:bodyPr>
          <a:lstStyle>
            <a:lvl1pPr indent="-273050" lvl="0" marL="457200" algn="l">
              <a:lnSpc>
                <a:spcPct val="12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99" name="Google Shape;99;p25"/>
          <p:cNvSpPr txBox="1"/>
          <p:nvPr>
            <p:ph idx="12" type="sldNum"/>
          </p:nvPr>
        </p:nvSpPr>
        <p:spPr>
          <a:xfrm>
            <a:off x="8543920" y="4773806"/>
            <a:ext cx="351600" cy="162000"/>
          </a:xfrm>
          <a:prstGeom prst="rect">
            <a:avLst/>
          </a:prstGeom>
          <a:noFill/>
          <a:ln>
            <a:noFill/>
          </a:ln>
        </p:spPr>
        <p:txBody>
          <a:bodyPr anchorCtr="0" anchor="b" bIns="0" lIns="0" spcFirstLastPara="1" rIns="0" wrap="square" tIns="0">
            <a:normAutofit/>
          </a:bodyPr>
          <a:lstStyle>
            <a:lvl1pPr indent="0" lvl="0"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1pPr>
            <a:lvl2pPr indent="0" lvl="1"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2pPr>
            <a:lvl3pPr indent="0" lvl="2"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3pPr>
            <a:lvl4pPr indent="0" lvl="3"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4pPr>
            <a:lvl5pPr indent="0" lvl="4"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5pPr>
            <a:lvl6pPr indent="0" lvl="5"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6pPr>
            <a:lvl7pPr indent="0" lvl="6"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7pPr>
            <a:lvl8pPr indent="0" lvl="7"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8pPr>
            <a:lvl9pPr indent="0" lvl="8"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dark">
  <p:cSld name="SECTION_HEADER_1_1">
    <p:bg>
      <p:bgPr>
        <a:blipFill>
          <a:blip r:embed="rId2">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ph type="title"/>
          </p:nvPr>
        </p:nvSpPr>
        <p:spPr>
          <a:xfrm>
            <a:off x="500550" y="0"/>
            <a:ext cx="8520600" cy="11406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1E1E1"/>
              </a:buClr>
              <a:buSzPts val="3000"/>
              <a:buNone/>
              <a:defRPr b="1" sz="3000">
                <a:solidFill>
                  <a:srgbClr val="E1E1E1"/>
                </a:solidFill>
              </a:defRPr>
            </a:lvl1pPr>
            <a:lvl2pPr lvl="1">
              <a:spcBef>
                <a:spcPts val="0"/>
              </a:spcBef>
              <a:spcAft>
                <a:spcPts val="0"/>
              </a:spcAft>
              <a:buClr>
                <a:srgbClr val="E1E1E1"/>
              </a:buClr>
              <a:buSzPts val="3000"/>
              <a:buNone/>
              <a:defRPr b="1" sz="3000">
                <a:solidFill>
                  <a:srgbClr val="E1E1E1"/>
                </a:solidFill>
              </a:defRPr>
            </a:lvl2pPr>
            <a:lvl3pPr lvl="2">
              <a:spcBef>
                <a:spcPts val="0"/>
              </a:spcBef>
              <a:spcAft>
                <a:spcPts val="0"/>
              </a:spcAft>
              <a:buClr>
                <a:srgbClr val="E1E1E1"/>
              </a:buClr>
              <a:buSzPts val="3000"/>
              <a:buNone/>
              <a:defRPr b="1" sz="3000">
                <a:solidFill>
                  <a:srgbClr val="E1E1E1"/>
                </a:solidFill>
              </a:defRPr>
            </a:lvl3pPr>
            <a:lvl4pPr lvl="3">
              <a:spcBef>
                <a:spcPts val="0"/>
              </a:spcBef>
              <a:spcAft>
                <a:spcPts val="0"/>
              </a:spcAft>
              <a:buClr>
                <a:srgbClr val="E1E1E1"/>
              </a:buClr>
              <a:buSzPts val="3000"/>
              <a:buNone/>
              <a:defRPr b="1" sz="3000">
                <a:solidFill>
                  <a:srgbClr val="E1E1E1"/>
                </a:solidFill>
              </a:defRPr>
            </a:lvl4pPr>
            <a:lvl5pPr lvl="4">
              <a:spcBef>
                <a:spcPts val="0"/>
              </a:spcBef>
              <a:spcAft>
                <a:spcPts val="0"/>
              </a:spcAft>
              <a:buClr>
                <a:srgbClr val="E1E1E1"/>
              </a:buClr>
              <a:buSzPts val="3000"/>
              <a:buNone/>
              <a:defRPr b="1" sz="3000">
                <a:solidFill>
                  <a:srgbClr val="E1E1E1"/>
                </a:solidFill>
              </a:defRPr>
            </a:lvl5pPr>
            <a:lvl6pPr lvl="5">
              <a:spcBef>
                <a:spcPts val="0"/>
              </a:spcBef>
              <a:spcAft>
                <a:spcPts val="0"/>
              </a:spcAft>
              <a:buClr>
                <a:srgbClr val="E1E1E1"/>
              </a:buClr>
              <a:buSzPts val="3000"/>
              <a:buNone/>
              <a:defRPr b="1" sz="3000">
                <a:solidFill>
                  <a:srgbClr val="E1E1E1"/>
                </a:solidFill>
              </a:defRPr>
            </a:lvl6pPr>
            <a:lvl7pPr lvl="6">
              <a:spcBef>
                <a:spcPts val="0"/>
              </a:spcBef>
              <a:spcAft>
                <a:spcPts val="0"/>
              </a:spcAft>
              <a:buClr>
                <a:srgbClr val="E1E1E1"/>
              </a:buClr>
              <a:buSzPts val="3000"/>
              <a:buNone/>
              <a:defRPr b="1" sz="3000">
                <a:solidFill>
                  <a:srgbClr val="E1E1E1"/>
                </a:solidFill>
              </a:defRPr>
            </a:lvl7pPr>
            <a:lvl8pPr lvl="7">
              <a:spcBef>
                <a:spcPts val="0"/>
              </a:spcBef>
              <a:spcAft>
                <a:spcPts val="0"/>
              </a:spcAft>
              <a:buClr>
                <a:srgbClr val="E1E1E1"/>
              </a:buClr>
              <a:buSzPts val="3000"/>
              <a:buNone/>
              <a:defRPr b="1" sz="3000">
                <a:solidFill>
                  <a:srgbClr val="E1E1E1"/>
                </a:solidFill>
              </a:defRPr>
            </a:lvl8pPr>
            <a:lvl9pPr lvl="8">
              <a:spcBef>
                <a:spcPts val="0"/>
              </a:spcBef>
              <a:spcAft>
                <a:spcPts val="0"/>
              </a:spcAft>
              <a:buClr>
                <a:srgbClr val="E1E1E1"/>
              </a:buClr>
              <a:buSzPts val="3000"/>
              <a:buNone/>
              <a:defRPr b="1" sz="3000">
                <a:solidFill>
                  <a:srgbClr val="E1E1E1"/>
                </a:solidFill>
              </a:defRPr>
            </a:lvl9pPr>
          </a:lstStyle>
          <a:p/>
        </p:txBody>
      </p:sp>
      <p:sp>
        <p:nvSpPr>
          <p:cNvPr id="102" name="Google Shape;102;p26"/>
          <p:cNvSpPr txBox="1"/>
          <p:nvPr>
            <p:ph idx="2" type="title"/>
          </p:nvPr>
        </p:nvSpPr>
        <p:spPr>
          <a:xfrm>
            <a:off x="500550" y="1140600"/>
            <a:ext cx="8520600" cy="3916200"/>
          </a:xfrm>
          <a:prstGeom prst="rect">
            <a:avLst/>
          </a:prstGeom>
        </p:spPr>
        <p:txBody>
          <a:bodyPr anchorCtr="0" anchor="t" bIns="91425" lIns="91425" spcFirstLastPara="1" rIns="91425" wrap="square" tIns="91425">
            <a:normAutofit/>
          </a:bodyPr>
          <a:lstStyle>
            <a:lvl1pPr lvl="0">
              <a:lnSpc>
                <a:spcPct val="150000"/>
              </a:lnSpc>
              <a:spcBef>
                <a:spcPts val="0"/>
              </a:spcBef>
              <a:spcAft>
                <a:spcPts val="0"/>
              </a:spcAft>
              <a:buClr>
                <a:srgbClr val="E1E1E1"/>
              </a:buClr>
              <a:buSzPts val="1800"/>
              <a:buNone/>
              <a:defRPr sz="1800">
                <a:solidFill>
                  <a:srgbClr val="E1E1E1"/>
                </a:solidFill>
              </a:defRPr>
            </a:lvl1pPr>
            <a:lvl2pPr lvl="1">
              <a:lnSpc>
                <a:spcPct val="150000"/>
              </a:lnSpc>
              <a:spcBef>
                <a:spcPts val="1000"/>
              </a:spcBef>
              <a:spcAft>
                <a:spcPts val="0"/>
              </a:spcAft>
              <a:buClr>
                <a:srgbClr val="E1E1E1"/>
              </a:buClr>
              <a:buSzPts val="1800"/>
              <a:buNone/>
              <a:defRPr b="1" sz="1800">
                <a:solidFill>
                  <a:srgbClr val="E1E1E1"/>
                </a:solidFill>
              </a:defRPr>
            </a:lvl2pPr>
            <a:lvl3pPr lvl="2">
              <a:lnSpc>
                <a:spcPct val="150000"/>
              </a:lnSpc>
              <a:spcBef>
                <a:spcPts val="1000"/>
              </a:spcBef>
              <a:spcAft>
                <a:spcPts val="0"/>
              </a:spcAft>
              <a:buClr>
                <a:srgbClr val="E1E1E1"/>
              </a:buClr>
              <a:buSzPts val="1800"/>
              <a:buNone/>
              <a:defRPr b="1" sz="1800">
                <a:solidFill>
                  <a:srgbClr val="E1E1E1"/>
                </a:solidFill>
              </a:defRPr>
            </a:lvl3pPr>
            <a:lvl4pPr lvl="3">
              <a:lnSpc>
                <a:spcPct val="150000"/>
              </a:lnSpc>
              <a:spcBef>
                <a:spcPts val="1000"/>
              </a:spcBef>
              <a:spcAft>
                <a:spcPts val="0"/>
              </a:spcAft>
              <a:buClr>
                <a:srgbClr val="E1E1E1"/>
              </a:buClr>
              <a:buSzPts val="1800"/>
              <a:buNone/>
              <a:defRPr b="1" sz="1800">
                <a:solidFill>
                  <a:srgbClr val="E1E1E1"/>
                </a:solidFill>
              </a:defRPr>
            </a:lvl4pPr>
            <a:lvl5pPr lvl="4">
              <a:lnSpc>
                <a:spcPct val="150000"/>
              </a:lnSpc>
              <a:spcBef>
                <a:spcPts val="1000"/>
              </a:spcBef>
              <a:spcAft>
                <a:spcPts val="0"/>
              </a:spcAft>
              <a:buClr>
                <a:srgbClr val="E1E1E1"/>
              </a:buClr>
              <a:buSzPts val="1800"/>
              <a:buNone/>
              <a:defRPr b="1" sz="1800">
                <a:solidFill>
                  <a:srgbClr val="E1E1E1"/>
                </a:solidFill>
              </a:defRPr>
            </a:lvl5pPr>
            <a:lvl6pPr lvl="5">
              <a:lnSpc>
                <a:spcPct val="150000"/>
              </a:lnSpc>
              <a:spcBef>
                <a:spcPts val="1000"/>
              </a:spcBef>
              <a:spcAft>
                <a:spcPts val="0"/>
              </a:spcAft>
              <a:buClr>
                <a:srgbClr val="E1E1E1"/>
              </a:buClr>
              <a:buSzPts val="1800"/>
              <a:buNone/>
              <a:defRPr b="1" sz="1800">
                <a:solidFill>
                  <a:srgbClr val="E1E1E1"/>
                </a:solidFill>
              </a:defRPr>
            </a:lvl6pPr>
            <a:lvl7pPr lvl="6">
              <a:lnSpc>
                <a:spcPct val="150000"/>
              </a:lnSpc>
              <a:spcBef>
                <a:spcPts val="1000"/>
              </a:spcBef>
              <a:spcAft>
                <a:spcPts val="0"/>
              </a:spcAft>
              <a:buClr>
                <a:srgbClr val="E1E1E1"/>
              </a:buClr>
              <a:buSzPts val="1800"/>
              <a:buNone/>
              <a:defRPr b="1" sz="1800">
                <a:solidFill>
                  <a:srgbClr val="E1E1E1"/>
                </a:solidFill>
              </a:defRPr>
            </a:lvl7pPr>
            <a:lvl8pPr lvl="7">
              <a:lnSpc>
                <a:spcPct val="150000"/>
              </a:lnSpc>
              <a:spcBef>
                <a:spcPts val="1000"/>
              </a:spcBef>
              <a:spcAft>
                <a:spcPts val="0"/>
              </a:spcAft>
              <a:buClr>
                <a:srgbClr val="E1E1E1"/>
              </a:buClr>
              <a:buSzPts val="1800"/>
              <a:buNone/>
              <a:defRPr b="1" sz="1800">
                <a:solidFill>
                  <a:srgbClr val="E1E1E1"/>
                </a:solidFill>
              </a:defRPr>
            </a:lvl8pPr>
            <a:lvl9pPr lvl="8">
              <a:lnSpc>
                <a:spcPct val="150000"/>
              </a:lnSpc>
              <a:spcBef>
                <a:spcPts val="1000"/>
              </a:spcBef>
              <a:spcAft>
                <a:spcPts val="1000"/>
              </a:spcAft>
              <a:buClr>
                <a:srgbClr val="E1E1E1"/>
              </a:buClr>
              <a:buSzPts val="1800"/>
              <a:buNone/>
              <a:defRPr b="1" sz="1800">
                <a:solidFill>
                  <a:srgbClr val="E1E1E1"/>
                </a:solidFill>
              </a:defRPr>
            </a:lvl9pPr>
          </a:lstStyle>
          <a:p/>
        </p:txBody>
      </p:sp>
      <p:sp>
        <p:nvSpPr>
          <p:cNvPr id="103" name="Google Shape;103;p26"/>
          <p:cNvSpPr txBox="1"/>
          <p:nvPr/>
        </p:nvSpPr>
        <p:spPr>
          <a:xfrm>
            <a:off x="0" y="0"/>
            <a:ext cx="242100" cy="1140600"/>
          </a:xfrm>
          <a:prstGeom prst="rect">
            <a:avLst/>
          </a:prstGeom>
          <a:gradFill>
            <a:gsLst>
              <a:gs pos="0">
                <a:srgbClr val="109EAE"/>
              </a:gs>
              <a:gs pos="100000">
                <a:srgbClr val="00D9BA"/>
              </a:gs>
            </a:gsLst>
            <a:lin ang="5400012" scaled="0"/>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white">
  <p:cSld name="SECTION_HEADER_1_1_1_1">
    <p:bg>
      <p:bgPr>
        <a:solidFill>
          <a:srgbClr val="FFFFFF"/>
        </a:solidFill>
      </p:bgPr>
    </p:bg>
    <p:spTree>
      <p:nvGrpSpPr>
        <p:cNvPr id="104" name="Shape 104"/>
        <p:cNvGrpSpPr/>
        <p:nvPr/>
      </p:nvGrpSpPr>
      <p:grpSpPr>
        <a:xfrm>
          <a:off x="0" y="0"/>
          <a:ext cx="0" cy="0"/>
          <a:chOff x="0" y="0"/>
          <a:chExt cx="0" cy="0"/>
        </a:xfrm>
      </p:grpSpPr>
      <p:sp>
        <p:nvSpPr>
          <p:cNvPr id="105" name="Google Shape;105;p27"/>
          <p:cNvSpPr txBox="1"/>
          <p:nvPr>
            <p:ph type="title"/>
          </p:nvPr>
        </p:nvSpPr>
        <p:spPr>
          <a:xfrm>
            <a:off x="500550" y="0"/>
            <a:ext cx="8520600" cy="11406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D0D18"/>
              </a:buClr>
              <a:buSzPts val="3000"/>
              <a:buNone/>
              <a:defRPr b="1" sz="3000">
                <a:solidFill>
                  <a:srgbClr val="0D0D18"/>
                </a:solidFill>
              </a:defRPr>
            </a:lvl1pPr>
            <a:lvl2pPr lvl="1">
              <a:spcBef>
                <a:spcPts val="0"/>
              </a:spcBef>
              <a:spcAft>
                <a:spcPts val="0"/>
              </a:spcAft>
              <a:buClr>
                <a:srgbClr val="0D0D18"/>
              </a:buClr>
              <a:buSzPts val="3000"/>
              <a:buNone/>
              <a:defRPr b="1" sz="3000">
                <a:solidFill>
                  <a:srgbClr val="0D0D18"/>
                </a:solidFill>
              </a:defRPr>
            </a:lvl2pPr>
            <a:lvl3pPr lvl="2">
              <a:spcBef>
                <a:spcPts val="0"/>
              </a:spcBef>
              <a:spcAft>
                <a:spcPts val="0"/>
              </a:spcAft>
              <a:buClr>
                <a:srgbClr val="0D0D18"/>
              </a:buClr>
              <a:buSzPts val="3000"/>
              <a:buNone/>
              <a:defRPr b="1" sz="3000">
                <a:solidFill>
                  <a:srgbClr val="0D0D18"/>
                </a:solidFill>
              </a:defRPr>
            </a:lvl3pPr>
            <a:lvl4pPr lvl="3">
              <a:spcBef>
                <a:spcPts val="0"/>
              </a:spcBef>
              <a:spcAft>
                <a:spcPts val="0"/>
              </a:spcAft>
              <a:buClr>
                <a:srgbClr val="0D0D18"/>
              </a:buClr>
              <a:buSzPts val="3000"/>
              <a:buNone/>
              <a:defRPr b="1" sz="3000">
                <a:solidFill>
                  <a:srgbClr val="0D0D18"/>
                </a:solidFill>
              </a:defRPr>
            </a:lvl4pPr>
            <a:lvl5pPr lvl="4">
              <a:spcBef>
                <a:spcPts val="0"/>
              </a:spcBef>
              <a:spcAft>
                <a:spcPts val="0"/>
              </a:spcAft>
              <a:buClr>
                <a:srgbClr val="0D0D18"/>
              </a:buClr>
              <a:buSzPts val="3000"/>
              <a:buNone/>
              <a:defRPr b="1" sz="3000">
                <a:solidFill>
                  <a:srgbClr val="0D0D18"/>
                </a:solidFill>
              </a:defRPr>
            </a:lvl5pPr>
            <a:lvl6pPr lvl="5">
              <a:spcBef>
                <a:spcPts val="0"/>
              </a:spcBef>
              <a:spcAft>
                <a:spcPts val="0"/>
              </a:spcAft>
              <a:buClr>
                <a:srgbClr val="0D0D18"/>
              </a:buClr>
              <a:buSzPts val="3000"/>
              <a:buNone/>
              <a:defRPr b="1" sz="3000">
                <a:solidFill>
                  <a:srgbClr val="0D0D18"/>
                </a:solidFill>
              </a:defRPr>
            </a:lvl6pPr>
            <a:lvl7pPr lvl="6">
              <a:spcBef>
                <a:spcPts val="0"/>
              </a:spcBef>
              <a:spcAft>
                <a:spcPts val="0"/>
              </a:spcAft>
              <a:buClr>
                <a:srgbClr val="0D0D18"/>
              </a:buClr>
              <a:buSzPts val="3000"/>
              <a:buNone/>
              <a:defRPr b="1" sz="3000">
                <a:solidFill>
                  <a:srgbClr val="0D0D18"/>
                </a:solidFill>
              </a:defRPr>
            </a:lvl7pPr>
            <a:lvl8pPr lvl="7">
              <a:spcBef>
                <a:spcPts val="0"/>
              </a:spcBef>
              <a:spcAft>
                <a:spcPts val="0"/>
              </a:spcAft>
              <a:buClr>
                <a:srgbClr val="0D0D18"/>
              </a:buClr>
              <a:buSzPts val="3000"/>
              <a:buNone/>
              <a:defRPr b="1" sz="3000">
                <a:solidFill>
                  <a:srgbClr val="0D0D18"/>
                </a:solidFill>
              </a:defRPr>
            </a:lvl8pPr>
            <a:lvl9pPr lvl="8">
              <a:spcBef>
                <a:spcPts val="0"/>
              </a:spcBef>
              <a:spcAft>
                <a:spcPts val="0"/>
              </a:spcAft>
              <a:buClr>
                <a:srgbClr val="0D0D18"/>
              </a:buClr>
              <a:buSzPts val="3000"/>
              <a:buNone/>
              <a:defRPr b="1" sz="3000">
                <a:solidFill>
                  <a:srgbClr val="0D0D18"/>
                </a:solidFill>
              </a:defRPr>
            </a:lvl9pPr>
          </a:lstStyle>
          <a:p/>
        </p:txBody>
      </p:sp>
      <p:sp>
        <p:nvSpPr>
          <p:cNvPr id="106" name="Google Shape;106;p27"/>
          <p:cNvSpPr txBox="1"/>
          <p:nvPr>
            <p:ph idx="2" type="title"/>
          </p:nvPr>
        </p:nvSpPr>
        <p:spPr>
          <a:xfrm>
            <a:off x="500550" y="1140600"/>
            <a:ext cx="8520600" cy="3916200"/>
          </a:xfrm>
          <a:prstGeom prst="rect">
            <a:avLst/>
          </a:prstGeom>
        </p:spPr>
        <p:txBody>
          <a:bodyPr anchorCtr="0" anchor="t" bIns="91425" lIns="91425" spcFirstLastPara="1" rIns="91425" wrap="square" tIns="91425">
            <a:normAutofit/>
          </a:bodyPr>
          <a:lstStyle>
            <a:lvl1pPr lvl="0">
              <a:lnSpc>
                <a:spcPct val="150000"/>
              </a:lnSpc>
              <a:spcBef>
                <a:spcPts val="0"/>
              </a:spcBef>
              <a:spcAft>
                <a:spcPts val="0"/>
              </a:spcAft>
              <a:buClr>
                <a:srgbClr val="0D0D18"/>
              </a:buClr>
              <a:buSzPts val="1800"/>
              <a:buNone/>
              <a:defRPr sz="1800">
                <a:solidFill>
                  <a:srgbClr val="0D0D18"/>
                </a:solidFill>
              </a:defRPr>
            </a:lvl1pPr>
            <a:lvl2pPr lvl="1">
              <a:lnSpc>
                <a:spcPct val="150000"/>
              </a:lnSpc>
              <a:spcBef>
                <a:spcPts val="1000"/>
              </a:spcBef>
              <a:spcAft>
                <a:spcPts val="0"/>
              </a:spcAft>
              <a:buClr>
                <a:srgbClr val="0D0D18"/>
              </a:buClr>
              <a:buSzPts val="1800"/>
              <a:buNone/>
              <a:defRPr b="1" sz="1800">
                <a:solidFill>
                  <a:srgbClr val="0D0D18"/>
                </a:solidFill>
              </a:defRPr>
            </a:lvl2pPr>
            <a:lvl3pPr lvl="2">
              <a:lnSpc>
                <a:spcPct val="150000"/>
              </a:lnSpc>
              <a:spcBef>
                <a:spcPts val="1000"/>
              </a:spcBef>
              <a:spcAft>
                <a:spcPts val="0"/>
              </a:spcAft>
              <a:buClr>
                <a:srgbClr val="0D0D18"/>
              </a:buClr>
              <a:buSzPts val="1800"/>
              <a:buNone/>
              <a:defRPr b="1" sz="1800">
                <a:solidFill>
                  <a:srgbClr val="0D0D18"/>
                </a:solidFill>
              </a:defRPr>
            </a:lvl3pPr>
            <a:lvl4pPr lvl="3">
              <a:lnSpc>
                <a:spcPct val="150000"/>
              </a:lnSpc>
              <a:spcBef>
                <a:spcPts val="1000"/>
              </a:spcBef>
              <a:spcAft>
                <a:spcPts val="0"/>
              </a:spcAft>
              <a:buClr>
                <a:srgbClr val="0D0D18"/>
              </a:buClr>
              <a:buSzPts val="1800"/>
              <a:buNone/>
              <a:defRPr b="1" sz="1800">
                <a:solidFill>
                  <a:srgbClr val="0D0D18"/>
                </a:solidFill>
              </a:defRPr>
            </a:lvl4pPr>
            <a:lvl5pPr lvl="4">
              <a:lnSpc>
                <a:spcPct val="150000"/>
              </a:lnSpc>
              <a:spcBef>
                <a:spcPts val="1000"/>
              </a:spcBef>
              <a:spcAft>
                <a:spcPts val="0"/>
              </a:spcAft>
              <a:buClr>
                <a:srgbClr val="0D0D18"/>
              </a:buClr>
              <a:buSzPts val="1800"/>
              <a:buNone/>
              <a:defRPr b="1" sz="1800">
                <a:solidFill>
                  <a:srgbClr val="0D0D18"/>
                </a:solidFill>
              </a:defRPr>
            </a:lvl5pPr>
            <a:lvl6pPr lvl="5">
              <a:lnSpc>
                <a:spcPct val="150000"/>
              </a:lnSpc>
              <a:spcBef>
                <a:spcPts val="1000"/>
              </a:spcBef>
              <a:spcAft>
                <a:spcPts val="0"/>
              </a:spcAft>
              <a:buClr>
                <a:srgbClr val="0D0D18"/>
              </a:buClr>
              <a:buSzPts val="1800"/>
              <a:buNone/>
              <a:defRPr b="1" sz="1800">
                <a:solidFill>
                  <a:srgbClr val="0D0D18"/>
                </a:solidFill>
              </a:defRPr>
            </a:lvl6pPr>
            <a:lvl7pPr lvl="6">
              <a:lnSpc>
                <a:spcPct val="150000"/>
              </a:lnSpc>
              <a:spcBef>
                <a:spcPts val="1000"/>
              </a:spcBef>
              <a:spcAft>
                <a:spcPts val="0"/>
              </a:spcAft>
              <a:buClr>
                <a:srgbClr val="0D0D18"/>
              </a:buClr>
              <a:buSzPts val="1800"/>
              <a:buNone/>
              <a:defRPr b="1" sz="1800">
                <a:solidFill>
                  <a:srgbClr val="0D0D18"/>
                </a:solidFill>
              </a:defRPr>
            </a:lvl7pPr>
            <a:lvl8pPr lvl="7">
              <a:lnSpc>
                <a:spcPct val="150000"/>
              </a:lnSpc>
              <a:spcBef>
                <a:spcPts val="1000"/>
              </a:spcBef>
              <a:spcAft>
                <a:spcPts val="0"/>
              </a:spcAft>
              <a:buClr>
                <a:srgbClr val="0D0D18"/>
              </a:buClr>
              <a:buSzPts val="1800"/>
              <a:buNone/>
              <a:defRPr b="1" sz="1800">
                <a:solidFill>
                  <a:srgbClr val="0D0D18"/>
                </a:solidFill>
              </a:defRPr>
            </a:lvl8pPr>
            <a:lvl9pPr lvl="8">
              <a:lnSpc>
                <a:spcPct val="150000"/>
              </a:lnSpc>
              <a:spcBef>
                <a:spcPts val="1000"/>
              </a:spcBef>
              <a:spcAft>
                <a:spcPts val="1000"/>
              </a:spcAft>
              <a:buClr>
                <a:srgbClr val="0D0D18"/>
              </a:buClr>
              <a:buSzPts val="1800"/>
              <a:buNone/>
              <a:defRPr b="1" sz="1800">
                <a:solidFill>
                  <a:srgbClr val="0D0D18"/>
                </a:solidFill>
              </a:defRPr>
            </a:lvl9pPr>
          </a:lstStyle>
          <a:p/>
        </p:txBody>
      </p:sp>
      <p:sp>
        <p:nvSpPr>
          <p:cNvPr id="107" name="Google Shape;107;p27"/>
          <p:cNvSpPr txBox="1"/>
          <p:nvPr/>
        </p:nvSpPr>
        <p:spPr>
          <a:xfrm>
            <a:off x="0" y="0"/>
            <a:ext cx="242100" cy="1140600"/>
          </a:xfrm>
          <a:prstGeom prst="rect">
            <a:avLst/>
          </a:prstGeom>
          <a:gradFill>
            <a:gsLst>
              <a:gs pos="0">
                <a:srgbClr val="1A237D"/>
              </a:gs>
              <a:gs pos="100000">
                <a:srgbClr val="2F3F9E"/>
              </a:gs>
            </a:gsLst>
            <a:lin ang="5400012" scaled="0"/>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2.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111" name="Shape 111"/>
        <p:cNvGrpSpPr/>
        <p:nvPr/>
      </p:nvGrpSpPr>
      <p:grpSpPr>
        <a:xfrm>
          <a:off x="0" y="0"/>
          <a:ext cx="0" cy="0"/>
          <a:chOff x="0" y="0"/>
          <a:chExt cx="0" cy="0"/>
        </a:xfrm>
      </p:grpSpPr>
      <p:sp>
        <p:nvSpPr>
          <p:cNvPr id="112" name="Google Shape;112;p28"/>
          <p:cNvSpPr txBox="1"/>
          <p:nvPr/>
        </p:nvSpPr>
        <p:spPr>
          <a:xfrm>
            <a:off x="1926900" y="1419375"/>
            <a:ext cx="5290200" cy="135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chemeClr val="lt1"/>
                </a:solidFill>
                <a:latin typeface="Inter"/>
                <a:ea typeface="Inter"/>
                <a:cs typeface="Inter"/>
                <a:sym typeface="Inter"/>
              </a:rPr>
              <a:t>Tyk Architecture &amp;</a:t>
            </a:r>
            <a:endParaRPr b="1" sz="3800">
              <a:solidFill>
                <a:schemeClr val="lt1"/>
              </a:solidFill>
              <a:latin typeface="Inter"/>
              <a:ea typeface="Inter"/>
              <a:cs typeface="Inter"/>
              <a:sym typeface="Inter"/>
            </a:endParaRPr>
          </a:p>
          <a:p>
            <a:pPr indent="0" lvl="0" marL="0" rtl="0" algn="ctr">
              <a:spcBef>
                <a:spcPts val="0"/>
              </a:spcBef>
              <a:spcAft>
                <a:spcPts val="0"/>
              </a:spcAft>
              <a:buNone/>
            </a:pPr>
            <a:r>
              <a:rPr b="1" lang="en-GB" sz="3800">
                <a:solidFill>
                  <a:schemeClr val="lt1"/>
                </a:solidFill>
                <a:latin typeface="Inter"/>
                <a:ea typeface="Inter"/>
                <a:cs typeface="Inter"/>
                <a:sym typeface="Inter"/>
              </a:rPr>
              <a:t>Ecosystem</a:t>
            </a:r>
            <a:endParaRPr b="1" sz="3800">
              <a:solidFill>
                <a:schemeClr val="lt1"/>
              </a:solidFill>
              <a:latin typeface="Inter"/>
              <a:ea typeface="Inter"/>
              <a:cs typeface="Inter"/>
              <a:sym typeface="Inter"/>
            </a:endParaRPr>
          </a:p>
        </p:txBody>
      </p:sp>
      <p:sp>
        <p:nvSpPr>
          <p:cNvPr id="113" name="Google Shape;113;p28"/>
          <p:cNvSpPr txBox="1"/>
          <p:nvPr/>
        </p:nvSpPr>
        <p:spPr>
          <a:xfrm>
            <a:off x="1926900" y="2703375"/>
            <a:ext cx="52902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Understanding the main Tyk components, their functions and its dependencies</a:t>
            </a:r>
            <a:endParaRPr>
              <a:solidFill>
                <a:schemeClr val="lt1"/>
              </a:solidFill>
              <a:latin typeface="Inter"/>
              <a:ea typeface="Inter"/>
              <a:cs typeface="Inter"/>
              <a:sym typeface="Inter"/>
            </a:endParaRPr>
          </a:p>
        </p:txBody>
      </p:sp>
      <p:sp>
        <p:nvSpPr>
          <p:cNvPr id="114" name="Google Shape;114;p2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28"/>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9"/>
          <p:cNvSpPr/>
          <p:nvPr/>
        </p:nvSpPr>
        <p:spPr>
          <a:xfrm>
            <a:off x="6372288" y="1417600"/>
            <a:ext cx="1371000" cy="267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1" name="Google Shape;121;p2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Gateway</a:t>
            </a:r>
            <a:endParaRPr b="1" sz="3800">
              <a:solidFill>
                <a:srgbClr val="5900CB"/>
              </a:solidFill>
              <a:latin typeface="Inter"/>
              <a:ea typeface="Inter"/>
              <a:cs typeface="Inter"/>
              <a:sym typeface="Inter"/>
            </a:endParaRPr>
          </a:p>
        </p:txBody>
      </p:sp>
      <p:sp>
        <p:nvSpPr>
          <p:cNvPr id="122" name="Google Shape;122;p2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29"/>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124" name="Google Shape;124;p29"/>
          <p:cNvPicPr preferRelativeResize="0"/>
          <p:nvPr/>
        </p:nvPicPr>
        <p:blipFill rotWithShape="1">
          <a:blip r:embed="rId4">
            <a:alphaModFix/>
          </a:blip>
          <a:srcRect b="8949" l="8949" r="8949" t="8949"/>
          <a:stretch/>
        </p:blipFill>
        <p:spPr>
          <a:xfrm rot="5400000">
            <a:off x="6759468" y="2284473"/>
            <a:ext cx="596633" cy="660253"/>
          </a:xfrm>
          <a:prstGeom prst="rect">
            <a:avLst/>
          </a:prstGeom>
          <a:noFill/>
          <a:ln>
            <a:noFill/>
          </a:ln>
        </p:spPr>
      </p:pic>
      <p:sp>
        <p:nvSpPr>
          <p:cNvPr id="125" name="Google Shape;125;p29"/>
          <p:cNvSpPr txBox="1"/>
          <p:nvPr/>
        </p:nvSpPr>
        <p:spPr>
          <a:xfrm>
            <a:off x="6717299" y="2912917"/>
            <a:ext cx="66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Gateway</a:t>
            </a:r>
            <a:endParaRPr sz="900">
              <a:latin typeface="Open Sans"/>
              <a:ea typeface="Open Sans"/>
              <a:cs typeface="Open Sans"/>
              <a:sym typeface="Open Sans"/>
            </a:endParaRPr>
          </a:p>
        </p:txBody>
      </p:sp>
      <p:sp>
        <p:nvSpPr>
          <p:cNvPr id="126" name="Google Shape;126;p29"/>
          <p:cNvSpPr txBox="1"/>
          <p:nvPr/>
        </p:nvSpPr>
        <p:spPr>
          <a:xfrm>
            <a:off x="352175" y="1232650"/>
            <a:ext cx="5066700" cy="2809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Real Time Traffic Enforcement</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Handles all inbound API traffic</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Authentication &amp; Authorization</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Rate Limiting and Quotas</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Enforces Policies</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Observability</a:t>
            </a:r>
            <a:endParaRPr sz="1800">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30"/>
          <p:cNvSpPr/>
          <p:nvPr/>
        </p:nvSpPr>
        <p:spPr>
          <a:xfrm>
            <a:off x="6711563" y="1298800"/>
            <a:ext cx="1371000" cy="267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2" name="Google Shape;132;p30"/>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&amp; Redis</a:t>
            </a:r>
            <a:endParaRPr b="1" sz="3800">
              <a:solidFill>
                <a:srgbClr val="5900CB"/>
              </a:solidFill>
              <a:latin typeface="Inter"/>
              <a:ea typeface="Inter"/>
              <a:cs typeface="Inter"/>
              <a:sym typeface="Inter"/>
            </a:endParaRPr>
          </a:p>
        </p:txBody>
      </p:sp>
      <p:sp>
        <p:nvSpPr>
          <p:cNvPr id="133" name="Google Shape;133;p3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30"/>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135" name="Google Shape;135;p30"/>
          <p:cNvPicPr preferRelativeResize="0"/>
          <p:nvPr/>
        </p:nvPicPr>
        <p:blipFill rotWithShape="1">
          <a:blip r:embed="rId4">
            <a:alphaModFix/>
          </a:blip>
          <a:srcRect b="8949" l="8949" r="8949" t="8949"/>
          <a:stretch/>
        </p:blipFill>
        <p:spPr>
          <a:xfrm rot="5400000">
            <a:off x="7098743" y="2775273"/>
            <a:ext cx="596633" cy="660253"/>
          </a:xfrm>
          <a:prstGeom prst="rect">
            <a:avLst/>
          </a:prstGeom>
          <a:noFill/>
          <a:ln>
            <a:noFill/>
          </a:ln>
        </p:spPr>
      </p:pic>
      <p:sp>
        <p:nvSpPr>
          <p:cNvPr id="136" name="Google Shape;136;p30"/>
          <p:cNvSpPr txBox="1"/>
          <p:nvPr/>
        </p:nvSpPr>
        <p:spPr>
          <a:xfrm>
            <a:off x="7056574" y="3403717"/>
            <a:ext cx="66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Gateway</a:t>
            </a:r>
            <a:endParaRPr sz="900">
              <a:latin typeface="Open Sans"/>
              <a:ea typeface="Open Sans"/>
              <a:cs typeface="Open Sans"/>
              <a:sym typeface="Open Sans"/>
            </a:endParaRPr>
          </a:p>
        </p:txBody>
      </p:sp>
      <p:pic>
        <p:nvPicPr>
          <p:cNvPr id="137" name="Google Shape;137;p30"/>
          <p:cNvPicPr preferRelativeResize="0"/>
          <p:nvPr/>
        </p:nvPicPr>
        <p:blipFill>
          <a:blip r:embed="rId5">
            <a:alphaModFix/>
          </a:blip>
          <a:stretch>
            <a:fillRect/>
          </a:stretch>
        </p:blipFill>
        <p:spPr>
          <a:xfrm>
            <a:off x="7103142" y="1701244"/>
            <a:ext cx="587811" cy="531171"/>
          </a:xfrm>
          <a:prstGeom prst="rect">
            <a:avLst/>
          </a:prstGeom>
          <a:noFill/>
          <a:ln>
            <a:noFill/>
          </a:ln>
        </p:spPr>
      </p:pic>
      <p:sp>
        <p:nvSpPr>
          <p:cNvPr id="138" name="Google Shape;138;p30"/>
          <p:cNvSpPr txBox="1"/>
          <p:nvPr/>
        </p:nvSpPr>
        <p:spPr>
          <a:xfrm>
            <a:off x="7177207" y="1443425"/>
            <a:ext cx="470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latin typeface="Open Sans"/>
                <a:ea typeface="Open Sans"/>
                <a:cs typeface="Open Sans"/>
                <a:sym typeface="Open Sans"/>
              </a:rPr>
              <a:t>Redis</a:t>
            </a:r>
            <a:endParaRPr sz="800">
              <a:latin typeface="Open Sans"/>
              <a:ea typeface="Open Sans"/>
              <a:cs typeface="Open Sans"/>
              <a:sym typeface="Open Sans"/>
            </a:endParaRPr>
          </a:p>
        </p:txBody>
      </p:sp>
      <p:cxnSp>
        <p:nvCxnSpPr>
          <p:cNvPr id="139" name="Google Shape;139;p30"/>
          <p:cNvCxnSpPr/>
          <p:nvPr/>
        </p:nvCxnSpPr>
        <p:spPr>
          <a:xfrm rot="10800000">
            <a:off x="7397059" y="2232283"/>
            <a:ext cx="0" cy="574800"/>
          </a:xfrm>
          <a:prstGeom prst="straightConnector1">
            <a:avLst/>
          </a:prstGeom>
          <a:noFill/>
          <a:ln cap="flat" cmpd="sng" w="9525">
            <a:solidFill>
              <a:schemeClr val="dk2"/>
            </a:solidFill>
            <a:prstDash val="solid"/>
            <a:round/>
            <a:headEnd len="med" w="med" type="none"/>
            <a:tailEnd len="med" w="med" type="none"/>
          </a:ln>
        </p:spPr>
      </p:cxnSp>
      <p:sp>
        <p:nvSpPr>
          <p:cNvPr id="140" name="Google Shape;140;p30"/>
          <p:cNvSpPr txBox="1"/>
          <p:nvPr/>
        </p:nvSpPr>
        <p:spPr>
          <a:xfrm>
            <a:off x="352175" y="1004050"/>
            <a:ext cx="5472900" cy="39576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Fast in-memory performance</a:t>
            </a:r>
            <a:endParaRPr sz="1700">
              <a:solidFill>
                <a:schemeClr val="dk1"/>
              </a:solidFill>
              <a:latin typeface="Inter"/>
              <a:ea typeface="Inter"/>
              <a:cs typeface="Inter"/>
              <a:sym typeface="Inter"/>
            </a:endParaRPr>
          </a:p>
          <a:p>
            <a:pPr indent="-336550" lvl="1" marL="9144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Enables real-time request validation</a:t>
            </a:r>
            <a:endParaRPr sz="1700">
              <a:solidFill>
                <a:schemeClr val="dk1"/>
              </a:solidFill>
              <a:latin typeface="Inter"/>
              <a:ea typeface="Inter"/>
              <a:cs typeface="Inter"/>
              <a:sym typeface="Inter"/>
            </a:endParaRPr>
          </a:p>
          <a:p>
            <a:pPr indent="-336550" lvl="1" marL="9144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Minimise latency for high-throughput APIs</a:t>
            </a:r>
            <a:endParaRPr sz="1700">
              <a:solidFill>
                <a:schemeClr val="dk1"/>
              </a:solidFill>
              <a:latin typeface="Inter"/>
              <a:ea typeface="Inter"/>
              <a:cs typeface="Inter"/>
              <a:sym typeface="Inter"/>
            </a:endParaRPr>
          </a:p>
          <a:p>
            <a:pPr indent="0" lvl="0" marL="0" rtl="0" algn="l">
              <a:spcBef>
                <a:spcPts val="0"/>
              </a:spcBef>
              <a:spcAft>
                <a:spcPts val="0"/>
              </a:spcAft>
              <a:buNone/>
            </a:pPr>
            <a:r>
              <a:t/>
            </a:r>
            <a:endParaRPr sz="1700">
              <a:solidFill>
                <a:schemeClr val="dk1"/>
              </a:solidFill>
              <a:latin typeface="Inter"/>
              <a:ea typeface="Inter"/>
              <a:cs typeface="Inter"/>
              <a:sym typeface="Inter"/>
            </a:endParaRPr>
          </a:p>
          <a:p>
            <a:pPr indent="-336550" lvl="0" marL="4572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Stores:</a:t>
            </a:r>
            <a:endParaRPr sz="1700">
              <a:solidFill>
                <a:schemeClr val="dk1"/>
              </a:solidFill>
              <a:latin typeface="Inter"/>
              <a:ea typeface="Inter"/>
              <a:cs typeface="Inter"/>
              <a:sym typeface="Inter"/>
            </a:endParaRPr>
          </a:p>
          <a:p>
            <a:pPr indent="-336550" lvl="1" marL="9144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Rate limit counters</a:t>
            </a:r>
            <a:endParaRPr sz="1700">
              <a:solidFill>
                <a:schemeClr val="dk1"/>
              </a:solidFill>
              <a:latin typeface="Inter"/>
              <a:ea typeface="Inter"/>
              <a:cs typeface="Inter"/>
              <a:sym typeface="Inter"/>
            </a:endParaRPr>
          </a:p>
          <a:p>
            <a:pPr indent="-336550" lvl="1" marL="9144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Session tokens</a:t>
            </a:r>
            <a:endParaRPr sz="1700">
              <a:solidFill>
                <a:schemeClr val="dk1"/>
              </a:solidFill>
              <a:latin typeface="Inter"/>
              <a:ea typeface="Inter"/>
              <a:cs typeface="Inter"/>
              <a:sym typeface="Inter"/>
            </a:endParaRPr>
          </a:p>
          <a:p>
            <a:pPr indent="-336550" lvl="1" marL="9144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API key states</a:t>
            </a:r>
            <a:endParaRPr sz="1700">
              <a:solidFill>
                <a:schemeClr val="dk1"/>
              </a:solidFill>
              <a:latin typeface="Inter"/>
              <a:ea typeface="Inter"/>
              <a:cs typeface="Inter"/>
              <a:sym typeface="Inter"/>
            </a:endParaRPr>
          </a:p>
          <a:p>
            <a:pPr indent="0" lvl="0" marL="0" rtl="0" algn="l">
              <a:spcBef>
                <a:spcPts val="0"/>
              </a:spcBef>
              <a:spcAft>
                <a:spcPts val="0"/>
              </a:spcAft>
              <a:buNone/>
            </a:pPr>
            <a:r>
              <a:t/>
            </a:r>
            <a:endParaRPr sz="1700">
              <a:solidFill>
                <a:schemeClr val="dk1"/>
              </a:solidFill>
              <a:latin typeface="Inter"/>
              <a:ea typeface="Inter"/>
              <a:cs typeface="Inter"/>
              <a:sym typeface="Inter"/>
            </a:endParaRPr>
          </a:p>
          <a:p>
            <a:pPr indent="-336550" lvl="0" marL="4572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Shared State across gateways</a:t>
            </a:r>
            <a:endParaRPr sz="1700">
              <a:solidFill>
                <a:schemeClr val="dk1"/>
              </a:solidFill>
              <a:latin typeface="Inter"/>
              <a:ea typeface="Inter"/>
              <a:cs typeface="Inter"/>
              <a:sym typeface="Inter"/>
            </a:endParaRPr>
          </a:p>
          <a:p>
            <a:pPr indent="-336550" lvl="1" marL="9144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Synchronizes usage data across nodes</a:t>
            </a:r>
            <a:endParaRPr sz="1700">
              <a:solidFill>
                <a:schemeClr val="dk1"/>
              </a:solidFill>
              <a:latin typeface="Inter"/>
              <a:ea typeface="Inter"/>
              <a:cs typeface="Inter"/>
              <a:sym typeface="Inter"/>
            </a:endParaRPr>
          </a:p>
          <a:p>
            <a:pPr indent="0" lvl="0" marL="914400" rtl="0" algn="l">
              <a:spcBef>
                <a:spcPts val="0"/>
              </a:spcBef>
              <a:spcAft>
                <a:spcPts val="0"/>
              </a:spcAft>
              <a:buNone/>
            </a:pPr>
            <a:r>
              <a:t/>
            </a:r>
            <a:endParaRPr sz="1700">
              <a:solidFill>
                <a:schemeClr val="dk1"/>
              </a:solidFill>
              <a:latin typeface="Inter"/>
              <a:ea typeface="Inter"/>
              <a:cs typeface="Inter"/>
              <a:sym typeface="Inter"/>
            </a:endParaRPr>
          </a:p>
          <a:p>
            <a:pPr indent="-336550" lvl="0" marL="4572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Pub/Sub Broker</a:t>
            </a:r>
            <a:endParaRPr sz="1700">
              <a:solidFill>
                <a:schemeClr val="dk1"/>
              </a:solidFill>
              <a:latin typeface="Inter"/>
              <a:ea typeface="Inter"/>
              <a:cs typeface="Inter"/>
              <a:sym typeface="Inter"/>
            </a:endParaRPr>
          </a:p>
          <a:p>
            <a:pPr indent="-336550" lvl="1" marL="914400" rtl="0" algn="l">
              <a:spcBef>
                <a:spcPts val="0"/>
              </a:spcBef>
              <a:spcAft>
                <a:spcPts val="0"/>
              </a:spcAft>
              <a:buClr>
                <a:schemeClr val="dk1"/>
              </a:buClr>
              <a:buSzPts val="1700"/>
              <a:buFont typeface="Inter"/>
              <a:buChar char="○"/>
            </a:pPr>
            <a:r>
              <a:rPr lang="en-GB" sz="1700">
                <a:solidFill>
                  <a:schemeClr val="dk1"/>
                </a:solidFill>
                <a:latin typeface="Inter"/>
                <a:ea typeface="Inter"/>
                <a:cs typeface="Inter"/>
                <a:sym typeface="Inter"/>
              </a:rPr>
              <a:t>Cluster-wide notifications</a:t>
            </a:r>
            <a:endParaRPr sz="1700">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31"/>
          <p:cNvSpPr/>
          <p:nvPr/>
        </p:nvSpPr>
        <p:spPr>
          <a:xfrm>
            <a:off x="4383521" y="1356600"/>
            <a:ext cx="3648000" cy="267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 name="Google Shape;146;p31"/>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Dashboard</a:t>
            </a:r>
            <a:endParaRPr b="1" sz="3800">
              <a:solidFill>
                <a:srgbClr val="5900CB"/>
              </a:solidFill>
              <a:latin typeface="Inter"/>
              <a:ea typeface="Inter"/>
              <a:cs typeface="Inter"/>
              <a:sym typeface="Inter"/>
            </a:endParaRPr>
          </a:p>
        </p:txBody>
      </p:sp>
      <p:sp>
        <p:nvSpPr>
          <p:cNvPr id="147" name="Google Shape;147;p3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31"/>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149" name="Google Shape;149;p31"/>
          <p:cNvPicPr preferRelativeResize="0"/>
          <p:nvPr/>
        </p:nvPicPr>
        <p:blipFill rotWithShape="1">
          <a:blip r:embed="rId4">
            <a:alphaModFix/>
          </a:blip>
          <a:srcRect b="8949" l="8949" r="8949" t="8949"/>
          <a:stretch/>
        </p:blipFill>
        <p:spPr>
          <a:xfrm rot="5400000">
            <a:off x="4770668" y="2833073"/>
            <a:ext cx="596633" cy="660253"/>
          </a:xfrm>
          <a:prstGeom prst="rect">
            <a:avLst/>
          </a:prstGeom>
          <a:noFill/>
          <a:ln>
            <a:noFill/>
          </a:ln>
        </p:spPr>
      </p:pic>
      <p:sp>
        <p:nvSpPr>
          <p:cNvPr id="150" name="Google Shape;150;p31"/>
          <p:cNvSpPr txBox="1"/>
          <p:nvPr/>
        </p:nvSpPr>
        <p:spPr>
          <a:xfrm>
            <a:off x="4728499" y="3461517"/>
            <a:ext cx="66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Gateway</a:t>
            </a:r>
            <a:endParaRPr sz="900">
              <a:latin typeface="Open Sans"/>
              <a:ea typeface="Open Sans"/>
              <a:cs typeface="Open Sans"/>
              <a:sym typeface="Open Sans"/>
            </a:endParaRPr>
          </a:p>
        </p:txBody>
      </p:sp>
      <p:pic>
        <p:nvPicPr>
          <p:cNvPr id="151" name="Google Shape;151;p31"/>
          <p:cNvPicPr preferRelativeResize="0"/>
          <p:nvPr/>
        </p:nvPicPr>
        <p:blipFill>
          <a:blip r:embed="rId5">
            <a:alphaModFix/>
          </a:blip>
          <a:stretch>
            <a:fillRect/>
          </a:stretch>
        </p:blipFill>
        <p:spPr>
          <a:xfrm>
            <a:off x="6846506" y="2901789"/>
            <a:ext cx="510249" cy="510239"/>
          </a:xfrm>
          <a:prstGeom prst="rect">
            <a:avLst/>
          </a:prstGeom>
          <a:noFill/>
          <a:ln>
            <a:noFill/>
          </a:ln>
        </p:spPr>
      </p:pic>
      <p:sp>
        <p:nvSpPr>
          <p:cNvPr id="152" name="Google Shape;152;p31"/>
          <p:cNvSpPr txBox="1"/>
          <p:nvPr/>
        </p:nvSpPr>
        <p:spPr>
          <a:xfrm>
            <a:off x="6703827" y="3412025"/>
            <a:ext cx="795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Dashboard</a:t>
            </a:r>
            <a:endParaRPr sz="900">
              <a:latin typeface="Open Sans"/>
              <a:ea typeface="Open Sans"/>
              <a:cs typeface="Open Sans"/>
              <a:sym typeface="Open Sans"/>
            </a:endParaRPr>
          </a:p>
        </p:txBody>
      </p:sp>
      <p:cxnSp>
        <p:nvCxnSpPr>
          <p:cNvPr id="153" name="Google Shape;153;p31"/>
          <p:cNvCxnSpPr>
            <a:stCxn id="149" idx="0"/>
            <a:endCxn id="151" idx="1"/>
          </p:cNvCxnSpPr>
          <p:nvPr/>
        </p:nvCxnSpPr>
        <p:spPr>
          <a:xfrm flipH="1" rot="10800000">
            <a:off x="5399111" y="3156899"/>
            <a:ext cx="1447500" cy="6300"/>
          </a:xfrm>
          <a:prstGeom prst="straightConnector1">
            <a:avLst/>
          </a:prstGeom>
          <a:noFill/>
          <a:ln cap="flat" cmpd="sng" w="9525">
            <a:solidFill>
              <a:schemeClr val="dk2"/>
            </a:solidFill>
            <a:prstDash val="solid"/>
            <a:round/>
            <a:headEnd len="med" w="med" type="none"/>
            <a:tailEnd len="med" w="med" type="none"/>
          </a:ln>
        </p:spPr>
      </p:cxnSp>
      <p:pic>
        <p:nvPicPr>
          <p:cNvPr id="154" name="Google Shape;154;p31"/>
          <p:cNvPicPr preferRelativeResize="0"/>
          <p:nvPr/>
        </p:nvPicPr>
        <p:blipFill>
          <a:blip r:embed="rId6">
            <a:alphaModFix/>
          </a:blip>
          <a:stretch>
            <a:fillRect/>
          </a:stretch>
        </p:blipFill>
        <p:spPr>
          <a:xfrm>
            <a:off x="4775067" y="1759044"/>
            <a:ext cx="587811" cy="531171"/>
          </a:xfrm>
          <a:prstGeom prst="rect">
            <a:avLst/>
          </a:prstGeom>
          <a:noFill/>
          <a:ln>
            <a:noFill/>
          </a:ln>
        </p:spPr>
      </p:pic>
      <p:sp>
        <p:nvSpPr>
          <p:cNvPr id="155" name="Google Shape;155;p31"/>
          <p:cNvSpPr txBox="1"/>
          <p:nvPr/>
        </p:nvSpPr>
        <p:spPr>
          <a:xfrm>
            <a:off x="4849132" y="1501225"/>
            <a:ext cx="470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latin typeface="Open Sans"/>
                <a:ea typeface="Open Sans"/>
                <a:cs typeface="Open Sans"/>
                <a:sym typeface="Open Sans"/>
              </a:rPr>
              <a:t>Redis</a:t>
            </a:r>
            <a:endParaRPr sz="800">
              <a:latin typeface="Open Sans"/>
              <a:ea typeface="Open Sans"/>
              <a:cs typeface="Open Sans"/>
              <a:sym typeface="Open Sans"/>
            </a:endParaRPr>
          </a:p>
        </p:txBody>
      </p:sp>
      <p:cxnSp>
        <p:nvCxnSpPr>
          <p:cNvPr id="156" name="Google Shape;156;p31"/>
          <p:cNvCxnSpPr/>
          <p:nvPr/>
        </p:nvCxnSpPr>
        <p:spPr>
          <a:xfrm rot="10800000">
            <a:off x="5068984" y="2290083"/>
            <a:ext cx="0" cy="574800"/>
          </a:xfrm>
          <a:prstGeom prst="straightConnector1">
            <a:avLst/>
          </a:prstGeom>
          <a:noFill/>
          <a:ln cap="flat" cmpd="sng" w="9525">
            <a:solidFill>
              <a:schemeClr val="dk2"/>
            </a:solidFill>
            <a:prstDash val="solid"/>
            <a:round/>
            <a:headEnd len="med" w="med" type="none"/>
            <a:tailEnd len="med" w="med" type="none"/>
          </a:ln>
        </p:spPr>
      </p:cxnSp>
      <p:sp>
        <p:nvSpPr>
          <p:cNvPr id="157" name="Google Shape;157;p31"/>
          <p:cNvSpPr txBox="1"/>
          <p:nvPr/>
        </p:nvSpPr>
        <p:spPr>
          <a:xfrm>
            <a:off x="352175" y="1232650"/>
            <a:ext cx="3254400" cy="3729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Web-based Admin UI</a:t>
            </a:r>
            <a:endParaRPr sz="1300">
              <a:solidFill>
                <a:schemeClr val="dk1"/>
              </a:solidFill>
              <a:latin typeface="Inter"/>
              <a:ea typeface="Inter"/>
              <a:cs typeface="Inter"/>
              <a:sym typeface="Inter"/>
            </a:endParaRPr>
          </a:p>
          <a:p>
            <a:pPr indent="-311150" lvl="1" marL="9144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Create, update, and organize your APIs visually</a:t>
            </a:r>
            <a:endParaRPr sz="1300">
              <a:solidFill>
                <a:schemeClr val="dk1"/>
              </a:solidFill>
              <a:latin typeface="Inter"/>
              <a:ea typeface="Inter"/>
              <a:cs typeface="Inter"/>
              <a:sym typeface="Inter"/>
            </a:endParaRPr>
          </a:p>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Define access policies</a:t>
            </a:r>
            <a:endParaRPr sz="1300">
              <a:solidFill>
                <a:schemeClr val="dk1"/>
              </a:solidFill>
              <a:latin typeface="Inter"/>
              <a:ea typeface="Inter"/>
              <a:cs typeface="Inter"/>
              <a:sym typeface="Inter"/>
            </a:endParaRPr>
          </a:p>
          <a:p>
            <a:pPr indent="-311150" lvl="1" marL="9144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Control who can access which APIs, how often, and with what credentials</a:t>
            </a:r>
            <a:endParaRPr sz="1300">
              <a:solidFill>
                <a:schemeClr val="dk1"/>
              </a:solidFill>
              <a:latin typeface="Inter"/>
              <a:ea typeface="Inter"/>
              <a:cs typeface="Inter"/>
              <a:sym typeface="Inter"/>
            </a:endParaRPr>
          </a:p>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Manage users and teams</a:t>
            </a:r>
            <a:endParaRPr sz="1300">
              <a:solidFill>
                <a:schemeClr val="dk1"/>
              </a:solidFill>
              <a:latin typeface="Inter"/>
              <a:ea typeface="Inter"/>
              <a:cs typeface="Inter"/>
              <a:sym typeface="Inter"/>
            </a:endParaRPr>
          </a:p>
          <a:p>
            <a:pPr indent="-311150" lvl="1" marL="9144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Set roles &amp; permissions</a:t>
            </a:r>
            <a:endParaRPr sz="1300">
              <a:solidFill>
                <a:schemeClr val="dk1"/>
              </a:solidFill>
              <a:latin typeface="Inter"/>
              <a:ea typeface="Inter"/>
              <a:cs typeface="Inter"/>
              <a:sym typeface="Inter"/>
            </a:endParaRPr>
          </a:p>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View real-time analytics</a:t>
            </a:r>
            <a:endParaRPr sz="1300">
              <a:solidFill>
                <a:schemeClr val="dk1"/>
              </a:solidFill>
              <a:latin typeface="Inter"/>
              <a:ea typeface="Inter"/>
              <a:cs typeface="Inter"/>
              <a:sym typeface="Inter"/>
            </a:endParaRPr>
          </a:p>
          <a:p>
            <a:pPr indent="-311150" lvl="1" marL="9144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See traffic, errors, usage trends, and performance</a:t>
            </a:r>
            <a:endParaRPr sz="1300">
              <a:solidFill>
                <a:schemeClr val="dk1"/>
              </a:solidFill>
              <a:latin typeface="Inter"/>
              <a:ea typeface="Inter"/>
              <a:cs typeface="Inter"/>
              <a:sym typeface="Inter"/>
            </a:endParaRPr>
          </a:p>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Push configuration to Gateway</a:t>
            </a:r>
            <a:endParaRPr sz="1300">
              <a:solidFill>
                <a:schemeClr val="dk1"/>
              </a:solidFill>
              <a:latin typeface="Inter"/>
              <a:ea typeface="Inter"/>
              <a:cs typeface="Inter"/>
              <a:sym typeface="Inter"/>
            </a:endParaRPr>
          </a:p>
          <a:p>
            <a:pPr indent="-311150" lvl="1" marL="9144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Changes in the dashboard are synced automatically with Tyk Gateway</a:t>
            </a:r>
            <a:endParaRPr sz="1300">
              <a:solidFill>
                <a:schemeClr val="dk1"/>
              </a:solidFill>
              <a:latin typeface="Inter"/>
              <a:ea typeface="Inter"/>
              <a:cs typeface="Inter"/>
              <a:sym typeface="Inter"/>
            </a:endParaRPr>
          </a:p>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Supports Single Sign On (SSO)</a:t>
            </a:r>
            <a:endParaRPr sz="1700">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p32"/>
          <p:cNvSpPr/>
          <p:nvPr/>
        </p:nvSpPr>
        <p:spPr>
          <a:xfrm>
            <a:off x="3697721" y="1356600"/>
            <a:ext cx="3648000" cy="267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3" name="Google Shape;163;p32"/>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Database</a:t>
            </a:r>
            <a:endParaRPr b="1" sz="3800">
              <a:solidFill>
                <a:srgbClr val="03031C"/>
              </a:solidFill>
              <a:latin typeface="Inter"/>
              <a:ea typeface="Inter"/>
              <a:cs typeface="Inter"/>
              <a:sym typeface="Inter"/>
            </a:endParaRPr>
          </a:p>
        </p:txBody>
      </p:sp>
      <p:sp>
        <p:nvSpPr>
          <p:cNvPr id="164" name="Google Shape;164;p3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5" name="Google Shape;165;p32"/>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166" name="Google Shape;166;p32"/>
          <p:cNvPicPr preferRelativeResize="0"/>
          <p:nvPr/>
        </p:nvPicPr>
        <p:blipFill rotWithShape="1">
          <a:blip r:embed="rId4">
            <a:alphaModFix/>
          </a:blip>
          <a:srcRect b="8949" l="8949" r="8949" t="8949"/>
          <a:stretch/>
        </p:blipFill>
        <p:spPr>
          <a:xfrm rot="5400000">
            <a:off x="4084868" y="2833073"/>
            <a:ext cx="596633" cy="660253"/>
          </a:xfrm>
          <a:prstGeom prst="rect">
            <a:avLst/>
          </a:prstGeom>
          <a:noFill/>
          <a:ln>
            <a:noFill/>
          </a:ln>
        </p:spPr>
      </p:pic>
      <p:sp>
        <p:nvSpPr>
          <p:cNvPr id="167" name="Google Shape;167;p32"/>
          <p:cNvSpPr txBox="1"/>
          <p:nvPr/>
        </p:nvSpPr>
        <p:spPr>
          <a:xfrm>
            <a:off x="4042699" y="3461517"/>
            <a:ext cx="66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Gateway</a:t>
            </a:r>
            <a:endParaRPr sz="900">
              <a:latin typeface="Open Sans"/>
              <a:ea typeface="Open Sans"/>
              <a:cs typeface="Open Sans"/>
              <a:sym typeface="Open Sans"/>
            </a:endParaRPr>
          </a:p>
        </p:txBody>
      </p:sp>
      <p:pic>
        <p:nvPicPr>
          <p:cNvPr id="168" name="Google Shape;168;p32"/>
          <p:cNvPicPr preferRelativeResize="0"/>
          <p:nvPr/>
        </p:nvPicPr>
        <p:blipFill>
          <a:blip r:embed="rId5">
            <a:alphaModFix/>
          </a:blip>
          <a:stretch>
            <a:fillRect/>
          </a:stretch>
        </p:blipFill>
        <p:spPr>
          <a:xfrm>
            <a:off x="6160706" y="2901789"/>
            <a:ext cx="510249" cy="510239"/>
          </a:xfrm>
          <a:prstGeom prst="rect">
            <a:avLst/>
          </a:prstGeom>
          <a:noFill/>
          <a:ln>
            <a:noFill/>
          </a:ln>
        </p:spPr>
      </p:pic>
      <p:sp>
        <p:nvSpPr>
          <p:cNvPr id="169" name="Google Shape;169;p32"/>
          <p:cNvSpPr txBox="1"/>
          <p:nvPr/>
        </p:nvSpPr>
        <p:spPr>
          <a:xfrm>
            <a:off x="6018027" y="3412025"/>
            <a:ext cx="795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Dashboard</a:t>
            </a:r>
            <a:endParaRPr sz="900">
              <a:latin typeface="Open Sans"/>
              <a:ea typeface="Open Sans"/>
              <a:cs typeface="Open Sans"/>
              <a:sym typeface="Open Sans"/>
            </a:endParaRPr>
          </a:p>
        </p:txBody>
      </p:sp>
      <p:cxnSp>
        <p:nvCxnSpPr>
          <p:cNvPr id="170" name="Google Shape;170;p32"/>
          <p:cNvCxnSpPr>
            <a:stCxn id="166" idx="0"/>
            <a:endCxn id="168" idx="1"/>
          </p:cNvCxnSpPr>
          <p:nvPr/>
        </p:nvCxnSpPr>
        <p:spPr>
          <a:xfrm flipH="1" rot="10800000">
            <a:off x="4713311" y="3156899"/>
            <a:ext cx="1447500" cy="6300"/>
          </a:xfrm>
          <a:prstGeom prst="straightConnector1">
            <a:avLst/>
          </a:prstGeom>
          <a:noFill/>
          <a:ln cap="flat" cmpd="sng" w="9525">
            <a:solidFill>
              <a:schemeClr val="dk2"/>
            </a:solidFill>
            <a:prstDash val="solid"/>
            <a:round/>
            <a:headEnd len="med" w="med" type="none"/>
            <a:tailEnd len="med" w="med" type="none"/>
          </a:ln>
        </p:spPr>
      </p:cxnSp>
      <p:pic>
        <p:nvPicPr>
          <p:cNvPr id="171" name="Google Shape;171;p32"/>
          <p:cNvPicPr preferRelativeResize="0"/>
          <p:nvPr/>
        </p:nvPicPr>
        <p:blipFill>
          <a:blip r:embed="rId6">
            <a:alphaModFix/>
          </a:blip>
          <a:stretch>
            <a:fillRect/>
          </a:stretch>
        </p:blipFill>
        <p:spPr>
          <a:xfrm>
            <a:off x="4089267" y="1759044"/>
            <a:ext cx="587811" cy="531171"/>
          </a:xfrm>
          <a:prstGeom prst="rect">
            <a:avLst/>
          </a:prstGeom>
          <a:noFill/>
          <a:ln>
            <a:noFill/>
          </a:ln>
        </p:spPr>
      </p:pic>
      <p:sp>
        <p:nvSpPr>
          <p:cNvPr id="172" name="Google Shape;172;p32"/>
          <p:cNvSpPr txBox="1"/>
          <p:nvPr/>
        </p:nvSpPr>
        <p:spPr>
          <a:xfrm>
            <a:off x="4163332" y="1501225"/>
            <a:ext cx="470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latin typeface="Open Sans"/>
                <a:ea typeface="Open Sans"/>
                <a:cs typeface="Open Sans"/>
                <a:sym typeface="Open Sans"/>
              </a:rPr>
              <a:t>Redis</a:t>
            </a:r>
            <a:endParaRPr sz="800">
              <a:latin typeface="Open Sans"/>
              <a:ea typeface="Open Sans"/>
              <a:cs typeface="Open Sans"/>
              <a:sym typeface="Open Sans"/>
            </a:endParaRPr>
          </a:p>
        </p:txBody>
      </p:sp>
      <p:pic>
        <p:nvPicPr>
          <p:cNvPr id="173" name="Google Shape;173;p32"/>
          <p:cNvPicPr preferRelativeResize="0"/>
          <p:nvPr/>
        </p:nvPicPr>
        <p:blipFill>
          <a:blip r:embed="rId7">
            <a:alphaModFix/>
          </a:blip>
          <a:stretch>
            <a:fillRect/>
          </a:stretch>
        </p:blipFill>
        <p:spPr>
          <a:xfrm>
            <a:off x="6147528" y="1765825"/>
            <a:ext cx="523295" cy="523301"/>
          </a:xfrm>
          <a:prstGeom prst="rect">
            <a:avLst/>
          </a:prstGeom>
          <a:noFill/>
          <a:ln>
            <a:noFill/>
          </a:ln>
        </p:spPr>
      </p:pic>
      <p:sp>
        <p:nvSpPr>
          <p:cNvPr id="174" name="Google Shape;174;p32"/>
          <p:cNvSpPr txBox="1"/>
          <p:nvPr/>
        </p:nvSpPr>
        <p:spPr>
          <a:xfrm>
            <a:off x="6089750" y="1455775"/>
            <a:ext cx="756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Database</a:t>
            </a:r>
            <a:endParaRPr sz="900">
              <a:latin typeface="Open Sans"/>
              <a:ea typeface="Open Sans"/>
              <a:cs typeface="Open Sans"/>
              <a:sym typeface="Open Sans"/>
            </a:endParaRPr>
          </a:p>
        </p:txBody>
      </p:sp>
      <p:cxnSp>
        <p:nvCxnSpPr>
          <p:cNvPr id="175" name="Google Shape;175;p32"/>
          <p:cNvCxnSpPr/>
          <p:nvPr/>
        </p:nvCxnSpPr>
        <p:spPr>
          <a:xfrm rot="10800000">
            <a:off x="4383184" y="2290083"/>
            <a:ext cx="0" cy="5748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32"/>
          <p:cNvCxnSpPr/>
          <p:nvPr/>
        </p:nvCxnSpPr>
        <p:spPr>
          <a:xfrm rot="10800000">
            <a:off x="6409231" y="2289189"/>
            <a:ext cx="6600" cy="612600"/>
          </a:xfrm>
          <a:prstGeom prst="straightConnector1">
            <a:avLst/>
          </a:prstGeom>
          <a:noFill/>
          <a:ln cap="flat" cmpd="sng" w="9525">
            <a:solidFill>
              <a:schemeClr val="dk2"/>
            </a:solidFill>
            <a:prstDash val="solid"/>
            <a:round/>
            <a:headEnd len="med" w="med" type="none"/>
            <a:tailEnd len="med" w="med" type="none"/>
          </a:ln>
        </p:spPr>
      </p:cxnSp>
      <p:sp>
        <p:nvSpPr>
          <p:cNvPr id="177" name="Google Shape;177;p32"/>
          <p:cNvSpPr txBox="1"/>
          <p:nvPr/>
        </p:nvSpPr>
        <p:spPr>
          <a:xfrm>
            <a:off x="488250" y="1208625"/>
            <a:ext cx="2745600" cy="3081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Dashboard data store</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Configuration Storage</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Analytics and Reporting</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User and Access Management</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Audit Logs</a:t>
            </a:r>
            <a:endParaRPr sz="1800">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33"/>
          <p:cNvSpPr/>
          <p:nvPr/>
        </p:nvSpPr>
        <p:spPr>
          <a:xfrm>
            <a:off x="3697721" y="1356600"/>
            <a:ext cx="3648000" cy="267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3" name="Google Shape;183;p33"/>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Pump</a:t>
            </a:r>
            <a:endParaRPr b="1" sz="3800">
              <a:solidFill>
                <a:srgbClr val="03031C"/>
              </a:solidFill>
              <a:latin typeface="Inter"/>
              <a:ea typeface="Inter"/>
              <a:cs typeface="Inter"/>
              <a:sym typeface="Inter"/>
            </a:endParaRPr>
          </a:p>
        </p:txBody>
      </p:sp>
      <p:sp>
        <p:nvSpPr>
          <p:cNvPr id="184" name="Google Shape;184;p3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5" name="Google Shape;185;p33"/>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186" name="Google Shape;186;p33"/>
          <p:cNvPicPr preferRelativeResize="0"/>
          <p:nvPr/>
        </p:nvPicPr>
        <p:blipFill rotWithShape="1">
          <a:blip r:embed="rId4">
            <a:alphaModFix/>
          </a:blip>
          <a:srcRect b="8949" l="8949" r="8949" t="8949"/>
          <a:stretch/>
        </p:blipFill>
        <p:spPr>
          <a:xfrm rot="5400000">
            <a:off x="4084868" y="2833073"/>
            <a:ext cx="596633" cy="660253"/>
          </a:xfrm>
          <a:prstGeom prst="rect">
            <a:avLst/>
          </a:prstGeom>
          <a:noFill/>
          <a:ln>
            <a:noFill/>
          </a:ln>
        </p:spPr>
      </p:pic>
      <p:sp>
        <p:nvSpPr>
          <p:cNvPr id="187" name="Google Shape;187;p33"/>
          <p:cNvSpPr txBox="1"/>
          <p:nvPr/>
        </p:nvSpPr>
        <p:spPr>
          <a:xfrm>
            <a:off x="4042699" y="3461517"/>
            <a:ext cx="66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Gateway</a:t>
            </a:r>
            <a:endParaRPr sz="900">
              <a:latin typeface="Open Sans"/>
              <a:ea typeface="Open Sans"/>
              <a:cs typeface="Open Sans"/>
              <a:sym typeface="Open Sans"/>
            </a:endParaRPr>
          </a:p>
        </p:txBody>
      </p:sp>
      <p:pic>
        <p:nvPicPr>
          <p:cNvPr id="188" name="Google Shape;188;p33"/>
          <p:cNvPicPr preferRelativeResize="0"/>
          <p:nvPr/>
        </p:nvPicPr>
        <p:blipFill>
          <a:blip r:embed="rId5">
            <a:alphaModFix/>
          </a:blip>
          <a:stretch>
            <a:fillRect/>
          </a:stretch>
        </p:blipFill>
        <p:spPr>
          <a:xfrm>
            <a:off x="4089267" y="1759044"/>
            <a:ext cx="587811" cy="531171"/>
          </a:xfrm>
          <a:prstGeom prst="rect">
            <a:avLst/>
          </a:prstGeom>
          <a:noFill/>
          <a:ln>
            <a:noFill/>
          </a:ln>
        </p:spPr>
      </p:pic>
      <p:sp>
        <p:nvSpPr>
          <p:cNvPr id="189" name="Google Shape;189;p33"/>
          <p:cNvSpPr txBox="1"/>
          <p:nvPr/>
        </p:nvSpPr>
        <p:spPr>
          <a:xfrm>
            <a:off x="4163332" y="1501225"/>
            <a:ext cx="470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latin typeface="Open Sans"/>
                <a:ea typeface="Open Sans"/>
                <a:cs typeface="Open Sans"/>
                <a:sym typeface="Open Sans"/>
              </a:rPr>
              <a:t>Redis</a:t>
            </a:r>
            <a:endParaRPr sz="800">
              <a:latin typeface="Open Sans"/>
              <a:ea typeface="Open Sans"/>
              <a:cs typeface="Open Sans"/>
              <a:sym typeface="Open Sans"/>
            </a:endParaRPr>
          </a:p>
        </p:txBody>
      </p:sp>
      <p:pic>
        <p:nvPicPr>
          <p:cNvPr id="190" name="Google Shape;190;p33"/>
          <p:cNvPicPr preferRelativeResize="0"/>
          <p:nvPr/>
        </p:nvPicPr>
        <p:blipFill>
          <a:blip r:embed="rId6">
            <a:alphaModFix/>
          </a:blip>
          <a:stretch>
            <a:fillRect/>
          </a:stretch>
        </p:blipFill>
        <p:spPr>
          <a:xfrm>
            <a:off x="6160706" y="2901789"/>
            <a:ext cx="510249" cy="510239"/>
          </a:xfrm>
          <a:prstGeom prst="rect">
            <a:avLst/>
          </a:prstGeom>
          <a:noFill/>
          <a:ln>
            <a:noFill/>
          </a:ln>
        </p:spPr>
      </p:pic>
      <p:sp>
        <p:nvSpPr>
          <p:cNvPr id="191" name="Google Shape;191;p33"/>
          <p:cNvSpPr txBox="1"/>
          <p:nvPr/>
        </p:nvSpPr>
        <p:spPr>
          <a:xfrm>
            <a:off x="6018027" y="3412025"/>
            <a:ext cx="795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Dashboard</a:t>
            </a:r>
            <a:endParaRPr sz="900">
              <a:latin typeface="Open Sans"/>
              <a:ea typeface="Open Sans"/>
              <a:cs typeface="Open Sans"/>
              <a:sym typeface="Open Sans"/>
            </a:endParaRPr>
          </a:p>
        </p:txBody>
      </p:sp>
      <p:cxnSp>
        <p:nvCxnSpPr>
          <p:cNvPr id="192" name="Google Shape;192;p33"/>
          <p:cNvCxnSpPr>
            <a:stCxn id="186" idx="1"/>
            <a:endCxn id="188" idx="2"/>
          </p:cNvCxnSpPr>
          <p:nvPr/>
        </p:nvCxnSpPr>
        <p:spPr>
          <a:xfrm rot="10800000">
            <a:off x="4383184" y="2290083"/>
            <a:ext cx="0" cy="574800"/>
          </a:xfrm>
          <a:prstGeom prst="straightConnector1">
            <a:avLst/>
          </a:prstGeom>
          <a:noFill/>
          <a:ln cap="flat" cmpd="sng" w="9525">
            <a:solidFill>
              <a:schemeClr val="dk2"/>
            </a:solidFill>
            <a:prstDash val="solid"/>
            <a:round/>
            <a:headEnd len="med" w="med" type="none"/>
            <a:tailEnd len="med" w="med" type="none"/>
          </a:ln>
        </p:spPr>
      </p:cxnSp>
      <p:cxnSp>
        <p:nvCxnSpPr>
          <p:cNvPr id="193" name="Google Shape;193;p33"/>
          <p:cNvCxnSpPr>
            <a:stCxn id="186" idx="0"/>
            <a:endCxn id="190" idx="1"/>
          </p:cNvCxnSpPr>
          <p:nvPr/>
        </p:nvCxnSpPr>
        <p:spPr>
          <a:xfrm flipH="1" rot="10800000">
            <a:off x="4713311" y="3156899"/>
            <a:ext cx="1447500" cy="6300"/>
          </a:xfrm>
          <a:prstGeom prst="straightConnector1">
            <a:avLst/>
          </a:prstGeom>
          <a:noFill/>
          <a:ln cap="flat" cmpd="sng" w="9525">
            <a:solidFill>
              <a:schemeClr val="dk2"/>
            </a:solidFill>
            <a:prstDash val="solid"/>
            <a:round/>
            <a:headEnd len="med" w="med" type="none"/>
            <a:tailEnd len="med" w="med" type="none"/>
          </a:ln>
        </p:spPr>
      </p:cxnSp>
      <p:pic>
        <p:nvPicPr>
          <p:cNvPr id="194" name="Google Shape;194;p33"/>
          <p:cNvPicPr preferRelativeResize="0"/>
          <p:nvPr/>
        </p:nvPicPr>
        <p:blipFill>
          <a:blip r:embed="rId7">
            <a:alphaModFix/>
          </a:blip>
          <a:stretch>
            <a:fillRect/>
          </a:stretch>
        </p:blipFill>
        <p:spPr>
          <a:xfrm>
            <a:off x="6147528" y="1765825"/>
            <a:ext cx="523295" cy="523301"/>
          </a:xfrm>
          <a:prstGeom prst="rect">
            <a:avLst/>
          </a:prstGeom>
          <a:noFill/>
          <a:ln>
            <a:noFill/>
          </a:ln>
        </p:spPr>
      </p:pic>
      <p:sp>
        <p:nvSpPr>
          <p:cNvPr id="195" name="Google Shape;195;p33"/>
          <p:cNvSpPr txBox="1"/>
          <p:nvPr/>
        </p:nvSpPr>
        <p:spPr>
          <a:xfrm>
            <a:off x="6089750" y="1455775"/>
            <a:ext cx="756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Database</a:t>
            </a:r>
            <a:endParaRPr sz="900">
              <a:latin typeface="Open Sans"/>
              <a:ea typeface="Open Sans"/>
              <a:cs typeface="Open Sans"/>
              <a:sym typeface="Open Sans"/>
            </a:endParaRPr>
          </a:p>
        </p:txBody>
      </p:sp>
      <p:cxnSp>
        <p:nvCxnSpPr>
          <p:cNvPr id="196" name="Google Shape;196;p33"/>
          <p:cNvCxnSpPr>
            <a:stCxn id="190" idx="0"/>
            <a:endCxn id="194" idx="2"/>
          </p:cNvCxnSpPr>
          <p:nvPr/>
        </p:nvCxnSpPr>
        <p:spPr>
          <a:xfrm rot="10800000">
            <a:off x="6409231" y="2289189"/>
            <a:ext cx="6600" cy="612600"/>
          </a:xfrm>
          <a:prstGeom prst="straightConnector1">
            <a:avLst/>
          </a:prstGeom>
          <a:noFill/>
          <a:ln cap="flat" cmpd="sng" w="9525">
            <a:solidFill>
              <a:schemeClr val="dk2"/>
            </a:solidFill>
            <a:prstDash val="solid"/>
            <a:round/>
            <a:headEnd len="med" w="med" type="none"/>
            <a:tailEnd len="med" w="med" type="none"/>
          </a:ln>
        </p:spPr>
      </p:cxnSp>
      <p:pic>
        <p:nvPicPr>
          <p:cNvPr id="197" name="Google Shape;197;p33"/>
          <p:cNvPicPr preferRelativeResize="0"/>
          <p:nvPr/>
        </p:nvPicPr>
        <p:blipFill>
          <a:blip r:embed="rId8">
            <a:alphaModFix/>
          </a:blip>
          <a:stretch>
            <a:fillRect/>
          </a:stretch>
        </p:blipFill>
        <p:spPr>
          <a:xfrm>
            <a:off x="5119537" y="1763574"/>
            <a:ext cx="527750" cy="527727"/>
          </a:xfrm>
          <a:prstGeom prst="rect">
            <a:avLst/>
          </a:prstGeom>
          <a:noFill/>
          <a:ln>
            <a:noFill/>
          </a:ln>
        </p:spPr>
      </p:pic>
      <p:cxnSp>
        <p:nvCxnSpPr>
          <p:cNvPr id="198" name="Google Shape;198;p33"/>
          <p:cNvCxnSpPr>
            <a:stCxn id="194" idx="1"/>
            <a:endCxn id="197" idx="3"/>
          </p:cNvCxnSpPr>
          <p:nvPr/>
        </p:nvCxnSpPr>
        <p:spPr>
          <a:xfrm rot="10800000">
            <a:off x="5647428" y="2027475"/>
            <a:ext cx="500100" cy="0"/>
          </a:xfrm>
          <a:prstGeom prst="straightConnector1">
            <a:avLst/>
          </a:prstGeom>
          <a:noFill/>
          <a:ln cap="flat" cmpd="sng" w="9525">
            <a:solidFill>
              <a:schemeClr val="dk2"/>
            </a:solidFill>
            <a:prstDash val="solid"/>
            <a:round/>
            <a:headEnd len="med" w="med" type="none"/>
            <a:tailEnd len="med" w="med" type="none"/>
          </a:ln>
        </p:spPr>
      </p:cxnSp>
      <p:cxnSp>
        <p:nvCxnSpPr>
          <p:cNvPr id="199" name="Google Shape;199;p33"/>
          <p:cNvCxnSpPr>
            <a:stCxn id="197" idx="1"/>
            <a:endCxn id="188" idx="3"/>
          </p:cNvCxnSpPr>
          <p:nvPr/>
        </p:nvCxnSpPr>
        <p:spPr>
          <a:xfrm rot="10800000">
            <a:off x="4677037" y="2024737"/>
            <a:ext cx="442500" cy="2700"/>
          </a:xfrm>
          <a:prstGeom prst="straightConnector1">
            <a:avLst/>
          </a:prstGeom>
          <a:noFill/>
          <a:ln cap="flat" cmpd="sng" w="9525">
            <a:solidFill>
              <a:schemeClr val="dk2"/>
            </a:solidFill>
            <a:prstDash val="solid"/>
            <a:round/>
            <a:headEnd len="med" w="med" type="none"/>
            <a:tailEnd len="med" w="med" type="none"/>
          </a:ln>
        </p:spPr>
      </p:cxnSp>
      <p:sp>
        <p:nvSpPr>
          <p:cNvPr id="200" name="Google Shape;200;p33"/>
          <p:cNvSpPr txBox="1"/>
          <p:nvPr/>
        </p:nvSpPr>
        <p:spPr>
          <a:xfrm>
            <a:off x="5201707" y="1501225"/>
            <a:ext cx="470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latin typeface="Open Sans"/>
                <a:ea typeface="Open Sans"/>
                <a:cs typeface="Open Sans"/>
                <a:sym typeface="Open Sans"/>
              </a:rPr>
              <a:t>Pump</a:t>
            </a:r>
            <a:endParaRPr sz="800">
              <a:latin typeface="Open Sans"/>
              <a:ea typeface="Open Sans"/>
              <a:cs typeface="Open Sans"/>
              <a:sym typeface="Open Sans"/>
            </a:endParaRPr>
          </a:p>
        </p:txBody>
      </p:sp>
      <p:sp>
        <p:nvSpPr>
          <p:cNvPr id="201" name="Google Shape;201;p33"/>
          <p:cNvSpPr txBox="1"/>
          <p:nvPr/>
        </p:nvSpPr>
        <p:spPr>
          <a:xfrm>
            <a:off x="488250" y="1208625"/>
            <a:ext cx="2745600" cy="3081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Pumps analytics data to database</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Data Aggregation</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Data Transformation</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Data Export</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Flexibility</a:t>
            </a:r>
            <a:endParaRPr sz="1800">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34"/>
          <p:cNvSpPr/>
          <p:nvPr/>
        </p:nvSpPr>
        <p:spPr>
          <a:xfrm>
            <a:off x="2407646" y="1233150"/>
            <a:ext cx="3648000" cy="267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7" name="Google Shape;207;p34"/>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Pro</a:t>
            </a:r>
            <a:endParaRPr b="1" sz="3800">
              <a:solidFill>
                <a:srgbClr val="03031C"/>
              </a:solidFill>
              <a:latin typeface="Inter"/>
              <a:ea typeface="Inter"/>
              <a:cs typeface="Inter"/>
              <a:sym typeface="Inter"/>
            </a:endParaRPr>
          </a:p>
        </p:txBody>
      </p:sp>
      <p:sp>
        <p:nvSpPr>
          <p:cNvPr id="208" name="Google Shape;208;p3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9" name="Google Shape;209;p34"/>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210" name="Google Shape;210;p34"/>
          <p:cNvPicPr preferRelativeResize="0"/>
          <p:nvPr/>
        </p:nvPicPr>
        <p:blipFill rotWithShape="1">
          <a:blip r:embed="rId4">
            <a:alphaModFix/>
          </a:blip>
          <a:srcRect b="8949" l="8949" r="8949" t="8949"/>
          <a:stretch/>
        </p:blipFill>
        <p:spPr>
          <a:xfrm rot="5400000">
            <a:off x="2794793" y="2709623"/>
            <a:ext cx="596633" cy="660253"/>
          </a:xfrm>
          <a:prstGeom prst="rect">
            <a:avLst/>
          </a:prstGeom>
          <a:noFill/>
          <a:ln>
            <a:noFill/>
          </a:ln>
        </p:spPr>
      </p:pic>
      <p:sp>
        <p:nvSpPr>
          <p:cNvPr id="211" name="Google Shape;211;p34"/>
          <p:cNvSpPr txBox="1"/>
          <p:nvPr/>
        </p:nvSpPr>
        <p:spPr>
          <a:xfrm>
            <a:off x="2752624" y="3338067"/>
            <a:ext cx="66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Gateway</a:t>
            </a:r>
            <a:endParaRPr sz="900">
              <a:latin typeface="Open Sans"/>
              <a:ea typeface="Open Sans"/>
              <a:cs typeface="Open Sans"/>
              <a:sym typeface="Open Sans"/>
            </a:endParaRPr>
          </a:p>
        </p:txBody>
      </p:sp>
      <p:pic>
        <p:nvPicPr>
          <p:cNvPr id="212" name="Google Shape;212;p34"/>
          <p:cNvPicPr preferRelativeResize="0"/>
          <p:nvPr/>
        </p:nvPicPr>
        <p:blipFill>
          <a:blip r:embed="rId5">
            <a:alphaModFix/>
          </a:blip>
          <a:stretch>
            <a:fillRect/>
          </a:stretch>
        </p:blipFill>
        <p:spPr>
          <a:xfrm>
            <a:off x="2799192" y="1635594"/>
            <a:ext cx="587811" cy="531171"/>
          </a:xfrm>
          <a:prstGeom prst="rect">
            <a:avLst/>
          </a:prstGeom>
          <a:noFill/>
          <a:ln>
            <a:noFill/>
          </a:ln>
        </p:spPr>
      </p:pic>
      <p:sp>
        <p:nvSpPr>
          <p:cNvPr id="213" name="Google Shape;213;p34"/>
          <p:cNvSpPr txBox="1"/>
          <p:nvPr/>
        </p:nvSpPr>
        <p:spPr>
          <a:xfrm>
            <a:off x="2873257" y="1377775"/>
            <a:ext cx="470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latin typeface="Open Sans"/>
                <a:ea typeface="Open Sans"/>
                <a:cs typeface="Open Sans"/>
                <a:sym typeface="Open Sans"/>
              </a:rPr>
              <a:t>Redis</a:t>
            </a:r>
            <a:endParaRPr sz="800">
              <a:latin typeface="Open Sans"/>
              <a:ea typeface="Open Sans"/>
              <a:cs typeface="Open Sans"/>
              <a:sym typeface="Open Sans"/>
            </a:endParaRPr>
          </a:p>
        </p:txBody>
      </p:sp>
      <p:pic>
        <p:nvPicPr>
          <p:cNvPr id="214" name="Google Shape;214;p34"/>
          <p:cNvPicPr preferRelativeResize="0"/>
          <p:nvPr/>
        </p:nvPicPr>
        <p:blipFill>
          <a:blip r:embed="rId6">
            <a:alphaModFix/>
          </a:blip>
          <a:stretch>
            <a:fillRect/>
          </a:stretch>
        </p:blipFill>
        <p:spPr>
          <a:xfrm>
            <a:off x="4870631" y="2778339"/>
            <a:ext cx="510249" cy="510239"/>
          </a:xfrm>
          <a:prstGeom prst="rect">
            <a:avLst/>
          </a:prstGeom>
          <a:noFill/>
          <a:ln>
            <a:noFill/>
          </a:ln>
        </p:spPr>
      </p:pic>
      <p:sp>
        <p:nvSpPr>
          <p:cNvPr id="215" name="Google Shape;215;p34"/>
          <p:cNvSpPr txBox="1"/>
          <p:nvPr/>
        </p:nvSpPr>
        <p:spPr>
          <a:xfrm>
            <a:off x="4727952" y="3288575"/>
            <a:ext cx="795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Dashboard</a:t>
            </a:r>
            <a:endParaRPr sz="900">
              <a:latin typeface="Open Sans"/>
              <a:ea typeface="Open Sans"/>
              <a:cs typeface="Open Sans"/>
              <a:sym typeface="Open Sans"/>
            </a:endParaRPr>
          </a:p>
        </p:txBody>
      </p:sp>
      <p:cxnSp>
        <p:nvCxnSpPr>
          <p:cNvPr id="216" name="Google Shape;216;p34"/>
          <p:cNvCxnSpPr>
            <a:stCxn id="210" idx="1"/>
            <a:endCxn id="212" idx="2"/>
          </p:cNvCxnSpPr>
          <p:nvPr/>
        </p:nvCxnSpPr>
        <p:spPr>
          <a:xfrm rot="10800000">
            <a:off x="3093109" y="2166633"/>
            <a:ext cx="0" cy="574800"/>
          </a:xfrm>
          <a:prstGeom prst="straightConnector1">
            <a:avLst/>
          </a:prstGeom>
          <a:noFill/>
          <a:ln cap="flat" cmpd="sng" w="9525">
            <a:solidFill>
              <a:schemeClr val="dk2"/>
            </a:solidFill>
            <a:prstDash val="solid"/>
            <a:round/>
            <a:headEnd len="med" w="med" type="none"/>
            <a:tailEnd len="med" w="med" type="none"/>
          </a:ln>
        </p:spPr>
      </p:cxnSp>
      <p:cxnSp>
        <p:nvCxnSpPr>
          <p:cNvPr id="217" name="Google Shape;217;p34"/>
          <p:cNvCxnSpPr>
            <a:stCxn id="210" idx="0"/>
            <a:endCxn id="214" idx="1"/>
          </p:cNvCxnSpPr>
          <p:nvPr/>
        </p:nvCxnSpPr>
        <p:spPr>
          <a:xfrm flipH="1" rot="10800000">
            <a:off x="3423236" y="3033449"/>
            <a:ext cx="1447500" cy="6300"/>
          </a:xfrm>
          <a:prstGeom prst="straightConnector1">
            <a:avLst/>
          </a:prstGeom>
          <a:noFill/>
          <a:ln cap="flat" cmpd="sng" w="9525">
            <a:solidFill>
              <a:schemeClr val="dk2"/>
            </a:solidFill>
            <a:prstDash val="solid"/>
            <a:round/>
            <a:headEnd len="med" w="med" type="none"/>
            <a:tailEnd len="med" w="med" type="none"/>
          </a:ln>
        </p:spPr>
      </p:cxnSp>
      <p:pic>
        <p:nvPicPr>
          <p:cNvPr id="218" name="Google Shape;218;p34"/>
          <p:cNvPicPr preferRelativeResize="0"/>
          <p:nvPr/>
        </p:nvPicPr>
        <p:blipFill>
          <a:blip r:embed="rId7">
            <a:alphaModFix/>
          </a:blip>
          <a:stretch>
            <a:fillRect/>
          </a:stretch>
        </p:blipFill>
        <p:spPr>
          <a:xfrm>
            <a:off x="4857453" y="1642375"/>
            <a:ext cx="523295" cy="523301"/>
          </a:xfrm>
          <a:prstGeom prst="rect">
            <a:avLst/>
          </a:prstGeom>
          <a:noFill/>
          <a:ln>
            <a:noFill/>
          </a:ln>
        </p:spPr>
      </p:pic>
      <p:sp>
        <p:nvSpPr>
          <p:cNvPr id="219" name="Google Shape;219;p34"/>
          <p:cNvSpPr txBox="1"/>
          <p:nvPr/>
        </p:nvSpPr>
        <p:spPr>
          <a:xfrm>
            <a:off x="4799675" y="1332325"/>
            <a:ext cx="756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Database</a:t>
            </a:r>
            <a:endParaRPr sz="900">
              <a:latin typeface="Open Sans"/>
              <a:ea typeface="Open Sans"/>
              <a:cs typeface="Open Sans"/>
              <a:sym typeface="Open Sans"/>
            </a:endParaRPr>
          </a:p>
        </p:txBody>
      </p:sp>
      <p:cxnSp>
        <p:nvCxnSpPr>
          <p:cNvPr id="220" name="Google Shape;220;p34"/>
          <p:cNvCxnSpPr>
            <a:stCxn id="214" idx="0"/>
            <a:endCxn id="218" idx="2"/>
          </p:cNvCxnSpPr>
          <p:nvPr/>
        </p:nvCxnSpPr>
        <p:spPr>
          <a:xfrm rot="10800000">
            <a:off x="5119156" y="2165739"/>
            <a:ext cx="6600" cy="612600"/>
          </a:xfrm>
          <a:prstGeom prst="straightConnector1">
            <a:avLst/>
          </a:prstGeom>
          <a:noFill/>
          <a:ln cap="flat" cmpd="sng" w="9525">
            <a:solidFill>
              <a:schemeClr val="dk2"/>
            </a:solidFill>
            <a:prstDash val="solid"/>
            <a:round/>
            <a:headEnd len="med" w="med" type="none"/>
            <a:tailEnd len="med" w="med" type="none"/>
          </a:ln>
        </p:spPr>
      </p:cxnSp>
      <p:pic>
        <p:nvPicPr>
          <p:cNvPr id="221" name="Google Shape;221;p34"/>
          <p:cNvPicPr preferRelativeResize="0"/>
          <p:nvPr/>
        </p:nvPicPr>
        <p:blipFill>
          <a:blip r:embed="rId8">
            <a:alphaModFix/>
          </a:blip>
          <a:stretch>
            <a:fillRect/>
          </a:stretch>
        </p:blipFill>
        <p:spPr>
          <a:xfrm>
            <a:off x="3829462" y="1640124"/>
            <a:ext cx="527750" cy="527727"/>
          </a:xfrm>
          <a:prstGeom prst="rect">
            <a:avLst/>
          </a:prstGeom>
          <a:noFill/>
          <a:ln>
            <a:noFill/>
          </a:ln>
        </p:spPr>
      </p:pic>
      <p:cxnSp>
        <p:nvCxnSpPr>
          <p:cNvPr id="222" name="Google Shape;222;p34"/>
          <p:cNvCxnSpPr>
            <a:stCxn id="218" idx="1"/>
            <a:endCxn id="221" idx="3"/>
          </p:cNvCxnSpPr>
          <p:nvPr/>
        </p:nvCxnSpPr>
        <p:spPr>
          <a:xfrm rot="10800000">
            <a:off x="4357353" y="1904025"/>
            <a:ext cx="500100" cy="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34"/>
          <p:cNvCxnSpPr>
            <a:stCxn id="221" idx="1"/>
            <a:endCxn id="212" idx="3"/>
          </p:cNvCxnSpPr>
          <p:nvPr/>
        </p:nvCxnSpPr>
        <p:spPr>
          <a:xfrm rot="10800000">
            <a:off x="3386962" y="1901287"/>
            <a:ext cx="442500" cy="2700"/>
          </a:xfrm>
          <a:prstGeom prst="straightConnector1">
            <a:avLst/>
          </a:prstGeom>
          <a:noFill/>
          <a:ln cap="flat" cmpd="sng" w="9525">
            <a:solidFill>
              <a:schemeClr val="dk2"/>
            </a:solidFill>
            <a:prstDash val="solid"/>
            <a:round/>
            <a:headEnd len="med" w="med" type="none"/>
            <a:tailEnd len="med" w="med" type="none"/>
          </a:ln>
        </p:spPr>
      </p:cxnSp>
      <p:sp>
        <p:nvSpPr>
          <p:cNvPr id="224" name="Google Shape;224;p34"/>
          <p:cNvSpPr txBox="1"/>
          <p:nvPr/>
        </p:nvSpPr>
        <p:spPr>
          <a:xfrm>
            <a:off x="3911632" y="1377775"/>
            <a:ext cx="470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latin typeface="Open Sans"/>
                <a:ea typeface="Open Sans"/>
                <a:cs typeface="Open Sans"/>
                <a:sym typeface="Open Sans"/>
              </a:rPr>
              <a:t>Pump</a:t>
            </a:r>
            <a:endParaRPr sz="800">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yk main slide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