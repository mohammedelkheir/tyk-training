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Inter"/>
      <p:regular r:id="rId14"/>
      <p:bold r:id="rId15"/>
      <p:italic r:id="rId16"/>
      <p:boldItalic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19" Type="http://schemas.openxmlformats.org/officeDocument/2006/relationships/font" Target="fonts/OpenSans-bold.fntdata"/><Relationship Id="rId6" Type="http://schemas.openxmlformats.org/officeDocument/2006/relationships/slide" Target="slides/slide1.xml"/><Relationship Id="rId18"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fe04096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fe04096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fe04096f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fe04096f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wrap up, REST DataSources provide a powerful way to integrate legacy REST APIs into your modern GraphQL layer. You can attach them to any field, choose external or internal APIs, and even use OpenAPI specs to automate the setup. This enhances development agility while leveraging existing infrastructure.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fe04096f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fe04096f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fe04096f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fe04096f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fe04096f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fe04096f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fe04096f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fe04096f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fe04096f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fe04096f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fe04096f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5fe04096f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53" name="Shape 53"/>
        <p:cNvGrpSpPr/>
        <p:nvPr/>
      </p:nvGrpSpPr>
      <p:grpSpPr>
        <a:xfrm>
          <a:off x="0" y="0"/>
          <a:ext cx="0" cy="0"/>
          <a:chOff x="0" y="0"/>
          <a:chExt cx="0" cy="0"/>
        </a:xfrm>
      </p:grpSpPr>
      <p:grpSp>
        <p:nvGrpSpPr>
          <p:cNvPr id="54" name="Google Shape;54;p13"/>
          <p:cNvGrpSpPr/>
          <p:nvPr/>
        </p:nvGrpSpPr>
        <p:grpSpPr>
          <a:xfrm>
            <a:off x="4075518" y="983572"/>
            <a:ext cx="957345" cy="769216"/>
            <a:chOff x="4572000" y="1770575"/>
            <a:chExt cx="1564800" cy="1257300"/>
          </a:xfrm>
        </p:grpSpPr>
        <p:sp>
          <p:nvSpPr>
            <p:cNvPr id="55" name="Google Shape;55;p13"/>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13"/>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Hands-On Workshop</a:t>
            </a:r>
            <a:endParaRPr b="1" sz="3000">
              <a:solidFill>
                <a:schemeClr val="lt1"/>
              </a:solidFill>
              <a:latin typeface="Inter"/>
              <a:ea typeface="Inter"/>
              <a:cs typeface="Inter"/>
              <a:sym typeface="Inter"/>
            </a:endParaRPr>
          </a:p>
        </p:txBody>
      </p:sp>
      <p:sp>
        <p:nvSpPr>
          <p:cNvPr id="58" name="Google Shape;58;p13"/>
          <p:cNvSpPr txBox="1"/>
          <p:nvPr/>
        </p:nvSpPr>
        <p:spPr>
          <a:xfrm>
            <a:off x="701963" y="2720988"/>
            <a:ext cx="77307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Setting Up UDG</a:t>
            </a:r>
            <a:endParaRPr sz="1200"/>
          </a:p>
        </p:txBody>
      </p:sp>
      <p:sp>
        <p:nvSpPr>
          <p:cNvPr id="59" name="Google Shape;59;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sp>
        <p:nvSpPr>
          <p:cNvPr id="65" name="Google Shape;65;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 name="Google Shape;66;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7" name="Google Shape;67;p14"/>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Prerequisites</a:t>
            </a:r>
            <a:endParaRPr b="1" sz="3000">
              <a:solidFill>
                <a:srgbClr val="03031C"/>
              </a:solidFill>
              <a:latin typeface="Inter"/>
              <a:ea typeface="Inter"/>
              <a:cs typeface="Inter"/>
              <a:sym typeface="Inter"/>
            </a:endParaRPr>
          </a:p>
        </p:txBody>
      </p:sp>
      <p:sp>
        <p:nvSpPr>
          <p:cNvPr id="68" name="Google Shape;68;p14"/>
          <p:cNvSpPr txBox="1"/>
          <p:nvPr/>
        </p:nvSpPr>
        <p:spPr>
          <a:xfrm>
            <a:off x="398525" y="1075650"/>
            <a:ext cx="6173700" cy="213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Ensure the following are ready:</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Tyk Dashboard access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Node.js v13+</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Docker Desktop or a local dev environment</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Git</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5" name="Google Shape;75;p15"/>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Clone and Run Example REST APIs</a:t>
            </a:r>
            <a:endParaRPr b="1" sz="3000">
              <a:solidFill>
                <a:srgbClr val="03031C"/>
              </a:solidFill>
              <a:latin typeface="Inter"/>
              <a:ea typeface="Inter"/>
              <a:cs typeface="Inter"/>
              <a:sym typeface="Inter"/>
            </a:endParaRPr>
          </a:p>
        </p:txBody>
      </p:sp>
      <p:sp>
        <p:nvSpPr>
          <p:cNvPr id="76" name="Google Shape;76;p15"/>
          <p:cNvSpPr txBox="1"/>
          <p:nvPr/>
        </p:nvSpPr>
        <p:spPr>
          <a:xfrm>
            <a:off x="398525" y="1075650"/>
            <a:ext cx="6173700" cy="314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We’ll first set up the example services locally.</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git clone https://github.com/example-org/example-rest-api-for-udg.git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cd example-rest-api-for-udg</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npm install</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npm run build</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npm start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You should see:</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Users Service Running on http://localhost:4000</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Review service running on http://localhost:4001</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 name="Google Shape;82;p1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3" name="Google Shape;83;p16"/>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Create a UDG API in Tyk Dashboard</a:t>
            </a:r>
            <a:endParaRPr b="1" sz="3000">
              <a:solidFill>
                <a:srgbClr val="5900CB"/>
              </a:solidFill>
              <a:latin typeface="Inter"/>
              <a:ea typeface="Inter"/>
              <a:cs typeface="Inter"/>
              <a:sym typeface="Inter"/>
            </a:endParaRPr>
          </a:p>
        </p:txBody>
      </p:sp>
      <p:sp>
        <p:nvSpPr>
          <p:cNvPr id="84" name="Google Shape;84;p16"/>
          <p:cNvSpPr txBox="1"/>
          <p:nvPr/>
        </p:nvSpPr>
        <p:spPr>
          <a:xfrm>
            <a:off x="398525" y="1075650"/>
            <a:ext cx="6173700" cy="18777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Go to Tyk Dashboard → APIs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Click "Add New API"</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Select UDG (Universal Data Graph) as the API type</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Name it something like user-reviews-demo</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Set Authentication to "Keyless" for testing</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1" name="Google Shape;91;p17"/>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Define Your GraphQL Schema</a:t>
            </a:r>
            <a:endParaRPr b="1" sz="3000">
              <a:solidFill>
                <a:srgbClr val="5900CB"/>
              </a:solidFill>
              <a:latin typeface="Inter"/>
              <a:ea typeface="Inter"/>
              <a:cs typeface="Inter"/>
              <a:sym typeface="Inter"/>
            </a:endParaRPr>
          </a:p>
        </p:txBody>
      </p:sp>
      <p:sp>
        <p:nvSpPr>
          <p:cNvPr id="92" name="Google Shape;92;p17"/>
          <p:cNvSpPr txBox="1"/>
          <p:nvPr/>
        </p:nvSpPr>
        <p:spPr>
          <a:xfrm>
            <a:off x="398525" y="1075650"/>
            <a:ext cx="6173700" cy="3825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In the Schema tab, replace the default schema with:</a:t>
            </a:r>
            <a:endParaRPr b="1" sz="1100">
              <a:solidFill>
                <a:srgbClr val="03031C"/>
              </a:solidFill>
              <a:latin typeface="Inter"/>
              <a:ea typeface="Inter"/>
              <a:cs typeface="Inter"/>
              <a:sym typeface="Inter"/>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type Mutation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default: String</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type Query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user(id: String): User</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type Review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id: String</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text: String</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userId: String</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user: User</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type User {</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id: String</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username: String</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  reviews: [Review]</a:t>
            </a:r>
            <a:endParaRPr sz="11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 name="Google Shape;98;p1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9" name="Google Shape;99;p18"/>
          <p:cNvSpPr txBox="1"/>
          <p:nvPr/>
        </p:nvSpPr>
        <p:spPr>
          <a:xfrm>
            <a:off x="339000" y="309475"/>
            <a:ext cx="8569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900">
                <a:solidFill>
                  <a:srgbClr val="5900CB"/>
                </a:solidFill>
                <a:latin typeface="Inter"/>
                <a:ea typeface="Inter"/>
                <a:cs typeface="Inter"/>
                <a:sym typeface="Inter"/>
              </a:rPr>
              <a:t>Connect the user Query to the Users REST API</a:t>
            </a:r>
            <a:endParaRPr b="1" sz="2900">
              <a:solidFill>
                <a:srgbClr val="5900CB"/>
              </a:solidFill>
              <a:latin typeface="Inter"/>
              <a:ea typeface="Inter"/>
              <a:cs typeface="Inter"/>
              <a:sym typeface="Inter"/>
            </a:endParaRPr>
          </a:p>
        </p:txBody>
      </p:sp>
      <p:sp>
        <p:nvSpPr>
          <p:cNvPr id="100" name="Google Shape;100;p18"/>
          <p:cNvSpPr txBox="1"/>
          <p:nvPr/>
        </p:nvSpPr>
        <p:spPr>
          <a:xfrm>
            <a:off x="398525" y="1075650"/>
            <a:ext cx="6173700" cy="26397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AutoNum type="arabicPeriod"/>
            </a:pPr>
            <a:r>
              <a:rPr lang="en-GB" sz="1100">
                <a:solidFill>
                  <a:srgbClr val="03031C"/>
                </a:solidFill>
                <a:latin typeface="Inter"/>
                <a:ea typeface="Inter"/>
                <a:cs typeface="Inter"/>
                <a:sym typeface="Inter"/>
              </a:rPr>
              <a:t>In the </a:t>
            </a:r>
            <a:r>
              <a:rPr b="1" lang="en-GB" sz="1100">
                <a:solidFill>
                  <a:srgbClr val="03031C"/>
                </a:solidFill>
                <a:latin typeface="Inter"/>
                <a:ea typeface="Inter"/>
                <a:cs typeface="Inter"/>
                <a:sym typeface="Inter"/>
              </a:rPr>
              <a:t>Schema</a:t>
            </a:r>
            <a:r>
              <a:rPr lang="en-GB" sz="1100">
                <a:solidFill>
                  <a:srgbClr val="03031C"/>
                </a:solidFill>
                <a:latin typeface="Inter"/>
                <a:ea typeface="Inter"/>
                <a:cs typeface="Inter"/>
                <a:sym typeface="Inter"/>
              </a:rPr>
              <a:t> tab, select the field </a:t>
            </a:r>
            <a:r>
              <a:rPr lang="en-GB" sz="1100">
                <a:solidFill>
                  <a:srgbClr val="03031C"/>
                </a:solidFill>
                <a:latin typeface="Courier New"/>
                <a:ea typeface="Courier New"/>
                <a:cs typeface="Courier New"/>
                <a:sym typeface="Courier New"/>
              </a:rPr>
              <a:t>user</a:t>
            </a:r>
            <a:r>
              <a:rPr lang="en-GB" sz="1100">
                <a:solidFill>
                  <a:srgbClr val="03031C"/>
                </a:solidFill>
                <a:latin typeface="Inter"/>
                <a:ea typeface="Inter"/>
                <a:cs typeface="Inter"/>
                <a:sym typeface="Inter"/>
              </a:rPr>
              <a:t> under </a:t>
            </a:r>
            <a:r>
              <a:rPr lang="en-GB" sz="1100">
                <a:solidFill>
                  <a:srgbClr val="03031C"/>
                </a:solidFill>
                <a:latin typeface="Courier New"/>
                <a:ea typeface="Courier New"/>
                <a:cs typeface="Courier New"/>
                <a:sym typeface="Courier New"/>
              </a:rPr>
              <a:t>Query</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AutoNum type="arabicPeriod"/>
            </a:pPr>
            <a:r>
              <a:rPr lang="en-GB" sz="1100">
                <a:solidFill>
                  <a:srgbClr val="03031C"/>
                </a:solidFill>
                <a:latin typeface="Inter"/>
                <a:ea typeface="Inter"/>
                <a:cs typeface="Inter"/>
                <a:sym typeface="Inter"/>
              </a:rPr>
              <a:t>Choose Data Source Type → </a:t>
            </a:r>
            <a:r>
              <a:rPr lang="en-GB" sz="1100">
                <a:solidFill>
                  <a:srgbClr val="03031C"/>
                </a:solidFill>
                <a:latin typeface="Courier New"/>
                <a:ea typeface="Courier New"/>
                <a:cs typeface="Courier New"/>
                <a:sym typeface="Courier New"/>
              </a:rPr>
              <a:t>REST</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AutoNum type="arabicPeriod"/>
            </a:pPr>
            <a:r>
              <a:rPr lang="en-GB" sz="1100">
                <a:solidFill>
                  <a:srgbClr val="03031C"/>
                </a:solidFill>
                <a:latin typeface="Inter"/>
                <a:ea typeface="Inter"/>
                <a:cs typeface="Inter"/>
                <a:sym typeface="Inter"/>
              </a:rPr>
              <a:t>Choose Use </a:t>
            </a:r>
            <a:r>
              <a:rPr b="1" lang="en-GB" sz="1100">
                <a:solidFill>
                  <a:srgbClr val="03031C"/>
                </a:solidFill>
                <a:latin typeface="Inter"/>
                <a:ea typeface="Inter"/>
                <a:cs typeface="Inter"/>
                <a:sym typeface="Inter"/>
              </a:rPr>
              <a:t>External Data Source</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AutoNum type="arabicPeriod"/>
            </a:pPr>
            <a:r>
              <a:rPr lang="en-GB" sz="1100">
                <a:solidFill>
                  <a:srgbClr val="03031C"/>
                </a:solidFill>
                <a:latin typeface="Inter"/>
                <a:ea typeface="Inter"/>
                <a:cs typeface="Inter"/>
                <a:sym typeface="Inter"/>
              </a:rPr>
              <a:t>Fill in:</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AutoNum type="alphaLcPeriod"/>
            </a:pPr>
            <a:r>
              <a:rPr lang="en-GB" sz="1100">
                <a:solidFill>
                  <a:srgbClr val="03031C"/>
                </a:solidFill>
                <a:latin typeface="Inter"/>
                <a:ea typeface="Inter"/>
                <a:cs typeface="Inter"/>
                <a:sym typeface="Inter"/>
              </a:rPr>
              <a:t>Datasource Name: </a:t>
            </a:r>
            <a:r>
              <a:rPr lang="en-GB" sz="1100">
                <a:solidFill>
                  <a:srgbClr val="03031C"/>
                </a:solidFill>
                <a:latin typeface="Courier New"/>
                <a:ea typeface="Courier New"/>
                <a:cs typeface="Courier New"/>
                <a:sym typeface="Courier New"/>
              </a:rPr>
              <a:t>getUserById</a:t>
            </a:r>
            <a:endParaRPr sz="1100">
              <a:solidFill>
                <a:srgbClr val="03031C"/>
              </a:solidFill>
              <a:latin typeface="Courier New"/>
              <a:ea typeface="Courier New"/>
              <a:cs typeface="Courier New"/>
              <a:sym typeface="Courier New"/>
            </a:endParaRPr>
          </a:p>
          <a:p>
            <a:pPr indent="-298450" lvl="1" marL="914400" rtl="0" algn="l">
              <a:lnSpc>
                <a:spcPct val="150000"/>
              </a:lnSpc>
              <a:spcBef>
                <a:spcPts val="0"/>
              </a:spcBef>
              <a:spcAft>
                <a:spcPts val="0"/>
              </a:spcAft>
              <a:buClr>
                <a:srgbClr val="03031C"/>
              </a:buClr>
              <a:buSzPts val="1100"/>
              <a:buFont typeface="Inter"/>
              <a:buAutoNum type="alphaLcPeriod"/>
            </a:pPr>
            <a:r>
              <a:rPr lang="en-GB" sz="1100">
                <a:solidFill>
                  <a:srgbClr val="03031C"/>
                </a:solidFill>
                <a:latin typeface="Inter"/>
                <a:ea typeface="Inter"/>
                <a:cs typeface="Inter"/>
                <a:sym typeface="Inter"/>
              </a:rPr>
              <a:t>HTTP Method: </a:t>
            </a:r>
            <a:r>
              <a:rPr lang="en-GB" sz="1100">
                <a:solidFill>
                  <a:srgbClr val="03031C"/>
                </a:solidFill>
                <a:latin typeface="Courier New"/>
                <a:ea typeface="Courier New"/>
                <a:cs typeface="Courier New"/>
                <a:sym typeface="Courier New"/>
              </a:rPr>
              <a:t>GET</a:t>
            </a:r>
            <a:endParaRPr sz="1100">
              <a:solidFill>
                <a:srgbClr val="03031C"/>
              </a:solidFill>
              <a:latin typeface="Courier New"/>
              <a:ea typeface="Courier New"/>
              <a:cs typeface="Courier New"/>
              <a:sym typeface="Courier New"/>
            </a:endParaRPr>
          </a:p>
          <a:p>
            <a:pPr indent="-298450" lvl="1" marL="914400" rtl="0" algn="l">
              <a:lnSpc>
                <a:spcPct val="150000"/>
              </a:lnSpc>
              <a:spcBef>
                <a:spcPts val="0"/>
              </a:spcBef>
              <a:spcAft>
                <a:spcPts val="0"/>
              </a:spcAft>
              <a:buClr>
                <a:srgbClr val="03031C"/>
              </a:buClr>
              <a:buSzPts val="1100"/>
              <a:buFont typeface="Inter"/>
              <a:buAutoNum type="alphaLcPeriod"/>
            </a:pPr>
            <a:r>
              <a:rPr lang="en-GB" sz="1100">
                <a:solidFill>
                  <a:srgbClr val="03031C"/>
                </a:solidFill>
                <a:latin typeface="Inter"/>
                <a:ea typeface="Inter"/>
                <a:cs typeface="Inter"/>
                <a:sym typeface="Inter"/>
              </a:rPr>
              <a:t>URL: </a:t>
            </a:r>
            <a:r>
              <a:rPr lang="en-GB" sz="1100">
                <a:solidFill>
                  <a:srgbClr val="03031C"/>
                </a:solidFill>
                <a:latin typeface="Courier New"/>
                <a:ea typeface="Courier New"/>
                <a:cs typeface="Courier New"/>
                <a:sym typeface="Courier New"/>
              </a:rPr>
              <a:t>http://localhost:4000/users/{{.args.id}}</a:t>
            </a:r>
            <a:endParaRPr sz="1100">
              <a:solidFill>
                <a:srgbClr val="03031C"/>
              </a:solidFill>
              <a:latin typeface="Courier New"/>
              <a:ea typeface="Courier New"/>
              <a:cs typeface="Courier New"/>
              <a:sym typeface="Courier New"/>
            </a:endParaRPr>
          </a:p>
          <a:p>
            <a:pPr indent="0" lvl="0" marL="914400" rtl="0" algn="l">
              <a:lnSpc>
                <a:spcPct val="150000"/>
              </a:lnSpc>
              <a:spcBef>
                <a:spcPts val="0"/>
              </a:spcBef>
              <a:spcAft>
                <a:spcPts val="0"/>
              </a:spcAft>
              <a:buNone/>
            </a:pPr>
            <a:r>
              <a:rPr lang="en-GB" sz="1100">
                <a:solidFill>
                  <a:srgbClr val="03031C"/>
                </a:solidFill>
                <a:latin typeface="Inter"/>
                <a:ea typeface="Inter"/>
                <a:cs typeface="Inter"/>
                <a:sym typeface="Inter"/>
              </a:rPr>
              <a:t>(</a:t>
            </a:r>
            <a:r>
              <a:rPr i="1" lang="en-GB" sz="1100">
                <a:solidFill>
                  <a:srgbClr val="03031C"/>
                </a:solidFill>
                <a:latin typeface="Inter"/>
                <a:ea typeface="Inter"/>
                <a:cs typeface="Inter"/>
                <a:sym typeface="Inter"/>
              </a:rPr>
              <a:t>This uses GraphQL args as a dynamic path param</a:t>
            </a:r>
            <a:r>
              <a:rPr lang="en-GB" sz="1100">
                <a:solidFill>
                  <a:srgbClr val="03031C"/>
                </a:solidFill>
                <a:latin typeface="Inter"/>
                <a:ea typeface="Inter"/>
                <a:cs typeface="Inter"/>
                <a:sym typeface="Inter"/>
              </a:rPr>
              <a:t>)</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AutoNum type="arabicPeriod"/>
            </a:pPr>
            <a:r>
              <a:rPr lang="en-GB" sz="1100">
                <a:solidFill>
                  <a:srgbClr val="03031C"/>
                </a:solidFill>
                <a:latin typeface="Inter"/>
                <a:ea typeface="Inter"/>
                <a:cs typeface="Inter"/>
                <a:sym typeface="Inter"/>
              </a:rPr>
              <a:t>(Optional) Add headers if needed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AutoNum type="arabicPeriod"/>
            </a:pPr>
            <a:r>
              <a:rPr lang="en-GB" sz="1100">
                <a:solidFill>
                  <a:srgbClr val="03031C"/>
                </a:solidFill>
                <a:latin typeface="Inter"/>
                <a:ea typeface="Inter"/>
                <a:cs typeface="Inter"/>
                <a:sym typeface="Inter"/>
              </a:rPr>
              <a:t>Save &amp; Update API</a:t>
            </a:r>
            <a:endParaRPr sz="1100">
              <a:solidFill>
                <a:srgbClr val="03031C"/>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 name="Google Shape;106;p1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07" name="Google Shape;107;p19"/>
          <p:cNvSpPr txBox="1"/>
          <p:nvPr/>
        </p:nvSpPr>
        <p:spPr>
          <a:xfrm>
            <a:off x="339000" y="309475"/>
            <a:ext cx="8569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900">
                <a:solidFill>
                  <a:srgbClr val="5900CB"/>
                </a:solidFill>
                <a:latin typeface="Inter"/>
                <a:ea typeface="Inter"/>
                <a:cs typeface="Inter"/>
                <a:sym typeface="Inter"/>
              </a:rPr>
              <a:t>Test the API in GraphQL Playground</a:t>
            </a:r>
            <a:endParaRPr b="1" sz="2900">
              <a:solidFill>
                <a:srgbClr val="5900CB"/>
              </a:solidFill>
              <a:latin typeface="Inter"/>
              <a:ea typeface="Inter"/>
              <a:cs typeface="Inter"/>
              <a:sym typeface="Inter"/>
            </a:endParaRPr>
          </a:p>
        </p:txBody>
      </p:sp>
      <p:sp>
        <p:nvSpPr>
          <p:cNvPr id="108" name="Google Shape;108;p19"/>
          <p:cNvSpPr txBox="1"/>
          <p:nvPr/>
        </p:nvSpPr>
        <p:spPr>
          <a:xfrm>
            <a:off x="398525" y="1075650"/>
            <a:ext cx="4173600" cy="2893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Navigate to the Playground tab in Tyk Dashboard and run:</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query getUser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user(id: "1")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username</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id</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reviews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text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p:txBody>
      </p:sp>
      <p:sp>
        <p:nvSpPr>
          <p:cNvPr id="109" name="Google Shape;109;p19"/>
          <p:cNvSpPr txBox="1"/>
          <p:nvPr/>
        </p:nvSpPr>
        <p:spPr>
          <a:xfrm>
            <a:off x="4734900" y="1108425"/>
            <a:ext cx="4173600" cy="3909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Expected Response:</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"data":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"user":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"username": "User 1",</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"id": "1",</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"reviews": null</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At this point, reviews is null because it's not yet connected. You’ll need to attach another REST data source for the reviews field next.</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2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2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6" name="Google Shape;116;p20"/>
          <p:cNvSpPr txBox="1"/>
          <p:nvPr/>
        </p:nvSpPr>
        <p:spPr>
          <a:xfrm>
            <a:off x="339000" y="309475"/>
            <a:ext cx="8569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900">
                <a:solidFill>
                  <a:srgbClr val="5900CB"/>
                </a:solidFill>
                <a:latin typeface="Inter"/>
                <a:ea typeface="Inter"/>
                <a:cs typeface="Inter"/>
                <a:sym typeface="Inter"/>
              </a:rPr>
              <a:t>Challenge</a:t>
            </a:r>
            <a:endParaRPr b="1" sz="2900">
              <a:solidFill>
                <a:srgbClr val="5900CB"/>
              </a:solidFill>
              <a:latin typeface="Inter"/>
              <a:ea typeface="Inter"/>
              <a:cs typeface="Inter"/>
              <a:sym typeface="Inter"/>
            </a:endParaRPr>
          </a:p>
        </p:txBody>
      </p:sp>
      <p:sp>
        <p:nvSpPr>
          <p:cNvPr id="117" name="Google Shape;117;p20"/>
          <p:cNvSpPr txBox="1"/>
          <p:nvPr/>
        </p:nvSpPr>
        <p:spPr>
          <a:xfrm>
            <a:off x="398525" y="1075650"/>
            <a:ext cx="4173600" cy="8619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Try to resolve reviews field on type </a:t>
            </a:r>
            <a:r>
              <a:rPr lang="en-GB" sz="1100">
                <a:solidFill>
                  <a:srgbClr val="03031C"/>
                </a:solidFill>
                <a:latin typeface="Courier New"/>
                <a:ea typeface="Courier New"/>
                <a:cs typeface="Courier New"/>
                <a:sym typeface="Courier New"/>
              </a:rPr>
              <a:t>Users</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Try to resolve users field on type </a:t>
            </a:r>
            <a:r>
              <a:rPr lang="en-GB" sz="1100">
                <a:solidFill>
                  <a:srgbClr val="03031C"/>
                </a:solidFill>
                <a:latin typeface="Courier New"/>
                <a:ea typeface="Courier New"/>
                <a:cs typeface="Courier New"/>
                <a:sym typeface="Courier New"/>
              </a:rPr>
              <a:t>Reviews</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