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nter Light"/>
      <p:regular r:id="rId12"/>
      <p:bold r:id="rId13"/>
      <p:italic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Open Sans SemiBold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OpenSansSemiBold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SemiBold-italic.fntdata"/><Relationship Id="rId25" Type="http://schemas.openxmlformats.org/officeDocument/2006/relationships/font" Target="fonts/OpenSansSemiBold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OpenSans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Light-bold.fntdata"/><Relationship Id="rId12" Type="http://schemas.openxmlformats.org/officeDocument/2006/relationships/font" Target="fonts/InterLight-regular.fntdata"/><Relationship Id="rId15" Type="http://schemas.openxmlformats.org/officeDocument/2006/relationships/font" Target="fonts/InterLight-boldItalic.fntdata"/><Relationship Id="rId14" Type="http://schemas.openxmlformats.org/officeDocument/2006/relationships/font" Target="fonts/InterLight-italic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1dcb0dd5c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1dcb0dd5c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Tyk Dashboard</a:t>
            </a:r>
            <a:r>
              <a:rPr lang="en-GB">
                <a:solidFill>
                  <a:schemeClr val="dk1"/>
                </a:solidFill>
              </a:rPr>
              <a:t> is a </a:t>
            </a:r>
            <a:r>
              <a:rPr b="1" lang="en-GB">
                <a:solidFill>
                  <a:schemeClr val="dk1"/>
                </a:solidFill>
              </a:rPr>
              <a:t>web-based admin interface</a:t>
            </a:r>
            <a:r>
              <a:rPr lang="en-GB">
                <a:solidFill>
                  <a:schemeClr val="dk1"/>
                </a:solidFill>
              </a:rPr>
              <a:t> that gives you full control over your API ecosystem—without needing to touch raw JSON or configuration files.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It allows you to </a:t>
            </a:r>
            <a:r>
              <a:rPr b="1" lang="en-GB">
                <a:solidFill>
                  <a:schemeClr val="dk1"/>
                </a:solidFill>
              </a:rPr>
              <a:t>create, update, and organize your APIs visually</a:t>
            </a:r>
            <a:r>
              <a:rPr lang="en-GB">
                <a:solidFill>
                  <a:schemeClr val="dk1"/>
                </a:solidFill>
              </a:rPr>
              <a:t>. You can define endpoints, set authentication methods, and apply rate limits—all from an intuitive UI.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Through the Dashboard, you can also </a:t>
            </a:r>
            <a:r>
              <a:rPr b="1" lang="en-GB">
                <a:solidFill>
                  <a:schemeClr val="dk1"/>
                </a:solidFill>
              </a:rPr>
              <a:t>define access policies</a:t>
            </a:r>
            <a:r>
              <a:rPr lang="en-GB">
                <a:solidFill>
                  <a:schemeClr val="dk1"/>
                </a:solidFill>
              </a:rPr>
              <a:t>. These policies let you control </a:t>
            </a:r>
            <a:r>
              <a:rPr b="1" lang="en-GB">
                <a:solidFill>
                  <a:schemeClr val="dk1"/>
                </a:solidFill>
              </a:rPr>
              <a:t>who can access your APIs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how often</a:t>
            </a:r>
            <a:r>
              <a:rPr lang="en-GB">
                <a:solidFill>
                  <a:schemeClr val="dk1"/>
                </a:solidFill>
              </a:rPr>
              <a:t>, and </a:t>
            </a:r>
            <a:r>
              <a:rPr b="1" lang="en-GB">
                <a:solidFill>
                  <a:schemeClr val="dk1"/>
                </a:solidFill>
              </a:rPr>
              <a:t>what credentials</a:t>
            </a:r>
            <a:r>
              <a:rPr lang="en-GB">
                <a:solidFill>
                  <a:schemeClr val="dk1"/>
                </a:solidFill>
              </a:rPr>
              <a:t> they must use—such as API keys, JWTs, or OAuth tokens.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Dashboard includes powerful </a:t>
            </a:r>
            <a:r>
              <a:rPr b="1" lang="en-GB">
                <a:solidFill>
                  <a:schemeClr val="dk1"/>
                </a:solidFill>
              </a:rPr>
              <a:t>user and team management</a:t>
            </a:r>
            <a:r>
              <a:rPr lang="en-GB">
                <a:solidFill>
                  <a:schemeClr val="dk1"/>
                </a:solidFill>
              </a:rPr>
              <a:t> features. You can assign </a:t>
            </a:r>
            <a:r>
              <a:rPr b="1" lang="en-GB">
                <a:solidFill>
                  <a:schemeClr val="dk1"/>
                </a:solidFill>
              </a:rPr>
              <a:t>roles and permissions</a:t>
            </a:r>
            <a:r>
              <a:rPr lang="en-GB">
                <a:solidFill>
                  <a:schemeClr val="dk1"/>
                </a:solidFill>
              </a:rPr>
              <a:t>, ensuring that only authorized users can make changes or access specific parts of the 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addition, the Dashboard provides </a:t>
            </a:r>
            <a:r>
              <a:rPr b="1" lang="en-GB">
                <a:solidFill>
                  <a:schemeClr val="dk1"/>
                </a:solidFill>
              </a:rPr>
              <a:t>real-time analytics</a:t>
            </a:r>
            <a:r>
              <a:rPr lang="en-GB">
                <a:solidFill>
                  <a:schemeClr val="dk1"/>
                </a:solidFill>
              </a:rPr>
              <a:t>. You can monitor </a:t>
            </a:r>
            <a:r>
              <a:rPr b="1" lang="en-GB">
                <a:solidFill>
                  <a:schemeClr val="dk1"/>
                </a:solidFill>
              </a:rPr>
              <a:t>traffic volume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error rates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latency</a:t>
            </a:r>
            <a:r>
              <a:rPr lang="en-GB">
                <a:solidFill>
                  <a:schemeClr val="dk1"/>
                </a:solidFill>
              </a:rPr>
              <a:t>, and </a:t>
            </a:r>
            <a:r>
              <a:rPr b="1" lang="en-GB">
                <a:solidFill>
                  <a:schemeClr val="dk1"/>
                </a:solidFill>
              </a:rPr>
              <a:t>usage trends</a:t>
            </a:r>
            <a:r>
              <a:rPr lang="en-GB">
                <a:solidFill>
                  <a:schemeClr val="dk1"/>
                </a:solidFill>
              </a:rPr>
              <a:t>, helping you stay on top of performance and troubleshoot issues quickly.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you make configuration changes—like updating an API definition or editing a policy—those changes are </a:t>
            </a:r>
            <a:r>
              <a:rPr b="1" lang="en-GB">
                <a:solidFill>
                  <a:schemeClr val="dk1"/>
                </a:solidFill>
              </a:rPr>
              <a:t>automatically synced with the Tyk Gateway</a:t>
            </a:r>
            <a:r>
              <a:rPr lang="en-GB">
                <a:solidFill>
                  <a:schemeClr val="dk1"/>
                </a:solidFill>
              </a:rPr>
              <a:t>. This keeps your Gateway configuration up to date without requiring a manual redeploy.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And finally, for enterprise environments, the Dashboard supports </a:t>
            </a:r>
            <a:r>
              <a:rPr b="1" lang="en-GB">
                <a:solidFill>
                  <a:schemeClr val="dk1"/>
                </a:solidFill>
              </a:rPr>
              <a:t>Single Sign-On (SSO)</a:t>
            </a:r>
            <a:r>
              <a:rPr lang="en-GB">
                <a:solidFill>
                  <a:schemeClr val="dk1"/>
                </a:solidFill>
              </a:rPr>
              <a:t> via SAML or OIDC, allowing you to integrate with your identity provider and streamline user access management.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short, the Tyk Dashboard makes managing, securing, and monitoring your APIs straightforward—so you can focus on building, not babysitting infrastructure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cfeb2a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cfeb2a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Here’s a quick look at how the Tyk Dashboard handles configuration.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Whether you’re using the </a:t>
            </a:r>
            <a:r>
              <a:rPr b="1" lang="en-GB">
                <a:solidFill>
                  <a:schemeClr val="dk1"/>
                </a:solidFill>
              </a:rPr>
              <a:t>Dashboard UI</a:t>
            </a:r>
            <a:r>
              <a:rPr lang="en-GB">
                <a:solidFill>
                  <a:schemeClr val="dk1"/>
                </a:solidFill>
              </a:rPr>
              <a:t> or the </a:t>
            </a:r>
            <a:r>
              <a:rPr b="1" lang="en-GB">
                <a:solidFill>
                  <a:schemeClr val="dk1"/>
                </a:solidFill>
              </a:rPr>
              <a:t>Dashboard API</a:t>
            </a:r>
            <a:r>
              <a:rPr lang="en-GB">
                <a:solidFill>
                  <a:schemeClr val="dk1"/>
                </a:solidFill>
              </a:rPr>
              <a:t>, the actions you take—like creating an API, updating a policy, or managing users—are all </a:t>
            </a:r>
            <a:r>
              <a:rPr b="1" lang="en-GB">
                <a:solidFill>
                  <a:schemeClr val="dk1"/>
                </a:solidFill>
              </a:rPr>
              <a:t>stored in the underlying database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Dashboard acts as a control plane, and the database becomes the source of truth for your Tyk configuration.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setup allows for automation through the API, while still giving users the flexibility to manage everything visually through the UI.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7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7d1a35f2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7d1a35f2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Dashboard also provides visibility into your API traffic through built-in analytics.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We’ll explore this in more detail later, but at a high level: the </a:t>
            </a:r>
            <a:r>
              <a:rPr b="1" lang="en-GB">
                <a:solidFill>
                  <a:schemeClr val="dk1"/>
                </a:solidFill>
              </a:rPr>
              <a:t>Tyk Gateway records API traffic data into Redis</a:t>
            </a:r>
            <a:r>
              <a:rPr lang="en-GB">
                <a:solidFill>
                  <a:schemeClr val="dk1"/>
                </a:solidFill>
              </a:rPr>
              <a:t>, and this data is then </a:t>
            </a:r>
            <a:r>
              <a:rPr b="1" lang="en-GB">
                <a:solidFill>
                  <a:schemeClr val="dk1"/>
                </a:solidFill>
              </a:rPr>
              <a:t>processed and persisted into the database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From there, the Dashboard can </a:t>
            </a:r>
            <a:r>
              <a:rPr b="1" lang="en-GB">
                <a:solidFill>
                  <a:schemeClr val="dk1"/>
                </a:solidFill>
              </a:rPr>
              <a:t>generate visualizations and display analytical insights</a:t>
            </a:r>
            <a:r>
              <a:rPr lang="en-GB">
                <a:solidFill>
                  <a:schemeClr val="dk1"/>
                </a:solidFill>
              </a:rPr>
              <a:t>, such as request volume, error rates, and performance trends—helping you monitor and understand how your APIs are being used.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7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7d1a35f2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7d1a35f2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this diagram, you can see how an admin uses the Dashboard to manage user access.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Dashboard supports two main approaches: </a:t>
            </a:r>
            <a:r>
              <a:rPr b="1" lang="en-GB">
                <a:solidFill>
                  <a:schemeClr val="dk1"/>
                </a:solidFill>
              </a:rPr>
              <a:t>role-based access control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fine-grained individual permissions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</a:t>
            </a:r>
            <a:r>
              <a:rPr b="1" lang="en-GB">
                <a:solidFill>
                  <a:schemeClr val="dk1"/>
                </a:solidFill>
              </a:rPr>
              <a:t>roles</a:t>
            </a:r>
            <a:r>
              <a:rPr lang="en-GB">
                <a:solidFill>
                  <a:schemeClr val="dk1"/>
                </a:solidFill>
              </a:rPr>
              <a:t>, you can assign predefined sets of permissions to users based on their responsibilities—like giving developers access to API configuration while restricting policy management.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Alternatively, you can assign </a:t>
            </a:r>
            <a:r>
              <a:rPr b="1" lang="en-GB">
                <a:solidFill>
                  <a:schemeClr val="dk1"/>
                </a:solidFill>
              </a:rPr>
              <a:t>individual permissions</a:t>
            </a:r>
            <a:r>
              <a:rPr lang="en-GB">
                <a:solidFill>
                  <a:schemeClr val="dk1"/>
                </a:solidFill>
              </a:rPr>
              <a:t> directly to a user if you need more precise control.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flexible system helps ensure that users only have access to the features they need, which is especially useful in larger teams or regulated environments.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7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97" name="Google Shape;97;p25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/>
        </p:nvSpPr>
        <p:spPr>
          <a:xfrm>
            <a:off x="1622100" y="962175"/>
            <a:ext cx="6426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Tyk Product Components: Dashboard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8"/>
          <p:cNvSpPr txBox="1"/>
          <p:nvPr/>
        </p:nvSpPr>
        <p:spPr>
          <a:xfrm>
            <a:off x="1926900" y="2246175"/>
            <a:ext cx="52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Exploring the role of each component in the Tyk Ecosystem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Dashboard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9"/>
          <p:cNvSpPr txBox="1"/>
          <p:nvPr/>
        </p:nvSpPr>
        <p:spPr>
          <a:xfrm>
            <a:off x="248100" y="1155175"/>
            <a:ext cx="6195600" cy="30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Web-based Admin UI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Create, update, and organize your APIs visually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Define access policies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 who can access which APIs, how often, and with what credentials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Manage users and teams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 roles &amp; permissions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View real-time analytics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See traffic, errors, usage trends, and performance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Push configuration to Gateway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Changes in the dashboard are synced automatically with Tyk Gateway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</a:pP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Supports Single Sign On (SSO)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/>
        </p:nvSpPr>
        <p:spPr>
          <a:xfrm>
            <a:off x="720000" y="157075"/>
            <a:ext cx="7838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Dashboard: </a:t>
            </a: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Management UI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3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/>
          <p:nvPr/>
        </p:nvSpPr>
        <p:spPr>
          <a:xfrm>
            <a:off x="451150" y="1233000"/>
            <a:ext cx="8500500" cy="314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2" name="Google Shape;132;p30"/>
          <p:cNvCxnSpPr>
            <a:stCxn id="133" idx="1"/>
            <a:endCxn id="134" idx="3"/>
          </p:cNvCxnSpPr>
          <p:nvPr/>
        </p:nvCxnSpPr>
        <p:spPr>
          <a:xfrm rot="10800000">
            <a:off x="3368701" y="2362130"/>
            <a:ext cx="888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pic>
        <p:nvPicPr>
          <p:cNvPr id="134" name="Google Shape;13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8300" y="1943195"/>
            <a:ext cx="840549" cy="83758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0"/>
          <p:cNvSpPr txBox="1"/>
          <p:nvPr/>
        </p:nvSpPr>
        <p:spPr>
          <a:xfrm>
            <a:off x="2528300" y="2853925"/>
            <a:ext cx="1086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Admin / Dev Web User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30"/>
          <p:cNvSpPr txBox="1"/>
          <p:nvPr/>
        </p:nvSpPr>
        <p:spPr>
          <a:xfrm>
            <a:off x="5510850" y="2853925"/>
            <a:ext cx="11670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Tyk </a:t>
            </a: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7301" y="1946939"/>
            <a:ext cx="840549" cy="83758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0"/>
          <p:cNvSpPr txBox="1"/>
          <p:nvPr/>
        </p:nvSpPr>
        <p:spPr>
          <a:xfrm>
            <a:off x="4274825" y="2853925"/>
            <a:ext cx="1086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Tyk Dashboard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8" name="Google Shape;13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7300" y="1959868"/>
            <a:ext cx="840549" cy="8375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30"/>
          <p:cNvCxnSpPr>
            <a:stCxn id="138" idx="1"/>
            <a:endCxn id="133" idx="3"/>
          </p:cNvCxnSpPr>
          <p:nvPr/>
        </p:nvCxnSpPr>
        <p:spPr>
          <a:xfrm rot="10800000">
            <a:off x="5097800" y="2365759"/>
            <a:ext cx="7395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0" name="Google Shape;140;p30"/>
          <p:cNvSpPr txBox="1"/>
          <p:nvPr/>
        </p:nvSpPr>
        <p:spPr>
          <a:xfrm>
            <a:off x="3474800" y="3172175"/>
            <a:ext cx="9225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CRUD Operations using the UI</a:t>
            </a:r>
            <a:endParaRPr sz="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30"/>
          <p:cNvSpPr txBox="1"/>
          <p:nvPr/>
        </p:nvSpPr>
        <p:spPr>
          <a:xfrm>
            <a:off x="5006300" y="3172175"/>
            <a:ext cx="9225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Pushes configuration (API defs, policies, keys)</a:t>
            </a:r>
            <a:endParaRPr sz="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/>
          <p:nvPr/>
        </p:nvSpPr>
        <p:spPr>
          <a:xfrm>
            <a:off x="720000" y="157075"/>
            <a:ext cx="7838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Dashboard: Analytics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1"/>
          <p:cNvSpPr/>
          <p:nvPr/>
        </p:nvSpPr>
        <p:spPr>
          <a:xfrm>
            <a:off x="451150" y="1233000"/>
            <a:ext cx="8500500" cy="314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0" name="Google Shape;150;p31"/>
          <p:cNvCxnSpPr>
            <a:stCxn id="151" idx="1"/>
            <a:endCxn id="152" idx="3"/>
          </p:cNvCxnSpPr>
          <p:nvPr/>
        </p:nvCxnSpPr>
        <p:spPr>
          <a:xfrm rot="10800000">
            <a:off x="1970601" y="3126917"/>
            <a:ext cx="431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pic>
        <p:nvPicPr>
          <p:cNvPr id="152" name="Google Shape;15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0200" y="2707983"/>
            <a:ext cx="840549" cy="83758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1"/>
          <p:cNvSpPr txBox="1"/>
          <p:nvPr/>
        </p:nvSpPr>
        <p:spPr>
          <a:xfrm>
            <a:off x="1007175" y="3610363"/>
            <a:ext cx="1086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Admin / Dev Web User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31"/>
          <p:cNvSpPr txBox="1"/>
          <p:nvPr/>
        </p:nvSpPr>
        <p:spPr>
          <a:xfrm>
            <a:off x="3666375" y="3618713"/>
            <a:ext cx="11670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Tyk Gateway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1" name="Google Shape;15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2001" y="2711727"/>
            <a:ext cx="840549" cy="83758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1"/>
          <p:cNvSpPr txBox="1"/>
          <p:nvPr/>
        </p:nvSpPr>
        <p:spPr>
          <a:xfrm>
            <a:off x="2278975" y="3618713"/>
            <a:ext cx="1086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Tyk Dashboard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" name="Google Shape;156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9600" y="2724655"/>
            <a:ext cx="840549" cy="8375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31"/>
          <p:cNvCxnSpPr>
            <a:stCxn id="156" idx="1"/>
            <a:endCxn id="151" idx="3"/>
          </p:cNvCxnSpPr>
          <p:nvPr/>
        </p:nvCxnSpPr>
        <p:spPr>
          <a:xfrm rot="10800000">
            <a:off x="3242500" y="3130546"/>
            <a:ext cx="5871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pic>
        <p:nvPicPr>
          <p:cNvPr id="158" name="Google Shape;158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54924" y="2707985"/>
            <a:ext cx="840549" cy="83761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1"/>
          <p:cNvSpPr txBox="1"/>
          <p:nvPr/>
        </p:nvSpPr>
        <p:spPr>
          <a:xfrm>
            <a:off x="7391700" y="3602050"/>
            <a:ext cx="11670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Database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0" name="Google Shape;160;p31"/>
          <p:cNvCxnSpPr>
            <a:stCxn id="161" idx="1"/>
            <a:endCxn id="156" idx="3"/>
          </p:cNvCxnSpPr>
          <p:nvPr/>
        </p:nvCxnSpPr>
        <p:spPr>
          <a:xfrm flipH="1">
            <a:off x="4670056" y="3135121"/>
            <a:ext cx="6141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pic>
        <p:nvPicPr>
          <p:cNvPr id="162" name="Google Shape;162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1238" y="2843227"/>
            <a:ext cx="608001" cy="60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1"/>
          <p:cNvSpPr txBox="1"/>
          <p:nvPr/>
        </p:nvSpPr>
        <p:spPr>
          <a:xfrm>
            <a:off x="6361725" y="3466825"/>
            <a:ext cx="11670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Tyk Pump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4" name="Google Shape;164;p31"/>
          <p:cNvCxnSpPr>
            <a:stCxn id="158" idx="1"/>
          </p:cNvCxnSpPr>
          <p:nvPr/>
        </p:nvCxnSpPr>
        <p:spPr>
          <a:xfrm rot="10800000">
            <a:off x="7127124" y="3126790"/>
            <a:ext cx="42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5" name="Google Shape;165;p31"/>
          <p:cNvSpPr txBox="1"/>
          <p:nvPr/>
        </p:nvSpPr>
        <p:spPr>
          <a:xfrm>
            <a:off x="6479675" y="3805450"/>
            <a:ext cx="9225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Traffic analytics sent to Database</a:t>
            </a:r>
            <a:endParaRPr sz="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51725" y="1285825"/>
            <a:ext cx="840550" cy="840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31"/>
          <p:cNvCxnSpPr>
            <a:stCxn id="166" idx="3"/>
            <a:endCxn id="158" idx="0"/>
          </p:cNvCxnSpPr>
          <p:nvPr/>
        </p:nvCxnSpPr>
        <p:spPr>
          <a:xfrm>
            <a:off x="4992275" y="1706100"/>
            <a:ext cx="2982900" cy="100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8" name="Google Shape;168;p31"/>
          <p:cNvSpPr txBox="1"/>
          <p:nvPr/>
        </p:nvSpPr>
        <p:spPr>
          <a:xfrm>
            <a:off x="4028700" y="2109438"/>
            <a:ext cx="1086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API Traffic Analytics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9" name="Google Shape;169;p31"/>
          <p:cNvCxnSpPr>
            <a:stCxn id="151" idx="0"/>
            <a:endCxn id="166" idx="1"/>
          </p:cNvCxnSpPr>
          <p:nvPr/>
        </p:nvCxnSpPr>
        <p:spPr>
          <a:xfrm flipH="1" rot="10800000">
            <a:off x="2822275" y="1706127"/>
            <a:ext cx="1329600" cy="100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pic>
        <p:nvPicPr>
          <p:cNvPr id="161" name="Google Shape;161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84156" y="2716317"/>
            <a:ext cx="743093" cy="83760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1"/>
          <p:cNvSpPr txBox="1"/>
          <p:nvPr/>
        </p:nvSpPr>
        <p:spPr>
          <a:xfrm>
            <a:off x="5134183" y="3554038"/>
            <a:ext cx="103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1" name="Google Shape;171;p31"/>
          <p:cNvCxnSpPr>
            <a:stCxn id="161" idx="3"/>
            <a:endCxn id="162" idx="1"/>
          </p:cNvCxnSpPr>
          <p:nvPr/>
        </p:nvCxnSpPr>
        <p:spPr>
          <a:xfrm>
            <a:off x="6027249" y="3135121"/>
            <a:ext cx="6141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/>
        </p:nvSpPr>
        <p:spPr>
          <a:xfrm>
            <a:off x="720000" y="157075"/>
            <a:ext cx="7838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Dashboard: Identity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3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2"/>
          <p:cNvSpPr/>
          <p:nvPr/>
        </p:nvSpPr>
        <p:spPr>
          <a:xfrm>
            <a:off x="1594350" y="1351300"/>
            <a:ext cx="6090000" cy="314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0" name="Google Shape;180;p32"/>
          <p:cNvCxnSpPr>
            <a:stCxn id="181" idx="1"/>
            <a:endCxn id="182" idx="3"/>
          </p:cNvCxnSpPr>
          <p:nvPr/>
        </p:nvCxnSpPr>
        <p:spPr>
          <a:xfrm rot="10800000">
            <a:off x="2989251" y="2788017"/>
            <a:ext cx="888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pic>
        <p:nvPicPr>
          <p:cNvPr id="182" name="Google Shape;18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8850" y="2369083"/>
            <a:ext cx="840549" cy="83758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2"/>
          <p:cNvSpPr txBox="1"/>
          <p:nvPr/>
        </p:nvSpPr>
        <p:spPr>
          <a:xfrm>
            <a:off x="2025825" y="3271463"/>
            <a:ext cx="1086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Admin / Super User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7851" y="2372827"/>
            <a:ext cx="840549" cy="83758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2"/>
          <p:cNvSpPr txBox="1"/>
          <p:nvPr/>
        </p:nvSpPr>
        <p:spPr>
          <a:xfrm>
            <a:off x="3754825" y="3279813"/>
            <a:ext cx="1086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Tyk Dashboard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5" name="Google Shape;18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18222" y="3083327"/>
            <a:ext cx="840549" cy="83761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2"/>
          <p:cNvSpPr txBox="1"/>
          <p:nvPr/>
        </p:nvSpPr>
        <p:spPr>
          <a:xfrm>
            <a:off x="5824825" y="3920938"/>
            <a:ext cx="1086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Dashboard Users Permissions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7" name="Google Shape;187;p32"/>
          <p:cNvCxnSpPr>
            <a:stCxn id="185" idx="1"/>
            <a:endCxn id="181" idx="3"/>
          </p:cNvCxnSpPr>
          <p:nvPr/>
        </p:nvCxnSpPr>
        <p:spPr>
          <a:xfrm rot="10800000">
            <a:off x="4718522" y="2791733"/>
            <a:ext cx="1199700" cy="7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pic>
        <p:nvPicPr>
          <p:cNvPr id="188" name="Google Shape;188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85574" y="1683995"/>
            <a:ext cx="840549" cy="8376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2"/>
          <p:cNvSpPr txBox="1"/>
          <p:nvPr/>
        </p:nvSpPr>
        <p:spPr>
          <a:xfrm>
            <a:off x="5824825" y="2521600"/>
            <a:ext cx="1086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Assign roles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0" name="Google Shape;190;p32"/>
          <p:cNvCxnSpPr>
            <a:stCxn id="188" idx="1"/>
            <a:endCxn id="181" idx="3"/>
          </p:cNvCxnSpPr>
          <p:nvPr/>
        </p:nvCxnSpPr>
        <p:spPr>
          <a:xfrm flipH="1">
            <a:off x="4718274" y="2102798"/>
            <a:ext cx="1167300" cy="6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