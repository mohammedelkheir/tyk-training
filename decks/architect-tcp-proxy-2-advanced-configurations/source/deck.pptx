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Inter Light"/>
      <p:regular r:id="rId10"/>
      <p:bold r:id="rId11"/>
      <p:italic r:id="rId12"/>
      <p:boldItalic r:id="rId13"/>
    </p:embeddedFont>
    <p:embeddedFont>
      <p:font typeface="Inter"/>
      <p:regular r:id="rId14"/>
      <p:bold r:id="rId15"/>
      <p:italic r:id="rId16"/>
      <p:boldItalic r:id="rId17"/>
    </p:embeddedFont>
    <p:embeddedFont>
      <p:font typeface="Roboto Mon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  <p15:guide id="2" orient="horz" pos="454">
          <p15:clr>
            <a:srgbClr val="747775"/>
          </p15:clr>
        </p15:guide>
        <p15:guide id="3" pos="454">
          <p15:clr>
            <a:srgbClr val="747775"/>
          </p15:clr>
        </p15:guide>
        <p15:guide id="4" pos="5329">
          <p15:clr>
            <a:srgbClr val="747775"/>
          </p15:clr>
        </p15:guide>
        <p15:guide id="5" orient="horz" pos="278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454" orient="horz"/>
        <p:guide pos="454"/>
        <p:guide pos="5329"/>
        <p:guide pos="278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italic.fntdata"/><Relationship Id="rId11" Type="http://schemas.openxmlformats.org/officeDocument/2006/relationships/font" Target="fonts/InterLight-bold.fntdata"/><Relationship Id="rId10" Type="http://schemas.openxmlformats.org/officeDocument/2006/relationships/font" Target="fonts/InterLight-regular.fntdata"/><Relationship Id="rId21" Type="http://schemas.openxmlformats.org/officeDocument/2006/relationships/font" Target="fonts/RobotoMono-boldItalic.fntdata"/><Relationship Id="rId13" Type="http://schemas.openxmlformats.org/officeDocument/2006/relationships/font" Target="fonts/InterLight-boldItalic.fntdata"/><Relationship Id="rId12" Type="http://schemas.openxmlformats.org/officeDocument/2006/relationships/font" Target="fonts/InterLigh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.fntdata"/><Relationship Id="rId6" Type="http://schemas.openxmlformats.org/officeDocument/2006/relationships/slide" Target="slides/slide1.xml"/><Relationship Id="rId18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6012da1d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36012da1d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012da1d0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012da1d0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"Tyk supports advanced features like SNI-based multiplexing. This lets you run multiple TCP or TLS services on the same port, as long as they use different domain names.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All services on a single port must share the same protocol—so you can't mix TCP and HTTP on the same port.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If Tyk is behind a proxy that uses the PROXY protocol, like HAProxy or Envoy, just enable enable_proxy_protocol to preserve original source IPs."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013716a3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013716a3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"Tyk doesn’t allow just any TCP port by default—it uses a whitelist to control which ports can be used.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You can allow port ranges or specific ports in your tyk.conf, as shown here. This is a safety feature to prevent abuse, especially if you allow API creation through the Dashboard.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If you do need to allow any port for flexibility, you can set disable_ports_whitelist to true—but do so with caution."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013716a3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013716a3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"TCP services can be monitored with health checks, similar to HTTP.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 basic check might just confirm whether a port is open and accepting connections.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can be helpful in simple load balancing scenarios to avoid sending traffic to a dead upstream."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"Here’s a more complex but very real-world example.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Let’s say you’re using Redis Sentinel and you want Tyk to always send traffic to the current Redis master.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config performs TCP-based health checks that send Redis commands like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PING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INFO</a:t>
            </a:r>
            <a:r>
              <a:rPr lang="en-GB">
                <a:solidFill>
                  <a:schemeClr val="dk1"/>
                </a:solidFill>
              </a:rPr>
              <a:t>, and only routes to nodes that respond with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role:master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is an elegant way to use Tyk as a smart proxy on top of Redis—automatically failing over when needed."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922550"/>
            <a:ext cx="8520600" cy="16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531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2000"/>
              <a:buNone/>
              <a:defRPr sz="20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389600"/>
            <a:ext cx="5036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1600"/>
              <a:buNone/>
              <a:defRPr sz="16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800"/>
              <a:buChar char="●"/>
              <a:defRPr>
                <a:solidFill>
                  <a:srgbClr val="8438FA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8438F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/>
        </p:nvSpPr>
        <p:spPr>
          <a:xfrm>
            <a:off x="1415550" y="2143075"/>
            <a:ext cx="6312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Advanced Configurations</a:t>
            </a:r>
            <a:endParaRPr b="1" sz="3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Google Shape;54;p13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415200" y="925600"/>
            <a:ext cx="7738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1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720000" y="157075"/>
            <a:ext cx="785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Multiplexing &amp; Proxy Protocol</a:t>
            </a:r>
            <a:endParaRPr b="1" sz="33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863625" y="820900"/>
            <a:ext cx="7738200" cy="3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Supports SNI-based multiplexing (multiple services on one port)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Services must share the same protocol (e.g., TLS)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Support for PROXY protocol (e.g., when behind another proxy)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"enable_proxy_protocol": true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415200" y="925600"/>
            <a:ext cx="7738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1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720000" y="157075"/>
            <a:ext cx="785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Port Whitelisting</a:t>
            </a:r>
            <a:endParaRPr b="1" sz="33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863625" y="820900"/>
            <a:ext cx="7738200" cy="3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Custom ports must be explicitly allowed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"ports_whitelist": 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"https": 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"ranges": [{ "from": 8000, "to": 9000 }]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},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"tls": 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"ports": [6000, 6015]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To allow any port: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"disable_ports_whitelist": true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415200" y="925600"/>
            <a:ext cx="7738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6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720000" y="157075"/>
            <a:ext cx="785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Health Checks</a:t>
            </a:r>
            <a:endParaRPr b="1" sz="33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863625" y="820900"/>
            <a:ext cx="7738200" cy="3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TCP Health Checks – Simple</a:t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"uptime_tests":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"check_list": [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{ "url": "127.0.0.1:6379", "commands": [] 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]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Just checks if a port is open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Advanced Health Checks – Redis Sentinel</a:t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"commands": [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 "name": "send", "message": "PING\r\n" },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 "name": "expect", "message": "+PONG" },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 "name": "send", "message": "info replication\r\n" },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 "name": "expect", "message": "role:master" 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Directs traffic only to Redis master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-GB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Ensures failover resiliency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yk main slide deck">
  <a:themeElements>
    <a:clrScheme name="Simple Light">
      <a:dk1>
        <a:srgbClr val="03031C"/>
      </a:dk1>
      <a:lt1>
        <a:srgbClr val="FFFFFF"/>
      </a:lt1>
      <a:dk2>
        <a:srgbClr val="8438FA"/>
      </a:dk2>
      <a:lt2>
        <a:srgbClr val="5900CB"/>
      </a:lt2>
      <a:accent1>
        <a:srgbClr val="FFC743"/>
      </a:accent1>
      <a:accent2>
        <a:srgbClr val="FFF500"/>
      </a:accent2>
      <a:accent3>
        <a:srgbClr val="20EDBA"/>
      </a:accent3>
      <a:accent4>
        <a:srgbClr val="00A3A0"/>
      </a:accent4>
      <a:accent5>
        <a:srgbClr val="BB11FF"/>
      </a:accent5>
      <a:accent6>
        <a:srgbClr val="EA26A9"/>
      </a:accent6>
      <a:hlink>
        <a:srgbClr val="E3CE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