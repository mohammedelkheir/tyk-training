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Inter Light"/>
      <p:regular r:id="rId9"/>
      <p:bold r:id="rId10"/>
      <p:italic r:id="rId11"/>
      <p:boldItalic r:id="rId12"/>
    </p:embeddedFont>
    <p:embeddedFont>
      <p:font typeface="Inter"/>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InterLight-italic.fntdata"/><Relationship Id="rId10" Type="http://schemas.openxmlformats.org/officeDocument/2006/relationships/font" Target="fonts/InterLight-bold.fntdata"/><Relationship Id="rId13" Type="http://schemas.openxmlformats.org/officeDocument/2006/relationships/font" Target="fonts/Inter-regular.fntdata"/><Relationship Id="rId12" Type="http://schemas.openxmlformats.org/officeDocument/2006/relationships/font" Target="fonts/Inter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Light-regular.fntdata"/><Relationship Id="rId15" Type="http://schemas.openxmlformats.org/officeDocument/2006/relationships/font" Target="fonts/Inter-italic.fntdata"/><Relationship Id="rId14" Type="http://schemas.openxmlformats.org/officeDocument/2006/relationships/font" Target="fonts/Inter-bold.fntdata"/><Relationship Id="rId16"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611dd162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611dd162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11dd1627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11dd1627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Tyk's circuit breaker works much like an electrical circuit breaker—only instead of monitoring electrical current, it watches HTTP responses.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When your API upstream starts to fail, Tyk’s middleware detects these failures and can "trip" the circuit. Similar to how an electrical breaker trips on overcurrent, Tyk’s circuit breaker monitors HTTP status codes and trips when too many 5xx errors are returned.</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It's not just a raw count—it’s </a:t>
            </a:r>
            <a:r>
              <a:rPr b="1" lang="en-GB">
                <a:solidFill>
                  <a:schemeClr val="dk1"/>
                </a:solidFill>
              </a:rPr>
              <a:t>rate-based</a:t>
            </a:r>
            <a:r>
              <a:rPr lang="en-GB">
                <a:solidFill>
                  <a:schemeClr val="dk1"/>
                </a:solidFill>
              </a:rPr>
              <a:t>. Tyk looks at a </a:t>
            </a:r>
            <a:r>
              <a:rPr b="1" lang="en-GB">
                <a:solidFill>
                  <a:schemeClr val="dk1"/>
                </a:solidFill>
              </a:rPr>
              <a:t>rolling 10-second sample window</a:t>
            </a:r>
            <a:r>
              <a:rPr lang="en-GB">
                <a:solidFill>
                  <a:schemeClr val="dk1"/>
                </a:solidFill>
              </a:rPr>
              <a:t>, and will only trip the circuit if the number of failed requests exceeds a </a:t>
            </a:r>
            <a:r>
              <a:rPr b="1" lang="en-GB">
                <a:solidFill>
                  <a:schemeClr val="dk1"/>
                </a:solidFill>
              </a:rPr>
              <a:t>configurable failure rate</a:t>
            </a:r>
            <a:r>
              <a:rPr lang="en-GB">
                <a:solidFill>
                  <a:schemeClr val="dk1"/>
                </a:solidFill>
              </a:rPr>
              <a:t> and a </a:t>
            </a:r>
            <a:r>
              <a:rPr b="1" lang="en-GB">
                <a:solidFill>
                  <a:schemeClr val="dk1"/>
                </a:solidFill>
              </a:rPr>
              <a:t>minimum number of samples</a:t>
            </a:r>
            <a:r>
              <a:rPr lang="en-GB">
                <a:solidFill>
                  <a:schemeClr val="dk1"/>
                </a:solidFill>
              </a:rPr>
              <a:t> is met.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instance, if you’ve set the minimum sample size to 100 and the failure rate to 50%, the breaker will trip only when 100 requests have been observed in the last 10 seconds, and at least 50 of those failed.</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Once tripped, Tyk stops sending requests to the upstream for a defined cooldown period. Instead, it immediately returns a </a:t>
            </a:r>
            <a:r>
              <a:rPr b="1" lang="en-GB">
                <a:solidFill>
                  <a:schemeClr val="dk1"/>
                </a:solidFill>
              </a:rPr>
              <a:t>503 – Service Unavailable</a:t>
            </a:r>
            <a:r>
              <a:rPr lang="en-GB">
                <a:solidFill>
                  <a:schemeClr val="dk1"/>
                </a:solidFill>
              </a:rPr>
              <a:t> response to the client. After the cooldown, the breaker resets and starts routing traffic again.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611dd1661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611dd1661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Sometimes, upstream services recover faster than the configured cooldown period. Without intervention, the circuit breaker would stay open the entire time—blocking client traffic even though the backend is already healthy.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 solves this with a </a:t>
            </a:r>
            <a:r>
              <a:rPr b="1" lang="en-GB">
                <a:solidFill>
                  <a:schemeClr val="dk1"/>
                </a:solidFill>
              </a:rPr>
              <a:t>half-open mode</a:t>
            </a:r>
            <a:r>
              <a:rPr lang="en-GB">
                <a:solidFill>
                  <a:schemeClr val="dk1"/>
                </a:solidFill>
              </a:rPr>
              <a:t>. When in this state, the Gateway continues to block incoming client traffic but starts to </a:t>
            </a:r>
            <a:r>
              <a:rPr b="1" lang="en-GB">
                <a:solidFill>
                  <a:schemeClr val="dk1"/>
                </a:solidFill>
              </a:rPr>
              <a:t>periodically send test requests</a:t>
            </a:r>
            <a:r>
              <a:rPr lang="en-GB">
                <a:solidFill>
                  <a:schemeClr val="dk1"/>
                </a:solidFill>
              </a:rPr>
              <a:t> to the upstream.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the upstream service responds successfully, Tyk </a:t>
            </a:r>
            <a:r>
              <a:rPr b="1" lang="en-GB">
                <a:solidFill>
                  <a:schemeClr val="dk1"/>
                </a:solidFill>
              </a:rPr>
              <a:t>automatically resets the breaker</a:t>
            </a:r>
            <a:r>
              <a:rPr lang="en-GB">
                <a:solidFill>
                  <a:schemeClr val="dk1"/>
                </a:solidFill>
              </a:rPr>
              <a:t>, and normal traffic flow resumes. This shortens unnecessary downtime and helps maintain a more responsive experience for users.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Think of it like cautiously testing an electrical circuit—if the conditions look stable, we restore the connection early, without waiting for the full cooldown period to finish.</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2" name="Shape 52"/>
        <p:cNvGrpSpPr/>
        <p:nvPr/>
      </p:nvGrpSpPr>
      <p:grpSpPr>
        <a:xfrm>
          <a:off x="0" y="0"/>
          <a:ext cx="0" cy="0"/>
          <a:chOff x="0" y="0"/>
          <a:chExt cx="0" cy="0"/>
        </a:xfrm>
      </p:grpSpPr>
      <p:sp>
        <p:nvSpPr>
          <p:cNvPr id="53" name="Google Shape;53;p13"/>
          <p:cNvSpPr txBox="1"/>
          <p:nvPr/>
        </p:nvSpPr>
        <p:spPr>
          <a:xfrm>
            <a:off x="1926900" y="1952775"/>
            <a:ext cx="5290200" cy="132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How Circuit Breakers Work</a:t>
            </a:r>
            <a:endParaRPr b="1" sz="3700">
              <a:solidFill>
                <a:schemeClr val="lt1"/>
              </a:solidFill>
              <a:latin typeface="Inter"/>
              <a:ea typeface="Inter"/>
              <a:cs typeface="Inter"/>
              <a:sym typeface="Inter"/>
            </a:endParaRPr>
          </a:p>
        </p:txBody>
      </p:sp>
      <p:sp>
        <p:nvSpPr>
          <p:cNvPr id="54" name="Google Shape;54;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720000" y="1154200"/>
            <a:ext cx="8139900" cy="362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How It Works in Tyk</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Monitors upstream responses for HTTP status 500+.</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Rate-based: Uses a rolling 10s sample window.</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Failure threshold = failure rate × minimum sample size.</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Example:</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Minimum sample size: 100</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Failure rate: 0.5 (50%)</a:t>
            </a:r>
            <a:endParaRPr>
              <a:solidFill>
                <a:srgbClr val="03031C"/>
              </a:solidFill>
              <a:latin typeface="Inter"/>
              <a:ea typeface="Inter"/>
              <a:cs typeface="Inter"/>
              <a:sym typeface="Inter"/>
            </a:endParaRPr>
          </a:p>
          <a:p>
            <a:pPr indent="0" lvl="0" marL="457200" rtl="0" algn="l">
              <a:lnSpc>
                <a:spcPct val="115000"/>
              </a:lnSpc>
              <a:spcBef>
                <a:spcPts val="0"/>
              </a:spcBef>
              <a:spcAft>
                <a:spcPts val="0"/>
              </a:spcAft>
              <a:buNone/>
            </a:pPr>
            <a:r>
              <a:rPr lang="en-GB">
                <a:solidFill>
                  <a:srgbClr val="03031C"/>
                </a:solidFill>
                <a:latin typeface="Inter"/>
                <a:ea typeface="Inter"/>
                <a:cs typeface="Inter"/>
                <a:sym typeface="Inter"/>
              </a:rPr>
              <a:t>-&gt; Breaker trips if ≥50 failures in last 10s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Post-Trip Behavior</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Breaker opens → returns HTTP 503 to clients.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Remains open during cooldown period.</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After cooldown, breaker closes and resumes traffic.</a:t>
            </a:r>
            <a:endParaRPr>
              <a:solidFill>
                <a:srgbClr val="03031C"/>
              </a:solidFill>
              <a:latin typeface="Inter"/>
              <a:ea typeface="Inter"/>
              <a:cs typeface="Inter"/>
              <a:sym typeface="Inter"/>
            </a:endParaRPr>
          </a:p>
        </p:txBody>
      </p:sp>
      <p:sp>
        <p:nvSpPr>
          <p:cNvPr id="61" name="Google Shape;61;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3" name="Google Shape;63;p14"/>
          <p:cNvSpPr txBox="1"/>
          <p:nvPr/>
        </p:nvSpPr>
        <p:spPr>
          <a:xfrm>
            <a:off x="720000" y="157075"/>
            <a:ext cx="7858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How the circuit breaker works</a:t>
            </a:r>
            <a:endParaRPr b="1" sz="3800">
              <a:solidFill>
                <a:srgbClr val="03031C"/>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5"/>
          <p:cNvSpPr txBox="1"/>
          <p:nvPr/>
        </p:nvSpPr>
        <p:spPr>
          <a:xfrm>
            <a:off x="720000" y="1154200"/>
            <a:ext cx="8139900" cy="362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rgbClr val="03031C"/>
                </a:solidFill>
                <a:latin typeface="Inter"/>
                <a:ea typeface="Inter"/>
                <a:cs typeface="Inter"/>
                <a:sym typeface="Inter"/>
              </a:rPr>
              <a:t>Upstream may recover before the cooldown ends.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a:solidFill>
                  <a:srgbClr val="03031C"/>
                </a:solidFill>
                <a:latin typeface="Inter"/>
                <a:ea typeface="Inter"/>
                <a:cs typeface="Inter"/>
                <a:sym typeface="Inter"/>
              </a:rPr>
              <a:t>Full cooldown → unnecessary downtime for clients.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Solution: Half-Open Mode</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Tyk enters half-open state after tripping.</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Client traffic still blocked, but...</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Tyk periodically probes the upstream.</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If Probes Succeed:</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Path considered restored.</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Circuit is automatically closed.</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API traffic resumes before cooldown expires.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p:txBody>
      </p:sp>
      <p:sp>
        <p:nvSpPr>
          <p:cNvPr id="69" name="Google Shape;69;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1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71" name="Google Shape;71;p15"/>
          <p:cNvSpPr txBox="1"/>
          <p:nvPr/>
        </p:nvSpPr>
        <p:spPr>
          <a:xfrm>
            <a:off x="720000" y="157075"/>
            <a:ext cx="7858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Half Open State</a:t>
            </a:r>
            <a:endParaRPr b="1" sz="3800">
              <a:solidFill>
                <a:srgbClr val="03031C"/>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