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Lst>
  <p:sldSz cy="5143500" cx="9144000"/>
  <p:notesSz cx="6858000" cy="9144000"/>
  <p:embeddedFontLst>
    <p:embeddedFont>
      <p:font typeface="Inter Light"/>
      <p:regular r:id="rId10"/>
      <p:bold r:id="rId11"/>
      <p:italic r:id="rId12"/>
      <p:boldItalic r:id="rId13"/>
    </p:embeddedFont>
    <p:embeddedFont>
      <p:font typeface="Inter"/>
      <p:regular r:id="rId14"/>
      <p:bold r:id="rId15"/>
      <p:italic r:id="rId16"/>
      <p:boldItalic r:id="rId17"/>
    </p:embeddedFont>
    <p:embeddedFont>
      <p:font typeface="Roboto Mon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880">
          <p15:clr>
            <a:srgbClr val="747775"/>
          </p15:clr>
        </p15:guide>
        <p15:guide id="2" orient="horz" pos="454">
          <p15:clr>
            <a:srgbClr val="747775"/>
          </p15:clr>
        </p15:guide>
        <p15:guide id="3" pos="454">
          <p15:clr>
            <a:srgbClr val="747775"/>
          </p15:clr>
        </p15:guide>
        <p15:guide id="4" pos="5329">
          <p15:clr>
            <a:srgbClr val="747775"/>
          </p15:clr>
        </p15:guide>
        <p15:guide id="5" orient="horz" pos="278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p:guide pos="454" orient="horz"/>
        <p:guide pos="454"/>
        <p:guide pos="5329"/>
        <p:guide pos="2786"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Mono-italic.fntdata"/><Relationship Id="rId11" Type="http://schemas.openxmlformats.org/officeDocument/2006/relationships/font" Target="fonts/InterLight-bold.fntdata"/><Relationship Id="rId10" Type="http://schemas.openxmlformats.org/officeDocument/2006/relationships/font" Target="fonts/InterLight-regular.fntdata"/><Relationship Id="rId21" Type="http://schemas.openxmlformats.org/officeDocument/2006/relationships/font" Target="fonts/RobotoMono-boldItalic.fntdata"/><Relationship Id="rId13" Type="http://schemas.openxmlformats.org/officeDocument/2006/relationships/font" Target="fonts/InterLight-boldItalic.fntdata"/><Relationship Id="rId12" Type="http://schemas.openxmlformats.org/officeDocument/2006/relationships/font" Target="fonts/InterLight-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bold.fntdata"/><Relationship Id="rId14" Type="http://schemas.openxmlformats.org/officeDocument/2006/relationships/font" Target="fonts/Inter-regular.fntdata"/><Relationship Id="rId17" Type="http://schemas.openxmlformats.org/officeDocument/2006/relationships/font" Target="fonts/Inter-boldItalic.fntdata"/><Relationship Id="rId16" Type="http://schemas.openxmlformats.org/officeDocument/2006/relationships/font" Target="fonts/Inter-italic.fntdata"/><Relationship Id="rId5" Type="http://schemas.openxmlformats.org/officeDocument/2006/relationships/notesMaster" Target="notesMasters/notesMaster1.xml"/><Relationship Id="rId19" Type="http://schemas.openxmlformats.org/officeDocument/2006/relationships/font" Target="fonts/RobotoMono-bold.fntdata"/><Relationship Id="rId6" Type="http://schemas.openxmlformats.org/officeDocument/2006/relationships/slide" Target="slides/slide1.xml"/><Relationship Id="rId18" Type="http://schemas.openxmlformats.org/officeDocument/2006/relationships/font" Target="fonts/RobotoMon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g361282fca9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 name="Google Shape;51;g361282fca9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61282fca91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61282fca91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"Now let’s look at gRPC proxying.</a:t>
            </a:r>
            <a:br>
              <a:rPr lang="en-GB">
                <a:solidFill>
                  <a:schemeClr val="dk1"/>
                </a:solidFill>
              </a:rPr>
            </a:br>
            <a:r>
              <a:rPr lang="en-GB">
                <a:solidFill>
                  <a:schemeClr val="dk1"/>
                </a:solidFill>
              </a:rPr>
              <a:t> gRPC is a popular choice in modern microservice architectures because of its speed and strict contracts. Tyk supports </a:t>
            </a:r>
            <a:r>
              <a:rPr b="1" lang="en-GB">
                <a:solidFill>
                  <a:schemeClr val="dk1"/>
                </a:solidFill>
              </a:rPr>
              <a:t>gRPC passthrough</a:t>
            </a:r>
            <a:r>
              <a:rPr lang="en-GB">
                <a:solidFill>
                  <a:schemeClr val="dk1"/>
                </a:solidFill>
              </a:rPr>
              <a:t> proxying, specifically when gRPC runs over HTTP/2—its most common transport.</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Tyk handles this similarly to standard HTTP APIs. Each gRPC method is addressed via a POST to a URL formatted like </a:t>
            </a:r>
            <a:r>
              <a:rPr lang="en-GB">
                <a:solidFill>
                  <a:srgbClr val="188038"/>
                </a:solidFill>
                <a:latin typeface="Roboto Mono"/>
                <a:ea typeface="Roboto Mono"/>
                <a:cs typeface="Roboto Mono"/>
                <a:sym typeface="Roboto Mono"/>
              </a:rPr>
              <a:t>/ServiceName/MethodName</a:t>
            </a:r>
            <a:r>
              <a:rPr lang="en-GB">
                <a:solidFill>
                  <a:schemeClr val="dk1"/>
                </a:solidFill>
              </a:rPr>
              <a:t>.</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This allows us to apply the same features we use for REST APIs—You can still apply load balancing, integrate service discovery, enforce authentication, apply rate limiting, and even trace your gRPC calls with OpenTelemetry.</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a:solidFill>
                  <a:schemeClr val="dk1"/>
                </a:solidFill>
              </a:rPr>
              <a:t>So even if your backend architecture shifts to gRPC, your API governance remains consistent and robust."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61282fca91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61282fca91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"Let’s break down how gRPC requests are structured.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Here's an example: </a:t>
            </a:r>
            <a:r>
              <a:rPr lang="en-GB">
                <a:solidFill>
                  <a:srgbClr val="188038"/>
                </a:solidFill>
                <a:latin typeface="Roboto Mono"/>
                <a:ea typeface="Roboto Mono"/>
                <a:cs typeface="Roboto Mono"/>
                <a:sym typeface="Roboto Mono"/>
              </a:rPr>
              <a:t>/google.pubsub.v2.PublisherService/CreateTopic</a:t>
            </a:r>
            <a:r>
              <a:rPr lang="en-GB">
                <a:solidFill>
                  <a:schemeClr val="dk1"/>
                </a:solidFill>
              </a:rPr>
              <a:t>.</a:t>
            </a:r>
            <a:br>
              <a:rPr lang="en-GB">
                <a:solidFill>
                  <a:schemeClr val="dk1"/>
                </a:solidFill>
              </a:rPr>
            </a:br>
            <a:r>
              <a:rPr lang="en-GB">
                <a:solidFill>
                  <a:schemeClr val="dk1"/>
                </a:solidFill>
              </a:rPr>
              <a:t> That’s the full method path, and Tyk can match on it directly.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All gRPC calls use the POST method, and metadata is passed as HTTP headers. This means everything in the gRPC request—method, service, headers—maps cleanly to the way Tyk operates."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61282fca91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61282fca91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"To enable gRPC support in Tyk, make sure of these three things: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en-GB">
                <a:solidFill>
                  <a:schemeClr val="dk1"/>
                </a:solidFill>
              </a:rPr>
              <a:t>HTTP/2 must be enabled in both the </a:t>
            </a:r>
            <a:r>
              <a:rPr b="1" lang="en-GB">
                <a:solidFill>
                  <a:schemeClr val="dk1"/>
                </a:solidFill>
              </a:rPr>
              <a:t>server</a:t>
            </a:r>
            <a:r>
              <a:rPr lang="en-GB">
                <a:solidFill>
                  <a:schemeClr val="dk1"/>
                </a:solidFill>
              </a:rPr>
              <a:t> and </a:t>
            </a:r>
            <a:r>
              <a:rPr b="1" lang="en-GB">
                <a:solidFill>
                  <a:schemeClr val="dk1"/>
                </a:solidFill>
              </a:rPr>
              <a:t>proxy</a:t>
            </a:r>
            <a:r>
              <a:rPr lang="en-GB">
                <a:solidFill>
                  <a:schemeClr val="dk1"/>
                </a:solidFill>
              </a:rPr>
              <a:t> sections of your </a:t>
            </a:r>
            <a:r>
              <a:rPr lang="en-GB">
                <a:solidFill>
                  <a:srgbClr val="188038"/>
                </a:solidFill>
                <a:latin typeface="Roboto Mono"/>
                <a:ea typeface="Roboto Mono"/>
                <a:cs typeface="Roboto Mono"/>
                <a:sym typeface="Roboto Mono"/>
              </a:rPr>
              <a:t>tyk.conf</a:t>
            </a:r>
            <a:r>
              <a:rPr lang="en-GB">
                <a:solidFill>
                  <a:schemeClr val="dk1"/>
                </a:solidFill>
              </a:rPr>
              <a:t>.</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GB">
                <a:solidFill>
                  <a:schemeClr val="dk1"/>
                </a:solidFill>
              </a:rPr>
              <a:t>The API's </a:t>
            </a:r>
            <a:r>
              <a:rPr b="1" lang="en-GB">
                <a:solidFill>
                  <a:schemeClr val="dk1"/>
                </a:solidFill>
              </a:rPr>
              <a:t>listen path</a:t>
            </a:r>
            <a:r>
              <a:rPr lang="en-GB">
                <a:solidFill>
                  <a:schemeClr val="dk1"/>
                </a:solidFill>
              </a:rPr>
              <a:t> must exactly match the gRPC service name.</a:t>
            </a:r>
            <a:br>
              <a:rPr lang="en-GB">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GB">
                <a:solidFill>
                  <a:srgbClr val="188038"/>
                </a:solidFill>
                <a:latin typeface="Roboto Mono"/>
                <a:ea typeface="Roboto Mono"/>
                <a:cs typeface="Roboto Mono"/>
                <a:sym typeface="Roboto Mono"/>
              </a:rPr>
              <a:t>strip_listen_path</a:t>
            </a:r>
            <a:r>
              <a:rPr lang="en-GB">
                <a:solidFill>
                  <a:schemeClr val="dk1"/>
                </a:solidFill>
              </a:rPr>
              <a:t> must be set to </a:t>
            </a:r>
            <a:r>
              <a:rPr lang="en-GB">
                <a:solidFill>
                  <a:srgbClr val="188038"/>
                </a:solidFill>
                <a:latin typeface="Roboto Mono"/>
                <a:ea typeface="Roboto Mono"/>
                <a:cs typeface="Roboto Mono"/>
                <a:sym typeface="Roboto Mono"/>
              </a:rPr>
              <a:t>false</a:t>
            </a:r>
            <a:r>
              <a:rPr lang="en-GB">
                <a:solidFill>
                  <a:schemeClr val="dk1"/>
                </a:solidFill>
              </a:rPr>
              <a:t>, so the full route is passed to the upstream service.</a:t>
            </a:r>
            <a:br>
              <a:rPr lang="en-GB">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Once that’s configured, Tyk can fully support your gRPC services without any custom logic or transformation."</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0" y="922550"/>
            <a:ext cx="8520600" cy="165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531550"/>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rgbClr val="21E9BA"/>
              </a:buClr>
              <a:buSzPts val="2000"/>
              <a:buNone/>
              <a:defRPr sz="2000">
                <a:solidFill>
                  <a:srgbClr val="21E9BA"/>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 name="Shape 19"/>
        <p:cNvGrpSpPr/>
        <p:nvPr/>
      </p:nvGrpSpPr>
      <p:grpSpPr>
        <a:xfrm>
          <a:off x="0" y="0"/>
          <a:ext cx="0" cy="0"/>
          <a:chOff x="0" y="0"/>
          <a:chExt cx="0" cy="0"/>
        </a:xfrm>
      </p:grpSpPr>
      <p:sp>
        <p:nvSpPr>
          <p:cNvPr id="20" name="Google Shape;20;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21" name="Google Shape;21;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2" name="Google Shape;22;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26" name="Google Shape;26;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7" name="Shape 27"/>
        <p:cNvGrpSpPr/>
        <p:nvPr/>
      </p:nvGrpSpPr>
      <p:grpSpPr>
        <a:xfrm>
          <a:off x="0" y="0"/>
          <a:ext cx="0" cy="0"/>
          <a:chOff x="0" y="0"/>
          <a:chExt cx="0" cy="0"/>
        </a:xfrm>
      </p:grpSpPr>
      <p:sp>
        <p:nvSpPr>
          <p:cNvPr id="28" name="Google Shape;28;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9" name="Google Shape;29;p7"/>
          <p:cNvSpPr txBox="1"/>
          <p:nvPr>
            <p:ph idx="1" type="body"/>
          </p:nvPr>
        </p:nvSpPr>
        <p:spPr>
          <a:xfrm>
            <a:off x="311700" y="1389600"/>
            <a:ext cx="50364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1" name="Shape 31"/>
        <p:cNvGrpSpPr/>
        <p:nvPr/>
      </p:nvGrpSpPr>
      <p:grpSpPr>
        <a:xfrm>
          <a:off x="0" y="0"/>
          <a:ext cx="0" cy="0"/>
          <a:chOff x="0" y="0"/>
          <a:chExt cx="0" cy="0"/>
        </a:xfrm>
      </p:grpSpPr>
      <p:sp>
        <p:nvSpPr>
          <p:cNvPr id="32" name="Google Shape;32;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3" name="Google Shape;3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4" name="Shape 34"/>
        <p:cNvGrpSpPr/>
        <p:nvPr/>
      </p:nvGrpSpPr>
      <p:grpSpPr>
        <a:xfrm>
          <a:off x="0" y="0"/>
          <a:ext cx="0" cy="0"/>
          <a:chOff x="0" y="0"/>
          <a:chExt cx="0" cy="0"/>
        </a:xfrm>
      </p:grpSpPr>
      <p:sp>
        <p:nvSpPr>
          <p:cNvPr id="35" name="Google Shape;35;p9"/>
          <p:cNvSpPr/>
          <p:nvPr/>
        </p:nvSpPr>
        <p:spPr>
          <a:xfrm>
            <a:off x="4572000" y="-12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7" name="Google Shape;37;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rgbClr val="21E9BA"/>
              </a:buClr>
              <a:buSzPts val="1600"/>
              <a:buNone/>
              <a:defRPr sz="1600">
                <a:solidFill>
                  <a:srgbClr val="21E9BA"/>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8" name="Google Shape;38;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rgbClr val="8438FA"/>
              </a:buClr>
              <a:buSzPts val="1800"/>
              <a:buChar char="●"/>
              <a:defRPr>
                <a:solidFill>
                  <a:srgbClr val="8438FA"/>
                </a:solidFill>
              </a:defRPr>
            </a:lvl1pPr>
            <a:lvl2pPr indent="-317500" lvl="1" marL="914400">
              <a:spcBef>
                <a:spcPts val="0"/>
              </a:spcBef>
              <a:spcAft>
                <a:spcPts val="0"/>
              </a:spcAft>
              <a:buClr>
                <a:srgbClr val="8438FA"/>
              </a:buClr>
              <a:buSzPts val="1400"/>
              <a:buChar char="○"/>
              <a:defRPr>
                <a:solidFill>
                  <a:srgbClr val="8438FA"/>
                </a:solidFill>
              </a:defRPr>
            </a:lvl2pPr>
            <a:lvl3pPr indent="-317500" lvl="2" marL="1371600">
              <a:spcBef>
                <a:spcPts val="0"/>
              </a:spcBef>
              <a:spcAft>
                <a:spcPts val="0"/>
              </a:spcAft>
              <a:buClr>
                <a:srgbClr val="8438FA"/>
              </a:buClr>
              <a:buSzPts val="1400"/>
              <a:buChar char="■"/>
              <a:defRPr>
                <a:solidFill>
                  <a:srgbClr val="8438FA"/>
                </a:solidFill>
              </a:defRPr>
            </a:lvl3pPr>
            <a:lvl4pPr indent="-317500" lvl="3" marL="1828800">
              <a:spcBef>
                <a:spcPts val="0"/>
              </a:spcBef>
              <a:spcAft>
                <a:spcPts val="0"/>
              </a:spcAft>
              <a:buClr>
                <a:srgbClr val="8438FA"/>
              </a:buClr>
              <a:buSzPts val="1400"/>
              <a:buChar char="●"/>
              <a:defRPr>
                <a:solidFill>
                  <a:srgbClr val="8438FA"/>
                </a:solidFill>
              </a:defRPr>
            </a:lvl4pPr>
            <a:lvl5pPr indent="-317500" lvl="4" marL="2286000">
              <a:spcBef>
                <a:spcPts val="0"/>
              </a:spcBef>
              <a:spcAft>
                <a:spcPts val="0"/>
              </a:spcAft>
              <a:buClr>
                <a:srgbClr val="8438FA"/>
              </a:buClr>
              <a:buSzPts val="1400"/>
              <a:buChar char="○"/>
              <a:defRPr>
                <a:solidFill>
                  <a:srgbClr val="8438FA"/>
                </a:solidFill>
              </a:defRPr>
            </a:lvl5pPr>
            <a:lvl6pPr indent="-317500" lvl="5" marL="2743200">
              <a:spcBef>
                <a:spcPts val="0"/>
              </a:spcBef>
              <a:spcAft>
                <a:spcPts val="0"/>
              </a:spcAft>
              <a:buClr>
                <a:srgbClr val="8438FA"/>
              </a:buClr>
              <a:buSzPts val="1400"/>
              <a:buChar char="■"/>
              <a:defRPr>
                <a:solidFill>
                  <a:srgbClr val="8438FA"/>
                </a:solidFill>
              </a:defRPr>
            </a:lvl6pPr>
            <a:lvl7pPr indent="-317500" lvl="6" marL="3200400">
              <a:spcBef>
                <a:spcPts val="0"/>
              </a:spcBef>
              <a:spcAft>
                <a:spcPts val="0"/>
              </a:spcAft>
              <a:buClr>
                <a:srgbClr val="8438FA"/>
              </a:buClr>
              <a:buSzPts val="1400"/>
              <a:buChar char="●"/>
              <a:defRPr>
                <a:solidFill>
                  <a:srgbClr val="8438FA"/>
                </a:solidFill>
              </a:defRPr>
            </a:lvl7pPr>
            <a:lvl8pPr indent="-317500" lvl="7" marL="3657600">
              <a:spcBef>
                <a:spcPts val="0"/>
              </a:spcBef>
              <a:spcAft>
                <a:spcPts val="0"/>
              </a:spcAft>
              <a:buClr>
                <a:srgbClr val="8438FA"/>
              </a:buClr>
              <a:buSzPts val="1400"/>
              <a:buChar char="○"/>
              <a:defRPr>
                <a:solidFill>
                  <a:srgbClr val="8438FA"/>
                </a:solidFill>
              </a:defRPr>
            </a:lvl8pPr>
            <a:lvl9pPr indent="-317500" lvl="8" marL="4114800">
              <a:spcBef>
                <a:spcPts val="0"/>
              </a:spcBef>
              <a:spcAft>
                <a:spcPts val="0"/>
              </a:spcAft>
              <a:buClr>
                <a:srgbClr val="8438FA"/>
              </a:buClr>
              <a:buSzPts val="1400"/>
              <a:buChar char="■"/>
              <a:defRPr>
                <a:solidFill>
                  <a:srgbClr val="8438FA"/>
                </a:solidFill>
              </a:defRPr>
            </a:lvl9pPr>
          </a:lstStyle>
          <a:p/>
        </p:txBody>
      </p:sp>
      <p:sp>
        <p:nvSpPr>
          <p:cNvPr id="39" name="Google Shape;3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0" name="Shape 40"/>
        <p:cNvGrpSpPr/>
        <p:nvPr/>
      </p:nvGrpSpPr>
      <p:grpSpPr>
        <a:xfrm>
          <a:off x="0" y="0"/>
          <a:ext cx="0" cy="0"/>
          <a:chOff x="0" y="0"/>
          <a:chExt cx="0" cy="0"/>
        </a:xfrm>
      </p:grpSpPr>
      <p:sp>
        <p:nvSpPr>
          <p:cNvPr id="41" name="Google Shape;41;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2" name="Google Shape;42;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3" name="Shape 43"/>
        <p:cNvGrpSpPr/>
        <p:nvPr/>
      </p:nvGrpSpPr>
      <p:grpSpPr>
        <a:xfrm>
          <a:off x="0" y="0"/>
          <a:ext cx="0" cy="0"/>
          <a:chOff x="0" y="0"/>
          <a:chExt cx="0" cy="0"/>
        </a:xfrm>
      </p:grpSpPr>
      <p:sp>
        <p:nvSpPr>
          <p:cNvPr id="44" name="Google Shape;44;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5" name="Google Shape;45;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6" name="Google Shape;4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7" name="Shape 47"/>
        <p:cNvGrpSpPr/>
        <p:nvPr/>
      </p:nvGrpSpPr>
      <p:grpSpPr>
        <a:xfrm>
          <a:off x="0" y="0"/>
          <a:ext cx="0" cy="0"/>
          <a:chOff x="0" y="0"/>
          <a:chExt cx="0" cy="0"/>
        </a:xfrm>
      </p:grpSpPr>
      <p:sp>
        <p:nvSpPr>
          <p:cNvPr id="48" name="Google Shape;4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8438FA"/>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1pPr>
            <a:lvl2pPr lvl="1">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2pPr>
            <a:lvl3pPr lvl="2">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3pPr>
            <a:lvl4pPr lvl="3">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4pPr>
            <a:lvl5pPr lvl="4">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5pPr>
            <a:lvl6pPr lvl="5">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6pPr>
            <a:lvl7pPr lvl="6">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7pPr>
            <a:lvl8pPr lvl="7">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8pPr>
            <a:lvl9pPr lvl="8">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1"/>
              </a:buClr>
              <a:buSzPts val="1800"/>
              <a:buFont typeface="Inter"/>
              <a:buChar char="●"/>
              <a:defRPr sz="1800">
                <a:solidFill>
                  <a:schemeClr val="lt1"/>
                </a:solidFill>
                <a:latin typeface="Inter"/>
                <a:ea typeface="Inter"/>
                <a:cs typeface="Inter"/>
                <a:sym typeface="Inter"/>
              </a:defRPr>
            </a:lvl1pPr>
            <a:lvl2pPr indent="-317500" lvl="1" marL="9144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2pPr>
            <a:lvl3pPr indent="-317500" lvl="2" marL="13716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3pPr>
            <a:lvl4pPr indent="-317500" lvl="3" marL="18288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4pPr>
            <a:lvl5pPr indent="-317500" lvl="4" marL="22860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5pPr>
            <a:lvl6pPr indent="-317500" lvl="5" marL="27432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6pPr>
            <a:lvl7pPr indent="-317500" lvl="6" marL="32004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7pPr>
            <a:lvl8pPr indent="-317500" lvl="7" marL="36576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8pPr>
            <a:lvl9pPr indent="-317500" lvl="8" marL="41148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Inter Light"/>
                <a:ea typeface="Inter Light"/>
                <a:cs typeface="Inter Light"/>
                <a:sym typeface="Inter Light"/>
              </a:defRPr>
            </a:lvl1pPr>
            <a:lvl2pPr lvl="1" algn="r">
              <a:buNone/>
              <a:defRPr sz="1000">
                <a:solidFill>
                  <a:schemeClr val="lt1"/>
                </a:solidFill>
                <a:latin typeface="Inter Light"/>
                <a:ea typeface="Inter Light"/>
                <a:cs typeface="Inter Light"/>
                <a:sym typeface="Inter Light"/>
              </a:defRPr>
            </a:lvl2pPr>
            <a:lvl3pPr lvl="2" algn="r">
              <a:buNone/>
              <a:defRPr sz="1000">
                <a:solidFill>
                  <a:schemeClr val="lt1"/>
                </a:solidFill>
                <a:latin typeface="Inter Light"/>
                <a:ea typeface="Inter Light"/>
                <a:cs typeface="Inter Light"/>
                <a:sym typeface="Inter Light"/>
              </a:defRPr>
            </a:lvl3pPr>
            <a:lvl4pPr lvl="3" algn="r">
              <a:buNone/>
              <a:defRPr sz="1000">
                <a:solidFill>
                  <a:schemeClr val="lt1"/>
                </a:solidFill>
                <a:latin typeface="Inter Light"/>
                <a:ea typeface="Inter Light"/>
                <a:cs typeface="Inter Light"/>
                <a:sym typeface="Inter Light"/>
              </a:defRPr>
            </a:lvl4pPr>
            <a:lvl5pPr lvl="4" algn="r">
              <a:buNone/>
              <a:defRPr sz="1000">
                <a:solidFill>
                  <a:schemeClr val="lt1"/>
                </a:solidFill>
                <a:latin typeface="Inter Light"/>
                <a:ea typeface="Inter Light"/>
                <a:cs typeface="Inter Light"/>
                <a:sym typeface="Inter Light"/>
              </a:defRPr>
            </a:lvl5pPr>
            <a:lvl6pPr lvl="5" algn="r">
              <a:buNone/>
              <a:defRPr sz="1000">
                <a:solidFill>
                  <a:schemeClr val="lt1"/>
                </a:solidFill>
                <a:latin typeface="Inter Light"/>
                <a:ea typeface="Inter Light"/>
                <a:cs typeface="Inter Light"/>
                <a:sym typeface="Inter Light"/>
              </a:defRPr>
            </a:lvl6pPr>
            <a:lvl7pPr lvl="6" algn="r">
              <a:buNone/>
              <a:defRPr sz="1000">
                <a:solidFill>
                  <a:schemeClr val="lt1"/>
                </a:solidFill>
                <a:latin typeface="Inter Light"/>
                <a:ea typeface="Inter Light"/>
                <a:cs typeface="Inter Light"/>
                <a:sym typeface="Inter Light"/>
              </a:defRPr>
            </a:lvl7pPr>
            <a:lvl8pPr lvl="7" algn="r">
              <a:buNone/>
              <a:defRPr sz="1000">
                <a:solidFill>
                  <a:schemeClr val="lt1"/>
                </a:solidFill>
                <a:latin typeface="Inter Light"/>
                <a:ea typeface="Inter Light"/>
                <a:cs typeface="Inter Light"/>
                <a:sym typeface="Inter Light"/>
              </a:defRPr>
            </a:lvl8pPr>
            <a:lvl9pPr lvl="8" algn="r">
              <a:buNone/>
              <a:defRPr sz="1000">
                <a:solidFill>
                  <a:schemeClr val="lt1"/>
                </a:solidFill>
                <a:latin typeface="Inter Light"/>
                <a:ea typeface="Inter Light"/>
                <a:cs typeface="Inter Light"/>
                <a:sym typeface="Inter Light"/>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8438FA"/>
            </a:gs>
            <a:gs pos="35000">
              <a:srgbClr val="8438FA"/>
            </a:gs>
            <a:gs pos="100000">
              <a:srgbClr val="BB11FF"/>
            </a:gs>
          </a:gsLst>
          <a:lin ang="2700006" scaled="0"/>
        </a:gradFill>
      </p:bgPr>
    </p:bg>
    <p:spTree>
      <p:nvGrpSpPr>
        <p:cNvPr id="52" name="Shape 52"/>
        <p:cNvGrpSpPr/>
        <p:nvPr/>
      </p:nvGrpSpPr>
      <p:grpSpPr>
        <a:xfrm>
          <a:off x="0" y="0"/>
          <a:ext cx="0" cy="0"/>
          <a:chOff x="0" y="0"/>
          <a:chExt cx="0" cy="0"/>
        </a:xfrm>
      </p:grpSpPr>
      <p:sp>
        <p:nvSpPr>
          <p:cNvPr id="53" name="Google Shape;53;p13"/>
          <p:cNvSpPr txBox="1"/>
          <p:nvPr/>
        </p:nvSpPr>
        <p:spPr>
          <a:xfrm>
            <a:off x="1415550" y="2194650"/>
            <a:ext cx="6312900" cy="754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3700">
                <a:solidFill>
                  <a:schemeClr val="lt1"/>
                </a:solidFill>
                <a:latin typeface="Inter"/>
                <a:ea typeface="Inter"/>
                <a:cs typeface="Inter"/>
                <a:sym typeface="Inter"/>
              </a:rPr>
              <a:t>gRPC Proxy</a:t>
            </a:r>
            <a:endParaRPr b="1" sz="3700">
              <a:solidFill>
                <a:schemeClr val="lt1"/>
              </a:solidFill>
              <a:latin typeface="Inter"/>
              <a:ea typeface="Inter"/>
              <a:cs typeface="Inter"/>
              <a:sym typeface="Inter"/>
            </a:endParaRPr>
          </a:p>
        </p:txBody>
      </p:sp>
      <p:sp>
        <p:nvSpPr>
          <p:cNvPr id="54" name="Google Shape;54;p13"/>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5" name="Google Shape;55;p13"/>
          <p:cNvPicPr preferRelativeResize="0"/>
          <p:nvPr/>
        </p:nvPicPr>
        <p:blipFill>
          <a:blip r:embed="rId3">
            <a:alphaModFix/>
          </a:blip>
          <a:stretch>
            <a:fillRect/>
          </a:stretch>
        </p:blipFill>
        <p:spPr>
          <a:xfrm>
            <a:off x="8423988" y="4687950"/>
            <a:ext cx="527775" cy="273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 name="Shape 59"/>
        <p:cNvGrpSpPr/>
        <p:nvPr/>
      </p:nvGrpSpPr>
      <p:grpSpPr>
        <a:xfrm>
          <a:off x="0" y="0"/>
          <a:ext cx="0" cy="0"/>
          <a:chOff x="0" y="0"/>
          <a:chExt cx="0" cy="0"/>
        </a:xfrm>
      </p:grpSpPr>
      <p:sp>
        <p:nvSpPr>
          <p:cNvPr id="60" name="Google Shape;60;p14"/>
          <p:cNvSpPr txBox="1"/>
          <p:nvPr/>
        </p:nvSpPr>
        <p:spPr>
          <a:xfrm>
            <a:off x="415200" y="925600"/>
            <a:ext cx="77382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900">
              <a:solidFill>
                <a:srgbClr val="03031C"/>
              </a:solidFill>
              <a:latin typeface="Inter"/>
              <a:ea typeface="Inter"/>
              <a:cs typeface="Inter"/>
              <a:sym typeface="Inter"/>
            </a:endParaRPr>
          </a:p>
        </p:txBody>
      </p:sp>
      <p:sp>
        <p:nvSpPr>
          <p:cNvPr id="61" name="Google Shape;61;p14"/>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14"/>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63" name="Google Shape;63;p14"/>
          <p:cNvSpPr txBox="1"/>
          <p:nvPr/>
        </p:nvSpPr>
        <p:spPr>
          <a:xfrm>
            <a:off x="720000" y="233275"/>
            <a:ext cx="78588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300">
                <a:solidFill>
                  <a:srgbClr val="5900CB"/>
                </a:solidFill>
                <a:latin typeface="Inter"/>
                <a:ea typeface="Inter"/>
                <a:cs typeface="Inter"/>
                <a:sym typeface="Inter"/>
              </a:rPr>
              <a:t>Using Tyk as a gRPC Proxy</a:t>
            </a:r>
            <a:endParaRPr b="1" sz="3300">
              <a:solidFill>
                <a:srgbClr val="5900CB"/>
              </a:solidFill>
              <a:latin typeface="Inter"/>
              <a:ea typeface="Inter"/>
              <a:cs typeface="Inter"/>
              <a:sym typeface="Inter"/>
            </a:endParaRPr>
          </a:p>
        </p:txBody>
      </p:sp>
      <p:sp>
        <p:nvSpPr>
          <p:cNvPr id="64" name="Google Shape;64;p14"/>
          <p:cNvSpPr txBox="1"/>
          <p:nvPr/>
        </p:nvSpPr>
        <p:spPr>
          <a:xfrm>
            <a:off x="863625" y="1125700"/>
            <a:ext cx="7738200" cy="42654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Tyk supports gRPC passthrough when using HTTP/2</a:t>
            </a:r>
            <a:endParaRPr>
              <a:solidFill>
                <a:schemeClr val="dk1"/>
              </a:solidFill>
              <a:latin typeface="Inter"/>
              <a:ea typeface="Inter"/>
              <a:cs typeface="Inter"/>
              <a:sym typeface="Inter"/>
            </a:endParaRPr>
          </a:p>
          <a:p>
            <a:pPr indent="-317500" lvl="0" marL="4572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Routes gRPC requests based on:</a:t>
            </a:r>
            <a:endParaRPr>
              <a:solidFill>
                <a:schemeClr val="dk1"/>
              </a:solidFill>
              <a:latin typeface="Inter"/>
              <a:ea typeface="Inter"/>
              <a:cs typeface="Inter"/>
              <a:sym typeface="Inter"/>
            </a:endParaRPr>
          </a:p>
          <a:p>
            <a:pPr indent="-317500" lvl="0" marL="457200" rtl="0" algn="l">
              <a:lnSpc>
                <a:spcPct val="115000"/>
              </a:lnSpc>
              <a:spcBef>
                <a:spcPts val="0"/>
              </a:spcBef>
              <a:spcAft>
                <a:spcPts val="0"/>
              </a:spcAft>
              <a:buClr>
                <a:schemeClr val="dk1"/>
              </a:buClr>
              <a:buSzPts val="1400"/>
              <a:buFont typeface="Courier New"/>
              <a:buChar char="●"/>
            </a:pPr>
            <a:r>
              <a:rPr lang="en-GB">
                <a:solidFill>
                  <a:schemeClr val="dk1"/>
                </a:solidFill>
                <a:latin typeface="Courier New"/>
                <a:ea typeface="Courier New"/>
                <a:cs typeface="Courier New"/>
                <a:sym typeface="Courier New"/>
              </a:rPr>
              <a:t>/ServiceName/MethodName</a:t>
            </a:r>
            <a:endParaRPr>
              <a:solidFill>
                <a:schemeClr val="dk1"/>
              </a:solidFill>
              <a:latin typeface="Courier New"/>
              <a:ea typeface="Courier New"/>
              <a:cs typeface="Courier New"/>
              <a:sym typeface="Courier New"/>
            </a:endParaRPr>
          </a:p>
          <a:p>
            <a:pPr indent="-317500" lvl="0" marL="4572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Tyk Features You Can Still Use</a:t>
            </a:r>
            <a:endParaRPr>
              <a:solidFill>
                <a:schemeClr val="dk1"/>
              </a:solidFill>
              <a:latin typeface="Inter"/>
              <a:ea typeface="Inter"/>
              <a:cs typeface="Inter"/>
              <a:sym typeface="Inter"/>
            </a:endParaRPr>
          </a:p>
          <a:p>
            <a:pPr indent="-317500" lvl="1" marL="9144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URL rewrites</a:t>
            </a:r>
            <a:endParaRPr>
              <a:solidFill>
                <a:schemeClr val="dk1"/>
              </a:solidFill>
              <a:latin typeface="Inter"/>
              <a:ea typeface="Inter"/>
              <a:cs typeface="Inter"/>
              <a:sym typeface="Inter"/>
            </a:endParaRPr>
          </a:p>
          <a:p>
            <a:pPr indent="-317500" lvl="1" marL="9144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ACLs via keys &amp; policies</a:t>
            </a:r>
            <a:endParaRPr>
              <a:solidFill>
                <a:schemeClr val="dk1"/>
              </a:solidFill>
              <a:latin typeface="Inter"/>
              <a:ea typeface="Inter"/>
              <a:cs typeface="Inter"/>
              <a:sym typeface="Inter"/>
            </a:endParaRPr>
          </a:p>
          <a:p>
            <a:pPr indent="-317500" lvl="1" marL="9144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Load balancing</a:t>
            </a:r>
            <a:endParaRPr>
              <a:solidFill>
                <a:schemeClr val="dk1"/>
              </a:solidFill>
              <a:latin typeface="Inter"/>
              <a:ea typeface="Inter"/>
              <a:cs typeface="Inter"/>
              <a:sym typeface="Inter"/>
            </a:endParaRPr>
          </a:p>
          <a:p>
            <a:pPr indent="-317500" lvl="1" marL="9144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Service discovery</a:t>
            </a:r>
            <a:endParaRPr>
              <a:solidFill>
                <a:schemeClr val="dk1"/>
              </a:solidFill>
              <a:latin typeface="Inter"/>
              <a:ea typeface="Inter"/>
              <a:cs typeface="Inter"/>
              <a:sym typeface="Inter"/>
            </a:endParaRPr>
          </a:p>
          <a:p>
            <a:pPr indent="-317500" lvl="1" marL="9144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Authentication (JWT, OIDC, etc.)</a:t>
            </a:r>
            <a:endParaRPr>
              <a:solidFill>
                <a:schemeClr val="dk1"/>
              </a:solidFill>
              <a:latin typeface="Inter"/>
              <a:ea typeface="Inter"/>
              <a:cs typeface="Inter"/>
              <a:sym typeface="Inter"/>
            </a:endParaRPr>
          </a:p>
          <a:p>
            <a:pPr indent="-317500" lvl="1" marL="9144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Rate limiting</a:t>
            </a:r>
            <a:endParaRPr>
              <a:solidFill>
                <a:schemeClr val="dk1"/>
              </a:solidFill>
              <a:latin typeface="Inter"/>
              <a:ea typeface="Inter"/>
              <a:cs typeface="Inter"/>
              <a:sym typeface="Inter"/>
            </a:endParaRPr>
          </a:p>
          <a:p>
            <a:pPr indent="-317500" lvl="1" marL="9144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Logging &amp; tracing (OpenTelemetry)</a:t>
            </a:r>
            <a:endParaRPr>
              <a:solidFill>
                <a:schemeClr val="dk1"/>
              </a:solidFill>
              <a:latin typeface="Inter"/>
              <a:ea typeface="Inter"/>
              <a:cs typeface="Inter"/>
              <a:sym typeface="Inter"/>
            </a:endParaRPr>
          </a:p>
          <a:p>
            <a:pPr indent="-317500" lvl="1" marL="9144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Mutual TLS</a:t>
            </a:r>
            <a:endParaRPr>
              <a:solidFill>
                <a:schemeClr val="dk1"/>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8" name="Shape 68"/>
        <p:cNvGrpSpPr/>
        <p:nvPr/>
      </p:nvGrpSpPr>
      <p:grpSpPr>
        <a:xfrm>
          <a:off x="0" y="0"/>
          <a:ext cx="0" cy="0"/>
          <a:chOff x="0" y="0"/>
          <a:chExt cx="0" cy="0"/>
        </a:xfrm>
      </p:grpSpPr>
      <p:sp>
        <p:nvSpPr>
          <p:cNvPr id="69" name="Google Shape;69;p15"/>
          <p:cNvSpPr txBox="1"/>
          <p:nvPr/>
        </p:nvSpPr>
        <p:spPr>
          <a:xfrm>
            <a:off x="415200" y="925600"/>
            <a:ext cx="77382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900">
              <a:solidFill>
                <a:srgbClr val="03031C"/>
              </a:solidFill>
              <a:latin typeface="Inter"/>
              <a:ea typeface="Inter"/>
              <a:cs typeface="Inter"/>
              <a:sym typeface="Inter"/>
            </a:endParaRPr>
          </a:p>
        </p:txBody>
      </p:sp>
      <p:sp>
        <p:nvSpPr>
          <p:cNvPr id="70" name="Google Shape;70;p15"/>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 name="Google Shape;71;p15"/>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72" name="Google Shape;72;p15"/>
          <p:cNvSpPr txBox="1"/>
          <p:nvPr/>
        </p:nvSpPr>
        <p:spPr>
          <a:xfrm>
            <a:off x="720000" y="157075"/>
            <a:ext cx="78588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300">
                <a:solidFill>
                  <a:srgbClr val="5900CB"/>
                </a:solidFill>
                <a:latin typeface="Inter"/>
                <a:ea typeface="Inter"/>
                <a:cs typeface="Inter"/>
                <a:sym typeface="Inter"/>
              </a:rPr>
              <a:t>Anatomy of a gRPC Call in Tyk</a:t>
            </a:r>
            <a:endParaRPr b="1" sz="3300">
              <a:solidFill>
                <a:srgbClr val="5900CB"/>
              </a:solidFill>
              <a:latin typeface="Inter"/>
              <a:ea typeface="Inter"/>
              <a:cs typeface="Inter"/>
              <a:sym typeface="Inter"/>
            </a:endParaRPr>
          </a:p>
        </p:txBody>
      </p:sp>
      <p:sp>
        <p:nvSpPr>
          <p:cNvPr id="73" name="Google Shape;73;p15"/>
          <p:cNvSpPr txBox="1"/>
          <p:nvPr/>
        </p:nvSpPr>
        <p:spPr>
          <a:xfrm>
            <a:off x="863625" y="820900"/>
            <a:ext cx="7738200" cy="34635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gRPC Call Format:</a:t>
            </a:r>
            <a:endParaRPr>
              <a:solidFill>
                <a:schemeClr val="dk1"/>
              </a:solidFill>
              <a:latin typeface="Inter"/>
              <a:ea typeface="Inter"/>
              <a:cs typeface="Inter"/>
              <a:sym typeface="Inter"/>
            </a:endParaRPr>
          </a:p>
          <a:p>
            <a:pPr indent="-317500" lvl="1" marL="914400" rtl="0" algn="l">
              <a:lnSpc>
                <a:spcPct val="115000"/>
              </a:lnSpc>
              <a:spcBef>
                <a:spcPts val="0"/>
              </a:spcBef>
              <a:spcAft>
                <a:spcPts val="0"/>
              </a:spcAft>
              <a:buClr>
                <a:schemeClr val="dk1"/>
              </a:buClr>
              <a:buSzPts val="1400"/>
              <a:buFont typeface="Courier New"/>
              <a:buChar char="○"/>
            </a:pPr>
            <a:r>
              <a:rPr lang="en-GB">
                <a:solidFill>
                  <a:schemeClr val="dk1"/>
                </a:solidFill>
                <a:latin typeface="Courier New"/>
                <a:ea typeface="Courier New"/>
                <a:cs typeface="Courier New"/>
                <a:sym typeface="Courier New"/>
              </a:rPr>
              <a:t>/google.pubsub.v2.PublisherService/CreateTopic</a:t>
            </a:r>
            <a:endParaRPr>
              <a:solidFill>
                <a:schemeClr val="dk1"/>
              </a:solidFill>
              <a:latin typeface="Courier New"/>
              <a:ea typeface="Courier New"/>
              <a:cs typeface="Courier New"/>
              <a:sym typeface="Courier New"/>
            </a:endParaRPr>
          </a:p>
          <a:p>
            <a:pPr indent="-317500" lvl="0" marL="4572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Always uses </a:t>
            </a:r>
            <a:r>
              <a:rPr lang="en-GB">
                <a:solidFill>
                  <a:schemeClr val="dk1"/>
                </a:solidFill>
                <a:latin typeface="Courier New"/>
                <a:ea typeface="Courier New"/>
                <a:cs typeface="Courier New"/>
                <a:sym typeface="Courier New"/>
              </a:rPr>
              <a:t>HTTP POST</a:t>
            </a:r>
            <a:endParaRPr>
              <a:solidFill>
                <a:schemeClr val="dk1"/>
              </a:solidFill>
              <a:latin typeface="Courier New"/>
              <a:ea typeface="Courier New"/>
              <a:cs typeface="Courier New"/>
              <a:sym typeface="Courier New"/>
            </a:endParaRPr>
          </a:p>
          <a:p>
            <a:pPr indent="-317500" lvl="0" marL="4572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Metadata → </a:t>
            </a:r>
            <a:r>
              <a:rPr lang="en-GB">
                <a:solidFill>
                  <a:schemeClr val="dk1"/>
                </a:solidFill>
                <a:latin typeface="Courier New"/>
                <a:ea typeface="Courier New"/>
                <a:cs typeface="Courier New"/>
                <a:sym typeface="Courier New"/>
              </a:rPr>
              <a:t>HTTP</a:t>
            </a:r>
            <a:r>
              <a:rPr lang="en-GB">
                <a:solidFill>
                  <a:schemeClr val="dk1"/>
                </a:solidFill>
                <a:latin typeface="Inter"/>
                <a:ea typeface="Inter"/>
                <a:cs typeface="Inter"/>
                <a:sym typeface="Inter"/>
              </a:rPr>
              <a:t> headers</a:t>
            </a:r>
            <a:endParaRPr>
              <a:solidFill>
                <a:schemeClr val="dk1"/>
              </a:solidFill>
              <a:latin typeface="Inter"/>
              <a:ea typeface="Inter"/>
              <a:cs typeface="Inter"/>
              <a:sym typeface="Inter"/>
            </a:endParaRPr>
          </a:p>
          <a:p>
            <a:pPr indent="-317500" lvl="0" marL="4572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Policies and rewrites apply at method-level granularity</a:t>
            </a:r>
            <a:endParaRPr>
              <a:solidFill>
                <a:schemeClr val="dk1"/>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7" name="Shape 77"/>
        <p:cNvGrpSpPr/>
        <p:nvPr/>
      </p:nvGrpSpPr>
      <p:grpSpPr>
        <a:xfrm>
          <a:off x="0" y="0"/>
          <a:ext cx="0" cy="0"/>
          <a:chOff x="0" y="0"/>
          <a:chExt cx="0" cy="0"/>
        </a:xfrm>
      </p:grpSpPr>
      <p:sp>
        <p:nvSpPr>
          <p:cNvPr id="78" name="Google Shape;78;p16"/>
          <p:cNvSpPr txBox="1"/>
          <p:nvPr/>
        </p:nvSpPr>
        <p:spPr>
          <a:xfrm>
            <a:off x="415200" y="925600"/>
            <a:ext cx="77382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900">
              <a:solidFill>
                <a:srgbClr val="03031C"/>
              </a:solidFill>
              <a:latin typeface="Inter"/>
              <a:ea typeface="Inter"/>
              <a:cs typeface="Inter"/>
              <a:sym typeface="Inter"/>
            </a:endParaRPr>
          </a:p>
        </p:txBody>
      </p:sp>
      <p:sp>
        <p:nvSpPr>
          <p:cNvPr id="79" name="Google Shape;79;p16"/>
          <p:cNvSpPr/>
          <p:nvPr/>
        </p:nvSpPr>
        <p:spPr>
          <a:xfrm flipH="1">
            <a:off x="8153400" y="4429125"/>
            <a:ext cx="990600" cy="714300"/>
          </a:xfrm>
          <a:prstGeom prst="round1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0" name="Google Shape;80;p16"/>
          <p:cNvPicPr preferRelativeResize="0"/>
          <p:nvPr/>
        </p:nvPicPr>
        <p:blipFill>
          <a:blip r:embed="rId3">
            <a:alphaModFix/>
          </a:blip>
          <a:stretch>
            <a:fillRect/>
          </a:stretch>
        </p:blipFill>
        <p:spPr>
          <a:xfrm>
            <a:off x="8423988" y="4687950"/>
            <a:ext cx="527775" cy="273675"/>
          </a:xfrm>
          <a:prstGeom prst="rect">
            <a:avLst/>
          </a:prstGeom>
          <a:noFill/>
          <a:ln>
            <a:noFill/>
          </a:ln>
        </p:spPr>
      </p:pic>
      <p:sp>
        <p:nvSpPr>
          <p:cNvPr id="81" name="Google Shape;81;p16"/>
          <p:cNvSpPr txBox="1"/>
          <p:nvPr/>
        </p:nvSpPr>
        <p:spPr>
          <a:xfrm>
            <a:off x="720000" y="157075"/>
            <a:ext cx="78588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3300">
                <a:solidFill>
                  <a:srgbClr val="5900CB"/>
                </a:solidFill>
                <a:latin typeface="Inter"/>
                <a:ea typeface="Inter"/>
                <a:cs typeface="Inter"/>
                <a:sym typeface="Inter"/>
              </a:rPr>
              <a:t>Prerequisites for gRPC Proxying</a:t>
            </a:r>
            <a:endParaRPr b="1" sz="3300">
              <a:solidFill>
                <a:srgbClr val="5900CB"/>
              </a:solidFill>
              <a:latin typeface="Inter"/>
              <a:ea typeface="Inter"/>
              <a:cs typeface="Inter"/>
              <a:sym typeface="Inter"/>
            </a:endParaRPr>
          </a:p>
        </p:txBody>
      </p:sp>
      <p:sp>
        <p:nvSpPr>
          <p:cNvPr id="82" name="Google Shape;82;p16"/>
          <p:cNvSpPr txBox="1"/>
          <p:nvPr/>
        </p:nvSpPr>
        <p:spPr>
          <a:xfrm>
            <a:off x="863625" y="820900"/>
            <a:ext cx="7738200" cy="34635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Enable HTTP/2 in tyk.conf</a:t>
            </a:r>
            <a:endParaRPr>
              <a:solidFill>
                <a:schemeClr val="dk1"/>
              </a:solidFill>
              <a:latin typeface="Inter"/>
              <a:ea typeface="Inter"/>
              <a:cs typeface="Inter"/>
              <a:sym typeface="Inter"/>
            </a:endParaRPr>
          </a:p>
          <a:p>
            <a:pPr indent="0" lvl="0" marL="914400" rtl="0" algn="l">
              <a:lnSpc>
                <a:spcPct val="115000"/>
              </a:lnSpc>
              <a:spcBef>
                <a:spcPts val="0"/>
              </a:spcBef>
              <a:spcAft>
                <a:spcPts val="0"/>
              </a:spcAft>
              <a:buNone/>
            </a:pPr>
            <a:r>
              <a:rPr lang="en-GB">
                <a:solidFill>
                  <a:schemeClr val="dk1"/>
                </a:solidFill>
                <a:latin typeface="Courier New"/>
                <a:ea typeface="Courier New"/>
                <a:cs typeface="Courier New"/>
                <a:sym typeface="Courier New"/>
              </a:rPr>
              <a:t>"http_server_options": {</a:t>
            </a:r>
            <a:endParaRPr>
              <a:solidFill>
                <a:schemeClr val="dk1"/>
              </a:solidFill>
              <a:latin typeface="Courier New"/>
              <a:ea typeface="Courier New"/>
              <a:cs typeface="Courier New"/>
              <a:sym typeface="Courier New"/>
            </a:endParaRPr>
          </a:p>
          <a:p>
            <a:pPr indent="0" lvl="0" marL="914400" rtl="0" algn="l">
              <a:lnSpc>
                <a:spcPct val="115000"/>
              </a:lnSpc>
              <a:spcBef>
                <a:spcPts val="0"/>
              </a:spcBef>
              <a:spcAft>
                <a:spcPts val="0"/>
              </a:spcAft>
              <a:buNone/>
            </a:pPr>
            <a:r>
              <a:rPr lang="en-GB">
                <a:solidFill>
                  <a:schemeClr val="dk1"/>
                </a:solidFill>
                <a:latin typeface="Courier New"/>
                <a:ea typeface="Courier New"/>
                <a:cs typeface="Courier New"/>
                <a:sym typeface="Courier New"/>
              </a:rPr>
              <a:t>"enable_http2": true</a:t>
            </a:r>
            <a:endParaRPr>
              <a:solidFill>
                <a:schemeClr val="dk1"/>
              </a:solidFill>
              <a:latin typeface="Courier New"/>
              <a:ea typeface="Courier New"/>
              <a:cs typeface="Courier New"/>
              <a:sym typeface="Courier New"/>
            </a:endParaRPr>
          </a:p>
          <a:p>
            <a:pPr indent="0" lvl="0" marL="914400" rtl="0" algn="l">
              <a:lnSpc>
                <a:spcPct val="115000"/>
              </a:lnSpc>
              <a:spcBef>
                <a:spcPts val="0"/>
              </a:spcBef>
              <a:spcAft>
                <a:spcPts val="0"/>
              </a:spcAft>
              <a:buNone/>
            </a:pPr>
            <a:r>
              <a:rPr lang="en-GB">
                <a:solidFill>
                  <a:schemeClr val="dk1"/>
                </a:solidFill>
                <a:latin typeface="Courier New"/>
                <a:ea typeface="Courier New"/>
                <a:cs typeface="Courier New"/>
                <a:sym typeface="Courier New"/>
              </a:rPr>
              <a:t>},</a:t>
            </a:r>
            <a:endParaRPr>
              <a:solidFill>
                <a:schemeClr val="dk1"/>
              </a:solidFill>
              <a:latin typeface="Courier New"/>
              <a:ea typeface="Courier New"/>
              <a:cs typeface="Courier New"/>
              <a:sym typeface="Courier New"/>
            </a:endParaRPr>
          </a:p>
          <a:p>
            <a:pPr indent="0" lvl="0" marL="914400" rtl="0" algn="l">
              <a:lnSpc>
                <a:spcPct val="115000"/>
              </a:lnSpc>
              <a:spcBef>
                <a:spcPts val="0"/>
              </a:spcBef>
              <a:spcAft>
                <a:spcPts val="0"/>
              </a:spcAft>
              <a:buNone/>
            </a:pPr>
            <a:r>
              <a:rPr lang="en-GB">
                <a:solidFill>
                  <a:schemeClr val="dk1"/>
                </a:solidFill>
                <a:latin typeface="Courier New"/>
                <a:ea typeface="Courier New"/>
                <a:cs typeface="Courier New"/>
                <a:sym typeface="Courier New"/>
              </a:rPr>
              <a:t>"proxy_enable_http2": true</a:t>
            </a:r>
            <a:endParaRPr>
              <a:solidFill>
                <a:schemeClr val="dk1"/>
              </a:solidFill>
              <a:latin typeface="Courier New"/>
              <a:ea typeface="Courier New"/>
              <a:cs typeface="Courier New"/>
              <a:sym typeface="Courier New"/>
            </a:endParaRPr>
          </a:p>
          <a:p>
            <a:pPr indent="0" lvl="0" marL="914400" rtl="0" algn="l">
              <a:lnSpc>
                <a:spcPct val="115000"/>
              </a:lnSpc>
              <a:spcBef>
                <a:spcPts val="0"/>
              </a:spcBef>
              <a:spcAft>
                <a:spcPts val="0"/>
              </a:spcAft>
              <a:buNone/>
            </a:pPr>
            <a:r>
              <a:t/>
            </a:r>
            <a:endParaRPr>
              <a:solidFill>
                <a:schemeClr val="dk1"/>
              </a:solidFill>
              <a:latin typeface="Courier New"/>
              <a:ea typeface="Courier New"/>
              <a:cs typeface="Courier New"/>
              <a:sym typeface="Courier New"/>
            </a:endParaRPr>
          </a:p>
          <a:p>
            <a:pPr indent="-317500" lvl="0" marL="4572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Match listen path to service name</a:t>
            </a:r>
            <a:endParaRPr>
              <a:solidFill>
                <a:schemeClr val="dk1"/>
              </a:solidFill>
              <a:latin typeface="Inter"/>
              <a:ea typeface="Inter"/>
              <a:cs typeface="Inter"/>
              <a:sym typeface="Inter"/>
            </a:endParaRPr>
          </a:p>
          <a:p>
            <a:pPr indent="-317500" lvl="0" marL="457200" rtl="0" algn="l">
              <a:lnSpc>
                <a:spcPct val="115000"/>
              </a:lnSpc>
              <a:spcBef>
                <a:spcPts val="0"/>
              </a:spcBef>
              <a:spcAft>
                <a:spcPts val="0"/>
              </a:spcAft>
              <a:buClr>
                <a:schemeClr val="dk1"/>
              </a:buClr>
              <a:buSzPts val="1400"/>
              <a:buFont typeface="Inter"/>
              <a:buChar char="●"/>
            </a:pPr>
            <a:r>
              <a:rPr lang="en-GB">
                <a:solidFill>
                  <a:schemeClr val="dk1"/>
                </a:solidFill>
                <a:latin typeface="Inter"/>
                <a:ea typeface="Inter"/>
                <a:cs typeface="Inter"/>
                <a:sym typeface="Inter"/>
              </a:rPr>
              <a:t>Set </a:t>
            </a:r>
            <a:r>
              <a:rPr lang="en-GB">
                <a:solidFill>
                  <a:schemeClr val="dk1"/>
                </a:solidFill>
                <a:latin typeface="Courier New"/>
                <a:ea typeface="Courier New"/>
                <a:cs typeface="Courier New"/>
                <a:sym typeface="Courier New"/>
              </a:rPr>
              <a:t>strip_listen_path: false</a:t>
            </a:r>
            <a:endParaRPr>
              <a:solidFill>
                <a:schemeClr val="dk1"/>
              </a:solidFill>
              <a:latin typeface="Courier New"/>
              <a:ea typeface="Courier New"/>
              <a:cs typeface="Courier New"/>
              <a:sym typeface="Courier New"/>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yk main slide deck">
  <a:themeElements>
    <a:clrScheme name="Simple Light">
      <a:dk1>
        <a:srgbClr val="03031C"/>
      </a:dk1>
      <a:lt1>
        <a:srgbClr val="FFFFFF"/>
      </a:lt1>
      <a:dk2>
        <a:srgbClr val="8438FA"/>
      </a:dk2>
      <a:lt2>
        <a:srgbClr val="5900CB"/>
      </a:lt2>
      <a:accent1>
        <a:srgbClr val="FFC743"/>
      </a:accent1>
      <a:accent2>
        <a:srgbClr val="FFF500"/>
      </a:accent2>
      <a:accent3>
        <a:srgbClr val="20EDBA"/>
      </a:accent3>
      <a:accent4>
        <a:srgbClr val="00A3A0"/>
      </a:accent4>
      <a:accent5>
        <a:srgbClr val="BB11FF"/>
      </a:accent5>
      <a:accent6>
        <a:srgbClr val="EA26A9"/>
      </a:accent6>
      <a:hlink>
        <a:srgbClr val="E3CE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