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Inter"/>
      <p:regular r:id="rId14"/>
      <p:bold r:id="rId15"/>
      <p:italic r:id="rId16"/>
      <p:boldItalic r:id="rId17"/>
    </p:embeddedFont>
    <p:embeddedFont>
      <p:font typeface="Open Sans SemiBold"/>
      <p:regular r:id="rId18"/>
      <p:bold r:id="rId19"/>
      <p:italic r:id="rId20"/>
      <p:boldItalic r:id="rId21"/>
    </p:embeddedFont>
    <p:embeddedFont>
      <p:font typeface="Helvetica Neue"/>
      <p:regular r:id="rId22"/>
      <p:bold r:id="rId23"/>
      <p:italic r:id="rId24"/>
      <p:boldItalic r:id="rId25"/>
    </p:embeddedFont>
    <p:embeddedFont>
      <p:font typeface="Roboto Mono"/>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SemiBold-italic.fntdata"/><Relationship Id="rId22" Type="http://schemas.openxmlformats.org/officeDocument/2006/relationships/font" Target="fonts/HelveticaNeue-regular.fntdata"/><Relationship Id="rId21" Type="http://schemas.openxmlformats.org/officeDocument/2006/relationships/font" Target="fonts/OpenSansSemiBold-boldItalic.fntdata"/><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font" Target="fonts/HelveticaNeue-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19" Type="http://schemas.openxmlformats.org/officeDocument/2006/relationships/font" Target="fonts/OpenSansSemiBold-bold.fntdata"/><Relationship Id="rId18" Type="http://schemas.openxmlformats.org/officeDocument/2006/relationships/font" Target="fonts/OpenSans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1dcb0dd5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1dcb0dd5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8a27306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8a27306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"Tyk supports the </a:t>
            </a:r>
            <a:r>
              <a:rPr b="1" lang="en-GB">
                <a:solidFill>
                  <a:schemeClr val="dk1"/>
                </a:solidFill>
              </a:rPr>
              <a:t>OpenAPI Specification</a:t>
            </a:r>
            <a:r>
              <a:rPr lang="en-GB">
                <a:solidFill>
                  <a:schemeClr val="dk1"/>
                </a:solidFill>
              </a:rPr>
              <a:t>, or OAS, which is the industry standard for defining APIs."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"If you’re already using OAS to design and document your APIs, you can </a:t>
            </a:r>
            <a:r>
              <a:rPr b="1" lang="en-GB">
                <a:solidFill>
                  <a:schemeClr val="dk1"/>
                </a:solidFill>
              </a:rPr>
              <a:t>import</a:t>
            </a:r>
            <a:r>
              <a:rPr lang="en-GB">
                <a:solidFill>
                  <a:schemeClr val="dk1"/>
                </a:solidFill>
              </a:rPr>
              <a:t> those definitions directly into Tyk."</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offers </a:t>
            </a:r>
            <a:r>
              <a:rPr b="1" lang="en-GB">
                <a:solidFill>
                  <a:schemeClr val="dk1"/>
                </a:solidFill>
              </a:rPr>
              <a:t>significant time savings</a:t>
            </a:r>
            <a:r>
              <a:rPr lang="en-GB">
                <a:solidFill>
                  <a:schemeClr val="dk1"/>
                </a:solidFill>
              </a:rPr>
              <a:t> and reduces complexity because you don’t need to redefine your APIs from scratch."</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58a273064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58a27306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diagram shows the structure of a </a:t>
            </a:r>
            <a:r>
              <a:rPr b="1" lang="en-GB">
                <a:solidFill>
                  <a:schemeClr val="dk1"/>
                </a:solidFill>
              </a:rPr>
              <a:t>Tyk OAS API Definition</a:t>
            </a:r>
            <a:r>
              <a:rPr lang="en-GB">
                <a:solidFill>
                  <a:schemeClr val="dk1"/>
                </a:solidFill>
              </a:rPr>
              <a:t>, which is made up of two key parts."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"First, you have the </a:t>
            </a:r>
            <a:r>
              <a:rPr b="1" lang="en-GB">
                <a:solidFill>
                  <a:schemeClr val="dk1"/>
                </a:solidFill>
              </a:rPr>
              <a:t>standard OAS section</a:t>
            </a:r>
            <a:r>
              <a:rPr lang="en-GB">
                <a:solidFill>
                  <a:schemeClr val="dk1"/>
                </a:solidFill>
              </a:rPr>
              <a:t>. This is typically created in your </a:t>
            </a:r>
            <a:r>
              <a:rPr b="1" lang="en-GB">
                <a:solidFill>
                  <a:schemeClr val="dk1"/>
                </a:solidFill>
              </a:rPr>
              <a:t>code editor</a:t>
            </a:r>
            <a:r>
              <a:rPr lang="en-GB">
                <a:solidFill>
                  <a:schemeClr val="dk1"/>
                </a:solidFill>
              </a:rPr>
              <a:t> or design tool. It describes your API: the endpoints, methods, request/response models, and documentation—everything you’d expect in an OpenAPI Spec."</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"Then, when you import this into Tyk, we automatically add a </a:t>
            </a:r>
            <a:r>
              <a:rPr b="1" lang="en-GB">
                <a:solidFill>
                  <a:srgbClr val="188038"/>
                </a:solidFill>
                <a:latin typeface="Roboto Mono"/>
                <a:ea typeface="Roboto Mono"/>
                <a:cs typeface="Roboto Mono"/>
                <a:sym typeface="Roboto Mono"/>
              </a:rPr>
              <a:t>x-tyk-api-gateway</a:t>
            </a:r>
            <a:r>
              <a:rPr lang="en-GB">
                <a:solidFill>
                  <a:schemeClr val="dk1"/>
                </a:solidFill>
              </a:rPr>
              <a:t> section."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section contains </a:t>
            </a:r>
            <a:r>
              <a:rPr b="1" lang="en-GB">
                <a:solidFill>
                  <a:schemeClr val="dk1"/>
                </a:solidFill>
              </a:rPr>
              <a:t>Tyk-specific configurations</a:t>
            </a:r>
            <a:r>
              <a:rPr lang="en-GB">
                <a:solidFill>
                  <a:schemeClr val="dk1"/>
                </a:solidFill>
              </a:rPr>
              <a:t>—things like authentication, rate limiting, policies, plugins, and all the controls that Tyk applies to manage and secure your API traffic."</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"So, in short: you design your API as usual in OAS, and Tyk adds the gateway-specific logic to bring it to life inside the Tyk platform."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“You can export an imported OAS definition for a full Tyk OAS definition or you can start from a template”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8a273064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8a273064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100"/>
              <a:buFont typeface="Arial"/>
              <a:buNone/>
            </a:pPr>
            <a:r>
              <a:rPr lang="en-GB" sz="1600">
                <a:solidFill>
                  <a:schemeClr val="dk1"/>
                </a:solidFill>
                <a:latin typeface="Helvetica Neue"/>
                <a:ea typeface="Helvetica Neue"/>
                <a:cs typeface="Helvetica Neue"/>
                <a:sym typeface="Helvetica Neue"/>
              </a:rPr>
              <a:t>“A deeper look into the different sections. On the left is an OAS 3.0 spec and upon import, we can see the sections are preserved with an additional x-tyk-api-gateway added” </a:t>
            </a:r>
            <a:endParaRPr sz="16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100"/>
              <a:buFont typeface="Arial"/>
              <a:buNone/>
            </a:pPr>
            <a:r>
              <a:t/>
            </a:r>
            <a:endParaRPr sz="16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100"/>
              <a:buFont typeface="Arial"/>
              <a:buNone/>
            </a:pPr>
            <a:r>
              <a:rPr lang="en-GB" sz="1600">
                <a:solidFill>
                  <a:schemeClr val="dk1"/>
                </a:solidFill>
                <a:latin typeface="Helvetica Neue"/>
                <a:ea typeface="Helvetica Neue"/>
                <a:cs typeface="Helvetica Neue"/>
                <a:sym typeface="Helvetica Neue"/>
              </a:rPr>
              <a:t>“Let’s look at the different sections”</a:t>
            </a:r>
            <a:endParaRPr sz="16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21ab57be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21ab57be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Slide Intro:</a:t>
            </a:r>
            <a:br>
              <a:rPr b="1" lang="en-GB">
                <a:solidFill>
                  <a:schemeClr val="dk1"/>
                </a:solidFill>
              </a:rPr>
            </a:br>
            <a:r>
              <a:rPr lang="en-GB">
                <a:solidFill>
                  <a:schemeClr val="dk1"/>
                </a:solidFill>
              </a:rPr>
              <a:t> “Now let’s look at how Tyk extends the OpenAPI Specification with our own vendor extensions.”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Script Body: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“Tyk uses the extension key </a:t>
            </a:r>
            <a:r>
              <a:rPr lang="en-GB">
                <a:solidFill>
                  <a:srgbClr val="188038"/>
                </a:solidFill>
                <a:latin typeface="Roboto Mono"/>
                <a:ea typeface="Roboto Mono"/>
                <a:cs typeface="Roboto Mono"/>
                <a:sym typeface="Roboto Mono"/>
              </a:rPr>
              <a:t>x-tyk-api-gateway</a:t>
            </a:r>
            <a:r>
              <a:rPr lang="en-GB">
                <a:solidFill>
                  <a:schemeClr val="dk1"/>
                </a:solidFill>
              </a:rPr>
              <a:t> inside your OpenAPI documents.”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“This allows you to store Tyk-specific configurations directly in the API definition, alongside the standard OpenAPI fields.”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“In other words, you can design and document your API in OAS as usual, but still capture the Tyk settings needed for deployment and runtime.”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Walkthrough of Fields: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Info</a:t>
            </a:r>
            <a:r>
              <a:rPr lang="en-GB">
                <a:solidFill>
                  <a:schemeClr val="dk1"/>
                </a:solidFill>
              </a:rPr>
              <a:t> – “This contains the main metadata for the API definition. Think of it as the high-level details about your API.”</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Upstream</a:t>
            </a:r>
            <a:r>
              <a:rPr lang="en-GB">
                <a:solidFill>
                  <a:schemeClr val="dk1"/>
                </a:solidFill>
              </a:rPr>
              <a:t> – “Here you configure how Tyk connects to the upstream target — for example, the backend service you’re proxying.”</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Server</a:t>
            </a:r>
            <a:r>
              <a:rPr lang="en-GB">
                <a:solidFill>
                  <a:schemeClr val="dk1"/>
                </a:solidFill>
              </a:rPr>
              <a:t> – “This defines the server-side configuration — things like the listen path, host, and protocol.”</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Middleware</a:t>
            </a:r>
            <a:r>
              <a:rPr lang="en-GB">
                <a:solidFill>
                  <a:schemeClr val="dk1"/>
                </a:solidFill>
              </a:rPr>
              <a:t> – “Finally, middleware holds the configuration for all Tyk middleware. This is where you can enrich or protect requests and responses.”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Clo</a:t>
            </a:r>
            <a:r>
              <a:rPr b="1" lang="en-GB">
                <a:solidFill>
                  <a:schemeClr val="dk1"/>
                </a:solidFill>
              </a:rPr>
              <a:t>s</a:t>
            </a:r>
            <a:r>
              <a:rPr b="1" lang="en-GB">
                <a:solidFill>
                  <a:schemeClr val="dk1"/>
                </a:solidFill>
              </a:rPr>
              <a:t>ing:</a:t>
            </a:r>
            <a:br>
              <a:rPr b="1" lang="en-GB">
                <a:solidFill>
                  <a:schemeClr val="dk1"/>
                </a:solidFill>
              </a:rPr>
            </a:br>
            <a:r>
              <a:rPr lang="en-GB">
                <a:solidFill>
                  <a:schemeClr val="dk1"/>
                </a:solidFill>
              </a:rPr>
              <a:t> “So with </a:t>
            </a:r>
            <a:r>
              <a:rPr lang="en-GB">
                <a:solidFill>
                  <a:srgbClr val="188038"/>
                </a:solidFill>
                <a:latin typeface="Roboto Mono"/>
                <a:ea typeface="Roboto Mono"/>
                <a:cs typeface="Roboto Mono"/>
                <a:sym typeface="Roboto Mono"/>
              </a:rPr>
              <a:t>x-tyk-api-gateway</a:t>
            </a:r>
            <a:r>
              <a:rPr lang="en-GB">
                <a:solidFill>
                  <a:schemeClr val="dk1"/>
                </a:solidFill>
              </a:rPr>
              <a:t>, you can keep both your OpenAPI spec and your Tyk configuration in a single document. That makes APIs easier to manage, version, and deploy consistently across environments.”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8a273064c_0_4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OAS has the concept of securitySchemes which describes one way in which an API may be accessed, e.g. with a token. You can have multiple securitySchemes defined for an API. You decide which is actually active by declaring that in the security section.</a:t>
            </a:r>
            <a:endParaRPr sz="1600"/>
          </a:p>
          <a:p>
            <a:pPr indent="0" lvl="0" marL="0" rtl="0" algn="l">
              <a:spcBef>
                <a:spcPts val="0"/>
              </a:spcBef>
              <a:spcAft>
                <a:spcPts val="0"/>
              </a:spcAft>
              <a:buNone/>
            </a:pPr>
            <a:r>
              <a:t/>
            </a:r>
            <a:endParaRPr sz="1600"/>
          </a:p>
          <a:p>
            <a:pPr indent="0" lvl="0" marL="0" rtl="0" algn="l">
              <a:spcBef>
                <a:spcPts val="0"/>
              </a:spcBef>
              <a:spcAft>
                <a:spcPts val="0"/>
              </a:spcAft>
              <a:buClr>
                <a:schemeClr val="dk1"/>
              </a:buClr>
              <a:buSzPts val="1100"/>
              <a:buFont typeface="Arial"/>
              <a:buNone/>
            </a:pPr>
            <a:r>
              <a:rPr lang="en-GB" sz="1600"/>
              <a:t>When the apiKey securityScheme is configured in an OAS API Definition, this means that the authentication mechanism that can be configured in x-tyk-api-gateway, is an Authentication Token.</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en-GB" sz="1600"/>
              <a:t>Since the location and token key name are documented in the OAS API Definition securityScheme, you only need to turn this authentication on at the Tyk level to tell Tyk to handle the authentication by setting enabled to true.</a:t>
            </a:r>
            <a:endParaRPr sz="1600"/>
          </a:p>
          <a:p>
            <a:pPr indent="0" lvl="0" marL="0" rtl="0" algn="l">
              <a:spcBef>
                <a:spcPts val="0"/>
              </a:spcBef>
              <a:spcAft>
                <a:spcPts val="0"/>
              </a:spcAft>
              <a:buNone/>
            </a:pPr>
            <a:r>
              <a:t/>
            </a:r>
            <a:endParaRPr sz="1600"/>
          </a:p>
        </p:txBody>
      </p:sp>
      <p:sp>
        <p:nvSpPr>
          <p:cNvPr id="115" name="Google Shape;115;g358a273064c_0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8a273064c_0_5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t>Tyk can protect any Gateway incoming request by validating the request parameters and payload against a schema provided for that path’s request body in the OAS API Definition.</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en-GB" sz="1600"/>
              <a:t>The clever part is that in this schema you can reference another schema defined elsewhere in the API Definition; this lets you write complex validations very efficiently since you don’t need to re-define the validation for a particular object every time you wish to refer to it.</a:t>
            </a:r>
            <a:endParaRPr sz="1600"/>
          </a:p>
          <a:p>
            <a:pPr indent="0" lvl="0" marL="0" rtl="0" algn="l">
              <a:spcBef>
                <a:spcPts val="0"/>
              </a:spcBef>
              <a:spcAft>
                <a:spcPts val="0"/>
              </a:spcAft>
              <a:buNone/>
            </a:pPr>
            <a:r>
              <a:t/>
            </a:r>
            <a:endParaRPr sz="1600"/>
          </a:p>
        </p:txBody>
      </p:sp>
      <p:sp>
        <p:nvSpPr>
          <p:cNvPr id="127" name="Google Shape;127;g358a273064c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8a273064c_0_6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configuration of the paths section within that will tell Tyk which endpoints are available to configure.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GB" sz="1600"/>
              <a:t>OAS gives the ability to define an operationID in an OAS API Definition. This allows for different parts of the definition to refer to each other. For instance in a Tyk OAS API Definition, if you turn on validation for a particular endpoint, the x-tyk-api-gateway middleware section will use the operationID to link the enabled validation middleware to the particular endpoint. This is needed because the endpoint is defined within the main OAS API Definition, whereas the details of how Tyk handles the validation is not, since a developer does not need to see that.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GB" sz="1600"/>
              <a:t>Whenever a middleware needs to be enabled for a specific API path, you need to make sure that the operationId of that path, is equal with the one under the middleware.operations section within x-tyk-api-gateway.</a:t>
            </a:r>
            <a:endParaRPr sz="1600"/>
          </a:p>
        </p:txBody>
      </p:sp>
      <p:sp>
        <p:nvSpPr>
          <p:cNvPr id="137" name="Google Shape;137;g358a273064c_0_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2" name="Google Shape;52;p13"/>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53" name="Google Shape;53;p13"/>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4" name="Google Shape;54;p13"/>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5" name="Google Shape;55;p13"/>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9" name="Shape 59"/>
        <p:cNvGrpSpPr/>
        <p:nvPr/>
      </p:nvGrpSpPr>
      <p:grpSpPr>
        <a:xfrm>
          <a:off x="0" y="0"/>
          <a:ext cx="0" cy="0"/>
          <a:chOff x="0" y="0"/>
          <a:chExt cx="0" cy="0"/>
        </a:xfrm>
      </p:grpSpPr>
      <p:sp>
        <p:nvSpPr>
          <p:cNvPr id="60" name="Google Shape;60;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 name="Google Shape;61;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2" name="Google Shape;62;p14"/>
          <p:cNvSpPr txBox="1"/>
          <p:nvPr/>
        </p:nvSpPr>
        <p:spPr>
          <a:xfrm>
            <a:off x="359400" y="1802250"/>
            <a:ext cx="84252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rgbClr val="FFFFFF"/>
                </a:solidFill>
                <a:latin typeface="Inter"/>
                <a:ea typeface="Inter"/>
                <a:cs typeface="Inter"/>
                <a:sym typeface="Inter"/>
              </a:rPr>
              <a:t>Tyk OAS</a:t>
            </a:r>
            <a:r>
              <a:rPr b="1" lang="en-GB" sz="3800">
                <a:solidFill>
                  <a:srgbClr val="FFFFFF"/>
                </a:solidFill>
                <a:latin typeface="Inter"/>
                <a:ea typeface="Inter"/>
                <a:cs typeface="Inter"/>
                <a:sym typeface="Inter"/>
              </a:rPr>
              <a:t> API Definitions</a:t>
            </a:r>
            <a:endParaRPr b="1" sz="3800">
              <a:solidFill>
                <a:srgbClr val="FFFFFF"/>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5"/>
          <p:cNvSpPr txBox="1"/>
          <p:nvPr/>
        </p:nvSpPr>
        <p:spPr>
          <a:xfrm>
            <a:off x="720000" y="1382800"/>
            <a:ext cx="4955700" cy="1639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Standard of defining APIs via OpenAPI Specification</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supports the importing and configuration on the OAS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Significant time and complexity savings if you are already using it to design and document your APIs</a:t>
            </a:r>
            <a:endParaRPr>
              <a:solidFill>
                <a:srgbClr val="03031C"/>
              </a:solidFill>
              <a:latin typeface="Inter"/>
              <a:ea typeface="Inter"/>
              <a:cs typeface="Inter"/>
              <a:sym typeface="Inter"/>
            </a:endParaRPr>
          </a:p>
        </p:txBody>
      </p:sp>
      <p:sp>
        <p:nvSpPr>
          <p:cNvPr id="68" name="Google Shape;68;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0" name="Google Shape;70;p1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OAS Definition</a:t>
            </a:r>
            <a:endParaRPr b="1" sz="3800">
              <a:solidFill>
                <a:srgbClr val="03031C"/>
              </a:solidFill>
              <a:latin typeface="Inter"/>
              <a:ea typeface="Inter"/>
              <a:cs typeface="Inter"/>
              <a:sym typeface="Inter"/>
            </a:endParaRPr>
          </a:p>
        </p:txBody>
      </p:sp>
      <p:pic>
        <p:nvPicPr>
          <p:cNvPr id="71" name="Google Shape;71;p15"/>
          <p:cNvPicPr preferRelativeResize="0"/>
          <p:nvPr/>
        </p:nvPicPr>
        <p:blipFill>
          <a:blip r:embed="rId4">
            <a:alphaModFix/>
          </a:blip>
          <a:stretch>
            <a:fillRect/>
          </a:stretch>
        </p:blipFill>
        <p:spPr>
          <a:xfrm>
            <a:off x="6056750" y="1228425"/>
            <a:ext cx="2503525" cy="2494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6"/>
          <p:cNvSpPr txBox="1"/>
          <p:nvPr/>
        </p:nvSpPr>
        <p:spPr>
          <a:xfrm>
            <a:off x="756150" y="335275"/>
            <a:ext cx="7631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03031C"/>
                </a:solidFill>
                <a:latin typeface="Inter"/>
                <a:ea typeface="Inter"/>
                <a:cs typeface="Inter"/>
                <a:sym typeface="Inter"/>
              </a:rPr>
              <a:t>What’s Tyk </a:t>
            </a:r>
            <a:r>
              <a:rPr b="1" lang="en-GB" sz="3800">
                <a:solidFill>
                  <a:srgbClr val="8438FA"/>
                </a:solidFill>
                <a:latin typeface="Inter"/>
                <a:ea typeface="Inter"/>
                <a:cs typeface="Inter"/>
                <a:sym typeface="Inter"/>
              </a:rPr>
              <a:t>OAS API</a:t>
            </a:r>
            <a:r>
              <a:rPr b="1" lang="en-GB" sz="3800">
                <a:solidFill>
                  <a:srgbClr val="03031C"/>
                </a:solidFill>
                <a:latin typeface="Inter"/>
                <a:ea typeface="Inter"/>
                <a:cs typeface="Inter"/>
                <a:sym typeface="Inter"/>
              </a:rPr>
              <a:t> </a:t>
            </a:r>
            <a:r>
              <a:rPr b="1" lang="en-GB" sz="3800">
                <a:solidFill>
                  <a:srgbClr val="8438FA"/>
                </a:solidFill>
                <a:latin typeface="Inter"/>
                <a:ea typeface="Inter"/>
                <a:cs typeface="Inter"/>
                <a:sym typeface="Inter"/>
              </a:rPr>
              <a:t>definition?</a:t>
            </a:r>
            <a:endParaRPr b="1" sz="3800">
              <a:solidFill>
                <a:srgbClr val="03031C"/>
              </a:solidFill>
              <a:latin typeface="Inter"/>
              <a:ea typeface="Inter"/>
              <a:cs typeface="Inter"/>
              <a:sym typeface="Inter"/>
            </a:endParaRPr>
          </a:p>
        </p:txBody>
      </p:sp>
      <p:cxnSp>
        <p:nvCxnSpPr>
          <p:cNvPr id="77" name="Google Shape;77;p16"/>
          <p:cNvCxnSpPr/>
          <p:nvPr/>
        </p:nvCxnSpPr>
        <p:spPr>
          <a:xfrm flipH="1">
            <a:off x="4541725" y="2184900"/>
            <a:ext cx="1335900" cy="11700"/>
          </a:xfrm>
          <a:prstGeom prst="straightConnector1">
            <a:avLst/>
          </a:prstGeom>
          <a:noFill/>
          <a:ln cap="flat" cmpd="sng" w="76200">
            <a:solidFill>
              <a:srgbClr val="20EDBA"/>
            </a:solidFill>
            <a:prstDash val="solid"/>
            <a:round/>
            <a:headEnd len="med" w="med" type="none"/>
            <a:tailEnd len="med" w="med" type="triangle"/>
          </a:ln>
        </p:spPr>
      </p:cxnSp>
      <p:cxnSp>
        <p:nvCxnSpPr>
          <p:cNvPr id="78" name="Google Shape;78;p16"/>
          <p:cNvCxnSpPr/>
          <p:nvPr/>
        </p:nvCxnSpPr>
        <p:spPr>
          <a:xfrm flipH="1">
            <a:off x="4541725" y="3505775"/>
            <a:ext cx="1335900" cy="11700"/>
          </a:xfrm>
          <a:prstGeom prst="straightConnector1">
            <a:avLst/>
          </a:prstGeom>
          <a:noFill/>
          <a:ln cap="flat" cmpd="sng" w="76200">
            <a:solidFill>
              <a:srgbClr val="20EDBA"/>
            </a:solidFill>
            <a:prstDash val="solid"/>
            <a:round/>
            <a:headEnd len="med" w="med" type="none"/>
            <a:tailEnd len="med" w="med" type="triangle"/>
          </a:ln>
        </p:spPr>
      </p:cxnSp>
      <p:sp>
        <p:nvSpPr>
          <p:cNvPr id="79" name="Google Shape;79;p16"/>
          <p:cNvSpPr txBox="1"/>
          <p:nvPr/>
        </p:nvSpPr>
        <p:spPr>
          <a:xfrm>
            <a:off x="6124975" y="1629900"/>
            <a:ext cx="24012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From your API design tool or code editor</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(info, servers, paths, components, …)</a:t>
            </a:r>
            <a:endParaRPr>
              <a:solidFill>
                <a:schemeClr val="dk1"/>
              </a:solidFill>
              <a:latin typeface="Inter"/>
              <a:ea typeface="Inter"/>
              <a:cs typeface="Inter"/>
              <a:sym typeface="Inter"/>
            </a:endParaRPr>
          </a:p>
        </p:txBody>
      </p:sp>
      <p:sp>
        <p:nvSpPr>
          <p:cNvPr id="80" name="Google Shape;80;p16"/>
          <p:cNvSpPr txBox="1"/>
          <p:nvPr/>
        </p:nvSpPr>
        <p:spPr>
          <a:xfrm>
            <a:off x="6124975" y="2947425"/>
            <a:ext cx="24012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Export from Dashboard or</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Start from a template</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(gateway configurations, middleware configurations, listenPath, metadata, …)</a:t>
            </a:r>
            <a:endParaRPr>
              <a:solidFill>
                <a:schemeClr val="dk1"/>
              </a:solidFill>
              <a:latin typeface="Inter"/>
              <a:ea typeface="Inter"/>
              <a:cs typeface="Inter"/>
              <a:sym typeface="Inter"/>
            </a:endParaRPr>
          </a:p>
        </p:txBody>
      </p:sp>
      <p:sp>
        <p:nvSpPr>
          <p:cNvPr id="81" name="Google Shape;81;p16"/>
          <p:cNvSpPr/>
          <p:nvPr/>
        </p:nvSpPr>
        <p:spPr>
          <a:xfrm>
            <a:off x="2870275" y="1920288"/>
            <a:ext cx="1424100" cy="1301100"/>
          </a:xfrm>
          <a:prstGeom prst="roundRect">
            <a:avLst>
              <a:gd fmla="val 16667" name="adj"/>
            </a:avLst>
          </a:prstGeom>
          <a:solidFill>
            <a:srgbClr val="5900CB"/>
          </a:solidFill>
          <a:ln cap="flat" cmpd="sng" w="9525">
            <a:solidFill>
              <a:srgbClr val="8438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Inter"/>
                <a:ea typeface="Inter"/>
                <a:cs typeface="Inter"/>
                <a:sym typeface="Inter"/>
              </a:rPr>
              <a:t>OpenAPI description</a:t>
            </a:r>
            <a:endParaRPr>
              <a:solidFill>
                <a:srgbClr val="FFFFFF"/>
              </a:solidFill>
              <a:latin typeface="Inter"/>
              <a:ea typeface="Inter"/>
              <a:cs typeface="Inter"/>
              <a:sym typeface="Inter"/>
            </a:endParaRPr>
          </a:p>
          <a:p>
            <a:pPr indent="0" lvl="0" marL="0" rtl="0" algn="ctr">
              <a:spcBef>
                <a:spcPts val="0"/>
              </a:spcBef>
              <a:spcAft>
                <a:spcPts val="0"/>
              </a:spcAft>
              <a:buNone/>
            </a:pPr>
            <a:r>
              <a:t/>
            </a:r>
            <a:endParaRPr>
              <a:solidFill>
                <a:srgbClr val="FFFFFF"/>
              </a:solidFill>
              <a:latin typeface="Inter"/>
              <a:ea typeface="Inter"/>
              <a:cs typeface="Inter"/>
              <a:sym typeface="Inter"/>
            </a:endParaRPr>
          </a:p>
        </p:txBody>
      </p:sp>
      <p:sp>
        <p:nvSpPr>
          <p:cNvPr id="82" name="Google Shape;82;p16"/>
          <p:cNvSpPr/>
          <p:nvPr/>
        </p:nvSpPr>
        <p:spPr>
          <a:xfrm>
            <a:off x="2870275" y="3290963"/>
            <a:ext cx="1424100" cy="441300"/>
          </a:xfrm>
          <a:prstGeom prst="roundRect">
            <a:avLst>
              <a:gd fmla="val 16667" name="adj"/>
            </a:avLst>
          </a:prstGeom>
          <a:solidFill>
            <a:srgbClr val="5900CB"/>
          </a:solidFill>
          <a:ln cap="flat" cmpd="sng" w="9525">
            <a:solidFill>
              <a:srgbClr val="8438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Inter"/>
                <a:ea typeface="Inter"/>
                <a:cs typeface="Inter"/>
                <a:sym typeface="Inter"/>
              </a:rPr>
              <a:t>Tyk extension</a:t>
            </a:r>
            <a:endParaRPr>
              <a:solidFill>
                <a:srgbClr val="FFFFFF"/>
              </a:solidFill>
              <a:latin typeface="Inter"/>
              <a:ea typeface="Inter"/>
              <a:cs typeface="Inter"/>
              <a:sym typeface="Inter"/>
            </a:endParaRPr>
          </a:p>
        </p:txBody>
      </p:sp>
      <p:sp>
        <p:nvSpPr>
          <p:cNvPr id="83" name="Google Shape;83;p16"/>
          <p:cNvSpPr/>
          <p:nvPr/>
        </p:nvSpPr>
        <p:spPr>
          <a:xfrm>
            <a:off x="812650" y="1978375"/>
            <a:ext cx="1424100" cy="1812000"/>
          </a:xfrm>
          <a:prstGeom prst="roundRect">
            <a:avLst>
              <a:gd fmla="val 16667" name="adj"/>
            </a:avLst>
          </a:prstGeom>
          <a:solidFill>
            <a:srgbClr val="5900CB"/>
          </a:solidFill>
          <a:ln cap="flat" cmpd="sng" w="9525">
            <a:solidFill>
              <a:srgbClr val="8438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Inter"/>
                <a:ea typeface="Inter"/>
                <a:cs typeface="Inter"/>
                <a:sym typeface="Inter"/>
              </a:rPr>
              <a:t>Tyk OAS API Definition</a:t>
            </a:r>
            <a:endParaRPr>
              <a:solidFill>
                <a:srgbClr val="FFFFFF"/>
              </a:solidFill>
              <a:latin typeface="Inter"/>
              <a:ea typeface="Inter"/>
              <a:cs typeface="Inter"/>
              <a:sym typeface="Inter"/>
            </a:endParaRPr>
          </a:p>
        </p:txBody>
      </p:sp>
      <p:sp>
        <p:nvSpPr>
          <p:cNvPr id="84" name="Google Shape;84;p16"/>
          <p:cNvSpPr txBox="1"/>
          <p:nvPr/>
        </p:nvSpPr>
        <p:spPr>
          <a:xfrm>
            <a:off x="2336488" y="2572325"/>
            <a:ext cx="383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100">
                <a:solidFill>
                  <a:srgbClr val="5900CB"/>
                </a:solidFill>
                <a:latin typeface="Inter"/>
                <a:ea typeface="Inter"/>
                <a:cs typeface="Inter"/>
                <a:sym typeface="Inter"/>
              </a:rPr>
              <a:t>=</a:t>
            </a:r>
            <a:endParaRPr b="1" sz="2100">
              <a:solidFill>
                <a:srgbClr val="5900CB"/>
              </a:solidFill>
              <a:latin typeface="Inter"/>
              <a:ea typeface="Inter"/>
              <a:cs typeface="Inter"/>
              <a:sym typeface="Inter"/>
            </a:endParaRPr>
          </a:p>
        </p:txBody>
      </p:sp>
      <p:pic>
        <p:nvPicPr>
          <p:cNvPr id="85" name="Google Shape;85;p16"/>
          <p:cNvPicPr preferRelativeResize="0"/>
          <p:nvPr/>
        </p:nvPicPr>
        <p:blipFill>
          <a:blip r:embed="rId3">
            <a:alphaModFix/>
          </a:blip>
          <a:stretch>
            <a:fillRect/>
          </a:stretch>
        </p:blipFill>
        <p:spPr>
          <a:xfrm>
            <a:off x="3874974" y="2762999"/>
            <a:ext cx="383400" cy="383400"/>
          </a:xfrm>
          <a:prstGeom prst="rect">
            <a:avLst/>
          </a:prstGeom>
          <a:noFill/>
          <a:ln>
            <a:noFill/>
          </a:ln>
        </p:spPr>
      </p:pic>
      <p:pic>
        <p:nvPicPr>
          <p:cNvPr id="86" name="Google Shape;86;p16"/>
          <p:cNvPicPr preferRelativeResize="0"/>
          <p:nvPr/>
        </p:nvPicPr>
        <p:blipFill>
          <a:blip r:embed="rId3">
            <a:alphaModFix/>
          </a:blip>
          <a:stretch>
            <a:fillRect/>
          </a:stretch>
        </p:blipFill>
        <p:spPr>
          <a:xfrm>
            <a:off x="1795274" y="3319924"/>
            <a:ext cx="383400" cy="383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 name="Google Shape;92;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3" name="Google Shape;93;p1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OAS Definition</a:t>
            </a:r>
            <a:endParaRPr b="1" sz="3800">
              <a:solidFill>
                <a:srgbClr val="03031C"/>
              </a:solidFill>
              <a:latin typeface="Inter"/>
              <a:ea typeface="Inter"/>
              <a:cs typeface="Inter"/>
              <a:sym typeface="Inter"/>
            </a:endParaRPr>
          </a:p>
        </p:txBody>
      </p:sp>
      <p:pic>
        <p:nvPicPr>
          <p:cNvPr id="94" name="Google Shape;94;p17"/>
          <p:cNvPicPr preferRelativeResize="0"/>
          <p:nvPr/>
        </p:nvPicPr>
        <p:blipFill>
          <a:blip r:embed="rId4">
            <a:alphaModFix/>
          </a:blip>
          <a:stretch>
            <a:fillRect/>
          </a:stretch>
        </p:blipFill>
        <p:spPr>
          <a:xfrm>
            <a:off x="3425447" y="2017890"/>
            <a:ext cx="1841381" cy="923569"/>
          </a:xfrm>
          <a:prstGeom prst="rect">
            <a:avLst/>
          </a:prstGeom>
          <a:noFill/>
          <a:ln>
            <a:noFill/>
          </a:ln>
        </p:spPr>
      </p:pic>
      <p:sp>
        <p:nvSpPr>
          <p:cNvPr id="95" name="Google Shape;95;p17"/>
          <p:cNvSpPr txBox="1"/>
          <p:nvPr/>
        </p:nvSpPr>
        <p:spPr>
          <a:xfrm>
            <a:off x="1215337" y="1505347"/>
            <a:ext cx="5673600" cy="1544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t/>
            </a:r>
            <a:endParaRPr sz="4000">
              <a:latin typeface="Open Sans"/>
              <a:ea typeface="Open Sans"/>
              <a:cs typeface="Open Sans"/>
              <a:sym typeface="Open Sans"/>
            </a:endParaRPr>
          </a:p>
          <a:p>
            <a:pPr indent="0" lvl="0" marL="0" rtl="0" algn="l">
              <a:spcBef>
                <a:spcPts val="1000"/>
              </a:spcBef>
              <a:spcAft>
                <a:spcPts val="0"/>
              </a:spcAft>
              <a:buNone/>
            </a:pPr>
            <a:r>
              <a:t/>
            </a:r>
            <a:endParaRPr sz="4000">
              <a:latin typeface="Open Sans"/>
              <a:ea typeface="Open Sans"/>
              <a:cs typeface="Open Sans"/>
              <a:sym typeface="Open Sans"/>
            </a:endParaRPr>
          </a:p>
        </p:txBody>
      </p:sp>
      <p:sp>
        <p:nvSpPr>
          <p:cNvPr id="96" name="Google Shape;96;p17"/>
          <p:cNvSpPr txBox="1"/>
          <p:nvPr/>
        </p:nvSpPr>
        <p:spPr>
          <a:xfrm>
            <a:off x="1215337" y="1505347"/>
            <a:ext cx="5673600" cy="1544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t/>
            </a:r>
            <a:endParaRPr sz="4000">
              <a:latin typeface="Open Sans"/>
              <a:ea typeface="Open Sans"/>
              <a:cs typeface="Open Sans"/>
              <a:sym typeface="Open Sans"/>
            </a:endParaRPr>
          </a:p>
          <a:p>
            <a:pPr indent="0" lvl="0" marL="0" rtl="0" algn="l">
              <a:spcBef>
                <a:spcPts val="1000"/>
              </a:spcBef>
              <a:spcAft>
                <a:spcPts val="0"/>
              </a:spcAft>
              <a:buNone/>
            </a:pPr>
            <a:r>
              <a:t/>
            </a:r>
            <a:endParaRPr sz="4000">
              <a:latin typeface="Open Sans"/>
              <a:ea typeface="Open Sans"/>
              <a:cs typeface="Open Sans"/>
              <a:sym typeface="Open Sans"/>
            </a:endParaRPr>
          </a:p>
        </p:txBody>
      </p:sp>
      <p:pic>
        <p:nvPicPr>
          <p:cNvPr id="97" name="Google Shape;97;p17"/>
          <p:cNvPicPr preferRelativeResize="0"/>
          <p:nvPr/>
        </p:nvPicPr>
        <p:blipFill>
          <a:blip r:embed="rId5">
            <a:alphaModFix/>
          </a:blip>
          <a:stretch>
            <a:fillRect/>
          </a:stretch>
        </p:blipFill>
        <p:spPr>
          <a:xfrm>
            <a:off x="923775" y="1356747"/>
            <a:ext cx="2108012" cy="2590636"/>
          </a:xfrm>
          <a:prstGeom prst="rect">
            <a:avLst/>
          </a:prstGeom>
          <a:noFill/>
          <a:ln>
            <a:noFill/>
          </a:ln>
        </p:spPr>
      </p:pic>
      <p:sp>
        <p:nvSpPr>
          <p:cNvPr id="98" name="Google Shape;98;p17"/>
          <p:cNvSpPr/>
          <p:nvPr/>
        </p:nvSpPr>
        <p:spPr>
          <a:xfrm>
            <a:off x="3108144" y="2306602"/>
            <a:ext cx="588300" cy="285300"/>
          </a:xfrm>
          <a:prstGeom prst="rightArrow">
            <a:avLst>
              <a:gd fmla="val 50000" name="adj1"/>
              <a:gd fmla="val 50000" name="adj2"/>
            </a:avLst>
          </a:prstGeom>
          <a:solidFill>
            <a:srgbClr val="8438FA"/>
          </a:solidFill>
          <a:ln cap="flat" cmpd="sng" w="9525">
            <a:solidFill>
              <a:srgbClr val="00D9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4940894" y="2306602"/>
            <a:ext cx="588300" cy="285300"/>
          </a:xfrm>
          <a:prstGeom prst="rightArrow">
            <a:avLst>
              <a:gd fmla="val 50000" name="adj1"/>
              <a:gd fmla="val 50000" name="adj2"/>
            </a:avLst>
          </a:prstGeom>
          <a:solidFill>
            <a:srgbClr val="8438FA"/>
          </a:solidFill>
          <a:ln cap="flat" cmpd="sng" w="9525">
            <a:solidFill>
              <a:srgbClr val="00D9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 name="Google Shape;100;p17"/>
          <p:cNvPicPr preferRelativeResize="0"/>
          <p:nvPr/>
        </p:nvPicPr>
        <p:blipFill>
          <a:blip r:embed="rId5">
            <a:alphaModFix/>
          </a:blip>
          <a:stretch>
            <a:fillRect/>
          </a:stretch>
        </p:blipFill>
        <p:spPr>
          <a:xfrm>
            <a:off x="5660493" y="1299574"/>
            <a:ext cx="1879032" cy="2309233"/>
          </a:xfrm>
          <a:prstGeom prst="rect">
            <a:avLst/>
          </a:prstGeom>
          <a:noFill/>
          <a:ln>
            <a:noFill/>
          </a:ln>
        </p:spPr>
      </p:pic>
      <p:sp>
        <p:nvSpPr>
          <p:cNvPr id="101" name="Google Shape;101;p17"/>
          <p:cNvSpPr/>
          <p:nvPr/>
        </p:nvSpPr>
        <p:spPr>
          <a:xfrm>
            <a:off x="5812061" y="3452309"/>
            <a:ext cx="1611600" cy="285300"/>
          </a:xfrm>
          <a:prstGeom prst="rect">
            <a:avLst/>
          </a:prstGeom>
          <a:solidFill>
            <a:srgbClr val="A2A2CC"/>
          </a:solidFill>
          <a:ln cap="flat" cmpd="sng" w="9525">
            <a:solidFill>
              <a:srgbClr val="00D9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txBox="1"/>
          <p:nvPr/>
        </p:nvSpPr>
        <p:spPr>
          <a:xfrm>
            <a:off x="6231501" y="3439775"/>
            <a:ext cx="8442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latin typeface="Open Sans"/>
                <a:ea typeface="Open Sans"/>
                <a:cs typeface="Open Sans"/>
                <a:sym typeface="Open Sans"/>
              </a:rPr>
              <a:t>x-tyk-api-gateway</a:t>
            </a:r>
            <a:endParaRPr sz="600">
              <a:latin typeface="Open Sans"/>
              <a:ea typeface="Open Sans"/>
              <a:cs typeface="Open Sans"/>
              <a:sym typeface="Open Sans"/>
            </a:endParaRPr>
          </a:p>
        </p:txBody>
      </p:sp>
      <p:sp>
        <p:nvSpPr>
          <p:cNvPr id="103" name="Google Shape;103;p17"/>
          <p:cNvSpPr/>
          <p:nvPr/>
        </p:nvSpPr>
        <p:spPr>
          <a:xfrm>
            <a:off x="6276401" y="1361474"/>
            <a:ext cx="648000" cy="112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txBox="1"/>
          <p:nvPr/>
        </p:nvSpPr>
        <p:spPr>
          <a:xfrm>
            <a:off x="6231508" y="1279435"/>
            <a:ext cx="8442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latin typeface="Open Sans"/>
                <a:ea typeface="Open Sans"/>
                <a:cs typeface="Open Sans"/>
                <a:sym typeface="Open Sans"/>
              </a:rPr>
              <a:t>Tyk OAS Definition</a:t>
            </a:r>
            <a:endParaRPr sz="600">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sp>
        <p:nvSpPr>
          <p:cNvPr id="109" name="Google Shape;109;p18"/>
          <p:cNvSpPr txBox="1"/>
          <p:nvPr/>
        </p:nvSpPr>
        <p:spPr>
          <a:xfrm>
            <a:off x="720000" y="834175"/>
            <a:ext cx="7130100" cy="419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200">
                <a:solidFill>
                  <a:srgbClr val="03031C"/>
                </a:solidFill>
                <a:latin typeface="Courier New"/>
                <a:ea typeface="Courier New"/>
                <a:cs typeface="Courier New"/>
                <a:sym typeface="Courier New"/>
              </a:rPr>
              <a:t>x-tyk-api-gateway</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1200">
                <a:solidFill>
                  <a:srgbClr val="03031C"/>
                </a:solidFill>
                <a:latin typeface="Inter"/>
                <a:ea typeface="Inter"/>
                <a:cs typeface="Inter"/>
                <a:sym typeface="Inter"/>
              </a:rPr>
              <a:t>Custom Tyk API extensions inside the OpenAPI definition.</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sz="1200">
                <a:solidFill>
                  <a:srgbClr val="03031C"/>
                </a:solidFill>
                <a:latin typeface="Inter"/>
                <a:ea typeface="Inter"/>
                <a:cs typeface="Inter"/>
                <a:sym typeface="Inter"/>
              </a:rPr>
              <a:t>Stored under the key </a:t>
            </a:r>
            <a:r>
              <a:rPr lang="en-GB" sz="1200">
                <a:solidFill>
                  <a:srgbClr val="03031C"/>
                </a:solidFill>
                <a:latin typeface="Courier New"/>
                <a:ea typeface="Courier New"/>
                <a:cs typeface="Courier New"/>
                <a:sym typeface="Courier New"/>
              </a:rPr>
              <a:t>x-tyk-api-gateway</a:t>
            </a:r>
            <a:r>
              <a:rPr lang="en-GB" sz="1200">
                <a:solidFill>
                  <a:srgbClr val="03031C"/>
                </a:solidFill>
                <a:latin typeface="Inter"/>
                <a:ea typeface="Inter"/>
                <a:cs typeface="Inter"/>
                <a:sym typeface="Inter"/>
              </a:rPr>
              <a:t>.</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sz="1200">
                <a:solidFill>
                  <a:srgbClr val="03031C"/>
                </a:solidFill>
                <a:latin typeface="Inter"/>
                <a:ea typeface="Inter"/>
                <a:cs typeface="Inter"/>
                <a:sym typeface="Inter"/>
              </a:rPr>
              <a:t>Main Fields</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Courier New"/>
                <a:ea typeface="Courier New"/>
                <a:cs typeface="Courier New"/>
                <a:sym typeface="Courier New"/>
              </a:rPr>
              <a:t>info</a:t>
            </a:r>
            <a:r>
              <a:rPr lang="en-GB" sz="1200">
                <a:solidFill>
                  <a:srgbClr val="03031C"/>
                </a:solidFill>
                <a:latin typeface="Inter"/>
                <a:ea typeface="Inter"/>
                <a:cs typeface="Inter"/>
                <a:sym typeface="Inter"/>
              </a:rPr>
              <a:t> (Info)</a:t>
            </a:r>
            <a:endParaRPr sz="1200">
              <a:solidFill>
                <a:srgbClr val="03031C"/>
              </a:solidFill>
              <a:latin typeface="Inter"/>
              <a:ea typeface="Inter"/>
              <a:cs typeface="Inter"/>
              <a:sym typeface="Inter"/>
            </a:endParaRPr>
          </a:p>
          <a:p>
            <a:pPr indent="-304800" lvl="1" marL="9144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Main metadata for the API definition</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Courier New"/>
                <a:ea typeface="Courier New"/>
                <a:cs typeface="Courier New"/>
                <a:sym typeface="Courier New"/>
              </a:rPr>
              <a:t>upstream</a:t>
            </a:r>
            <a:r>
              <a:rPr lang="en-GB" sz="1200">
                <a:solidFill>
                  <a:srgbClr val="03031C"/>
                </a:solidFill>
                <a:latin typeface="Inter"/>
                <a:ea typeface="Inter"/>
                <a:cs typeface="Inter"/>
                <a:sym typeface="Inter"/>
              </a:rPr>
              <a:t> (Upstream)</a:t>
            </a:r>
            <a:endParaRPr sz="1200">
              <a:solidFill>
                <a:srgbClr val="03031C"/>
              </a:solidFill>
              <a:latin typeface="Inter"/>
              <a:ea typeface="Inter"/>
              <a:cs typeface="Inter"/>
              <a:sym typeface="Inter"/>
            </a:endParaRPr>
          </a:p>
          <a:p>
            <a:pPr indent="-304800" lvl="1" marL="9144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Configurations related to the upstream target</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Courier New"/>
                <a:ea typeface="Courier New"/>
                <a:cs typeface="Courier New"/>
                <a:sym typeface="Courier New"/>
              </a:rPr>
              <a:t>server</a:t>
            </a:r>
            <a:r>
              <a:rPr lang="en-GB" sz="1200">
                <a:solidFill>
                  <a:srgbClr val="03031C"/>
                </a:solidFill>
                <a:latin typeface="Inter"/>
                <a:ea typeface="Inter"/>
                <a:cs typeface="Inter"/>
                <a:sym typeface="Inter"/>
              </a:rPr>
              <a:t> (Server)</a:t>
            </a:r>
            <a:endParaRPr sz="1200">
              <a:solidFill>
                <a:srgbClr val="03031C"/>
              </a:solidFill>
              <a:latin typeface="Inter"/>
              <a:ea typeface="Inter"/>
              <a:cs typeface="Inter"/>
              <a:sym typeface="Inter"/>
            </a:endParaRPr>
          </a:p>
          <a:p>
            <a:pPr indent="-304800" lvl="1" marL="9144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Configurations for the API server</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Courier New"/>
                <a:ea typeface="Courier New"/>
                <a:cs typeface="Courier New"/>
                <a:sym typeface="Courier New"/>
              </a:rPr>
              <a:t>middleware</a:t>
            </a:r>
            <a:r>
              <a:rPr lang="en-GB" sz="1200">
                <a:solidFill>
                  <a:srgbClr val="03031C"/>
                </a:solidFill>
                <a:latin typeface="Inter"/>
                <a:ea typeface="Inter"/>
                <a:cs typeface="Inter"/>
                <a:sym typeface="Inter"/>
              </a:rPr>
              <a:t> (Middleware)</a:t>
            </a:r>
            <a:endParaRPr sz="1200">
              <a:solidFill>
                <a:srgbClr val="03031C"/>
              </a:solidFill>
              <a:latin typeface="Inter"/>
              <a:ea typeface="Inter"/>
              <a:cs typeface="Inter"/>
              <a:sym typeface="Inter"/>
            </a:endParaRPr>
          </a:p>
          <a:p>
            <a:pPr indent="-304800" lvl="1" marL="9144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Configurations for Tyk middleware</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sz="1200">
                <a:solidFill>
                  <a:srgbClr val="03031C"/>
                </a:solidFill>
                <a:latin typeface="Inter"/>
                <a:ea typeface="Inter"/>
                <a:cs typeface="Inter"/>
                <a:sym typeface="Inter"/>
              </a:rPr>
              <a:t>Use </a:t>
            </a:r>
            <a:r>
              <a:rPr lang="en-GB" sz="1200">
                <a:solidFill>
                  <a:srgbClr val="03031C"/>
                </a:solidFill>
                <a:latin typeface="Courier New"/>
                <a:ea typeface="Courier New"/>
                <a:cs typeface="Courier New"/>
                <a:sym typeface="Courier New"/>
              </a:rPr>
              <a:t>x-tyk-api-gateway</a:t>
            </a:r>
            <a:r>
              <a:rPr lang="en-GB" sz="1200">
                <a:solidFill>
                  <a:srgbClr val="03031C"/>
                </a:solidFill>
                <a:latin typeface="Inter"/>
                <a:ea typeface="Inter"/>
                <a:cs typeface="Inter"/>
                <a:sym typeface="Inter"/>
              </a:rPr>
              <a:t> to enrich your OpenAPI spec with Tyk-specific runtime and security controls.</a:t>
            </a:r>
            <a:endParaRPr sz="1200">
              <a:solidFill>
                <a:srgbClr val="03031C"/>
              </a:solidFill>
              <a:latin typeface="Inter"/>
              <a:ea typeface="Inter"/>
              <a:cs typeface="Inter"/>
              <a:sym typeface="Inter"/>
            </a:endParaRPr>
          </a:p>
        </p:txBody>
      </p:sp>
      <p:sp>
        <p:nvSpPr>
          <p:cNvPr id="110" name="Google Shape;110;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 name="Google Shape;111;p1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2" name="Google Shape;112;p18"/>
          <p:cNvSpPr txBox="1"/>
          <p:nvPr/>
        </p:nvSpPr>
        <p:spPr>
          <a:xfrm>
            <a:off x="720000" y="157075"/>
            <a:ext cx="7023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200">
                <a:solidFill>
                  <a:srgbClr val="5900CB"/>
                </a:solidFill>
                <a:latin typeface="Inter"/>
                <a:ea typeface="Inter"/>
                <a:cs typeface="Inter"/>
                <a:sym typeface="Inter"/>
              </a:rPr>
              <a:t>Tyk Vendor Extension Reference</a:t>
            </a:r>
            <a:endParaRPr b="1" sz="3200">
              <a:solidFill>
                <a:srgbClr val="03031C"/>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nvSpPr>
        <p:spPr>
          <a:xfrm>
            <a:off x="734784" y="1233881"/>
            <a:ext cx="7043100" cy="582300"/>
          </a:xfrm>
          <a:prstGeom prst="rect">
            <a:avLst/>
          </a:prstGeom>
          <a:noFill/>
          <a:ln>
            <a:noFill/>
          </a:ln>
        </p:spPr>
        <p:txBody>
          <a:bodyPr anchorCtr="0" anchor="t" bIns="34275" lIns="34275" spcFirstLastPara="1" rIns="34275" wrap="square" tIns="34275">
            <a:spAutoFit/>
          </a:bodyPr>
          <a:lstStyle/>
          <a:p>
            <a:pPr indent="0" lvl="0" marL="0" rtl="0" algn="l">
              <a:lnSpc>
                <a:spcPct val="100000"/>
              </a:lnSpc>
              <a:spcBef>
                <a:spcPts val="0"/>
              </a:spcBef>
              <a:spcAft>
                <a:spcPts val="0"/>
              </a:spcAft>
              <a:buNone/>
            </a:pPr>
            <a:r>
              <a:t/>
            </a:r>
            <a:endParaRPr sz="1500">
              <a:latin typeface="Open Sans"/>
              <a:ea typeface="Open Sans"/>
              <a:cs typeface="Open Sans"/>
              <a:sym typeface="Open Sans"/>
            </a:endParaRPr>
          </a:p>
          <a:p>
            <a:pPr indent="0" lvl="0" marL="0" rtl="0" algn="l">
              <a:spcBef>
                <a:spcPts val="400"/>
              </a:spcBef>
              <a:spcAft>
                <a:spcPts val="0"/>
              </a:spcAft>
              <a:buNone/>
            </a:pPr>
            <a:r>
              <a:t/>
            </a:r>
            <a:endParaRPr sz="1500">
              <a:latin typeface="Open Sans"/>
              <a:ea typeface="Open Sans"/>
              <a:cs typeface="Open Sans"/>
              <a:sym typeface="Open Sans"/>
            </a:endParaRPr>
          </a:p>
        </p:txBody>
      </p:sp>
      <p:sp>
        <p:nvSpPr>
          <p:cNvPr id="118" name="Google Shape;118;p19"/>
          <p:cNvSpPr txBox="1"/>
          <p:nvPr/>
        </p:nvSpPr>
        <p:spPr>
          <a:xfrm>
            <a:off x="734784" y="750394"/>
            <a:ext cx="1651800" cy="2285700"/>
          </a:xfrm>
          <a:prstGeom prst="rect">
            <a:avLst/>
          </a:prstGeom>
          <a:noFill/>
          <a:ln>
            <a:noFill/>
          </a:ln>
        </p:spPr>
        <p:txBody>
          <a:bodyPr anchorCtr="0" anchor="t" bIns="34275" lIns="34275" spcFirstLastPara="1" rIns="34275" wrap="square" tIns="34275">
            <a:spAutoFit/>
          </a:bodyPr>
          <a:lstStyle/>
          <a:p>
            <a:pPr indent="0" lvl="0" marL="0" rtl="0" algn="l">
              <a:lnSpc>
                <a:spcPct val="100000"/>
              </a:lnSpc>
              <a:spcBef>
                <a:spcPts val="0"/>
              </a:spcBef>
              <a:spcAft>
                <a:spcPts val="0"/>
              </a:spcAft>
              <a:buNone/>
            </a:pPr>
            <a:r>
              <a:t/>
            </a:r>
            <a:endParaRPr sz="1100">
              <a:solidFill>
                <a:schemeClr val="dk1"/>
              </a:solidFill>
              <a:latin typeface="Inter"/>
              <a:ea typeface="Inter"/>
              <a:cs typeface="Inter"/>
              <a:sym typeface="Inter"/>
            </a:endParaRPr>
          </a:p>
          <a:p>
            <a:pPr indent="-158750" lvl="0" marL="1778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Authentication</a:t>
            </a:r>
            <a:endParaRPr sz="1100">
              <a:solidFill>
                <a:schemeClr val="dk1"/>
              </a:solidFill>
              <a:latin typeface="Inter"/>
              <a:ea typeface="Inter"/>
              <a:cs typeface="Inter"/>
              <a:sym typeface="Inter"/>
            </a:endParaRPr>
          </a:p>
          <a:p>
            <a:pPr indent="-158750" lvl="1" marL="3429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Auth token</a:t>
            </a:r>
            <a:endParaRPr sz="1100">
              <a:solidFill>
                <a:schemeClr val="dk1"/>
              </a:solidFill>
              <a:latin typeface="Inter"/>
              <a:ea typeface="Inter"/>
              <a:cs typeface="Inter"/>
              <a:sym typeface="Inter"/>
            </a:endParaRPr>
          </a:p>
          <a:p>
            <a:pPr indent="-158750" lvl="1" marL="3429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JWT</a:t>
            </a:r>
            <a:endParaRPr sz="1100">
              <a:solidFill>
                <a:schemeClr val="dk1"/>
              </a:solidFill>
              <a:latin typeface="Inter"/>
              <a:ea typeface="Inter"/>
              <a:cs typeface="Inter"/>
              <a:sym typeface="Inter"/>
            </a:endParaRPr>
          </a:p>
          <a:p>
            <a:pPr indent="-158750" lvl="1" marL="3429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OAuth 2.0</a:t>
            </a:r>
            <a:endParaRPr sz="1100">
              <a:solidFill>
                <a:schemeClr val="dk1"/>
              </a:solidFill>
              <a:latin typeface="Inter"/>
              <a:ea typeface="Inter"/>
              <a:cs typeface="Inter"/>
              <a:sym typeface="Inter"/>
            </a:endParaRPr>
          </a:p>
          <a:p>
            <a:pPr indent="-158750" lvl="1" marL="3429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mTLS</a:t>
            </a:r>
            <a:endParaRPr sz="1100">
              <a:solidFill>
                <a:schemeClr val="dk1"/>
              </a:solidFill>
              <a:latin typeface="Inter"/>
              <a:ea typeface="Inter"/>
              <a:cs typeface="Inter"/>
              <a:sym typeface="Inter"/>
            </a:endParaRPr>
          </a:p>
          <a:p>
            <a:pPr indent="-158750" lvl="1" marL="3429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Basic Auth</a:t>
            </a:r>
            <a:endParaRPr sz="1100">
              <a:solidFill>
                <a:schemeClr val="dk1"/>
              </a:solidFill>
              <a:latin typeface="Inter"/>
              <a:ea typeface="Inter"/>
              <a:cs typeface="Inter"/>
              <a:sym typeface="Inter"/>
            </a:endParaRPr>
          </a:p>
          <a:p>
            <a:pPr indent="-158750" lvl="1" marL="342900" rtl="0" algn="l">
              <a:lnSpc>
                <a:spcPct val="100000"/>
              </a:lnSpc>
              <a:spcBef>
                <a:spcPts val="400"/>
              </a:spcBef>
              <a:spcAft>
                <a:spcPts val="0"/>
              </a:spcAft>
              <a:buClr>
                <a:schemeClr val="dk1"/>
              </a:buClr>
              <a:buSzPts val="1100"/>
              <a:buFont typeface="Inter"/>
              <a:buChar char="○"/>
            </a:pPr>
            <a:r>
              <a:rPr lang="en-GB" sz="1100">
                <a:solidFill>
                  <a:schemeClr val="dk1"/>
                </a:solidFill>
                <a:latin typeface="Inter"/>
                <a:ea typeface="Inter"/>
                <a:cs typeface="Inter"/>
                <a:sym typeface="Inter"/>
              </a:rPr>
              <a:t>Multi-Auth</a:t>
            </a:r>
            <a:endParaRPr sz="1100">
              <a:solidFill>
                <a:schemeClr val="dk1"/>
              </a:solidFill>
              <a:latin typeface="Inter"/>
              <a:ea typeface="Inter"/>
              <a:cs typeface="Inter"/>
              <a:sym typeface="Inter"/>
            </a:endParaRPr>
          </a:p>
          <a:p>
            <a:pPr indent="0" lvl="0" marL="0" rtl="0" algn="l">
              <a:lnSpc>
                <a:spcPct val="100000"/>
              </a:lnSpc>
              <a:spcBef>
                <a:spcPts val="400"/>
              </a:spcBef>
              <a:spcAft>
                <a:spcPts val="0"/>
              </a:spcAft>
              <a:buNone/>
            </a:pPr>
            <a:r>
              <a:t/>
            </a:r>
            <a:endParaRPr sz="1100">
              <a:solidFill>
                <a:schemeClr val="dk1"/>
              </a:solidFill>
              <a:latin typeface="Inter"/>
              <a:ea typeface="Inter"/>
              <a:cs typeface="Inter"/>
              <a:sym typeface="Inter"/>
            </a:endParaRPr>
          </a:p>
          <a:p>
            <a:pPr indent="0" lvl="0" marL="0" rtl="0" algn="l">
              <a:spcBef>
                <a:spcPts val="400"/>
              </a:spcBef>
              <a:spcAft>
                <a:spcPts val="0"/>
              </a:spcAft>
              <a:buNone/>
            </a:pPr>
            <a:r>
              <a:t/>
            </a:r>
            <a:endParaRPr sz="1500">
              <a:solidFill>
                <a:schemeClr val="dk1"/>
              </a:solidFill>
              <a:latin typeface="Inter"/>
              <a:ea typeface="Inter"/>
              <a:cs typeface="Inter"/>
              <a:sym typeface="Inter"/>
            </a:endParaRPr>
          </a:p>
        </p:txBody>
      </p:sp>
      <p:pic>
        <p:nvPicPr>
          <p:cNvPr id="119" name="Google Shape;119;p19"/>
          <p:cNvPicPr preferRelativeResize="0"/>
          <p:nvPr/>
        </p:nvPicPr>
        <p:blipFill>
          <a:blip r:embed="rId3">
            <a:alphaModFix/>
          </a:blip>
          <a:stretch>
            <a:fillRect/>
          </a:stretch>
        </p:blipFill>
        <p:spPr>
          <a:xfrm>
            <a:off x="2357053" y="943913"/>
            <a:ext cx="5450681" cy="421481"/>
          </a:xfrm>
          <a:prstGeom prst="rect">
            <a:avLst/>
          </a:prstGeom>
          <a:noFill/>
          <a:ln cap="flat" cmpd="sng" w="9525">
            <a:solidFill>
              <a:srgbClr val="212529"/>
            </a:solidFill>
            <a:prstDash val="solid"/>
            <a:round/>
            <a:headEnd len="sm" w="sm" type="none"/>
            <a:tailEnd len="sm" w="sm" type="none"/>
          </a:ln>
        </p:spPr>
      </p:pic>
      <p:pic>
        <p:nvPicPr>
          <p:cNvPr id="120" name="Google Shape;120;p19"/>
          <p:cNvPicPr preferRelativeResize="0"/>
          <p:nvPr/>
        </p:nvPicPr>
        <p:blipFill>
          <a:blip r:embed="rId4">
            <a:alphaModFix/>
          </a:blip>
          <a:stretch>
            <a:fillRect/>
          </a:stretch>
        </p:blipFill>
        <p:spPr>
          <a:xfrm>
            <a:off x="2291100" y="1684931"/>
            <a:ext cx="2135981" cy="2978944"/>
          </a:xfrm>
          <a:prstGeom prst="rect">
            <a:avLst/>
          </a:prstGeom>
          <a:noFill/>
          <a:ln>
            <a:noFill/>
          </a:ln>
        </p:spPr>
      </p:pic>
      <p:sp>
        <p:nvSpPr>
          <p:cNvPr id="121" name="Google Shape;121;p19"/>
          <p:cNvSpPr/>
          <p:nvPr/>
        </p:nvSpPr>
        <p:spPr>
          <a:xfrm>
            <a:off x="4533253" y="2689547"/>
            <a:ext cx="806400" cy="492300"/>
          </a:xfrm>
          <a:prstGeom prst="rightArrow">
            <a:avLst>
              <a:gd fmla="val 50000" name="adj1"/>
              <a:gd fmla="val 50000" name="adj2"/>
            </a:avLst>
          </a:prstGeom>
          <a:solidFill>
            <a:srgbClr val="8438FA"/>
          </a:solidFill>
          <a:ln cap="flat" cmpd="sng" w="9525">
            <a:solidFill>
              <a:schemeClr val="dk2"/>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22" name="Google Shape;122;p19"/>
          <p:cNvPicPr preferRelativeResize="0"/>
          <p:nvPr/>
        </p:nvPicPr>
        <p:blipFill>
          <a:blip r:embed="rId5">
            <a:alphaModFix/>
          </a:blip>
          <a:stretch>
            <a:fillRect/>
          </a:stretch>
        </p:blipFill>
        <p:spPr>
          <a:xfrm>
            <a:off x="5592947" y="1558913"/>
            <a:ext cx="1364456" cy="1035844"/>
          </a:xfrm>
          <a:prstGeom prst="rect">
            <a:avLst/>
          </a:prstGeom>
          <a:noFill/>
          <a:ln>
            <a:noFill/>
          </a:ln>
        </p:spPr>
      </p:pic>
      <p:pic>
        <p:nvPicPr>
          <p:cNvPr id="123" name="Google Shape;123;p19"/>
          <p:cNvPicPr preferRelativeResize="0"/>
          <p:nvPr/>
        </p:nvPicPr>
        <p:blipFill>
          <a:blip r:embed="rId6">
            <a:alphaModFix/>
          </a:blip>
          <a:stretch>
            <a:fillRect/>
          </a:stretch>
        </p:blipFill>
        <p:spPr>
          <a:xfrm>
            <a:off x="5592947" y="2651906"/>
            <a:ext cx="2299561" cy="2123175"/>
          </a:xfrm>
          <a:prstGeom prst="rect">
            <a:avLst/>
          </a:prstGeom>
          <a:noFill/>
          <a:ln>
            <a:noFill/>
          </a:ln>
        </p:spPr>
      </p:pic>
      <p:sp>
        <p:nvSpPr>
          <p:cNvPr id="124" name="Google Shape;124;p1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OAS Definition</a:t>
            </a:r>
            <a:endParaRPr b="1" sz="3800">
              <a:solidFill>
                <a:srgbClr val="03031C"/>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nvSpPr>
        <p:spPr>
          <a:xfrm>
            <a:off x="734784" y="1233881"/>
            <a:ext cx="7043100" cy="582300"/>
          </a:xfrm>
          <a:prstGeom prst="rect">
            <a:avLst/>
          </a:prstGeom>
          <a:noFill/>
          <a:ln>
            <a:noFill/>
          </a:ln>
        </p:spPr>
        <p:txBody>
          <a:bodyPr anchorCtr="0" anchor="t" bIns="34275" lIns="34275" spcFirstLastPara="1" rIns="34275" wrap="square" tIns="34275">
            <a:spAutoFit/>
          </a:bodyPr>
          <a:lstStyle/>
          <a:p>
            <a:pPr indent="0" lvl="0" marL="0" rtl="0" algn="l">
              <a:lnSpc>
                <a:spcPct val="100000"/>
              </a:lnSpc>
              <a:spcBef>
                <a:spcPts val="0"/>
              </a:spcBef>
              <a:spcAft>
                <a:spcPts val="0"/>
              </a:spcAft>
              <a:buNone/>
            </a:pPr>
            <a:r>
              <a:t/>
            </a:r>
            <a:endParaRPr sz="1500">
              <a:latin typeface="Open Sans"/>
              <a:ea typeface="Open Sans"/>
              <a:cs typeface="Open Sans"/>
              <a:sym typeface="Open Sans"/>
            </a:endParaRPr>
          </a:p>
          <a:p>
            <a:pPr indent="0" lvl="0" marL="0" rtl="0" algn="l">
              <a:spcBef>
                <a:spcPts val="400"/>
              </a:spcBef>
              <a:spcAft>
                <a:spcPts val="0"/>
              </a:spcAft>
              <a:buNone/>
            </a:pPr>
            <a:r>
              <a:t/>
            </a:r>
            <a:endParaRPr sz="1500">
              <a:latin typeface="Open Sans"/>
              <a:ea typeface="Open Sans"/>
              <a:cs typeface="Open Sans"/>
              <a:sym typeface="Open Sans"/>
            </a:endParaRPr>
          </a:p>
        </p:txBody>
      </p:sp>
      <p:sp>
        <p:nvSpPr>
          <p:cNvPr id="130" name="Google Shape;130;p20"/>
          <p:cNvSpPr txBox="1"/>
          <p:nvPr/>
        </p:nvSpPr>
        <p:spPr>
          <a:xfrm>
            <a:off x="734784" y="750394"/>
            <a:ext cx="7043100" cy="962100"/>
          </a:xfrm>
          <a:prstGeom prst="rect">
            <a:avLst/>
          </a:prstGeom>
          <a:noFill/>
          <a:ln>
            <a:noFill/>
          </a:ln>
        </p:spPr>
        <p:txBody>
          <a:bodyPr anchorCtr="0" anchor="t" bIns="34275" lIns="34275" spcFirstLastPara="1" rIns="34275" wrap="square" tIns="34275">
            <a:spAutoFit/>
          </a:bodyPr>
          <a:lstStyle/>
          <a:p>
            <a:pPr indent="0" lvl="0" marL="177800" rtl="0" algn="l">
              <a:lnSpc>
                <a:spcPct val="100000"/>
              </a:lnSpc>
              <a:spcBef>
                <a:spcPts val="0"/>
              </a:spcBef>
              <a:spcAft>
                <a:spcPts val="0"/>
              </a:spcAft>
              <a:buNone/>
            </a:pPr>
            <a:r>
              <a:t/>
            </a:r>
            <a:endParaRPr sz="1100">
              <a:solidFill>
                <a:schemeClr val="dk1"/>
              </a:solidFill>
              <a:latin typeface="Open Sans"/>
              <a:ea typeface="Open Sans"/>
              <a:cs typeface="Open Sans"/>
              <a:sym typeface="Open Sans"/>
            </a:endParaRPr>
          </a:p>
          <a:p>
            <a:pPr indent="-158750" lvl="0" marL="177800" rtl="0" algn="l">
              <a:lnSpc>
                <a:spcPct val="100000"/>
              </a:lnSpc>
              <a:spcBef>
                <a:spcPts val="400"/>
              </a:spcBef>
              <a:spcAft>
                <a:spcPts val="0"/>
              </a:spcAft>
              <a:buClr>
                <a:schemeClr val="dk1"/>
              </a:buClr>
              <a:buSzPts val="1100"/>
              <a:buFont typeface="Open Sans"/>
              <a:buChar char="●"/>
            </a:pPr>
            <a:r>
              <a:rPr lang="en-GB" sz="1100">
                <a:solidFill>
                  <a:schemeClr val="dk1"/>
                </a:solidFill>
                <a:latin typeface="Open Sans"/>
                <a:ea typeface="Open Sans"/>
                <a:cs typeface="Open Sans"/>
                <a:sym typeface="Open Sans"/>
              </a:rPr>
              <a:t>Validation</a:t>
            </a:r>
            <a:endParaRPr sz="1100">
              <a:solidFill>
                <a:schemeClr val="dk1"/>
              </a:solidFill>
              <a:latin typeface="Open Sans"/>
              <a:ea typeface="Open Sans"/>
              <a:cs typeface="Open Sans"/>
              <a:sym typeface="Open Sans"/>
            </a:endParaRPr>
          </a:p>
          <a:p>
            <a:pPr indent="-158750" lvl="1" marL="342900" rtl="0" algn="l">
              <a:lnSpc>
                <a:spcPct val="100000"/>
              </a:lnSpc>
              <a:spcBef>
                <a:spcPts val="400"/>
              </a:spcBef>
              <a:spcAft>
                <a:spcPts val="0"/>
              </a:spcAft>
              <a:buClr>
                <a:schemeClr val="dk1"/>
              </a:buClr>
              <a:buSzPts val="1100"/>
              <a:buFont typeface="Open Sans"/>
              <a:buChar char="○"/>
            </a:pPr>
            <a:r>
              <a:rPr lang="en-GB" sz="1100">
                <a:solidFill>
                  <a:schemeClr val="dk1"/>
                </a:solidFill>
                <a:latin typeface="Open Sans"/>
                <a:ea typeface="Open Sans"/>
                <a:cs typeface="Open Sans"/>
                <a:sym typeface="Open Sans"/>
              </a:rPr>
              <a:t>Automatically creates a request validation middleware in Tyk with schema in OAS</a:t>
            </a:r>
            <a:endParaRPr sz="1100">
              <a:solidFill>
                <a:schemeClr val="dk1"/>
              </a:solidFill>
              <a:latin typeface="Open Sans"/>
              <a:ea typeface="Open Sans"/>
              <a:cs typeface="Open Sans"/>
              <a:sym typeface="Open Sans"/>
            </a:endParaRPr>
          </a:p>
          <a:p>
            <a:pPr indent="0" lvl="0" marL="0" rtl="0" algn="l">
              <a:spcBef>
                <a:spcPts val="400"/>
              </a:spcBef>
              <a:spcAft>
                <a:spcPts val="0"/>
              </a:spcAft>
              <a:buNone/>
            </a:pPr>
            <a:r>
              <a:t/>
            </a:r>
            <a:endParaRPr sz="1500">
              <a:solidFill>
                <a:schemeClr val="dk1"/>
              </a:solidFill>
              <a:latin typeface="Open Sans"/>
              <a:ea typeface="Open Sans"/>
              <a:cs typeface="Open Sans"/>
              <a:sym typeface="Open Sans"/>
            </a:endParaRPr>
          </a:p>
        </p:txBody>
      </p:sp>
      <p:pic>
        <p:nvPicPr>
          <p:cNvPr id="131" name="Google Shape;131;p20"/>
          <p:cNvPicPr preferRelativeResize="0"/>
          <p:nvPr/>
        </p:nvPicPr>
        <p:blipFill>
          <a:blip r:embed="rId3">
            <a:alphaModFix/>
          </a:blip>
          <a:stretch>
            <a:fillRect/>
          </a:stretch>
        </p:blipFill>
        <p:spPr>
          <a:xfrm>
            <a:off x="1241588" y="1608647"/>
            <a:ext cx="6615113" cy="414338"/>
          </a:xfrm>
          <a:prstGeom prst="rect">
            <a:avLst/>
          </a:prstGeom>
          <a:noFill/>
          <a:ln cap="flat" cmpd="sng" w="9525">
            <a:solidFill>
              <a:srgbClr val="212529"/>
            </a:solidFill>
            <a:prstDash val="solid"/>
            <a:round/>
            <a:headEnd len="sm" w="sm" type="none"/>
            <a:tailEnd len="sm" w="sm" type="none"/>
          </a:ln>
        </p:spPr>
      </p:pic>
      <p:pic>
        <p:nvPicPr>
          <p:cNvPr id="132" name="Google Shape;132;p20"/>
          <p:cNvPicPr preferRelativeResize="0"/>
          <p:nvPr/>
        </p:nvPicPr>
        <p:blipFill>
          <a:blip r:embed="rId4">
            <a:alphaModFix/>
          </a:blip>
          <a:stretch>
            <a:fillRect/>
          </a:stretch>
        </p:blipFill>
        <p:spPr>
          <a:xfrm>
            <a:off x="362269" y="2243597"/>
            <a:ext cx="3021806" cy="2257425"/>
          </a:xfrm>
          <a:prstGeom prst="rect">
            <a:avLst/>
          </a:prstGeom>
          <a:noFill/>
          <a:ln>
            <a:noFill/>
          </a:ln>
        </p:spPr>
      </p:pic>
      <p:pic>
        <p:nvPicPr>
          <p:cNvPr id="133" name="Google Shape;133;p20"/>
          <p:cNvPicPr preferRelativeResize="0"/>
          <p:nvPr/>
        </p:nvPicPr>
        <p:blipFill>
          <a:blip r:embed="rId5">
            <a:alphaModFix/>
          </a:blip>
          <a:stretch>
            <a:fillRect/>
          </a:stretch>
        </p:blipFill>
        <p:spPr>
          <a:xfrm>
            <a:off x="4188919" y="2296519"/>
            <a:ext cx="3957638" cy="2000250"/>
          </a:xfrm>
          <a:prstGeom prst="rect">
            <a:avLst/>
          </a:prstGeom>
          <a:noFill/>
          <a:ln>
            <a:noFill/>
          </a:ln>
        </p:spPr>
      </p:pic>
      <p:sp>
        <p:nvSpPr>
          <p:cNvPr id="134" name="Google Shape;134;p2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OAS Definition</a:t>
            </a:r>
            <a:endParaRPr b="1" sz="3800">
              <a:solidFill>
                <a:srgbClr val="03031C"/>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nvSpPr>
        <p:spPr>
          <a:xfrm>
            <a:off x="734784" y="1233881"/>
            <a:ext cx="7043100" cy="582300"/>
          </a:xfrm>
          <a:prstGeom prst="rect">
            <a:avLst/>
          </a:prstGeom>
          <a:noFill/>
          <a:ln>
            <a:noFill/>
          </a:ln>
        </p:spPr>
        <p:txBody>
          <a:bodyPr anchorCtr="0" anchor="t" bIns="34275" lIns="34275" spcFirstLastPara="1" rIns="34275" wrap="square" tIns="34275">
            <a:spAutoFit/>
          </a:bodyPr>
          <a:lstStyle/>
          <a:p>
            <a:pPr indent="0" lvl="0" marL="0" rtl="0" algn="l">
              <a:lnSpc>
                <a:spcPct val="100000"/>
              </a:lnSpc>
              <a:spcBef>
                <a:spcPts val="0"/>
              </a:spcBef>
              <a:spcAft>
                <a:spcPts val="0"/>
              </a:spcAft>
              <a:buNone/>
            </a:pPr>
            <a:r>
              <a:t/>
            </a:r>
            <a:endParaRPr sz="1500">
              <a:latin typeface="Open Sans"/>
              <a:ea typeface="Open Sans"/>
              <a:cs typeface="Open Sans"/>
              <a:sym typeface="Open Sans"/>
            </a:endParaRPr>
          </a:p>
          <a:p>
            <a:pPr indent="0" lvl="0" marL="0" rtl="0" algn="l">
              <a:spcBef>
                <a:spcPts val="400"/>
              </a:spcBef>
              <a:spcAft>
                <a:spcPts val="0"/>
              </a:spcAft>
              <a:buNone/>
            </a:pPr>
            <a:r>
              <a:t/>
            </a:r>
            <a:endParaRPr sz="1500">
              <a:latin typeface="Open Sans"/>
              <a:ea typeface="Open Sans"/>
              <a:cs typeface="Open Sans"/>
              <a:sym typeface="Open Sans"/>
            </a:endParaRPr>
          </a:p>
        </p:txBody>
      </p:sp>
      <p:sp>
        <p:nvSpPr>
          <p:cNvPr id="140" name="Google Shape;140;p21"/>
          <p:cNvSpPr txBox="1"/>
          <p:nvPr/>
        </p:nvSpPr>
        <p:spPr>
          <a:xfrm>
            <a:off x="734784" y="750394"/>
            <a:ext cx="7043100" cy="1403100"/>
          </a:xfrm>
          <a:prstGeom prst="rect">
            <a:avLst/>
          </a:prstGeom>
          <a:noFill/>
          <a:ln>
            <a:noFill/>
          </a:ln>
        </p:spPr>
        <p:txBody>
          <a:bodyPr anchorCtr="0" anchor="t" bIns="34275" lIns="34275" spcFirstLastPara="1" rIns="34275" wrap="square" tIns="34275">
            <a:spAutoFit/>
          </a:bodyPr>
          <a:lstStyle/>
          <a:p>
            <a:pPr indent="0" lvl="0" marL="0" rtl="0" algn="l">
              <a:lnSpc>
                <a:spcPct val="100000"/>
              </a:lnSpc>
              <a:spcBef>
                <a:spcPts val="0"/>
              </a:spcBef>
              <a:spcAft>
                <a:spcPts val="0"/>
              </a:spcAft>
              <a:buNone/>
            </a:pPr>
            <a:r>
              <a:t/>
            </a:r>
            <a:endParaRPr sz="1100">
              <a:solidFill>
                <a:schemeClr val="dk1"/>
              </a:solidFill>
              <a:latin typeface="Inter"/>
              <a:ea typeface="Inter"/>
              <a:cs typeface="Inter"/>
              <a:sym typeface="Inter"/>
            </a:endParaRPr>
          </a:p>
          <a:p>
            <a:pPr indent="-158750" lvl="0" marL="177800" rtl="0" algn="l">
              <a:lnSpc>
                <a:spcPct val="100000"/>
              </a:lnSpc>
              <a:spcBef>
                <a:spcPts val="400"/>
              </a:spcBef>
              <a:spcAft>
                <a:spcPts val="0"/>
              </a:spcAft>
              <a:buClr>
                <a:schemeClr val="dk1"/>
              </a:buClr>
              <a:buSzPts val="1100"/>
              <a:buFont typeface="Open Sans"/>
              <a:buChar char="●"/>
            </a:pPr>
            <a:r>
              <a:rPr lang="en-GB" sz="1100">
                <a:solidFill>
                  <a:schemeClr val="dk1"/>
                </a:solidFill>
                <a:latin typeface="Open Sans"/>
                <a:ea typeface="Open Sans"/>
                <a:cs typeface="Open Sans"/>
                <a:sym typeface="Open Sans"/>
              </a:rPr>
              <a:t>Middleware</a:t>
            </a:r>
            <a:endParaRPr sz="1100">
              <a:solidFill>
                <a:schemeClr val="dk1"/>
              </a:solidFill>
              <a:latin typeface="Open Sans"/>
              <a:ea typeface="Open Sans"/>
              <a:cs typeface="Open Sans"/>
              <a:sym typeface="Open Sans"/>
            </a:endParaRPr>
          </a:p>
          <a:p>
            <a:pPr indent="-158750" lvl="1" marL="342900" rtl="0" algn="l">
              <a:lnSpc>
                <a:spcPct val="100000"/>
              </a:lnSpc>
              <a:spcBef>
                <a:spcPts val="400"/>
              </a:spcBef>
              <a:spcAft>
                <a:spcPts val="0"/>
              </a:spcAft>
              <a:buClr>
                <a:schemeClr val="dk1"/>
              </a:buClr>
              <a:buSzPts val="1100"/>
              <a:buFont typeface="Open Sans"/>
              <a:buChar char="○"/>
            </a:pPr>
            <a:r>
              <a:rPr lang="en-GB" sz="1100">
                <a:solidFill>
                  <a:schemeClr val="dk1"/>
                </a:solidFill>
                <a:latin typeface="Open Sans"/>
                <a:ea typeface="Open Sans"/>
                <a:cs typeface="Open Sans"/>
                <a:sym typeface="Open Sans"/>
              </a:rPr>
              <a:t>Uses operationIDs for middleware configured for each path</a:t>
            </a:r>
            <a:endParaRPr sz="1100">
              <a:solidFill>
                <a:schemeClr val="dk1"/>
              </a:solidFill>
              <a:latin typeface="Open Sans"/>
              <a:ea typeface="Open Sans"/>
              <a:cs typeface="Open Sans"/>
              <a:sym typeface="Open Sans"/>
            </a:endParaRPr>
          </a:p>
          <a:p>
            <a:pPr indent="-158750" lvl="1" marL="342900" rtl="0" algn="l">
              <a:lnSpc>
                <a:spcPct val="100000"/>
              </a:lnSpc>
              <a:spcBef>
                <a:spcPts val="400"/>
              </a:spcBef>
              <a:spcAft>
                <a:spcPts val="0"/>
              </a:spcAft>
              <a:buClr>
                <a:schemeClr val="dk1"/>
              </a:buClr>
              <a:buSzPts val="1100"/>
              <a:buFont typeface="Open Sans"/>
              <a:buChar char="○"/>
            </a:pPr>
            <a:r>
              <a:rPr lang="en-GB" sz="1100">
                <a:solidFill>
                  <a:schemeClr val="dk1"/>
                </a:solidFill>
                <a:latin typeface="Open Sans"/>
                <a:ea typeface="Open Sans"/>
                <a:cs typeface="Open Sans"/>
                <a:sym typeface="Open Sans"/>
              </a:rPr>
              <a:t>Middleware declared in x-tyk-api-gateway section</a:t>
            </a:r>
            <a:endParaRPr sz="1100">
              <a:solidFill>
                <a:schemeClr val="dk1"/>
              </a:solidFill>
              <a:latin typeface="Open Sans"/>
              <a:ea typeface="Open Sans"/>
              <a:cs typeface="Open Sans"/>
              <a:sym typeface="Open Sans"/>
            </a:endParaRPr>
          </a:p>
          <a:p>
            <a:pPr indent="0" lvl="0" marL="0" rtl="0" algn="l">
              <a:lnSpc>
                <a:spcPct val="100000"/>
              </a:lnSpc>
              <a:spcBef>
                <a:spcPts val="400"/>
              </a:spcBef>
              <a:spcAft>
                <a:spcPts val="0"/>
              </a:spcAft>
              <a:buNone/>
            </a:pPr>
            <a:r>
              <a:t/>
            </a:r>
            <a:endParaRPr sz="1100">
              <a:solidFill>
                <a:schemeClr val="dk1"/>
              </a:solidFill>
              <a:latin typeface="Open Sans"/>
              <a:ea typeface="Open Sans"/>
              <a:cs typeface="Open Sans"/>
              <a:sym typeface="Open Sans"/>
            </a:endParaRPr>
          </a:p>
          <a:p>
            <a:pPr indent="0" lvl="0" marL="0" rtl="0" algn="l">
              <a:spcBef>
                <a:spcPts val="400"/>
              </a:spcBef>
              <a:spcAft>
                <a:spcPts val="0"/>
              </a:spcAft>
              <a:buNone/>
            </a:pPr>
            <a:r>
              <a:t/>
            </a:r>
            <a:endParaRPr sz="1500">
              <a:solidFill>
                <a:schemeClr val="dk1"/>
              </a:solidFill>
              <a:latin typeface="Open Sans"/>
              <a:ea typeface="Open Sans"/>
              <a:cs typeface="Open Sans"/>
              <a:sym typeface="Open Sans"/>
            </a:endParaRPr>
          </a:p>
        </p:txBody>
      </p:sp>
      <p:pic>
        <p:nvPicPr>
          <p:cNvPr id="141" name="Google Shape;141;p21"/>
          <p:cNvPicPr preferRelativeResize="0"/>
          <p:nvPr/>
        </p:nvPicPr>
        <p:blipFill>
          <a:blip r:embed="rId3">
            <a:alphaModFix/>
          </a:blip>
          <a:stretch>
            <a:fillRect/>
          </a:stretch>
        </p:blipFill>
        <p:spPr>
          <a:xfrm>
            <a:off x="734784" y="2246709"/>
            <a:ext cx="1943100" cy="1271588"/>
          </a:xfrm>
          <a:prstGeom prst="rect">
            <a:avLst/>
          </a:prstGeom>
          <a:noFill/>
          <a:ln>
            <a:noFill/>
          </a:ln>
        </p:spPr>
      </p:pic>
      <p:pic>
        <p:nvPicPr>
          <p:cNvPr id="142" name="Google Shape;142;p21"/>
          <p:cNvPicPr preferRelativeResize="0"/>
          <p:nvPr/>
        </p:nvPicPr>
        <p:blipFill>
          <a:blip r:embed="rId4">
            <a:alphaModFix/>
          </a:blip>
          <a:stretch>
            <a:fillRect/>
          </a:stretch>
        </p:blipFill>
        <p:spPr>
          <a:xfrm>
            <a:off x="4347825" y="2156869"/>
            <a:ext cx="3943350" cy="1807369"/>
          </a:xfrm>
          <a:prstGeom prst="rect">
            <a:avLst/>
          </a:prstGeom>
          <a:noFill/>
          <a:ln>
            <a:noFill/>
          </a:ln>
        </p:spPr>
      </p:pic>
      <p:sp>
        <p:nvSpPr>
          <p:cNvPr id="143" name="Google Shape;143;p2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OAS Definition</a:t>
            </a:r>
            <a:endParaRPr b="1" sz="38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