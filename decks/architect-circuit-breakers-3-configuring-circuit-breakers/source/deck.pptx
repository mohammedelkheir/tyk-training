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Lst>
  <p:sldSz cy="5143500" cx="9144000"/>
  <p:notesSz cx="6858000" cy="9144000"/>
  <p:embeddedFontLst>
    <p:embeddedFont>
      <p:font typeface="Inter Light"/>
      <p:regular r:id="rId8"/>
      <p:bold r:id="rId9"/>
      <p:italic r:id="rId10"/>
      <p:boldItalic r:id="rId11"/>
    </p:embeddedFont>
    <p:embeddedFont>
      <p:font typeface="Inter"/>
      <p:regular r:id="rId12"/>
      <p:bold r:id="rId13"/>
      <p:italic r:id="rId14"/>
      <p:boldItalic r:id="rId1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2880">
          <p15:clr>
            <a:srgbClr val="747775"/>
          </p15:clr>
        </p15:guide>
        <p15:guide id="2" orient="horz" pos="454">
          <p15:clr>
            <a:srgbClr val="747775"/>
          </p15:clr>
        </p15:guide>
        <p15:guide id="3" pos="454">
          <p15:clr>
            <a:srgbClr val="747775"/>
          </p15:clr>
        </p15:guide>
        <p15:guide id="4" pos="5329">
          <p15:clr>
            <a:srgbClr val="747775"/>
          </p15:clr>
        </p15:guide>
        <p15:guide id="5" orient="horz" pos="2786">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p:guide pos="454" orient="horz"/>
        <p:guide pos="454"/>
        <p:guide pos="5329"/>
        <p:guide pos="2786" orient="horz"/>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font" Target="fonts/InterLight-boldItalic.fntdata"/><Relationship Id="rId10" Type="http://schemas.openxmlformats.org/officeDocument/2006/relationships/font" Target="fonts/InterLight-italic.fntdata"/><Relationship Id="rId13" Type="http://schemas.openxmlformats.org/officeDocument/2006/relationships/font" Target="fonts/Inter-bold.fntdata"/><Relationship Id="rId12" Type="http://schemas.openxmlformats.org/officeDocument/2006/relationships/font" Target="fonts/Inter-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font" Target="fonts/InterLight-bold.fntdata"/><Relationship Id="rId15" Type="http://schemas.openxmlformats.org/officeDocument/2006/relationships/font" Target="fonts/Inter-boldItalic.fntdata"/><Relationship Id="rId14" Type="http://schemas.openxmlformats.org/officeDocument/2006/relationships/font" Target="fonts/Inter-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font" Target="fonts/InterLight-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g3611dd1627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 name="Google Shape;51;g3611dd1627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611dd16274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611dd16274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Configuring a circuit breaker in Tyk is intentionally simple—just three parameters control the behavior.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First is the </a:t>
            </a:r>
            <a:r>
              <a:rPr b="1" lang="en-GB">
                <a:solidFill>
                  <a:schemeClr val="dk1"/>
                </a:solidFill>
              </a:rPr>
              <a:t>sample size</a:t>
            </a:r>
            <a:r>
              <a:rPr lang="en-GB">
                <a:solidFill>
                  <a:schemeClr val="dk1"/>
                </a:solidFill>
              </a:rPr>
              <a:t>, which is the number of requests evaluated within each rolling 10-second window. For example, setting this to 100 means the circuit breaker will analyze the most recent 100 requests.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Second is the </a:t>
            </a:r>
            <a:r>
              <a:rPr b="1" lang="en-GB">
                <a:solidFill>
                  <a:schemeClr val="dk1"/>
                </a:solidFill>
              </a:rPr>
              <a:t>error rate threshold</a:t>
            </a:r>
            <a:r>
              <a:rPr lang="en-GB">
                <a:solidFill>
                  <a:schemeClr val="dk1"/>
                </a:solidFill>
              </a:rPr>
              <a:t>. This defines what percentage of those requests must fail in order to trip the breaker. For instance, if you want the breaker to trip after 15 failed requests out of 100, you’d set the threshold to 0.15.</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The third is the </a:t>
            </a:r>
            <a:r>
              <a:rPr b="1" lang="en-GB">
                <a:solidFill>
                  <a:schemeClr val="dk1"/>
                </a:solidFill>
              </a:rPr>
              <a:t>cooldown period</a:t>
            </a:r>
            <a:r>
              <a:rPr lang="en-GB">
                <a:solidFill>
                  <a:schemeClr val="dk1"/>
                </a:solidFill>
              </a:rPr>
              <a:t>. Once the breaker trips, it will stay open for this amount of time before it resets—unless the optional </a:t>
            </a:r>
            <a:r>
              <a:rPr b="1" lang="en-GB">
                <a:solidFill>
                  <a:schemeClr val="dk1"/>
                </a:solidFill>
              </a:rPr>
              <a:t>half-open mode</a:t>
            </a:r>
            <a:r>
              <a:rPr lang="en-GB">
                <a:solidFill>
                  <a:schemeClr val="dk1"/>
                </a:solidFill>
              </a:rPr>
              <a:t> is enabled.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Half-open mode lets Tyk periodically check the upstream before the cooldown ends, and if it’s healthy again, traffic resumes early. You can turn this mode off if your architecture can’t tolerate retry probes.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And one more thing—if you’re using </a:t>
            </a:r>
            <a:r>
              <a:rPr b="1" lang="en-GB">
                <a:solidFill>
                  <a:schemeClr val="dk1"/>
                </a:solidFill>
              </a:rPr>
              <a:t>Service Discovery</a:t>
            </a:r>
            <a:r>
              <a:rPr lang="en-GB">
                <a:solidFill>
                  <a:schemeClr val="dk1"/>
                </a:solidFill>
              </a:rPr>
              <a:t>, Tyk will also attempt to refresh the upstream gateway list every time a breaker trips, giving it a chance to reroute to healthy instances.</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marR="38100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0" y="922550"/>
            <a:ext cx="8520600" cy="1658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800"/>
              <a:buNone/>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531550"/>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rgbClr val="21E9BA"/>
              </a:buClr>
              <a:buSzPts val="2000"/>
              <a:buNone/>
              <a:defRPr sz="2000">
                <a:solidFill>
                  <a:srgbClr val="21E9BA"/>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800"/>
              <a:buNone/>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800"/>
              <a:buNone/>
              <a:defRPr/>
            </a:lvl1pPr>
            <a:lvl2pPr lvl="1">
              <a:spcBef>
                <a:spcPts val="0"/>
              </a:spcBef>
              <a:spcAft>
                <a:spcPts val="0"/>
              </a:spcAft>
              <a:buSzPts val="3800"/>
              <a:buNone/>
              <a:defRPr/>
            </a:lvl2pPr>
            <a:lvl3pPr lvl="2">
              <a:spcBef>
                <a:spcPts val="0"/>
              </a:spcBef>
              <a:spcAft>
                <a:spcPts val="0"/>
              </a:spcAft>
              <a:buSzPts val="3800"/>
              <a:buNone/>
              <a:defRPr/>
            </a:lvl3pPr>
            <a:lvl4pPr lvl="3">
              <a:spcBef>
                <a:spcPts val="0"/>
              </a:spcBef>
              <a:spcAft>
                <a:spcPts val="0"/>
              </a:spcAft>
              <a:buSzPts val="3800"/>
              <a:buNone/>
              <a:defRPr/>
            </a:lvl4pPr>
            <a:lvl5pPr lvl="4">
              <a:spcBef>
                <a:spcPts val="0"/>
              </a:spcBef>
              <a:spcAft>
                <a:spcPts val="0"/>
              </a:spcAft>
              <a:buSzPts val="3800"/>
              <a:buNone/>
              <a:defRPr/>
            </a:lvl5pPr>
            <a:lvl6pPr lvl="5">
              <a:spcBef>
                <a:spcPts val="0"/>
              </a:spcBef>
              <a:spcAft>
                <a:spcPts val="0"/>
              </a:spcAft>
              <a:buSzPts val="3800"/>
              <a:buNone/>
              <a:defRPr/>
            </a:lvl6pPr>
            <a:lvl7pPr lvl="6">
              <a:spcBef>
                <a:spcPts val="0"/>
              </a:spcBef>
              <a:spcAft>
                <a:spcPts val="0"/>
              </a:spcAft>
              <a:buSzPts val="3800"/>
              <a:buNone/>
              <a:defRPr/>
            </a:lvl7pPr>
            <a:lvl8pPr lvl="7">
              <a:spcBef>
                <a:spcPts val="0"/>
              </a:spcBef>
              <a:spcAft>
                <a:spcPts val="0"/>
              </a:spcAft>
              <a:buSzPts val="3800"/>
              <a:buNone/>
              <a:defRPr/>
            </a:lvl8pPr>
            <a:lvl9pPr lvl="8">
              <a:spcBef>
                <a:spcPts val="0"/>
              </a:spcBef>
              <a:spcAft>
                <a:spcPts val="0"/>
              </a:spcAft>
              <a:buSzPts val="3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9" name="Shape 19"/>
        <p:cNvGrpSpPr/>
        <p:nvPr/>
      </p:nvGrpSpPr>
      <p:grpSpPr>
        <a:xfrm>
          <a:off x="0" y="0"/>
          <a:ext cx="0" cy="0"/>
          <a:chOff x="0" y="0"/>
          <a:chExt cx="0" cy="0"/>
        </a:xfrm>
      </p:grpSpPr>
      <p:sp>
        <p:nvSpPr>
          <p:cNvPr id="20" name="Google Shape;20;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800"/>
              <a:buNone/>
              <a:defRPr/>
            </a:lvl1pPr>
            <a:lvl2pPr lvl="1">
              <a:spcBef>
                <a:spcPts val="0"/>
              </a:spcBef>
              <a:spcAft>
                <a:spcPts val="0"/>
              </a:spcAft>
              <a:buSzPts val="3800"/>
              <a:buNone/>
              <a:defRPr/>
            </a:lvl2pPr>
            <a:lvl3pPr lvl="2">
              <a:spcBef>
                <a:spcPts val="0"/>
              </a:spcBef>
              <a:spcAft>
                <a:spcPts val="0"/>
              </a:spcAft>
              <a:buSzPts val="3800"/>
              <a:buNone/>
              <a:defRPr/>
            </a:lvl3pPr>
            <a:lvl4pPr lvl="3">
              <a:spcBef>
                <a:spcPts val="0"/>
              </a:spcBef>
              <a:spcAft>
                <a:spcPts val="0"/>
              </a:spcAft>
              <a:buSzPts val="3800"/>
              <a:buNone/>
              <a:defRPr/>
            </a:lvl4pPr>
            <a:lvl5pPr lvl="4">
              <a:spcBef>
                <a:spcPts val="0"/>
              </a:spcBef>
              <a:spcAft>
                <a:spcPts val="0"/>
              </a:spcAft>
              <a:buSzPts val="3800"/>
              <a:buNone/>
              <a:defRPr/>
            </a:lvl5pPr>
            <a:lvl6pPr lvl="5">
              <a:spcBef>
                <a:spcPts val="0"/>
              </a:spcBef>
              <a:spcAft>
                <a:spcPts val="0"/>
              </a:spcAft>
              <a:buSzPts val="3800"/>
              <a:buNone/>
              <a:defRPr/>
            </a:lvl6pPr>
            <a:lvl7pPr lvl="6">
              <a:spcBef>
                <a:spcPts val="0"/>
              </a:spcBef>
              <a:spcAft>
                <a:spcPts val="0"/>
              </a:spcAft>
              <a:buSzPts val="3800"/>
              <a:buNone/>
              <a:defRPr/>
            </a:lvl7pPr>
            <a:lvl8pPr lvl="7">
              <a:spcBef>
                <a:spcPts val="0"/>
              </a:spcBef>
              <a:spcAft>
                <a:spcPts val="0"/>
              </a:spcAft>
              <a:buSzPts val="3800"/>
              <a:buNone/>
              <a:defRPr/>
            </a:lvl8pPr>
            <a:lvl9pPr lvl="8">
              <a:spcBef>
                <a:spcPts val="0"/>
              </a:spcBef>
              <a:spcAft>
                <a:spcPts val="0"/>
              </a:spcAft>
              <a:buSzPts val="3800"/>
              <a:buNone/>
              <a:defRPr/>
            </a:lvl9pPr>
          </a:lstStyle>
          <a:p/>
        </p:txBody>
      </p:sp>
      <p:sp>
        <p:nvSpPr>
          <p:cNvPr id="21" name="Google Shape;21;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2" name="Google Shape;22;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4" name="Shape 24"/>
        <p:cNvGrpSpPr/>
        <p:nvPr/>
      </p:nvGrpSpPr>
      <p:grpSpPr>
        <a:xfrm>
          <a:off x="0" y="0"/>
          <a:ext cx="0" cy="0"/>
          <a:chOff x="0" y="0"/>
          <a:chExt cx="0" cy="0"/>
        </a:xfrm>
      </p:grpSpPr>
      <p:sp>
        <p:nvSpPr>
          <p:cNvPr id="25" name="Google Shape;25;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800"/>
              <a:buNone/>
              <a:defRPr/>
            </a:lvl1pPr>
            <a:lvl2pPr lvl="1">
              <a:spcBef>
                <a:spcPts val="0"/>
              </a:spcBef>
              <a:spcAft>
                <a:spcPts val="0"/>
              </a:spcAft>
              <a:buSzPts val="3800"/>
              <a:buNone/>
              <a:defRPr/>
            </a:lvl2pPr>
            <a:lvl3pPr lvl="2">
              <a:spcBef>
                <a:spcPts val="0"/>
              </a:spcBef>
              <a:spcAft>
                <a:spcPts val="0"/>
              </a:spcAft>
              <a:buSzPts val="3800"/>
              <a:buNone/>
              <a:defRPr/>
            </a:lvl3pPr>
            <a:lvl4pPr lvl="3">
              <a:spcBef>
                <a:spcPts val="0"/>
              </a:spcBef>
              <a:spcAft>
                <a:spcPts val="0"/>
              </a:spcAft>
              <a:buSzPts val="3800"/>
              <a:buNone/>
              <a:defRPr/>
            </a:lvl4pPr>
            <a:lvl5pPr lvl="4">
              <a:spcBef>
                <a:spcPts val="0"/>
              </a:spcBef>
              <a:spcAft>
                <a:spcPts val="0"/>
              </a:spcAft>
              <a:buSzPts val="3800"/>
              <a:buNone/>
              <a:defRPr/>
            </a:lvl5pPr>
            <a:lvl6pPr lvl="5">
              <a:spcBef>
                <a:spcPts val="0"/>
              </a:spcBef>
              <a:spcAft>
                <a:spcPts val="0"/>
              </a:spcAft>
              <a:buSzPts val="3800"/>
              <a:buNone/>
              <a:defRPr/>
            </a:lvl6pPr>
            <a:lvl7pPr lvl="6">
              <a:spcBef>
                <a:spcPts val="0"/>
              </a:spcBef>
              <a:spcAft>
                <a:spcPts val="0"/>
              </a:spcAft>
              <a:buSzPts val="3800"/>
              <a:buNone/>
              <a:defRPr/>
            </a:lvl7pPr>
            <a:lvl8pPr lvl="7">
              <a:spcBef>
                <a:spcPts val="0"/>
              </a:spcBef>
              <a:spcAft>
                <a:spcPts val="0"/>
              </a:spcAft>
              <a:buSzPts val="3800"/>
              <a:buNone/>
              <a:defRPr/>
            </a:lvl8pPr>
            <a:lvl9pPr lvl="8">
              <a:spcBef>
                <a:spcPts val="0"/>
              </a:spcBef>
              <a:spcAft>
                <a:spcPts val="0"/>
              </a:spcAft>
              <a:buSzPts val="3800"/>
              <a:buNone/>
              <a:defRPr/>
            </a:lvl9pPr>
          </a:lstStyle>
          <a:p/>
        </p:txBody>
      </p:sp>
      <p:sp>
        <p:nvSpPr>
          <p:cNvPr id="26" name="Google Shape;26;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7" name="Shape 27"/>
        <p:cNvGrpSpPr/>
        <p:nvPr/>
      </p:nvGrpSpPr>
      <p:grpSpPr>
        <a:xfrm>
          <a:off x="0" y="0"/>
          <a:ext cx="0" cy="0"/>
          <a:chOff x="0" y="0"/>
          <a:chExt cx="0" cy="0"/>
        </a:xfrm>
      </p:grpSpPr>
      <p:sp>
        <p:nvSpPr>
          <p:cNvPr id="28" name="Google Shape;28;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29" name="Google Shape;29;p7"/>
          <p:cNvSpPr txBox="1"/>
          <p:nvPr>
            <p:ph idx="1" type="body"/>
          </p:nvPr>
        </p:nvSpPr>
        <p:spPr>
          <a:xfrm>
            <a:off x="311700" y="1389600"/>
            <a:ext cx="50364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 name="Google Shape;30;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1" name="Shape 31"/>
        <p:cNvGrpSpPr/>
        <p:nvPr/>
      </p:nvGrpSpPr>
      <p:grpSpPr>
        <a:xfrm>
          <a:off x="0" y="0"/>
          <a:ext cx="0" cy="0"/>
          <a:chOff x="0" y="0"/>
          <a:chExt cx="0" cy="0"/>
        </a:xfrm>
      </p:grpSpPr>
      <p:sp>
        <p:nvSpPr>
          <p:cNvPr id="32" name="Google Shape;32;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3800"/>
              <a:buNone/>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3" name="Google Shape;33;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4" name="Shape 34"/>
        <p:cNvGrpSpPr/>
        <p:nvPr/>
      </p:nvGrpSpPr>
      <p:grpSpPr>
        <a:xfrm>
          <a:off x="0" y="0"/>
          <a:ext cx="0" cy="0"/>
          <a:chOff x="0" y="0"/>
          <a:chExt cx="0" cy="0"/>
        </a:xfrm>
      </p:grpSpPr>
      <p:sp>
        <p:nvSpPr>
          <p:cNvPr id="35" name="Google Shape;35;p9"/>
          <p:cNvSpPr/>
          <p:nvPr/>
        </p:nvSpPr>
        <p:spPr>
          <a:xfrm>
            <a:off x="4572000" y="-125"/>
            <a:ext cx="4572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3800"/>
              <a:buNone/>
              <a:defRPr/>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7" name="Google Shape;37;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rgbClr val="21E9BA"/>
              </a:buClr>
              <a:buSzPts val="1600"/>
              <a:buNone/>
              <a:defRPr sz="1600">
                <a:solidFill>
                  <a:srgbClr val="21E9BA"/>
                </a:solidFill>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8" name="Google Shape;38;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rgbClr val="8438FA"/>
              </a:buClr>
              <a:buSzPts val="1800"/>
              <a:buChar char="●"/>
              <a:defRPr>
                <a:solidFill>
                  <a:srgbClr val="8438FA"/>
                </a:solidFill>
              </a:defRPr>
            </a:lvl1pPr>
            <a:lvl2pPr indent="-317500" lvl="1" marL="914400">
              <a:spcBef>
                <a:spcPts val="0"/>
              </a:spcBef>
              <a:spcAft>
                <a:spcPts val="0"/>
              </a:spcAft>
              <a:buClr>
                <a:srgbClr val="8438FA"/>
              </a:buClr>
              <a:buSzPts val="1400"/>
              <a:buChar char="○"/>
              <a:defRPr>
                <a:solidFill>
                  <a:srgbClr val="8438FA"/>
                </a:solidFill>
              </a:defRPr>
            </a:lvl2pPr>
            <a:lvl3pPr indent="-317500" lvl="2" marL="1371600">
              <a:spcBef>
                <a:spcPts val="0"/>
              </a:spcBef>
              <a:spcAft>
                <a:spcPts val="0"/>
              </a:spcAft>
              <a:buClr>
                <a:srgbClr val="8438FA"/>
              </a:buClr>
              <a:buSzPts val="1400"/>
              <a:buChar char="■"/>
              <a:defRPr>
                <a:solidFill>
                  <a:srgbClr val="8438FA"/>
                </a:solidFill>
              </a:defRPr>
            </a:lvl3pPr>
            <a:lvl4pPr indent="-317500" lvl="3" marL="1828800">
              <a:spcBef>
                <a:spcPts val="0"/>
              </a:spcBef>
              <a:spcAft>
                <a:spcPts val="0"/>
              </a:spcAft>
              <a:buClr>
                <a:srgbClr val="8438FA"/>
              </a:buClr>
              <a:buSzPts val="1400"/>
              <a:buChar char="●"/>
              <a:defRPr>
                <a:solidFill>
                  <a:srgbClr val="8438FA"/>
                </a:solidFill>
              </a:defRPr>
            </a:lvl4pPr>
            <a:lvl5pPr indent="-317500" lvl="4" marL="2286000">
              <a:spcBef>
                <a:spcPts val="0"/>
              </a:spcBef>
              <a:spcAft>
                <a:spcPts val="0"/>
              </a:spcAft>
              <a:buClr>
                <a:srgbClr val="8438FA"/>
              </a:buClr>
              <a:buSzPts val="1400"/>
              <a:buChar char="○"/>
              <a:defRPr>
                <a:solidFill>
                  <a:srgbClr val="8438FA"/>
                </a:solidFill>
              </a:defRPr>
            </a:lvl5pPr>
            <a:lvl6pPr indent="-317500" lvl="5" marL="2743200">
              <a:spcBef>
                <a:spcPts val="0"/>
              </a:spcBef>
              <a:spcAft>
                <a:spcPts val="0"/>
              </a:spcAft>
              <a:buClr>
                <a:srgbClr val="8438FA"/>
              </a:buClr>
              <a:buSzPts val="1400"/>
              <a:buChar char="■"/>
              <a:defRPr>
                <a:solidFill>
                  <a:srgbClr val="8438FA"/>
                </a:solidFill>
              </a:defRPr>
            </a:lvl6pPr>
            <a:lvl7pPr indent="-317500" lvl="6" marL="3200400">
              <a:spcBef>
                <a:spcPts val="0"/>
              </a:spcBef>
              <a:spcAft>
                <a:spcPts val="0"/>
              </a:spcAft>
              <a:buClr>
                <a:srgbClr val="8438FA"/>
              </a:buClr>
              <a:buSzPts val="1400"/>
              <a:buChar char="●"/>
              <a:defRPr>
                <a:solidFill>
                  <a:srgbClr val="8438FA"/>
                </a:solidFill>
              </a:defRPr>
            </a:lvl7pPr>
            <a:lvl8pPr indent="-317500" lvl="7" marL="3657600">
              <a:spcBef>
                <a:spcPts val="0"/>
              </a:spcBef>
              <a:spcAft>
                <a:spcPts val="0"/>
              </a:spcAft>
              <a:buClr>
                <a:srgbClr val="8438FA"/>
              </a:buClr>
              <a:buSzPts val="1400"/>
              <a:buChar char="○"/>
              <a:defRPr>
                <a:solidFill>
                  <a:srgbClr val="8438FA"/>
                </a:solidFill>
              </a:defRPr>
            </a:lvl8pPr>
            <a:lvl9pPr indent="-317500" lvl="8" marL="4114800">
              <a:spcBef>
                <a:spcPts val="0"/>
              </a:spcBef>
              <a:spcAft>
                <a:spcPts val="0"/>
              </a:spcAft>
              <a:buClr>
                <a:srgbClr val="8438FA"/>
              </a:buClr>
              <a:buSzPts val="1400"/>
              <a:buChar char="■"/>
              <a:defRPr>
                <a:solidFill>
                  <a:srgbClr val="8438FA"/>
                </a:solidFill>
              </a:defRPr>
            </a:lvl9pPr>
          </a:lstStyle>
          <a:p/>
        </p:txBody>
      </p:sp>
      <p:sp>
        <p:nvSpPr>
          <p:cNvPr id="39" name="Google Shape;39;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0" name="Shape 40"/>
        <p:cNvGrpSpPr/>
        <p:nvPr/>
      </p:nvGrpSpPr>
      <p:grpSpPr>
        <a:xfrm>
          <a:off x="0" y="0"/>
          <a:ext cx="0" cy="0"/>
          <a:chOff x="0" y="0"/>
          <a:chExt cx="0" cy="0"/>
        </a:xfrm>
      </p:grpSpPr>
      <p:sp>
        <p:nvSpPr>
          <p:cNvPr id="41" name="Google Shape;41;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2" name="Google Shape;42;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3" name="Shape 43"/>
        <p:cNvGrpSpPr/>
        <p:nvPr/>
      </p:nvGrpSpPr>
      <p:grpSpPr>
        <a:xfrm>
          <a:off x="0" y="0"/>
          <a:ext cx="0" cy="0"/>
          <a:chOff x="0" y="0"/>
          <a:chExt cx="0" cy="0"/>
        </a:xfrm>
      </p:grpSpPr>
      <p:sp>
        <p:nvSpPr>
          <p:cNvPr id="44" name="Google Shape;44;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8000"/>
              <a:buNone/>
              <a:defRPr sz="8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5" name="Google Shape;45;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6" name="Google Shape;46;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7" name="Shape 47"/>
        <p:cNvGrpSpPr/>
        <p:nvPr/>
      </p:nvGrpSpPr>
      <p:grpSpPr>
        <a:xfrm>
          <a:off x="0" y="0"/>
          <a:ext cx="0" cy="0"/>
          <a:chOff x="0" y="0"/>
          <a:chExt cx="0" cy="0"/>
        </a:xfrm>
      </p:grpSpPr>
      <p:sp>
        <p:nvSpPr>
          <p:cNvPr id="48" name="Google Shape;48;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8438FA"/>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1pPr>
            <a:lvl2pPr lvl="1">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2pPr>
            <a:lvl3pPr lvl="2">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3pPr>
            <a:lvl4pPr lvl="3">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4pPr>
            <a:lvl5pPr lvl="4">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5pPr>
            <a:lvl6pPr lvl="5">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6pPr>
            <a:lvl7pPr lvl="6">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7pPr>
            <a:lvl8pPr lvl="7">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8pPr>
            <a:lvl9pPr lvl="8">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1"/>
              </a:buClr>
              <a:buSzPts val="1800"/>
              <a:buFont typeface="Inter"/>
              <a:buChar char="●"/>
              <a:defRPr sz="1800">
                <a:solidFill>
                  <a:schemeClr val="lt1"/>
                </a:solidFill>
                <a:latin typeface="Inter"/>
                <a:ea typeface="Inter"/>
                <a:cs typeface="Inter"/>
                <a:sym typeface="Inter"/>
              </a:defRPr>
            </a:lvl1pPr>
            <a:lvl2pPr indent="-317500" lvl="1" marL="914400">
              <a:lnSpc>
                <a:spcPct val="115000"/>
              </a:lnSpc>
              <a:spcBef>
                <a:spcPts val="0"/>
              </a:spcBef>
              <a:spcAft>
                <a:spcPts val="0"/>
              </a:spcAft>
              <a:buClr>
                <a:schemeClr val="lt1"/>
              </a:buClr>
              <a:buSzPts val="1400"/>
              <a:buFont typeface="Inter"/>
              <a:buChar char="○"/>
              <a:defRPr>
                <a:solidFill>
                  <a:schemeClr val="lt1"/>
                </a:solidFill>
                <a:latin typeface="Inter"/>
                <a:ea typeface="Inter"/>
                <a:cs typeface="Inter"/>
                <a:sym typeface="Inter"/>
              </a:defRPr>
            </a:lvl2pPr>
            <a:lvl3pPr indent="-317500" lvl="2" marL="1371600">
              <a:lnSpc>
                <a:spcPct val="115000"/>
              </a:lnSpc>
              <a:spcBef>
                <a:spcPts val="0"/>
              </a:spcBef>
              <a:spcAft>
                <a:spcPts val="0"/>
              </a:spcAft>
              <a:buClr>
                <a:schemeClr val="lt1"/>
              </a:buClr>
              <a:buSzPts val="1400"/>
              <a:buFont typeface="Inter"/>
              <a:buChar char="■"/>
              <a:defRPr>
                <a:solidFill>
                  <a:schemeClr val="lt1"/>
                </a:solidFill>
                <a:latin typeface="Inter"/>
                <a:ea typeface="Inter"/>
                <a:cs typeface="Inter"/>
                <a:sym typeface="Inter"/>
              </a:defRPr>
            </a:lvl3pPr>
            <a:lvl4pPr indent="-317500" lvl="3" marL="1828800">
              <a:lnSpc>
                <a:spcPct val="115000"/>
              </a:lnSpc>
              <a:spcBef>
                <a:spcPts val="0"/>
              </a:spcBef>
              <a:spcAft>
                <a:spcPts val="0"/>
              </a:spcAft>
              <a:buClr>
                <a:schemeClr val="lt1"/>
              </a:buClr>
              <a:buSzPts val="1400"/>
              <a:buFont typeface="Inter"/>
              <a:buChar char="●"/>
              <a:defRPr>
                <a:solidFill>
                  <a:schemeClr val="lt1"/>
                </a:solidFill>
                <a:latin typeface="Inter"/>
                <a:ea typeface="Inter"/>
                <a:cs typeface="Inter"/>
                <a:sym typeface="Inter"/>
              </a:defRPr>
            </a:lvl4pPr>
            <a:lvl5pPr indent="-317500" lvl="4" marL="2286000">
              <a:lnSpc>
                <a:spcPct val="115000"/>
              </a:lnSpc>
              <a:spcBef>
                <a:spcPts val="0"/>
              </a:spcBef>
              <a:spcAft>
                <a:spcPts val="0"/>
              </a:spcAft>
              <a:buClr>
                <a:schemeClr val="lt1"/>
              </a:buClr>
              <a:buSzPts val="1400"/>
              <a:buFont typeface="Inter"/>
              <a:buChar char="○"/>
              <a:defRPr>
                <a:solidFill>
                  <a:schemeClr val="lt1"/>
                </a:solidFill>
                <a:latin typeface="Inter"/>
                <a:ea typeface="Inter"/>
                <a:cs typeface="Inter"/>
                <a:sym typeface="Inter"/>
              </a:defRPr>
            </a:lvl5pPr>
            <a:lvl6pPr indent="-317500" lvl="5" marL="2743200">
              <a:lnSpc>
                <a:spcPct val="115000"/>
              </a:lnSpc>
              <a:spcBef>
                <a:spcPts val="0"/>
              </a:spcBef>
              <a:spcAft>
                <a:spcPts val="0"/>
              </a:spcAft>
              <a:buClr>
                <a:schemeClr val="lt1"/>
              </a:buClr>
              <a:buSzPts val="1400"/>
              <a:buFont typeface="Inter"/>
              <a:buChar char="■"/>
              <a:defRPr>
                <a:solidFill>
                  <a:schemeClr val="lt1"/>
                </a:solidFill>
                <a:latin typeface="Inter"/>
                <a:ea typeface="Inter"/>
                <a:cs typeface="Inter"/>
                <a:sym typeface="Inter"/>
              </a:defRPr>
            </a:lvl6pPr>
            <a:lvl7pPr indent="-317500" lvl="6" marL="3200400">
              <a:lnSpc>
                <a:spcPct val="115000"/>
              </a:lnSpc>
              <a:spcBef>
                <a:spcPts val="0"/>
              </a:spcBef>
              <a:spcAft>
                <a:spcPts val="0"/>
              </a:spcAft>
              <a:buClr>
                <a:schemeClr val="lt1"/>
              </a:buClr>
              <a:buSzPts val="1400"/>
              <a:buFont typeface="Inter"/>
              <a:buChar char="●"/>
              <a:defRPr>
                <a:solidFill>
                  <a:schemeClr val="lt1"/>
                </a:solidFill>
                <a:latin typeface="Inter"/>
                <a:ea typeface="Inter"/>
                <a:cs typeface="Inter"/>
                <a:sym typeface="Inter"/>
              </a:defRPr>
            </a:lvl7pPr>
            <a:lvl8pPr indent="-317500" lvl="7" marL="3657600">
              <a:lnSpc>
                <a:spcPct val="115000"/>
              </a:lnSpc>
              <a:spcBef>
                <a:spcPts val="0"/>
              </a:spcBef>
              <a:spcAft>
                <a:spcPts val="0"/>
              </a:spcAft>
              <a:buClr>
                <a:schemeClr val="lt1"/>
              </a:buClr>
              <a:buSzPts val="1400"/>
              <a:buFont typeface="Inter"/>
              <a:buChar char="○"/>
              <a:defRPr>
                <a:solidFill>
                  <a:schemeClr val="lt1"/>
                </a:solidFill>
                <a:latin typeface="Inter"/>
                <a:ea typeface="Inter"/>
                <a:cs typeface="Inter"/>
                <a:sym typeface="Inter"/>
              </a:defRPr>
            </a:lvl8pPr>
            <a:lvl9pPr indent="-317500" lvl="8" marL="4114800">
              <a:lnSpc>
                <a:spcPct val="115000"/>
              </a:lnSpc>
              <a:spcBef>
                <a:spcPts val="0"/>
              </a:spcBef>
              <a:spcAft>
                <a:spcPts val="0"/>
              </a:spcAft>
              <a:buClr>
                <a:schemeClr val="lt1"/>
              </a:buClr>
              <a:buSzPts val="1400"/>
              <a:buFont typeface="Inter"/>
              <a:buChar char="■"/>
              <a:defRPr>
                <a:solidFill>
                  <a:schemeClr val="lt1"/>
                </a:solidFill>
                <a:latin typeface="Inter"/>
                <a:ea typeface="Inter"/>
                <a:cs typeface="Inter"/>
                <a:sym typeface="Inter"/>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Inter Light"/>
                <a:ea typeface="Inter Light"/>
                <a:cs typeface="Inter Light"/>
                <a:sym typeface="Inter Light"/>
              </a:defRPr>
            </a:lvl1pPr>
            <a:lvl2pPr lvl="1" algn="r">
              <a:buNone/>
              <a:defRPr sz="1000">
                <a:solidFill>
                  <a:schemeClr val="lt1"/>
                </a:solidFill>
                <a:latin typeface="Inter Light"/>
                <a:ea typeface="Inter Light"/>
                <a:cs typeface="Inter Light"/>
                <a:sym typeface="Inter Light"/>
              </a:defRPr>
            </a:lvl2pPr>
            <a:lvl3pPr lvl="2" algn="r">
              <a:buNone/>
              <a:defRPr sz="1000">
                <a:solidFill>
                  <a:schemeClr val="lt1"/>
                </a:solidFill>
                <a:latin typeface="Inter Light"/>
                <a:ea typeface="Inter Light"/>
                <a:cs typeface="Inter Light"/>
                <a:sym typeface="Inter Light"/>
              </a:defRPr>
            </a:lvl3pPr>
            <a:lvl4pPr lvl="3" algn="r">
              <a:buNone/>
              <a:defRPr sz="1000">
                <a:solidFill>
                  <a:schemeClr val="lt1"/>
                </a:solidFill>
                <a:latin typeface="Inter Light"/>
                <a:ea typeface="Inter Light"/>
                <a:cs typeface="Inter Light"/>
                <a:sym typeface="Inter Light"/>
              </a:defRPr>
            </a:lvl4pPr>
            <a:lvl5pPr lvl="4" algn="r">
              <a:buNone/>
              <a:defRPr sz="1000">
                <a:solidFill>
                  <a:schemeClr val="lt1"/>
                </a:solidFill>
                <a:latin typeface="Inter Light"/>
                <a:ea typeface="Inter Light"/>
                <a:cs typeface="Inter Light"/>
                <a:sym typeface="Inter Light"/>
              </a:defRPr>
            </a:lvl5pPr>
            <a:lvl6pPr lvl="5" algn="r">
              <a:buNone/>
              <a:defRPr sz="1000">
                <a:solidFill>
                  <a:schemeClr val="lt1"/>
                </a:solidFill>
                <a:latin typeface="Inter Light"/>
                <a:ea typeface="Inter Light"/>
                <a:cs typeface="Inter Light"/>
                <a:sym typeface="Inter Light"/>
              </a:defRPr>
            </a:lvl6pPr>
            <a:lvl7pPr lvl="6" algn="r">
              <a:buNone/>
              <a:defRPr sz="1000">
                <a:solidFill>
                  <a:schemeClr val="lt1"/>
                </a:solidFill>
                <a:latin typeface="Inter Light"/>
                <a:ea typeface="Inter Light"/>
                <a:cs typeface="Inter Light"/>
                <a:sym typeface="Inter Light"/>
              </a:defRPr>
            </a:lvl7pPr>
            <a:lvl8pPr lvl="7" algn="r">
              <a:buNone/>
              <a:defRPr sz="1000">
                <a:solidFill>
                  <a:schemeClr val="lt1"/>
                </a:solidFill>
                <a:latin typeface="Inter Light"/>
                <a:ea typeface="Inter Light"/>
                <a:cs typeface="Inter Light"/>
                <a:sym typeface="Inter Light"/>
              </a:defRPr>
            </a:lvl8pPr>
            <a:lvl9pPr lvl="8" algn="r">
              <a:buNone/>
              <a:defRPr sz="1000">
                <a:solidFill>
                  <a:schemeClr val="lt1"/>
                </a:solidFill>
                <a:latin typeface="Inter Light"/>
                <a:ea typeface="Inter Light"/>
                <a:cs typeface="Inter Light"/>
                <a:sym typeface="Inter Light"/>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8438FA"/>
            </a:gs>
            <a:gs pos="35000">
              <a:srgbClr val="8438FA"/>
            </a:gs>
            <a:gs pos="100000">
              <a:srgbClr val="BB11FF"/>
            </a:gs>
          </a:gsLst>
          <a:lin ang="2700006" scaled="0"/>
        </a:gradFill>
      </p:bgPr>
    </p:bg>
    <p:spTree>
      <p:nvGrpSpPr>
        <p:cNvPr id="52" name="Shape 52"/>
        <p:cNvGrpSpPr/>
        <p:nvPr/>
      </p:nvGrpSpPr>
      <p:grpSpPr>
        <a:xfrm>
          <a:off x="0" y="0"/>
          <a:ext cx="0" cy="0"/>
          <a:chOff x="0" y="0"/>
          <a:chExt cx="0" cy="0"/>
        </a:xfrm>
      </p:grpSpPr>
      <p:sp>
        <p:nvSpPr>
          <p:cNvPr id="53" name="Google Shape;53;p13"/>
          <p:cNvSpPr txBox="1"/>
          <p:nvPr/>
        </p:nvSpPr>
        <p:spPr>
          <a:xfrm>
            <a:off x="1926900" y="1909950"/>
            <a:ext cx="5290200" cy="1323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GB" sz="3700">
                <a:solidFill>
                  <a:schemeClr val="lt1"/>
                </a:solidFill>
                <a:latin typeface="Inter"/>
                <a:ea typeface="Inter"/>
                <a:cs typeface="Inter"/>
                <a:sym typeface="Inter"/>
              </a:rPr>
              <a:t>Configuring Circuit Breakers</a:t>
            </a:r>
            <a:endParaRPr b="1" sz="3700">
              <a:solidFill>
                <a:schemeClr val="lt1"/>
              </a:solidFill>
              <a:latin typeface="Inter"/>
              <a:ea typeface="Inter"/>
              <a:cs typeface="Inter"/>
              <a:sym typeface="Inter"/>
            </a:endParaRPr>
          </a:p>
        </p:txBody>
      </p:sp>
      <p:sp>
        <p:nvSpPr>
          <p:cNvPr id="54" name="Google Shape;54;p13"/>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5" name="Google Shape;55;p13"/>
          <p:cNvPicPr preferRelativeResize="0"/>
          <p:nvPr/>
        </p:nvPicPr>
        <p:blipFill>
          <a:blip r:embed="rId3">
            <a:alphaModFix/>
          </a:blip>
          <a:stretch>
            <a:fillRect/>
          </a:stretch>
        </p:blipFill>
        <p:spPr>
          <a:xfrm>
            <a:off x="8423988" y="4687950"/>
            <a:ext cx="527775" cy="2736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9" name="Shape 59"/>
        <p:cNvGrpSpPr/>
        <p:nvPr/>
      </p:nvGrpSpPr>
      <p:grpSpPr>
        <a:xfrm>
          <a:off x="0" y="0"/>
          <a:ext cx="0" cy="0"/>
          <a:chOff x="0" y="0"/>
          <a:chExt cx="0" cy="0"/>
        </a:xfrm>
      </p:grpSpPr>
      <p:sp>
        <p:nvSpPr>
          <p:cNvPr id="60" name="Google Shape;60;p14"/>
          <p:cNvSpPr txBox="1"/>
          <p:nvPr/>
        </p:nvSpPr>
        <p:spPr>
          <a:xfrm>
            <a:off x="415200" y="1154200"/>
            <a:ext cx="4307100" cy="2878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GB">
                <a:solidFill>
                  <a:srgbClr val="03031C"/>
                </a:solidFill>
                <a:latin typeface="Inter"/>
                <a:ea typeface="Inter"/>
                <a:cs typeface="Inter"/>
                <a:sym typeface="Inter"/>
              </a:rPr>
              <a:t>Sample Size</a:t>
            </a:r>
            <a:endParaRPr b="1">
              <a:solidFill>
                <a:srgbClr val="03031C"/>
              </a:solidFill>
              <a:latin typeface="Inter"/>
              <a:ea typeface="Inter"/>
              <a:cs typeface="Inter"/>
              <a:sym typeface="Inter"/>
            </a:endParaRPr>
          </a:p>
          <a:p>
            <a:pPr indent="-317500" lvl="0" marL="457200" rtl="0" algn="l">
              <a:lnSpc>
                <a:spcPct val="115000"/>
              </a:lnSpc>
              <a:spcBef>
                <a:spcPts val="0"/>
              </a:spcBef>
              <a:spcAft>
                <a:spcPts val="0"/>
              </a:spcAft>
              <a:buClr>
                <a:srgbClr val="03031C"/>
              </a:buClr>
              <a:buSzPts val="1400"/>
              <a:buFont typeface="Inter"/>
              <a:buChar char="●"/>
            </a:pPr>
            <a:r>
              <a:rPr lang="en-GB">
                <a:solidFill>
                  <a:srgbClr val="03031C"/>
                </a:solidFill>
                <a:latin typeface="Inter"/>
                <a:ea typeface="Inter"/>
                <a:cs typeface="Inter"/>
                <a:sym typeface="Inter"/>
              </a:rPr>
              <a:t>Number of requests in the rolling window</a:t>
            </a:r>
            <a:endParaRPr>
              <a:solidFill>
                <a:srgbClr val="03031C"/>
              </a:solidFill>
              <a:latin typeface="Inter"/>
              <a:ea typeface="Inter"/>
              <a:cs typeface="Inter"/>
              <a:sym typeface="Inter"/>
            </a:endParaRPr>
          </a:p>
          <a:p>
            <a:pPr indent="-317500" lvl="0" marL="457200" rtl="0" algn="l">
              <a:lnSpc>
                <a:spcPct val="115000"/>
              </a:lnSpc>
              <a:spcBef>
                <a:spcPts val="0"/>
              </a:spcBef>
              <a:spcAft>
                <a:spcPts val="0"/>
              </a:spcAft>
              <a:buClr>
                <a:srgbClr val="03031C"/>
              </a:buClr>
              <a:buSzPts val="1400"/>
              <a:buFont typeface="Inter"/>
              <a:buChar char="●"/>
            </a:pPr>
            <a:r>
              <a:rPr lang="en-GB">
                <a:solidFill>
                  <a:srgbClr val="03031C"/>
                </a:solidFill>
                <a:latin typeface="Inter"/>
                <a:ea typeface="Inter"/>
                <a:cs typeface="Inter"/>
                <a:sym typeface="Inter"/>
              </a:rPr>
              <a:t>e.g. 100 requests per 10 seconds</a:t>
            </a:r>
            <a:endParaRPr>
              <a:solidFill>
                <a:srgbClr val="03031C"/>
              </a:solidFill>
              <a:latin typeface="Inter"/>
              <a:ea typeface="Inter"/>
              <a:cs typeface="Inter"/>
              <a:sym typeface="Inter"/>
            </a:endParaRPr>
          </a:p>
          <a:p>
            <a:pPr indent="0" lvl="0" marL="0" rtl="0" algn="l">
              <a:lnSpc>
                <a:spcPct val="115000"/>
              </a:lnSpc>
              <a:spcBef>
                <a:spcPts val="0"/>
              </a:spcBef>
              <a:spcAft>
                <a:spcPts val="0"/>
              </a:spcAft>
              <a:buNone/>
            </a:pPr>
            <a:r>
              <a:t/>
            </a:r>
            <a:endParaRPr>
              <a:solidFill>
                <a:srgbClr val="03031C"/>
              </a:solidFill>
              <a:latin typeface="Inter"/>
              <a:ea typeface="Inter"/>
              <a:cs typeface="Inter"/>
              <a:sym typeface="Inter"/>
            </a:endParaRPr>
          </a:p>
          <a:p>
            <a:pPr indent="0" lvl="0" marL="0" rtl="0" algn="l">
              <a:lnSpc>
                <a:spcPct val="115000"/>
              </a:lnSpc>
              <a:spcBef>
                <a:spcPts val="0"/>
              </a:spcBef>
              <a:spcAft>
                <a:spcPts val="0"/>
              </a:spcAft>
              <a:buNone/>
            </a:pPr>
            <a:r>
              <a:rPr b="1" lang="en-GB">
                <a:solidFill>
                  <a:srgbClr val="03031C"/>
                </a:solidFill>
                <a:latin typeface="Inter"/>
                <a:ea typeface="Inter"/>
                <a:cs typeface="Inter"/>
                <a:sym typeface="Inter"/>
              </a:rPr>
              <a:t>Error Rate Threshold</a:t>
            </a:r>
            <a:endParaRPr b="1">
              <a:solidFill>
                <a:srgbClr val="03031C"/>
              </a:solidFill>
              <a:latin typeface="Inter"/>
              <a:ea typeface="Inter"/>
              <a:cs typeface="Inter"/>
              <a:sym typeface="Inter"/>
            </a:endParaRPr>
          </a:p>
          <a:p>
            <a:pPr indent="-317500" lvl="0" marL="457200" rtl="0" algn="l">
              <a:lnSpc>
                <a:spcPct val="115000"/>
              </a:lnSpc>
              <a:spcBef>
                <a:spcPts val="0"/>
              </a:spcBef>
              <a:spcAft>
                <a:spcPts val="0"/>
              </a:spcAft>
              <a:buClr>
                <a:srgbClr val="03031C"/>
              </a:buClr>
              <a:buSzPts val="1400"/>
              <a:buFont typeface="Inter"/>
              <a:buChar char="●"/>
            </a:pPr>
            <a:r>
              <a:rPr lang="en-GB">
                <a:solidFill>
                  <a:srgbClr val="03031C"/>
                </a:solidFill>
                <a:latin typeface="Inter"/>
                <a:ea typeface="Inter"/>
                <a:cs typeface="Inter"/>
                <a:sym typeface="Inter"/>
              </a:rPr>
              <a:t>Proportion of failures to trip the breaker</a:t>
            </a:r>
            <a:endParaRPr>
              <a:solidFill>
                <a:srgbClr val="03031C"/>
              </a:solidFill>
              <a:latin typeface="Inter"/>
              <a:ea typeface="Inter"/>
              <a:cs typeface="Inter"/>
              <a:sym typeface="Inter"/>
            </a:endParaRPr>
          </a:p>
          <a:p>
            <a:pPr indent="-317500" lvl="0" marL="457200" rtl="0" algn="l">
              <a:lnSpc>
                <a:spcPct val="115000"/>
              </a:lnSpc>
              <a:spcBef>
                <a:spcPts val="0"/>
              </a:spcBef>
              <a:spcAft>
                <a:spcPts val="0"/>
              </a:spcAft>
              <a:buClr>
                <a:srgbClr val="03031C"/>
              </a:buClr>
              <a:buSzPts val="1400"/>
              <a:buFont typeface="Inter"/>
              <a:buChar char="●"/>
            </a:pPr>
            <a:r>
              <a:rPr lang="en-GB">
                <a:solidFill>
                  <a:srgbClr val="03031C"/>
                </a:solidFill>
                <a:latin typeface="Inter"/>
                <a:ea typeface="Inter"/>
                <a:cs typeface="Inter"/>
                <a:sym typeface="Inter"/>
              </a:rPr>
              <a:t>e.g. 15/100 = 0.15 (15% failure rate)</a:t>
            </a:r>
            <a:endParaRPr>
              <a:solidFill>
                <a:srgbClr val="03031C"/>
              </a:solidFill>
              <a:latin typeface="Inter"/>
              <a:ea typeface="Inter"/>
              <a:cs typeface="Inter"/>
              <a:sym typeface="Inter"/>
            </a:endParaRPr>
          </a:p>
          <a:p>
            <a:pPr indent="0" lvl="0" marL="0" rtl="0" algn="l">
              <a:lnSpc>
                <a:spcPct val="115000"/>
              </a:lnSpc>
              <a:spcBef>
                <a:spcPts val="0"/>
              </a:spcBef>
              <a:spcAft>
                <a:spcPts val="0"/>
              </a:spcAft>
              <a:buNone/>
            </a:pPr>
            <a:r>
              <a:t/>
            </a:r>
            <a:endParaRPr>
              <a:solidFill>
                <a:srgbClr val="03031C"/>
              </a:solidFill>
              <a:latin typeface="Inter"/>
              <a:ea typeface="Inter"/>
              <a:cs typeface="Inter"/>
              <a:sym typeface="Inter"/>
            </a:endParaRPr>
          </a:p>
          <a:p>
            <a:pPr indent="0" lvl="0" marL="0" rtl="0" algn="l">
              <a:lnSpc>
                <a:spcPct val="115000"/>
              </a:lnSpc>
              <a:spcBef>
                <a:spcPts val="0"/>
              </a:spcBef>
              <a:spcAft>
                <a:spcPts val="0"/>
              </a:spcAft>
              <a:buNone/>
            </a:pPr>
            <a:r>
              <a:rPr b="1" lang="en-GB">
                <a:solidFill>
                  <a:srgbClr val="03031C"/>
                </a:solidFill>
                <a:latin typeface="Inter"/>
                <a:ea typeface="Inter"/>
                <a:cs typeface="Inter"/>
                <a:sym typeface="Inter"/>
              </a:rPr>
              <a:t>Cooldown Period</a:t>
            </a:r>
            <a:endParaRPr b="1">
              <a:solidFill>
                <a:srgbClr val="03031C"/>
              </a:solidFill>
              <a:latin typeface="Inter"/>
              <a:ea typeface="Inter"/>
              <a:cs typeface="Inter"/>
              <a:sym typeface="Inter"/>
            </a:endParaRPr>
          </a:p>
          <a:p>
            <a:pPr indent="-317500" lvl="0" marL="457200" rtl="0" algn="l">
              <a:lnSpc>
                <a:spcPct val="115000"/>
              </a:lnSpc>
              <a:spcBef>
                <a:spcPts val="0"/>
              </a:spcBef>
              <a:spcAft>
                <a:spcPts val="0"/>
              </a:spcAft>
              <a:buClr>
                <a:srgbClr val="03031C"/>
              </a:buClr>
              <a:buSzPts val="1400"/>
              <a:buFont typeface="Inter"/>
              <a:buChar char="●"/>
            </a:pPr>
            <a:r>
              <a:rPr lang="en-GB">
                <a:solidFill>
                  <a:srgbClr val="03031C"/>
                </a:solidFill>
                <a:latin typeface="Inter"/>
                <a:ea typeface="Inter"/>
                <a:cs typeface="Inter"/>
                <a:sym typeface="Inter"/>
              </a:rPr>
              <a:t>Time (in seconds) the breaker stays open</a:t>
            </a:r>
            <a:endParaRPr>
              <a:solidFill>
                <a:srgbClr val="03031C"/>
              </a:solidFill>
              <a:latin typeface="Inter"/>
              <a:ea typeface="Inter"/>
              <a:cs typeface="Inter"/>
              <a:sym typeface="Inter"/>
            </a:endParaRPr>
          </a:p>
          <a:p>
            <a:pPr indent="-317500" lvl="0" marL="457200" rtl="0" algn="l">
              <a:lnSpc>
                <a:spcPct val="115000"/>
              </a:lnSpc>
              <a:spcBef>
                <a:spcPts val="0"/>
              </a:spcBef>
              <a:spcAft>
                <a:spcPts val="0"/>
              </a:spcAft>
              <a:buClr>
                <a:srgbClr val="03031C"/>
              </a:buClr>
              <a:buSzPts val="1400"/>
              <a:buFont typeface="Inter"/>
              <a:buChar char="●"/>
            </a:pPr>
            <a:r>
              <a:rPr lang="en-GB">
                <a:solidFill>
                  <a:srgbClr val="03031C"/>
                </a:solidFill>
                <a:latin typeface="Inter"/>
                <a:ea typeface="Inter"/>
                <a:cs typeface="Inter"/>
                <a:sym typeface="Inter"/>
              </a:rPr>
              <a:t>During this time, requests are blocked</a:t>
            </a:r>
            <a:endParaRPr>
              <a:solidFill>
                <a:srgbClr val="03031C"/>
              </a:solidFill>
              <a:latin typeface="Inter"/>
              <a:ea typeface="Inter"/>
              <a:cs typeface="Inter"/>
              <a:sym typeface="Inter"/>
            </a:endParaRPr>
          </a:p>
        </p:txBody>
      </p:sp>
      <p:sp>
        <p:nvSpPr>
          <p:cNvPr id="61" name="Google Shape;61;p14"/>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2" name="Google Shape;62;p14"/>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63" name="Google Shape;63;p14"/>
          <p:cNvSpPr txBox="1"/>
          <p:nvPr/>
        </p:nvSpPr>
        <p:spPr>
          <a:xfrm>
            <a:off x="720000" y="157075"/>
            <a:ext cx="78588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800">
                <a:solidFill>
                  <a:srgbClr val="5900CB"/>
                </a:solidFill>
                <a:latin typeface="Inter"/>
                <a:ea typeface="Inter"/>
                <a:cs typeface="Inter"/>
                <a:sym typeface="Inter"/>
              </a:rPr>
              <a:t>Key Configuration Parameters</a:t>
            </a:r>
            <a:endParaRPr b="1" sz="3800">
              <a:solidFill>
                <a:srgbClr val="03031C"/>
              </a:solidFill>
              <a:latin typeface="Inter"/>
              <a:ea typeface="Inter"/>
              <a:cs typeface="Inter"/>
              <a:sym typeface="Inter"/>
            </a:endParaRPr>
          </a:p>
        </p:txBody>
      </p:sp>
      <p:sp>
        <p:nvSpPr>
          <p:cNvPr id="64" name="Google Shape;64;p14"/>
          <p:cNvSpPr txBox="1"/>
          <p:nvPr/>
        </p:nvSpPr>
        <p:spPr>
          <a:xfrm>
            <a:off x="4949450" y="1162550"/>
            <a:ext cx="3916800" cy="3126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GB">
                <a:solidFill>
                  <a:schemeClr val="dk2"/>
                </a:solidFill>
                <a:latin typeface="Inter"/>
                <a:ea typeface="Inter"/>
                <a:cs typeface="Inter"/>
                <a:sym typeface="Inter"/>
              </a:rPr>
              <a:t>Optional: Half-Open State</a:t>
            </a:r>
            <a:endParaRPr b="1">
              <a:solidFill>
                <a:schemeClr val="dk2"/>
              </a:solidFill>
              <a:latin typeface="Inter"/>
              <a:ea typeface="Inter"/>
              <a:cs typeface="Inter"/>
              <a:sym typeface="Inter"/>
            </a:endParaRPr>
          </a:p>
          <a:p>
            <a:pPr indent="-317500" lvl="0" marL="457200" rtl="0" algn="l">
              <a:lnSpc>
                <a:spcPct val="115000"/>
              </a:lnSpc>
              <a:spcBef>
                <a:spcPts val="0"/>
              </a:spcBef>
              <a:spcAft>
                <a:spcPts val="0"/>
              </a:spcAft>
              <a:buClr>
                <a:srgbClr val="03031C"/>
              </a:buClr>
              <a:buSzPts val="1400"/>
              <a:buFont typeface="Inter"/>
              <a:buChar char="●"/>
            </a:pPr>
            <a:r>
              <a:rPr lang="en-GB">
                <a:solidFill>
                  <a:srgbClr val="03031C"/>
                </a:solidFill>
                <a:latin typeface="Inter"/>
                <a:ea typeface="Inter"/>
                <a:cs typeface="Inter"/>
                <a:sym typeface="Inter"/>
              </a:rPr>
              <a:t>Can be enabled/disabled based on system needs</a:t>
            </a:r>
            <a:endParaRPr>
              <a:solidFill>
                <a:srgbClr val="03031C"/>
              </a:solidFill>
              <a:latin typeface="Inter"/>
              <a:ea typeface="Inter"/>
              <a:cs typeface="Inter"/>
              <a:sym typeface="Inter"/>
            </a:endParaRPr>
          </a:p>
          <a:p>
            <a:pPr indent="-317500" lvl="0" marL="457200" rtl="0" algn="l">
              <a:lnSpc>
                <a:spcPct val="115000"/>
              </a:lnSpc>
              <a:spcBef>
                <a:spcPts val="0"/>
              </a:spcBef>
              <a:spcAft>
                <a:spcPts val="0"/>
              </a:spcAft>
              <a:buClr>
                <a:srgbClr val="03031C"/>
              </a:buClr>
              <a:buSzPts val="1400"/>
              <a:buFont typeface="Inter"/>
              <a:buChar char="●"/>
            </a:pPr>
            <a:r>
              <a:rPr lang="en-GB">
                <a:solidFill>
                  <a:srgbClr val="03031C"/>
                </a:solidFill>
                <a:latin typeface="Inter"/>
                <a:ea typeface="Inter"/>
                <a:cs typeface="Inter"/>
                <a:sym typeface="Inter"/>
              </a:rPr>
              <a:t>Allows early recovery probing of upstream</a:t>
            </a:r>
            <a:endParaRPr>
              <a:solidFill>
                <a:srgbClr val="03031C"/>
              </a:solidFill>
              <a:latin typeface="Inter"/>
              <a:ea typeface="Inter"/>
              <a:cs typeface="Inter"/>
              <a:sym typeface="Inter"/>
            </a:endParaRPr>
          </a:p>
          <a:p>
            <a:pPr indent="0" lvl="0" marL="0" rtl="0" algn="l">
              <a:lnSpc>
                <a:spcPct val="115000"/>
              </a:lnSpc>
              <a:spcBef>
                <a:spcPts val="0"/>
              </a:spcBef>
              <a:spcAft>
                <a:spcPts val="0"/>
              </a:spcAft>
              <a:buNone/>
            </a:pPr>
            <a:r>
              <a:t/>
            </a:r>
            <a:endParaRPr>
              <a:solidFill>
                <a:srgbClr val="03031C"/>
              </a:solidFill>
              <a:latin typeface="Inter"/>
              <a:ea typeface="Inter"/>
              <a:cs typeface="Inter"/>
              <a:sym typeface="Inter"/>
            </a:endParaRPr>
          </a:p>
          <a:p>
            <a:pPr indent="0" lvl="0" marL="0" rtl="0" algn="l">
              <a:lnSpc>
                <a:spcPct val="115000"/>
              </a:lnSpc>
              <a:spcBef>
                <a:spcPts val="0"/>
              </a:spcBef>
              <a:spcAft>
                <a:spcPts val="0"/>
              </a:spcAft>
              <a:buNone/>
            </a:pPr>
            <a:r>
              <a:rPr b="1" lang="en-GB">
                <a:solidFill>
                  <a:schemeClr val="dk2"/>
                </a:solidFill>
                <a:latin typeface="Inter"/>
                <a:ea typeface="Inter"/>
                <a:cs typeface="Inter"/>
                <a:sym typeface="Inter"/>
              </a:rPr>
              <a:t>Special Case: Service Discovery</a:t>
            </a:r>
            <a:endParaRPr b="1">
              <a:solidFill>
                <a:schemeClr val="dk2"/>
              </a:solidFill>
              <a:latin typeface="Inter"/>
              <a:ea typeface="Inter"/>
              <a:cs typeface="Inter"/>
              <a:sym typeface="Inter"/>
            </a:endParaRPr>
          </a:p>
          <a:p>
            <a:pPr indent="-317500" lvl="0" marL="457200" rtl="0" algn="l">
              <a:lnSpc>
                <a:spcPct val="115000"/>
              </a:lnSpc>
              <a:spcBef>
                <a:spcPts val="0"/>
              </a:spcBef>
              <a:spcAft>
                <a:spcPts val="0"/>
              </a:spcAft>
              <a:buClr>
                <a:srgbClr val="03031C"/>
              </a:buClr>
              <a:buSzPts val="1400"/>
              <a:buFont typeface="Inter"/>
              <a:buChar char="●"/>
            </a:pPr>
            <a:r>
              <a:rPr lang="en-GB">
                <a:solidFill>
                  <a:srgbClr val="03031C"/>
                </a:solidFill>
                <a:latin typeface="Inter"/>
                <a:ea typeface="Inter"/>
                <a:cs typeface="Inter"/>
                <a:sym typeface="Inter"/>
              </a:rPr>
              <a:t>When circuit trips, Tyk refreshes the Gateway list via Service Discovery module</a:t>
            </a:r>
            <a:endParaRPr>
              <a:solidFill>
                <a:srgbClr val="03031C"/>
              </a:solidFill>
              <a:latin typeface="Inter"/>
              <a:ea typeface="Inter"/>
              <a:cs typeface="Inter"/>
              <a:sym typeface="Inter"/>
            </a:endParaRPr>
          </a:p>
          <a:p>
            <a:pPr indent="0" lvl="0" marL="0" rtl="0" algn="l">
              <a:lnSpc>
                <a:spcPct val="115000"/>
              </a:lnSpc>
              <a:spcBef>
                <a:spcPts val="0"/>
              </a:spcBef>
              <a:spcAft>
                <a:spcPts val="0"/>
              </a:spcAft>
              <a:buNone/>
            </a:pPr>
            <a:r>
              <a:t/>
            </a:r>
            <a:endParaRPr>
              <a:solidFill>
                <a:srgbClr val="03031C"/>
              </a:solidFill>
              <a:latin typeface="Inter"/>
              <a:ea typeface="Inter"/>
              <a:cs typeface="Inter"/>
              <a:sym typeface="Inter"/>
            </a:endParaRPr>
          </a:p>
          <a:p>
            <a:pPr indent="0" lvl="0" marL="0" rtl="0" algn="l">
              <a:lnSpc>
                <a:spcPct val="115000"/>
              </a:lnSpc>
              <a:spcBef>
                <a:spcPts val="0"/>
              </a:spcBef>
              <a:spcAft>
                <a:spcPts val="0"/>
              </a:spcAft>
              <a:buNone/>
            </a:pPr>
            <a:r>
              <a:t/>
            </a:r>
            <a:endParaRPr>
              <a:solidFill>
                <a:srgbClr val="03031C"/>
              </a:solidFill>
              <a:latin typeface="Inter"/>
              <a:ea typeface="Inter"/>
              <a:cs typeface="Inter"/>
              <a:sym typeface="Inter"/>
            </a:endParaRPr>
          </a:p>
        </p:txBody>
      </p:sp>
    </p:spTree>
  </p:cSld>
  <p:clrMapOvr>
    <a:masterClrMapping/>
  </p:clrMapOvr>
</p:sld>
</file>

<file path=ppt/theme/theme1.xml><?xml version="1.0" encoding="utf-8"?>
<a:theme xmlns:a="http://schemas.openxmlformats.org/drawingml/2006/main" xmlns:r="http://schemas.openxmlformats.org/officeDocument/2006/relationships" name="Tyk main slide deck">
  <a:themeElements>
    <a:clrScheme name="Simple Light">
      <a:dk1>
        <a:srgbClr val="03031C"/>
      </a:dk1>
      <a:lt1>
        <a:srgbClr val="FFFFFF"/>
      </a:lt1>
      <a:dk2>
        <a:srgbClr val="8438FA"/>
      </a:dk2>
      <a:lt2>
        <a:srgbClr val="5900CB"/>
      </a:lt2>
      <a:accent1>
        <a:srgbClr val="FFC743"/>
      </a:accent1>
      <a:accent2>
        <a:srgbClr val="FFF500"/>
      </a:accent2>
      <a:accent3>
        <a:srgbClr val="20EDBA"/>
      </a:accent3>
      <a:accent4>
        <a:srgbClr val="00A3A0"/>
      </a:accent4>
      <a:accent5>
        <a:srgbClr val="BB11FF"/>
      </a:accent5>
      <a:accent6>
        <a:srgbClr val="EA26A9"/>
      </a:accent6>
      <a:hlink>
        <a:srgbClr val="E3CE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