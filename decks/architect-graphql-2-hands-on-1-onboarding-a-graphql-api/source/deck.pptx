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Inter Light"/>
      <p:regular r:id="rId9"/>
      <p:bold r:id="rId10"/>
      <p:italic r:id="rId11"/>
      <p:boldItalic r:id="rId12"/>
    </p:embeddedFont>
    <p:embeddedFont>
      <p:font typeface="Roboto"/>
      <p:regular r:id="rId13"/>
      <p:bold r:id="rId14"/>
      <p:italic r:id="rId15"/>
      <p:boldItalic r:id="rId16"/>
    </p:embeddedFont>
    <p:embeddedFont>
      <p:font typeface="Inter"/>
      <p:regular r:id="rId17"/>
      <p:bold r:id="rId18"/>
      <p:italic r:id="rId19"/>
      <p:boldItalic r:id="rId20"/>
    </p:embeddedFont>
    <p:embeddedFont>
      <p:font typeface="Open Sans SemiBold"/>
      <p:regular r:id="rId21"/>
      <p:bold r:id="rId22"/>
      <p:italic r:id="rId23"/>
      <p:boldItalic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22" Type="http://schemas.openxmlformats.org/officeDocument/2006/relationships/font" Target="fonts/OpenSansSemiBold-bold.fntdata"/><Relationship Id="rId21" Type="http://schemas.openxmlformats.org/officeDocument/2006/relationships/font" Target="fonts/OpenSansSemiBold-regular.fntdata"/><Relationship Id="rId24" Type="http://schemas.openxmlformats.org/officeDocument/2006/relationships/font" Target="fonts/OpenSansSemiBold-boldItalic.fntdata"/><Relationship Id="rId23" Type="http://schemas.openxmlformats.org/officeDocument/2006/relationships/font" Target="fonts/OpenSansSemiBold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Light-regular.fntdata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font" Target="fonts/InterLight-italic.fntdata"/><Relationship Id="rId10" Type="http://schemas.openxmlformats.org/officeDocument/2006/relationships/font" Target="fonts/InterLight-bold.fntdata"/><Relationship Id="rId13" Type="http://schemas.openxmlformats.org/officeDocument/2006/relationships/font" Target="fonts/Roboto-regular.fntdata"/><Relationship Id="rId12" Type="http://schemas.openxmlformats.org/officeDocument/2006/relationships/font" Target="fonts/InterLight-boldItalic.fntdata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Inter-regular.fntdata"/><Relationship Id="rId16" Type="http://schemas.openxmlformats.org/officeDocument/2006/relationships/font" Target="fonts/Roboto-boldItalic.fntdata"/><Relationship Id="rId19" Type="http://schemas.openxmlformats.org/officeDocument/2006/relationships/font" Target="fonts/Inter-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fdf56b46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fdf56b46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fdf56b46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5fdf56b46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query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countries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code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name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emoji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0" y="922550"/>
            <a:ext cx="8520600" cy="16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531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2000"/>
              <a:buNone/>
              <a:defRPr sz="20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" name="Google Shape;67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311700" y="1389600"/>
            <a:ext cx="5036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2" name="Google Shape;82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1600"/>
              <a:buNone/>
              <a:defRPr sz="16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800"/>
              <a:buChar char="●"/>
              <a:defRPr>
                <a:solidFill>
                  <a:srgbClr val="8438FA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slide" showMasterSp="0">
  <p:cSld name="Light slide"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951731" y="1115566"/>
            <a:ext cx="5302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3000"/>
              <a:buFont typeface="Arial"/>
              <a:buChar char="●"/>
              <a:defRPr b="1" sz="3000">
                <a:solidFill>
                  <a:srgbClr val="5050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2" type="body"/>
          </p:nvPr>
        </p:nvSpPr>
        <p:spPr>
          <a:xfrm>
            <a:off x="934600" y="858391"/>
            <a:ext cx="282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pic>
        <p:nvPicPr>
          <p:cNvPr descr="logo_RGB-Transparent1-WEB.png" id="97" name="Google Shape;97;p25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5"/>
          <p:cNvSpPr txBox="1"/>
          <p:nvPr>
            <p:ph idx="3" type="body"/>
          </p:nvPr>
        </p:nvSpPr>
        <p:spPr>
          <a:xfrm>
            <a:off x="951731" y="2296477"/>
            <a:ext cx="3860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8543920" y="4773806"/>
            <a:ext cx="35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dark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02" name="Google Shape;102;p26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sz="1800">
                <a:solidFill>
                  <a:srgbClr val="E1E1E1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03" name="Google Shape;103;p26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09EAE"/>
              </a:gs>
              <a:gs pos="100000">
                <a:srgbClr val="00D9BA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white">
  <p:cSld name="SECTION_HEADER_1_1_1_1"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06" name="Google Shape;106;p27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sz="1800">
                <a:solidFill>
                  <a:srgbClr val="0D0D18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07" name="Google Shape;107;p27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A237D"/>
              </a:gs>
              <a:gs pos="100000">
                <a:srgbClr val="2F3F9E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8438FA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438F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28"/>
          <p:cNvGrpSpPr/>
          <p:nvPr/>
        </p:nvGrpSpPr>
        <p:grpSpPr>
          <a:xfrm>
            <a:off x="4075518" y="983572"/>
            <a:ext cx="957345" cy="769216"/>
            <a:chOff x="4572000" y="1770575"/>
            <a:chExt cx="1564800" cy="1257300"/>
          </a:xfrm>
        </p:grpSpPr>
        <p:sp>
          <p:nvSpPr>
            <p:cNvPr id="113" name="Google Shape;113;p28"/>
            <p:cNvSpPr/>
            <p:nvPr/>
          </p:nvSpPr>
          <p:spPr>
            <a:xfrm flipH="1">
              <a:off x="4572000" y="1770575"/>
              <a:ext cx="685800" cy="12573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rgbClr val="21E9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8"/>
            <p:cNvSpPr/>
            <p:nvPr/>
          </p:nvSpPr>
          <p:spPr>
            <a:xfrm flipH="1">
              <a:off x="5451000" y="1770575"/>
              <a:ext cx="685800" cy="12573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rgbClr val="21E9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28"/>
          <p:cNvSpPr txBox="1"/>
          <p:nvPr/>
        </p:nvSpPr>
        <p:spPr>
          <a:xfrm>
            <a:off x="734438" y="2038438"/>
            <a:ext cx="7707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Hands-On</a:t>
            </a:r>
            <a:endParaRPr b="1" sz="3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28"/>
          <p:cNvSpPr txBox="1"/>
          <p:nvPr/>
        </p:nvSpPr>
        <p:spPr>
          <a:xfrm>
            <a:off x="701963" y="2720988"/>
            <a:ext cx="7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solidFill>
                  <a:srgbClr val="20EDBA"/>
                </a:solidFill>
                <a:latin typeface="Open Sans"/>
                <a:ea typeface="Open Sans"/>
                <a:cs typeface="Open Sans"/>
                <a:sym typeface="Open Sans"/>
              </a:rPr>
              <a:t>Onboarding a GraphQL API</a:t>
            </a:r>
            <a:endParaRPr sz="1200"/>
          </a:p>
        </p:txBody>
      </p:sp>
      <p:sp>
        <p:nvSpPr>
          <p:cNvPr id="117" name="Google Shape;117;p28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/>
          <p:nvPr/>
        </p:nvSpPr>
        <p:spPr>
          <a:xfrm>
            <a:off x="720000" y="1154200"/>
            <a:ext cx="5702700" cy="48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Like a REST API, you can onboard via the Dashboard UI, Dashboard API or Gateway API for OSS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Steps: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Go to System Management → APIs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Click Add New API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Fill out Base Configuration: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Name, Type = GraphQL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Target URL (e.g. </a:t>
            </a:r>
            <a:r>
              <a:rPr lang="en-GB" sz="12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https://countries.trevorblades.com/</a:t>
            </a: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Click Configure API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rabicPeriod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Choose Authentication Mode (e.g. Auth Token)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rabicPeriod"/>
            </a:pPr>
            <a:r>
              <a:rPr lang="en-GB" sz="1200">
                <a:solidFill>
                  <a:schemeClr val="dk1"/>
                </a:solidFill>
              </a:rPr>
              <a:t>Click </a:t>
            </a:r>
            <a:r>
              <a:rPr b="1" lang="en-GB" sz="1200">
                <a:solidFill>
                  <a:schemeClr val="dk1"/>
                </a:solidFill>
              </a:rPr>
              <a:t>SAVE</a:t>
            </a:r>
            <a:r>
              <a:rPr lang="en-GB" sz="1200">
                <a:solidFill>
                  <a:schemeClr val="dk1"/>
                </a:solidFill>
              </a:rPr>
              <a:t> – Your GraphQL API is now active and secured.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GB" sz="1200">
                <a:solidFill>
                  <a:schemeClr val="dk1"/>
                </a:solidFill>
              </a:rPr>
              <a:t>Go to ‘Playgrounds’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GB" sz="1200">
                <a:solidFill>
                  <a:schemeClr val="dk1"/>
                </a:solidFill>
              </a:rPr>
              <a:t>Send the following query: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29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9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Onboarding a GraphQL API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29"/>
          <p:cNvSpPr txBox="1"/>
          <p:nvPr/>
        </p:nvSpPr>
        <p:spPr>
          <a:xfrm>
            <a:off x="6593750" y="1763175"/>
            <a:ext cx="2358000" cy="2545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query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countries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code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name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emoji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yk main slide deck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