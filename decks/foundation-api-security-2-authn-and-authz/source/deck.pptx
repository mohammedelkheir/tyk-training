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  <p:sldMasterId id="214748367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Inter Light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Open Sans SemiBold"/>
      <p:regular r:id="rId28"/>
      <p:bold r:id="rId29"/>
      <p:italic r:id="rId30"/>
      <p:boldItalic r:id="rId31"/>
    </p:embeddedFont>
    <p:embeddedFont>
      <p:font typeface="Helvetica Neue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Inter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OpenSansSemiBold-regular.fntdata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SemiBold-boldItalic.fntdata"/><Relationship Id="rId30" Type="http://schemas.openxmlformats.org/officeDocument/2006/relationships/font" Target="fonts/OpenSansSemiBold-italic.fntdata"/><Relationship Id="rId11" Type="http://schemas.openxmlformats.org/officeDocument/2006/relationships/slide" Target="slides/slide5.xml"/><Relationship Id="rId33" Type="http://schemas.openxmlformats.org/officeDocument/2006/relationships/font" Target="fonts/HelveticaNeue-bold.fntdata"/><Relationship Id="rId10" Type="http://schemas.openxmlformats.org/officeDocument/2006/relationships/slide" Target="slides/slide4.xml"/><Relationship Id="rId32" Type="http://schemas.openxmlformats.org/officeDocument/2006/relationships/font" Target="fonts/HelveticaNeue-regular.fntdata"/><Relationship Id="rId13" Type="http://schemas.openxmlformats.org/officeDocument/2006/relationships/slide" Target="slides/slide7.xml"/><Relationship Id="rId35" Type="http://schemas.openxmlformats.org/officeDocument/2006/relationships/font" Target="fonts/HelveticaNeue-boldItalic.fntdata"/><Relationship Id="rId12" Type="http://schemas.openxmlformats.org/officeDocument/2006/relationships/slide" Target="slides/slide6.xml"/><Relationship Id="rId34" Type="http://schemas.openxmlformats.org/officeDocument/2006/relationships/font" Target="fonts/HelveticaNeue-italic.fntdata"/><Relationship Id="rId15" Type="http://schemas.openxmlformats.org/officeDocument/2006/relationships/slide" Target="slides/slide9.xml"/><Relationship Id="rId37" Type="http://schemas.openxmlformats.org/officeDocument/2006/relationships/font" Target="fonts/OpenSans-bold.fntdata"/><Relationship Id="rId14" Type="http://schemas.openxmlformats.org/officeDocument/2006/relationships/slide" Target="slides/slide8.xml"/><Relationship Id="rId36" Type="http://schemas.openxmlformats.org/officeDocument/2006/relationships/font" Target="fonts/OpenSans-regular.fntdata"/><Relationship Id="rId17" Type="http://schemas.openxmlformats.org/officeDocument/2006/relationships/font" Target="fonts/InterLight-bold.fntdata"/><Relationship Id="rId39" Type="http://schemas.openxmlformats.org/officeDocument/2006/relationships/font" Target="fonts/OpenSans-boldItalic.fntdata"/><Relationship Id="rId16" Type="http://schemas.openxmlformats.org/officeDocument/2006/relationships/font" Target="fonts/InterLight-regular.fntdata"/><Relationship Id="rId38" Type="http://schemas.openxmlformats.org/officeDocument/2006/relationships/font" Target="fonts/OpenSans-italic.fntdata"/><Relationship Id="rId19" Type="http://schemas.openxmlformats.org/officeDocument/2006/relationships/font" Target="fonts/InterLight-boldItalic.fntdata"/><Relationship Id="rId18" Type="http://schemas.openxmlformats.org/officeDocument/2006/relationships/font" Target="fonts/Inter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1dcb0dd5c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1dcb0dd5c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19f8548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19f8548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85d2f8a8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85d2f8a8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f17ea839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f17ea839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client sends a request to an API that's managed by Tyk.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Once the request reaches the Tyk Gateway, it immediately tries to match the incoming request's URL path to the "listen paths" of the APIs it's managing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API definition in Tyk's memory has a unique listen path. The Gateway compares the incoming request URL to these paths. If it finds a match, it knows which API should handle the request.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Now that Tyk has identified the correct API, it prepares to process the request according to that API's specific configuration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f17ea839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f17ea839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Tyk immediately checks if the request is authenticated and authorized. This process involves several steps: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First, Tyk extracts the authentication token from the request. This could be from the Authorization header, a query parameter, or a cookie, depending on the API's configuration.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Next, Tyk looks up this token in its Redis database. Each access key is stored as a record in Redis, containing important metadata.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Tyk checks several things: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Does the key exist in Redis?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Has the key expired?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Does the key have permission to access this specific API and endpoint?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Are there any rate limits or quotas that have been exceeded?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If the key is valid and has the necessary permissions, Tyk allows the request to proceed. This are Tyk’s core processing which includes: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Tyk performs its core functions, which typically include: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Authentication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Authorization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Rate limiting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Quota checking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f17ea8390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8f17ea839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 the request is proxied to the upstream API, "post" middleware are executed.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Post-processing middleware can be used for tasks like request transformation, additional logging, or any final modifications before the request is sent upstream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f17ea8390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f17ea8390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Tyk then routes the request to the appropriate backend service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When proxying to an API Server, the target URL can be defined in a number of ways: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Target URL property of the API Definition (single or multiple)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Dynamically set by a service discovery endpoint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Dynamically set by the URL Rewrite plugin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Dynamically set by custom middleware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-GB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Defined as a GraphQL Data Source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f17ea8390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8f17ea8390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backend API processes the request and sends a response back to Tyk.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Tyk can also transform the response if needed, perhaps removing sensitive data or adding custom headers.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91c7f724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91c7f724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Encapsulation of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give you a way to encapsulate security and other access settings into a pre-defined entity.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Purpose is to make your life easier when managing lots of tokens.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important thing to understand about policies is that a single policy can apply to many tokens, so having a few policies can let you manage very large numbers of tokens easily.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allow you to define: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An access control list, which sets which APIs, versions, endpoints and methods the policy can access.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Rate limit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Quota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Dynamically attached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When a policy is saved on the Dashboard, it only takes around 10 seconds for it to take effect on the server.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are attached to request sessions at the start of the Tyk processing pipeline, so updates are take effect immediately.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Partitioning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Once a policy is assigned to a token it will override the settings of that token.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However, with policy partitioning it is possible to override only a particular part of the token – the ACL, rate limit, or quota (or any combination of the three).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No effect on open APIs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Policies have no effect one APIs which have been configured to be open.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This is because the Tyk pipeline skips all authentication so does not process any tokens provided.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53" name="Google Shape;53;p13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3" name="Google Shape;6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9" name="Google Shape;89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02" name="Google Shape;102;p26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103" name="Google Shape;103;p26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6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8" name="Google Shape;108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9" name="Google Shape;109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12" name="Google Shape;112;p28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13" name="Google Shape;113;p28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6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438FA"/>
            </a:gs>
            <a:gs pos="35000">
              <a:srgbClr val="8438FA"/>
            </a:gs>
            <a:gs pos="100000">
              <a:srgbClr val="BB11FF"/>
            </a:gs>
          </a:gsLst>
          <a:lin ang="2700006" scaled="0"/>
        </a:gra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/>
          <p:nvPr/>
        </p:nvSpPr>
        <p:spPr>
          <a:xfrm>
            <a:off x="376425" y="962175"/>
            <a:ext cx="84252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API </a:t>
            </a: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Security with Tyk: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Authentication &amp; Authorization</a:t>
            </a:r>
            <a:endParaRPr b="1" sz="3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29"/>
          <p:cNvSpPr txBox="1"/>
          <p:nvPr/>
        </p:nvSpPr>
        <p:spPr>
          <a:xfrm>
            <a:off x="1738950" y="2246175"/>
            <a:ext cx="56793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Tyk secures your APIs by verifying who’s making a request (AuthN) and what they’re allowed to do (AuthZ).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0"/>
          <p:cNvSpPr txBox="1"/>
          <p:nvPr/>
        </p:nvSpPr>
        <p:spPr>
          <a:xfrm>
            <a:off x="720000" y="157075"/>
            <a:ext cx="7842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What Is Authentication (AuthN)?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30"/>
          <p:cNvSpPr/>
          <p:nvPr/>
        </p:nvSpPr>
        <p:spPr>
          <a:xfrm>
            <a:off x="869950" y="1138250"/>
            <a:ext cx="7659600" cy="3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Authentication means proving your identity.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 Tyk, when a request comes in, it checks who is calling the API. This is usually done using: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Keys – A unique string like a password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JWT tokens – Signed tokens that include identity and permissions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OAuth clients – Used in modern identity systems like Google or Microsoft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mTLS (Mutual TLS) – Certificates to verify client identity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Example: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user sends a request with an API key — Tyk checks “Is this a valid key?”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Objective of AuthN: Confirm who you are.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31"/>
          <p:cNvSpPr txBox="1"/>
          <p:nvPr/>
        </p:nvSpPr>
        <p:spPr>
          <a:xfrm>
            <a:off x="720000" y="157075"/>
            <a:ext cx="7842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What Is Authorization (AuthZ)?</a:t>
            </a:r>
            <a:endParaRPr b="1" sz="38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31"/>
          <p:cNvSpPr/>
          <p:nvPr/>
        </p:nvSpPr>
        <p:spPr>
          <a:xfrm>
            <a:off x="869950" y="11382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Authorization means checking what you’re allowed to do.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Once Tyk knows who you are, it checks your Access Rights: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Can you call this API?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Can you access this version of the API?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Are you within the allowed rate limit or quota?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Example: 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Even if a user has a valid key, Tyk checks, “Does this key allow access to the /admin API?”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Objective of AuthZ: Decide what you’re allowed to do.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/>
          <p:nvPr/>
        </p:nvSpPr>
        <p:spPr>
          <a:xfrm>
            <a:off x="2173688" y="1356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32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" name="Google Shape;144;p32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2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2560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0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2"/>
          <p:cNvSpPr txBox="1"/>
          <p:nvPr/>
        </p:nvSpPr>
        <p:spPr>
          <a:xfrm>
            <a:off x="659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32"/>
          <p:cNvSpPr txBox="1"/>
          <p:nvPr/>
        </p:nvSpPr>
        <p:spPr>
          <a:xfrm>
            <a:off x="2518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32"/>
          <p:cNvSpPr txBox="1"/>
          <p:nvPr/>
        </p:nvSpPr>
        <p:spPr>
          <a:xfrm>
            <a:off x="4479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52" name="Google Shape;152;p32"/>
          <p:cNvCxnSpPr>
            <a:stCxn id="147" idx="3"/>
            <a:endCxn id="146" idx="2"/>
          </p:cNvCxnSpPr>
          <p:nvPr/>
        </p:nvCxnSpPr>
        <p:spPr>
          <a:xfrm>
            <a:off x="1287489" y="3163199"/>
            <a:ext cx="124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3" name="Google Shape;153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65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2"/>
          <p:cNvSpPr txBox="1"/>
          <p:nvPr/>
        </p:nvSpPr>
        <p:spPr>
          <a:xfrm>
            <a:off x="2639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32"/>
          <p:cNvSpPr txBox="1"/>
          <p:nvPr/>
        </p:nvSpPr>
        <p:spPr>
          <a:xfrm>
            <a:off x="5303650" y="1135475"/>
            <a:ext cx="3758400" cy="3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request is made to an API behind Tyk Gateway.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/>
          <p:nvPr/>
        </p:nvSpPr>
        <p:spPr>
          <a:xfrm>
            <a:off x="2173688" y="1356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1" name="Google Shape;161;p33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2" name="Google Shape;162;p33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3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2560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0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3"/>
          <p:cNvSpPr txBox="1"/>
          <p:nvPr/>
        </p:nvSpPr>
        <p:spPr>
          <a:xfrm>
            <a:off x="659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33"/>
          <p:cNvSpPr txBox="1"/>
          <p:nvPr/>
        </p:nvSpPr>
        <p:spPr>
          <a:xfrm>
            <a:off x="2518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33"/>
          <p:cNvSpPr txBox="1"/>
          <p:nvPr/>
        </p:nvSpPr>
        <p:spPr>
          <a:xfrm>
            <a:off x="4479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0" name="Google Shape;170;p33"/>
          <p:cNvCxnSpPr>
            <a:stCxn id="164" idx="1"/>
            <a:endCxn id="171" idx="2"/>
          </p:cNvCxnSpPr>
          <p:nvPr/>
        </p:nvCxnSpPr>
        <p:spPr>
          <a:xfrm rot="10800000">
            <a:off x="2859184" y="2244783"/>
            <a:ext cx="0" cy="6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2" name="Google Shape;172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65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3"/>
          <p:cNvSpPr txBox="1"/>
          <p:nvPr/>
        </p:nvSpPr>
        <p:spPr>
          <a:xfrm>
            <a:off x="2639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" name="Google Shape;174;p33"/>
          <p:cNvSpPr txBox="1"/>
          <p:nvPr/>
        </p:nvSpPr>
        <p:spPr>
          <a:xfrm>
            <a:off x="5303650" y="1135475"/>
            <a:ext cx="3758400" cy="3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request is made to an API behind Tyk Gateway.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authenticates the request (using API Key, JWT, OAuth, or mTLS).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/>
          <p:nvPr/>
        </p:nvSpPr>
        <p:spPr>
          <a:xfrm>
            <a:off x="2173700" y="1356600"/>
            <a:ext cx="1371000" cy="3110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34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34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4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2560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0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4"/>
          <p:cNvSpPr txBox="1"/>
          <p:nvPr/>
        </p:nvSpPr>
        <p:spPr>
          <a:xfrm>
            <a:off x="659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34"/>
          <p:cNvSpPr txBox="1"/>
          <p:nvPr/>
        </p:nvSpPr>
        <p:spPr>
          <a:xfrm>
            <a:off x="2518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34"/>
          <p:cNvSpPr txBox="1"/>
          <p:nvPr/>
        </p:nvSpPr>
        <p:spPr>
          <a:xfrm>
            <a:off x="4479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89" name="Google Shape;189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3500" y="3751375"/>
            <a:ext cx="470700" cy="4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5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4"/>
          <p:cNvSpPr txBox="1"/>
          <p:nvPr/>
        </p:nvSpPr>
        <p:spPr>
          <a:xfrm>
            <a:off x="2639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34"/>
          <p:cNvSpPr txBox="1"/>
          <p:nvPr/>
        </p:nvSpPr>
        <p:spPr>
          <a:xfrm>
            <a:off x="5303650" y="1135475"/>
            <a:ext cx="3758400" cy="3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request is made to an API behind Tyk Gateway.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authenticates the request (using API Key, JWT, OAuth, or mTLS).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authentication succeeds, Tyk then authorizes the request: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lphaL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Is this client allowed to call this API?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lphaL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Are they within rate limits?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/>
          <p:nvPr/>
        </p:nvSpPr>
        <p:spPr>
          <a:xfrm>
            <a:off x="2173688" y="1356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35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35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5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2560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0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5"/>
          <p:cNvSpPr txBox="1"/>
          <p:nvPr/>
        </p:nvSpPr>
        <p:spPr>
          <a:xfrm>
            <a:off x="659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35"/>
          <p:cNvSpPr txBox="1"/>
          <p:nvPr/>
        </p:nvSpPr>
        <p:spPr>
          <a:xfrm>
            <a:off x="2518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35"/>
          <p:cNvSpPr txBox="1"/>
          <p:nvPr/>
        </p:nvSpPr>
        <p:spPr>
          <a:xfrm>
            <a:off x="4479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07" name="Google Shape;207;p35"/>
          <p:cNvCxnSpPr>
            <a:stCxn id="201" idx="0"/>
            <a:endCxn id="203" idx="1"/>
          </p:cNvCxnSpPr>
          <p:nvPr/>
        </p:nvCxnSpPr>
        <p:spPr>
          <a:xfrm>
            <a:off x="3189311" y="3163199"/>
            <a:ext cx="124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8" name="Google Shape;208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65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5"/>
          <p:cNvSpPr txBox="1"/>
          <p:nvPr/>
        </p:nvSpPr>
        <p:spPr>
          <a:xfrm>
            <a:off x="2639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0" name="Google Shape;210;p35"/>
          <p:cNvSpPr txBox="1"/>
          <p:nvPr/>
        </p:nvSpPr>
        <p:spPr>
          <a:xfrm>
            <a:off x="5303650" y="1135475"/>
            <a:ext cx="3758400" cy="3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request is made to an API behind Tyk Gateway.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authenticates the request (using API Key, JWT, OAuth, or mTLS).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authentication succeeds, Tyk then authorizes the request: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lphaL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Is this client allowed to call this API?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lphaL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Are they within rate limits?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both checks pass, the request is forwarded to the API.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/>
          <p:nvPr/>
        </p:nvSpPr>
        <p:spPr>
          <a:xfrm>
            <a:off x="2173688" y="1356600"/>
            <a:ext cx="1371000" cy="267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36"/>
          <p:cNvSpPr txBox="1"/>
          <p:nvPr/>
        </p:nvSpPr>
        <p:spPr>
          <a:xfrm>
            <a:off x="720000" y="157075"/>
            <a:ext cx="7023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API Request Flow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36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6"/>
          <p:cNvPicPr preferRelativeResize="0"/>
          <p:nvPr/>
        </p:nvPicPr>
        <p:blipFill rotWithShape="1">
          <a:blip r:embed="rId4">
            <a:alphaModFix/>
          </a:blip>
          <a:srcRect b="8949" l="8949" r="8949" t="8949"/>
          <a:stretch/>
        </p:blipFill>
        <p:spPr>
          <a:xfrm rot="5400000">
            <a:off x="2560868" y="2833073"/>
            <a:ext cx="596633" cy="6602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236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0879" y="2864883"/>
            <a:ext cx="660253" cy="59663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6"/>
          <p:cNvSpPr txBox="1"/>
          <p:nvPr/>
        </p:nvSpPr>
        <p:spPr>
          <a:xfrm>
            <a:off x="659124" y="3461525"/>
            <a:ext cx="559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36"/>
          <p:cNvSpPr txBox="1"/>
          <p:nvPr/>
        </p:nvSpPr>
        <p:spPr>
          <a:xfrm>
            <a:off x="2518699" y="3461517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Gateway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36"/>
          <p:cNvSpPr txBox="1"/>
          <p:nvPr/>
        </p:nvSpPr>
        <p:spPr>
          <a:xfrm>
            <a:off x="4479078" y="3461525"/>
            <a:ext cx="66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9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5" name="Google Shape;225;p36"/>
          <p:cNvCxnSpPr>
            <a:stCxn id="219" idx="0"/>
            <a:endCxn id="221" idx="1"/>
          </p:cNvCxnSpPr>
          <p:nvPr/>
        </p:nvCxnSpPr>
        <p:spPr>
          <a:xfrm>
            <a:off x="3189311" y="3163199"/>
            <a:ext cx="124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pic>
        <p:nvPicPr>
          <p:cNvPr id="226" name="Google Shape;226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65267" y="1759044"/>
            <a:ext cx="587811" cy="53117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6"/>
          <p:cNvSpPr txBox="1"/>
          <p:nvPr/>
        </p:nvSpPr>
        <p:spPr>
          <a:xfrm>
            <a:off x="2639332" y="1501225"/>
            <a:ext cx="47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Open Sans"/>
                <a:ea typeface="Open Sans"/>
                <a:cs typeface="Open Sans"/>
                <a:sym typeface="Open Sans"/>
              </a:rPr>
              <a:t>Redis</a:t>
            </a:r>
            <a:endParaRPr sz="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28" name="Google Shape;228;p36"/>
          <p:cNvCxnSpPr/>
          <p:nvPr/>
        </p:nvCxnSpPr>
        <p:spPr>
          <a:xfrm>
            <a:off x="1287511" y="3163199"/>
            <a:ext cx="1241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29" name="Google Shape;229;p36"/>
          <p:cNvSpPr txBox="1"/>
          <p:nvPr/>
        </p:nvSpPr>
        <p:spPr>
          <a:xfrm>
            <a:off x="5303650" y="1135475"/>
            <a:ext cx="3758400" cy="30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 request is made to an API behind Tyk Gateway.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authenticates the request (using API Key, JWT, OAuth, or mTLS).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authentication succeeds, Tyk then authorizes the request: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lphaL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Is this client allowed to call this API?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lphaL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Are they within rate limits?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both checks pass, the request is forwarded to the API.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AutoNum type="arabicPeriod"/>
            </a:pPr>
            <a:r>
              <a:rPr lang="en-GB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If either check fails, Tyk blocks the request with an error (e.g., 403 Forbidden or 401 Unauthorized).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7"/>
          <p:cNvSpPr txBox="1"/>
          <p:nvPr/>
        </p:nvSpPr>
        <p:spPr>
          <a:xfrm>
            <a:off x="720000" y="157075"/>
            <a:ext cx="7842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How Tyk Applies Security</a:t>
            </a:r>
            <a:endParaRPr b="1" sz="3800">
              <a:solidFill>
                <a:srgbClr val="5900C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Google Shape;237;p37"/>
          <p:cNvSpPr/>
          <p:nvPr/>
        </p:nvSpPr>
        <p:spPr>
          <a:xfrm>
            <a:off x="869950" y="1138249"/>
            <a:ext cx="7659600" cy="3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There are a wide array of options for authentication and authorizing access to APIs with Tyk.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These are configured as part of API definitions via: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Gateway REST API in headless open-source installations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or the Dashboard API or API Designer UI when using the Tyk Dashboard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Config-as-code via Tyk Operator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