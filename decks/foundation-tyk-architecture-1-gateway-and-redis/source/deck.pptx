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03964f6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03964f6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Let's talk about how the Tyk Gateway enforces control and governance over your API traffic in real time.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The Tyk Gateway is the core component that </a:t>
            </a:r>
            <a:r>
              <a:rPr b="1" lang="en-GB">
                <a:solidFill>
                  <a:schemeClr val="dk1"/>
                </a:solidFill>
              </a:rPr>
              <a:t>handles all inbound API traffic</a:t>
            </a:r>
            <a:r>
              <a:rPr lang="en-GB">
                <a:solidFill>
                  <a:schemeClr val="dk1"/>
                </a:solidFill>
              </a:rPr>
              <a:t>. Every request coming into your system first passes through the Gateway, making it the front line for traffic control.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One of its primary responsibilities is </a:t>
            </a:r>
            <a:r>
              <a:rPr b="1" lang="en-GB">
                <a:solidFill>
                  <a:schemeClr val="dk1"/>
                </a:solidFill>
              </a:rPr>
              <a:t>Authentication and Authorization</a:t>
            </a:r>
            <a:r>
              <a:rPr lang="en-GB">
                <a:solidFill>
                  <a:schemeClr val="dk1"/>
                </a:solidFill>
              </a:rPr>
              <a:t>. Tyk verifies that incoming requests are from legitimate clients and ensures those clients have the right permissions to access the resources they're asking for.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Next, it applies </a:t>
            </a:r>
            <a:r>
              <a:rPr b="1" lang="en-GB">
                <a:solidFill>
                  <a:schemeClr val="dk1"/>
                </a:solidFill>
              </a:rPr>
              <a:t>Rate Limiting and Quotas</a:t>
            </a:r>
            <a:r>
              <a:rPr lang="en-GB">
                <a:solidFill>
                  <a:schemeClr val="dk1"/>
                </a:solidFill>
              </a:rPr>
              <a:t> to protect your backend systems. This means you can control how many requests a client can make within a certain time period, helping to prevent abuse or overload.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It also </a:t>
            </a:r>
            <a:r>
              <a:rPr b="1" lang="en-GB">
                <a:solidFill>
                  <a:schemeClr val="dk1"/>
                </a:solidFill>
              </a:rPr>
              <a:t>enforces policies</a:t>
            </a:r>
            <a:r>
              <a:rPr lang="en-GB">
                <a:solidFill>
                  <a:schemeClr val="dk1"/>
                </a:solidFill>
              </a:rPr>
              <a:t> in real time—these policies might define access levels, transformations, or usage plans—ensuring that every request complies with the rules you’ve set.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And finally, the Gateway provides </a:t>
            </a:r>
            <a:r>
              <a:rPr b="1" lang="en-GB">
                <a:solidFill>
                  <a:schemeClr val="dk1"/>
                </a:solidFill>
              </a:rPr>
              <a:t>Observability</a:t>
            </a:r>
            <a:r>
              <a:rPr lang="en-GB">
                <a:solidFill>
                  <a:schemeClr val="dk1"/>
                </a:solidFill>
              </a:rPr>
              <a:t> out of the box. It captures rich telemetry—such as request logs, latencies, errors, and usage metrics—so you can monitor and analyze traffic patterns, detect anomalies, and troubleshoot issues effectively.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>
                <a:solidFill>
                  <a:schemeClr val="dk1"/>
                </a:solidFill>
              </a:rPr>
              <a:t>In short, the Tyk Gateway acts as a smart, real-time traffic enforcer that ensures every API call is secure, compliant, and well-governed.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7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03964f6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03964f6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Redis is a core component in the Tyk stack, powering </a:t>
            </a:r>
            <a:r>
              <a:rPr b="1" lang="en-GB">
                <a:solidFill>
                  <a:schemeClr val="dk1"/>
                </a:solidFill>
              </a:rPr>
              <a:t>real-time request validation</a:t>
            </a:r>
            <a:r>
              <a:rPr lang="en-GB">
                <a:solidFill>
                  <a:schemeClr val="dk1"/>
                </a:solidFill>
              </a:rPr>
              <a:t> through its </a:t>
            </a:r>
            <a:r>
              <a:rPr b="1" lang="en-GB">
                <a:solidFill>
                  <a:schemeClr val="dk1"/>
                </a:solidFill>
              </a:rPr>
              <a:t>fast, in-memory performance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It’s designed to minimize latency, making it ideal for </a:t>
            </a:r>
            <a:r>
              <a:rPr b="1" lang="en-GB">
                <a:solidFill>
                  <a:schemeClr val="dk1"/>
                </a:solidFill>
              </a:rPr>
              <a:t>high-throughput APIs</a:t>
            </a:r>
            <a:r>
              <a:rPr lang="en-GB">
                <a:solidFill>
                  <a:schemeClr val="dk1"/>
                </a:solidFill>
              </a:rPr>
              <a:t> where speed is critical.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Redis stores important runtime data such as </a:t>
            </a:r>
            <a:r>
              <a:rPr b="1" lang="en-GB">
                <a:solidFill>
                  <a:schemeClr val="dk1"/>
                </a:solidFill>
              </a:rPr>
              <a:t>rate limit counters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session tokens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API key states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allows the Tyk Gateway to make decisions quickly—like whether a request is within quota or if an API key is valid—without hitting the database.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multi-node environments, Redis also ensures </a:t>
            </a:r>
            <a:r>
              <a:rPr b="1" lang="en-GB">
                <a:solidFill>
                  <a:schemeClr val="dk1"/>
                </a:solidFill>
              </a:rPr>
              <a:t>shared state across all gateways</a:t>
            </a:r>
            <a:r>
              <a:rPr lang="en-GB">
                <a:solidFill>
                  <a:schemeClr val="dk1"/>
                </a:solidFill>
              </a:rPr>
              <a:t>. It </a:t>
            </a:r>
            <a:r>
              <a:rPr b="1" lang="en-GB">
                <a:solidFill>
                  <a:schemeClr val="dk1"/>
                </a:solidFill>
              </a:rPr>
              <a:t>synchronizes usage data</a:t>
            </a:r>
            <a:r>
              <a:rPr lang="en-GB">
                <a:solidFill>
                  <a:schemeClr val="dk1"/>
                </a:solidFill>
              </a:rPr>
              <a:t>, so no matter which gateway handles the request, it sees the same usage picture.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 top of that, Redis acts as a </a:t>
            </a:r>
            <a:r>
              <a:rPr b="1" lang="en-GB">
                <a:solidFill>
                  <a:schemeClr val="dk1"/>
                </a:solidFill>
              </a:rPr>
              <a:t>Pub/Sub broker</a:t>
            </a:r>
            <a:r>
              <a:rPr lang="en-GB">
                <a:solidFill>
                  <a:schemeClr val="dk1"/>
                </a:solidFill>
              </a:rPr>
              <a:t> to deliver </a:t>
            </a:r>
            <a:r>
              <a:rPr b="1" lang="en-GB">
                <a:solidFill>
                  <a:schemeClr val="dk1"/>
                </a:solidFill>
              </a:rPr>
              <a:t>cluster-wide notifications</a:t>
            </a:r>
            <a:r>
              <a:rPr lang="en-GB">
                <a:solidFill>
                  <a:schemeClr val="dk1"/>
                </a:solidFill>
              </a:rPr>
              <a:t>. This helps with cache purging, policy updates, and other real-time coordination between nodes.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short, Redis enables Tyk to deliver both </a:t>
            </a:r>
            <a:r>
              <a:rPr b="1" lang="en-GB">
                <a:solidFill>
                  <a:schemeClr val="dk1"/>
                </a:solidFill>
              </a:rPr>
              <a:t>high performance and consistent behavior</a:t>
            </a:r>
            <a:r>
              <a:rPr lang="en-GB">
                <a:solidFill>
                  <a:schemeClr val="dk1"/>
                </a:solidFill>
              </a:rPr>
              <a:t> across your entire API infrastructure.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03964f6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03964f6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Redis plays a critical role in the Tyk architecture—it’s used by the Gateway for </a:t>
            </a:r>
            <a:r>
              <a:rPr b="1" lang="en-GB">
                <a:solidFill>
                  <a:schemeClr val="dk1"/>
                </a:solidFill>
              </a:rPr>
              <a:t>live traffic processing</a:t>
            </a:r>
            <a:r>
              <a:rPr lang="en-GB">
                <a:solidFill>
                  <a:schemeClr val="dk1"/>
                </a:solidFill>
              </a:rPr>
              <a:t>, including rate limiting, quotas, and key management.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Because of this dependency, </a:t>
            </a:r>
            <a:r>
              <a:rPr b="1" lang="en-GB">
                <a:solidFill>
                  <a:schemeClr val="dk1"/>
                </a:solidFill>
              </a:rPr>
              <a:t>Redis is a potential single point of failure</a:t>
            </a:r>
            <a:r>
              <a:rPr lang="en-GB">
                <a:solidFill>
                  <a:schemeClr val="dk1"/>
                </a:solidFill>
              </a:rPr>
              <a:t>. If Redis becomes unavailable, it can lead to </a:t>
            </a:r>
            <a:r>
              <a:rPr b="1" lang="en-GB">
                <a:solidFill>
                  <a:schemeClr val="dk1"/>
                </a:solidFill>
              </a:rPr>
              <a:t>Tyk Gateway downtime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avoid this risk, we recommend implementing </a:t>
            </a:r>
            <a:r>
              <a:rPr b="1" lang="en-GB">
                <a:solidFill>
                  <a:schemeClr val="dk1"/>
                </a:solidFill>
              </a:rPr>
              <a:t>high availability for Redis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One option is to use </a:t>
            </a:r>
            <a:r>
              <a:rPr b="1" lang="en-GB">
                <a:solidFill>
                  <a:schemeClr val="dk1"/>
                </a:solidFill>
              </a:rPr>
              <a:t>Redis Sentinel</a:t>
            </a:r>
            <a:r>
              <a:rPr lang="en-GB">
                <a:solidFill>
                  <a:schemeClr val="dk1"/>
                </a:solidFill>
              </a:rPr>
              <a:t>, which continuously </a:t>
            </a:r>
            <a:r>
              <a:rPr b="1" lang="en-GB">
                <a:solidFill>
                  <a:schemeClr val="dk1"/>
                </a:solidFill>
              </a:rPr>
              <a:t>monitors your Redis instances</a:t>
            </a:r>
            <a:r>
              <a:rPr lang="en-GB">
                <a:solidFill>
                  <a:schemeClr val="dk1"/>
                </a:solidFill>
              </a:rPr>
              <a:t> and automatically triggers </a:t>
            </a:r>
            <a:r>
              <a:rPr b="1" lang="en-GB">
                <a:solidFill>
                  <a:schemeClr val="dk1"/>
                </a:solidFill>
              </a:rPr>
              <a:t>failover</a:t>
            </a:r>
            <a:r>
              <a:rPr lang="en-GB">
                <a:solidFill>
                  <a:schemeClr val="dk1"/>
                </a:solidFill>
              </a:rPr>
              <a:t> if the primary goes down. This helps ensure minimal disruption to your API traffic.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greater scalability and fault tolerance, </a:t>
            </a:r>
            <a:r>
              <a:rPr b="1" lang="en-GB">
                <a:solidFill>
                  <a:schemeClr val="dk1"/>
                </a:solidFill>
              </a:rPr>
              <a:t>Redis Clustering</a:t>
            </a:r>
            <a:r>
              <a:rPr lang="en-GB">
                <a:solidFill>
                  <a:schemeClr val="dk1"/>
                </a:solidFill>
              </a:rPr>
              <a:t> is another approach. It </a:t>
            </a:r>
            <a:r>
              <a:rPr b="1" lang="en-GB">
                <a:solidFill>
                  <a:schemeClr val="dk1"/>
                </a:solidFill>
              </a:rPr>
              <a:t>distributes data across multiple shards</a:t>
            </a:r>
            <a:r>
              <a:rPr lang="en-GB">
                <a:solidFill>
                  <a:schemeClr val="dk1"/>
                </a:solidFill>
              </a:rPr>
              <a:t>, allowing for horizontal scaling and reducing the impact of a single node failure.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By setting up Redis with either Sentinel or Clustering, you can protect your Tyk Gateway from unexpected Redis outages and ensure consistent, reliable traffic processing.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look at how this would look like: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03964f66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03964f6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talk about </a:t>
            </a:r>
            <a:r>
              <a:rPr b="1" lang="en-GB">
                <a:solidFill>
                  <a:schemeClr val="dk1"/>
                </a:solidFill>
              </a:rPr>
              <a:t>Redis Cluster</a:t>
            </a:r>
            <a:r>
              <a:rPr lang="en-GB">
                <a:solidFill>
                  <a:schemeClr val="dk1"/>
                </a:solidFill>
              </a:rPr>
              <a:t> and how it enhances </a:t>
            </a:r>
            <a:r>
              <a:rPr b="1" lang="en-GB">
                <a:solidFill>
                  <a:schemeClr val="dk1"/>
                </a:solidFill>
              </a:rPr>
              <a:t>scalability and high availability</a:t>
            </a:r>
            <a:r>
              <a:rPr lang="en-GB">
                <a:solidFill>
                  <a:schemeClr val="dk1"/>
                </a:solidFill>
              </a:rPr>
              <a:t> in distributed deployments.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distributed implementation of Redis</a:t>
            </a:r>
            <a:r>
              <a:rPr lang="en-GB">
                <a:solidFill>
                  <a:schemeClr val="dk1"/>
                </a:solidFill>
              </a:rPr>
              <a:t> allows us to scale horizontally, meaning we can add more nodes to handle increasing loads while maintaining performance. This setup </a:t>
            </a:r>
            <a:r>
              <a:rPr b="1" lang="en-GB">
                <a:solidFill>
                  <a:schemeClr val="dk1"/>
                </a:solidFill>
              </a:rPr>
              <a:t>automatically partitions data across multiple nodes</a:t>
            </a:r>
            <a:r>
              <a:rPr lang="en-GB">
                <a:solidFill>
                  <a:schemeClr val="dk1"/>
                </a:solidFill>
              </a:rPr>
              <a:t> and supports </a:t>
            </a:r>
            <a:r>
              <a:rPr b="1" lang="en-GB">
                <a:solidFill>
                  <a:schemeClr val="dk1"/>
                </a:solidFill>
              </a:rPr>
              <a:t>failover</a:t>
            </a:r>
            <a:r>
              <a:rPr lang="en-GB">
                <a:solidFill>
                  <a:schemeClr val="dk1"/>
                </a:solidFill>
              </a:rPr>
              <a:t>, ensuring resilience in case of node failures.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Redis Cluster operates using a </a:t>
            </a:r>
            <a:r>
              <a:rPr b="1" lang="en-GB">
                <a:solidFill>
                  <a:schemeClr val="dk1"/>
                </a:solidFill>
              </a:rPr>
              <a:t>sharded data set</a:t>
            </a:r>
            <a:r>
              <a:rPr lang="en-GB">
                <a:solidFill>
                  <a:schemeClr val="dk1"/>
                </a:solidFill>
              </a:rPr>
              <a:t>, which means that data is distributed across multiple Redis nodes rather than being stored on a single instance. This approach provides a </a:t>
            </a:r>
            <a:r>
              <a:rPr b="1" lang="en-GB">
                <a:solidFill>
                  <a:schemeClr val="dk1"/>
                </a:solidFill>
              </a:rPr>
              <a:t>horizontal scaling solution</a:t>
            </a:r>
            <a:r>
              <a:rPr lang="en-GB">
                <a:solidFill>
                  <a:schemeClr val="dk1"/>
                </a:solidFill>
              </a:rPr>
              <a:t>, allowing for better performance and resource utilization as traffic grows.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cluster follows a </a:t>
            </a:r>
            <a:r>
              <a:rPr b="1" lang="en-GB">
                <a:solidFill>
                  <a:schemeClr val="dk1"/>
                </a:solidFill>
              </a:rPr>
              <a:t>Primary-Replica Model</a:t>
            </a:r>
            <a:r>
              <a:rPr lang="en-GB">
                <a:solidFill>
                  <a:schemeClr val="dk1"/>
                </a:solidFill>
              </a:rPr>
              <a:t>, where each </a:t>
            </a:r>
            <a:r>
              <a:rPr b="1" lang="en-GB">
                <a:solidFill>
                  <a:schemeClr val="dk1"/>
                </a:solidFill>
              </a:rPr>
              <a:t>primary node</a:t>
            </a:r>
            <a:r>
              <a:rPr lang="en-GB">
                <a:solidFill>
                  <a:schemeClr val="dk1"/>
                </a:solidFill>
              </a:rPr>
              <a:t> has at least one </a:t>
            </a:r>
            <a:r>
              <a:rPr b="1" lang="en-GB">
                <a:solidFill>
                  <a:schemeClr val="dk1"/>
                </a:solidFill>
              </a:rPr>
              <a:t>replica</a:t>
            </a:r>
            <a:r>
              <a:rPr lang="en-GB">
                <a:solidFill>
                  <a:schemeClr val="dk1"/>
                </a:solidFill>
              </a:rPr>
              <a:t>. This replication ensures redundancy—if a primary node goes down, its replica can take over to maintain availability.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ensure stability, a Redis Cluster requires a </a:t>
            </a:r>
            <a:r>
              <a:rPr b="1" lang="en-GB">
                <a:solidFill>
                  <a:schemeClr val="dk1"/>
                </a:solidFill>
              </a:rPr>
              <a:t>minimum of three master instances</a:t>
            </a:r>
            <a:r>
              <a:rPr lang="en-GB">
                <a:solidFill>
                  <a:schemeClr val="dk1"/>
                </a:solidFill>
              </a:rPr>
              <a:t>. This is important because Redis uses a </a:t>
            </a:r>
            <a:r>
              <a:rPr b="1" lang="en-GB">
                <a:solidFill>
                  <a:schemeClr val="dk1"/>
                </a:solidFill>
              </a:rPr>
              <a:t>majority-based failover mechanism</a:t>
            </a:r>
            <a:r>
              <a:rPr lang="en-GB">
                <a:solidFill>
                  <a:schemeClr val="dk1"/>
                </a:solidFill>
              </a:rPr>
              <a:t>, meaning that at least half of the master nodes must be available to elect a new leader when failures occur.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Redis Cluster also relies on the </a:t>
            </a:r>
            <a:r>
              <a:rPr b="1" lang="en-GB">
                <a:solidFill>
                  <a:schemeClr val="dk1"/>
                </a:solidFill>
              </a:rPr>
              <a:t>Gossip Protocol</a:t>
            </a:r>
            <a:r>
              <a:rPr lang="en-GB">
                <a:solidFill>
                  <a:schemeClr val="dk1"/>
                </a:solidFill>
              </a:rPr>
              <a:t> for communication between nodes. This protocol enables nodes to detect failures and coordinate failover processes automatically, ensuring that the system can quickly recover from outages.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By leveraging </a:t>
            </a:r>
            <a:r>
              <a:rPr b="1" lang="en-GB">
                <a:solidFill>
                  <a:schemeClr val="dk1"/>
                </a:solidFill>
              </a:rPr>
              <a:t>Redis Cluster</a:t>
            </a:r>
            <a:r>
              <a:rPr lang="en-GB">
                <a:solidFill>
                  <a:schemeClr val="dk1"/>
                </a:solidFill>
              </a:rPr>
              <a:t>, we gain a </a:t>
            </a:r>
            <a:r>
              <a:rPr b="1" lang="en-GB">
                <a:solidFill>
                  <a:schemeClr val="dk1"/>
                </a:solidFill>
              </a:rPr>
              <a:t>highly available, fault-tolerant, and scalable caching layer</a:t>
            </a:r>
            <a:r>
              <a:rPr lang="en-GB">
                <a:solidFill>
                  <a:schemeClr val="dk1"/>
                </a:solidFill>
              </a:rPr>
              <a:t>, which is essential for handling large-scale API workloads efficiently."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1098750" y="1694400"/>
            <a:ext cx="6946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Product Components: Gateway &amp; Redis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1926900" y="3048900"/>
            <a:ext cx="52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Exploring the role of each component in the Tyk Ecosystem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>
            <a:off x="6372288" y="1417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Gateway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9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6759468" y="2284473"/>
            <a:ext cx="596633" cy="66025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6717299" y="29129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9"/>
          <p:cNvSpPr txBox="1"/>
          <p:nvPr/>
        </p:nvSpPr>
        <p:spPr>
          <a:xfrm>
            <a:off x="352175" y="1232650"/>
            <a:ext cx="5066700" cy="28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 Time Traffic Enforcement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Handles all inbound API traffic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Authentication &amp; Authorization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Limiting and Quotas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Enforces Policies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Observability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/>
          <p:nvPr/>
        </p:nvSpPr>
        <p:spPr>
          <a:xfrm>
            <a:off x="6711563" y="12988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&amp; Redis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0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7098743" y="2775273"/>
            <a:ext cx="596633" cy="66025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/>
        </p:nvSpPr>
        <p:spPr>
          <a:xfrm>
            <a:off x="7056574" y="34037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3142" y="17012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 txBox="1"/>
          <p:nvPr/>
        </p:nvSpPr>
        <p:spPr>
          <a:xfrm>
            <a:off x="7177207" y="14434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9" name="Google Shape;139;p30"/>
          <p:cNvCxnSpPr/>
          <p:nvPr/>
        </p:nvCxnSpPr>
        <p:spPr>
          <a:xfrm rot="10800000">
            <a:off x="7397059" y="2232283"/>
            <a:ext cx="0" cy="57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30"/>
          <p:cNvSpPr txBox="1"/>
          <p:nvPr/>
        </p:nvSpPr>
        <p:spPr>
          <a:xfrm>
            <a:off x="352175" y="1004050"/>
            <a:ext cx="54729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Fast in-memory performance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Enables real-time request validation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Minimise latency for high-throughput APIs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Stores: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 counters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Session tokens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key states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Shared State across gateways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Synchronizes usage data across nodes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Pub/Sub Broker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Cluster-wide notifications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/>
        </p:nvSpPr>
        <p:spPr>
          <a:xfrm>
            <a:off x="6711563" y="12988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31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Redis High Availability in Tyk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1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7098743" y="2775273"/>
            <a:ext cx="596633" cy="66025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1"/>
          <p:cNvSpPr txBox="1"/>
          <p:nvPr/>
        </p:nvSpPr>
        <p:spPr>
          <a:xfrm>
            <a:off x="7056574" y="34037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1" name="Google Shape;15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3142" y="17012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1"/>
          <p:cNvSpPr txBox="1"/>
          <p:nvPr/>
        </p:nvSpPr>
        <p:spPr>
          <a:xfrm>
            <a:off x="7177207" y="14434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3" name="Google Shape;153;p31"/>
          <p:cNvCxnSpPr/>
          <p:nvPr/>
        </p:nvCxnSpPr>
        <p:spPr>
          <a:xfrm rot="10800000">
            <a:off x="7397059" y="2232283"/>
            <a:ext cx="0" cy="57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31"/>
          <p:cNvSpPr txBox="1"/>
          <p:nvPr/>
        </p:nvSpPr>
        <p:spPr>
          <a:xfrm>
            <a:off x="352175" y="1232650"/>
            <a:ext cx="5472900" cy="3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Redis is a single point of failure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Gateway depends on Redis for live traffic processing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Redis unavailability = Gateway downtime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 with Redis Sentinel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Monitor &amp; Automatic Failover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Redis Clustering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Distribute data across multiple shards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/>
        </p:nvSpPr>
        <p:spPr>
          <a:xfrm>
            <a:off x="271775" y="157075"/>
            <a:ext cx="855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Redis Cluster:  High-Availability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2"/>
          <p:cNvSpPr txBox="1"/>
          <p:nvPr/>
        </p:nvSpPr>
        <p:spPr>
          <a:xfrm>
            <a:off x="271775" y="1032525"/>
            <a:ext cx="3968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Distributed implementation of Redis for horizontal scaling and high availability.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It automatically partitions data across multiple nodes and supports failover.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Redis Cluster uses a sharded data set: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Horizontal scaling option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Primary-Replica Model: Each primary node has at least one replica.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Minimum of 3 Master instances required: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Master majority required for failover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Gossip Protocol: Nodes communicate to detect failures and trigger failovers.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650" y="1539675"/>
            <a:ext cx="3968701" cy="213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