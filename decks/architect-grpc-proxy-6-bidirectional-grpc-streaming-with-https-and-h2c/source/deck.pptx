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Inter Light"/>
      <p:regular r:id="rId11"/>
      <p:bold r:id="rId12"/>
      <p:italic r:id="rId13"/>
      <p:boldItalic r:id="rId14"/>
    </p:embeddedFont>
    <p:embeddedFont>
      <p:font typeface="Inter"/>
      <p:regular r:id="rId15"/>
      <p:bold r:id="rId16"/>
      <p:italic r:id="rId17"/>
      <p:boldItalic r:id="rId18"/>
    </p:embeddedFont>
    <p:embeddedFont>
      <p:font typeface="Roboto Mon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880">
          <p15:clr>
            <a:srgbClr val="747775"/>
          </p15:clr>
        </p15:guide>
        <p15:guide id="2" orient="horz" pos="454">
          <p15:clr>
            <a:srgbClr val="747775"/>
          </p15:clr>
        </p15:guide>
        <p15:guide id="3" pos="454">
          <p15:clr>
            <a:srgbClr val="747775"/>
          </p15:clr>
        </p15:guide>
        <p15:guide id="4" pos="5329">
          <p15:clr>
            <a:srgbClr val="747775"/>
          </p15:clr>
        </p15:guide>
        <p15:guide id="5" orient="horz" pos="278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/>
        <p:guide pos="454" orient="horz"/>
        <p:guide pos="454"/>
        <p:guide pos="5329"/>
        <p:guide pos="278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.fntdata"/><Relationship Id="rId11" Type="http://schemas.openxmlformats.org/officeDocument/2006/relationships/font" Target="fonts/InterLight-regular.fntdata"/><Relationship Id="rId22" Type="http://schemas.openxmlformats.org/officeDocument/2006/relationships/font" Target="fonts/RobotoMono-boldItalic.fntdata"/><Relationship Id="rId10" Type="http://schemas.openxmlformats.org/officeDocument/2006/relationships/slide" Target="slides/slide5.xml"/><Relationship Id="rId21" Type="http://schemas.openxmlformats.org/officeDocument/2006/relationships/font" Target="fonts/RobotoMono-italic.fntdata"/><Relationship Id="rId13" Type="http://schemas.openxmlformats.org/officeDocument/2006/relationships/font" Target="fonts/InterLight-italic.fntdata"/><Relationship Id="rId12" Type="http://schemas.openxmlformats.org/officeDocument/2006/relationships/font" Target="fonts/InterLigh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regular.fntdata"/><Relationship Id="rId14" Type="http://schemas.openxmlformats.org/officeDocument/2006/relationships/font" Target="fonts/InterLight-boldItalic.fntdata"/><Relationship Id="rId17" Type="http://schemas.openxmlformats.org/officeDocument/2006/relationships/font" Target="fonts/Inter-italic.fntdata"/><Relationship Id="rId16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regular.fntdata"/><Relationship Id="rId6" Type="http://schemas.openxmlformats.org/officeDocument/2006/relationships/slide" Target="slides/slide1.xml"/><Relationship Id="rId18" Type="http://schemas.openxmlformats.org/officeDocument/2006/relationships/font" Target="fonts/Int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61282fca9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g361282fca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1282fca91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1282fca91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"This example demonstrates a common pattern in Kubernetes deployments — securing external traffic with TLS while using HTTP/2 Cleartext (H2C) for internal service-to-service communication. Tyk terminates the TLS connection, then forwards gRPC traffic to the upstream server using H2C, enabling efficient bidirectional streaming."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162ae714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6162ae714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"Before configuring Tyk, make sure your gRPC server is running with TLS disabled. This is intentional so that we can connect over H2C. Also, the Tyk Gateway’s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flush_interval</a:t>
            </a:r>
            <a:r>
              <a:rPr lang="en-GB">
                <a:solidFill>
                  <a:schemeClr val="dk1"/>
                </a:solidFill>
              </a:rPr>
              <a:t> should be set to 1 millisecond to ensure data is forwarded immediately, which is critical for bidirectional streaming."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6162ae714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6162ae714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"In the Tyk Dashboard, create a new API definition. Set the protocol to HTTPS so clients can connect securely. Then, point the target URL to the internal gRPC server using the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h2c://</a:t>
            </a:r>
            <a:r>
              <a:rPr lang="en-GB">
                <a:solidFill>
                  <a:schemeClr val="dk1"/>
                </a:solidFill>
              </a:rPr>
              <a:t> prefix. This instructs Tyk to forward requests using HTTP/2 without TLS, ideal for intra-cluster calls."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61640dd93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61640dd93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"Once everything is configured, point your client to the custom domain you’ve set on Tyk — in this case, https://tyk.com:8000. Initiate a RouteChat session and you should see bidirectional messages flowing in real time. This setup allows for secure ingress and efficient, low-latency internal communication."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0" y="922550"/>
            <a:ext cx="8520600" cy="16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5315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E9BA"/>
              </a:buClr>
              <a:buSzPts val="2000"/>
              <a:buNone/>
              <a:defRPr sz="2000">
                <a:solidFill>
                  <a:srgbClr val="21E9B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" name="Google Shape;22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311700" y="1389600"/>
            <a:ext cx="50364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" name="Google Shape;3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E9BA"/>
              </a:buClr>
              <a:buSzPts val="1600"/>
              <a:buNone/>
              <a:defRPr sz="1600">
                <a:solidFill>
                  <a:srgbClr val="21E9B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" name="Google Shape;3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800"/>
              <a:buChar char="●"/>
              <a:defRPr>
                <a:solidFill>
                  <a:srgbClr val="8438FA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●"/>
              <a:defRPr>
                <a:solidFill>
                  <a:srgbClr val="8438FA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●"/>
              <a:defRPr>
                <a:solidFill>
                  <a:srgbClr val="8438FA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5" name="Google Shape;45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8438FA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8438FA"/>
            </a:gs>
            <a:gs pos="35000">
              <a:srgbClr val="8438FA"/>
            </a:gs>
            <a:gs pos="100000">
              <a:srgbClr val="BB11FF"/>
            </a:gs>
          </a:gsLst>
          <a:lin ang="2700006" scaled="0"/>
        </a:gra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/>
        </p:nvSpPr>
        <p:spPr>
          <a:xfrm>
            <a:off x="1415550" y="1625100"/>
            <a:ext cx="6312900" cy="18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Bidirectional gRPC Streaming with HTTPS &amp; H2C</a:t>
            </a:r>
            <a:endParaRPr b="1" sz="3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" name="Google Shape;54;p13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415200" y="925600"/>
            <a:ext cx="7738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" name="Google Shape;61;p14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720000" y="233275"/>
            <a:ext cx="785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Secure External + Efficient Internal Communication</a:t>
            </a:r>
            <a:endParaRPr b="1" sz="24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863625" y="1125700"/>
            <a:ext cx="7738200" cy="42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External: gRPC over </a:t>
            </a:r>
            <a:r>
              <a:rPr b="1"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HTTPS</a:t>
            </a: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via Tyk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Internal: gRPC over </a:t>
            </a:r>
            <a:r>
              <a:rPr b="1"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H2C</a:t>
            </a: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(plain HTTP/2)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Common in </a:t>
            </a:r>
            <a:r>
              <a:rPr b="1"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Kubernetes</a:t>
            </a: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environments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TLS termination at ingress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Plain HTTP inside cluster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gRPC client ↔ Tyk Gateway (HTTPS) ↔ gRPC Server (H2C)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/>
        </p:nvSpPr>
        <p:spPr>
          <a:xfrm>
            <a:off x="415200" y="925600"/>
            <a:ext cx="7738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" name="Google Shape;70;p15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720000" y="233275"/>
            <a:ext cx="7858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3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Prerequisites</a:t>
            </a:r>
            <a:endParaRPr b="1" sz="33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863625" y="1125700"/>
            <a:ext cx="7738200" cy="42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 gRPC server (e.g. 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route_guide</a:t>
            </a: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Exposed at 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localhost:10000</a:t>
            </a: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TLS disabled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 gRPC client (sample or your app)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 valid certificate for HTTPS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Tyk Gateway and Dashboard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Set 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flush_interval</a:t>
            </a: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= 1 ms in 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tyk.conf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/>
        </p:nvSpPr>
        <p:spPr>
          <a:xfrm>
            <a:off x="415200" y="925600"/>
            <a:ext cx="7738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" name="Google Shape;79;p16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/>
        </p:nvSpPr>
        <p:spPr>
          <a:xfrm>
            <a:off x="720000" y="233275"/>
            <a:ext cx="7858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3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Tyk API Configuration</a:t>
            </a:r>
            <a:endParaRPr b="1" sz="33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863625" y="1125700"/>
            <a:ext cx="7738200" cy="42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AutoNum type="arabicPeriod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Protocol: </a:t>
            </a:r>
            <a:r>
              <a:rPr b="1"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HTTPS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AutoNum type="arabicPeriod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Upload SSL certificate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AutoNum type="arabicPeriod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Custom domain: 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tyk.com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AutoNum type="arabicPeriod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Listen path: 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/routeguide.RouteGuide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RouteChat method will be used (bidirectional)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AutoNum type="arabicPeriod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Target URL: 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h2c://localhost:10000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/>
        </p:nvSpPr>
        <p:spPr>
          <a:xfrm>
            <a:off x="415200" y="925600"/>
            <a:ext cx="7738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" name="Google Shape;88;p17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 txBox="1"/>
          <p:nvPr/>
        </p:nvSpPr>
        <p:spPr>
          <a:xfrm>
            <a:off x="720000" y="233275"/>
            <a:ext cx="7858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3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Testing Bidirectional Streaming</a:t>
            </a:r>
            <a:endParaRPr b="1" sz="33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863625" y="1125700"/>
            <a:ext cx="7738200" cy="42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Courier New"/>
              <a:buChar char="●"/>
            </a:pPr>
            <a:r>
              <a:rPr lang="en-GB"/>
              <a:t>Point client to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https://tyk.com:8000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●"/>
            </a:pPr>
            <a:r>
              <a:rPr lang="en-GB"/>
              <a:t>Use the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RouteChat</a:t>
            </a:r>
            <a:r>
              <a:rPr lang="en-GB"/>
              <a:t> service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●"/>
            </a:pPr>
            <a:r>
              <a:rPr lang="en-GB"/>
              <a:t>Client sends and receives data simultaneously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●"/>
            </a:pPr>
            <a:r>
              <a:rPr lang="en-GB"/>
              <a:t>Traffic: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○"/>
            </a:pPr>
            <a:r>
              <a:rPr lang="en-GB"/>
              <a:t>External = Encrypted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○"/>
            </a:pPr>
            <a:r>
              <a:rPr lang="en-GB"/>
              <a:t>Internal = Plain H2C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yk main slide deck">
  <a:themeElements>
    <a:clrScheme name="Simple Light">
      <a:dk1>
        <a:srgbClr val="03031C"/>
      </a:dk1>
      <a:lt1>
        <a:srgbClr val="FFFFFF"/>
      </a:lt1>
      <a:dk2>
        <a:srgbClr val="8438FA"/>
      </a:dk2>
      <a:lt2>
        <a:srgbClr val="5900CB"/>
      </a:lt2>
      <a:accent1>
        <a:srgbClr val="FFC743"/>
      </a:accent1>
      <a:accent2>
        <a:srgbClr val="FFF500"/>
      </a:accent2>
      <a:accent3>
        <a:srgbClr val="20EDBA"/>
      </a:accent3>
      <a:accent4>
        <a:srgbClr val="00A3A0"/>
      </a:accent4>
      <a:accent5>
        <a:srgbClr val="BB11FF"/>
      </a:accent5>
      <a:accent6>
        <a:srgbClr val="EA26A9"/>
      </a:accent6>
      <a:hlink>
        <a:srgbClr val="E3CE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