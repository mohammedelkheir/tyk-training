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Inter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Inter-bold.fntdata"/><Relationship Id="rId12" Type="http://schemas.openxmlformats.org/officeDocument/2006/relationships/font" Target="fonts/Inter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boldItalic.fntdata"/><Relationship Id="rId14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5fe0cf706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5fe0cf706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5fe0cf706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5fe0cf706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“Let’s talk about how Tyk manages and stores your API configurations."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"At the core of Tyk’s API management is something called an </a:t>
            </a:r>
            <a:r>
              <a:rPr b="1" lang="en-GB">
                <a:solidFill>
                  <a:schemeClr val="dk1"/>
                </a:solidFill>
              </a:rPr>
              <a:t>API Definition</a:t>
            </a:r>
            <a:r>
              <a:rPr lang="en-GB">
                <a:solidFill>
                  <a:schemeClr val="dk1"/>
                </a:solidFill>
              </a:rPr>
              <a:t>. This is essentially a </a:t>
            </a:r>
            <a:r>
              <a:rPr b="1" lang="en-GB">
                <a:solidFill>
                  <a:schemeClr val="dk1"/>
                </a:solidFill>
              </a:rPr>
              <a:t>JSON object</a:t>
            </a:r>
            <a:r>
              <a:rPr lang="en-GB">
                <a:solidFill>
                  <a:schemeClr val="dk1"/>
                </a:solidFill>
              </a:rPr>
              <a:t> that describes </a:t>
            </a:r>
            <a:r>
              <a:rPr b="1" lang="en-GB">
                <a:solidFill>
                  <a:schemeClr val="dk1"/>
                </a:solidFill>
              </a:rPr>
              <a:t>everything Tyk needs to know</a:t>
            </a:r>
            <a:r>
              <a:rPr lang="en-GB">
                <a:solidFill>
                  <a:schemeClr val="dk1"/>
                </a:solidFill>
              </a:rPr>
              <a:t> about your API.</a:t>
            </a: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 Each API you expose through Tyk has its own </a:t>
            </a:r>
            <a:r>
              <a:rPr b="1" lang="en-GB">
                <a:solidFill>
                  <a:schemeClr val="dk1"/>
                </a:solidFill>
              </a:rPr>
              <a:t>API Definition</a:t>
            </a:r>
            <a:r>
              <a:rPr lang="en-GB">
                <a:solidFill>
                  <a:schemeClr val="dk1"/>
                </a:solidFill>
              </a:rPr>
              <a:t>, and this is what the Tyk Gateway reads to manage how traffic flows."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"Inside an API Definition, we </a:t>
            </a:r>
            <a:r>
              <a:rPr b="1" lang="en-GB">
                <a:solidFill>
                  <a:schemeClr val="dk1"/>
                </a:solidFill>
              </a:rPr>
              <a:t>encapsulate the management rules</a:t>
            </a:r>
            <a:r>
              <a:rPr lang="en-GB">
                <a:solidFill>
                  <a:schemeClr val="dk1"/>
                </a:solidFill>
              </a:rPr>
              <a:t> for that API.</a:t>
            </a: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 It includes the </a:t>
            </a:r>
            <a:r>
              <a:rPr b="1" lang="en-GB">
                <a:solidFill>
                  <a:schemeClr val="dk1"/>
                </a:solidFill>
              </a:rPr>
              <a:t>settings and middlewares</a:t>
            </a:r>
            <a:r>
              <a:rPr lang="en-GB">
                <a:solidFill>
                  <a:schemeClr val="dk1"/>
                </a:solidFill>
              </a:rPr>
              <a:t> that define how incoming requests are handled, authenticated, and forwarded."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"For example, you can specify: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>
                <a:solidFill>
                  <a:schemeClr val="dk1"/>
                </a:solidFill>
              </a:rPr>
              <a:t>Authentication</a:t>
            </a:r>
            <a:r>
              <a:rPr lang="en-GB">
                <a:solidFill>
                  <a:schemeClr val="dk1"/>
                </a:solidFill>
              </a:rPr>
              <a:t>, like API Keys or JWTs, to secure your API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>
                <a:solidFill>
                  <a:schemeClr val="dk1"/>
                </a:solidFill>
              </a:rPr>
              <a:t>Rate-limiting</a:t>
            </a:r>
            <a:r>
              <a:rPr lang="en-GB">
                <a:solidFill>
                  <a:schemeClr val="dk1"/>
                </a:solidFill>
              </a:rPr>
              <a:t> and quotas to protect your backend services from being overwhelmed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The </a:t>
            </a:r>
            <a:r>
              <a:rPr b="1" lang="en-GB">
                <a:solidFill>
                  <a:schemeClr val="dk1"/>
                </a:solidFill>
              </a:rPr>
              <a:t>Target URL</a:t>
            </a:r>
            <a:r>
              <a:rPr lang="en-GB">
                <a:solidFill>
                  <a:schemeClr val="dk1"/>
                </a:solidFill>
              </a:rPr>
              <a:t>, where Tyk should forward requests after it processes them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Support for </a:t>
            </a:r>
            <a:r>
              <a:rPr b="1" lang="en-GB">
                <a:solidFill>
                  <a:schemeClr val="dk1"/>
                </a:solidFill>
              </a:rPr>
              <a:t>Versions</a:t>
            </a:r>
            <a:r>
              <a:rPr lang="en-GB">
                <a:solidFill>
                  <a:schemeClr val="dk1"/>
                </a:solidFill>
              </a:rPr>
              <a:t>, so you can manage multiple versions of the same API simultaneously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And </a:t>
            </a:r>
            <a:r>
              <a:rPr b="1" lang="en-GB">
                <a:solidFill>
                  <a:schemeClr val="dk1"/>
                </a:solidFill>
              </a:rPr>
              <a:t>Middleware</a:t>
            </a:r>
            <a:r>
              <a:rPr lang="en-GB">
                <a:solidFill>
                  <a:schemeClr val="dk1"/>
                </a:solidFill>
              </a:rPr>
              <a:t>, which lets you apply transformations, enforce business logic, or add custom behaviors on requests and responses."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"Now, there are </a:t>
            </a:r>
            <a:r>
              <a:rPr b="1" lang="en-GB">
                <a:solidFill>
                  <a:schemeClr val="dk1"/>
                </a:solidFill>
              </a:rPr>
              <a:t>two types of API Definitions</a:t>
            </a:r>
            <a:r>
              <a:rPr lang="en-GB">
                <a:solidFill>
                  <a:schemeClr val="dk1"/>
                </a:solidFill>
              </a:rPr>
              <a:t> available in Tyk: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>
                <a:solidFill>
                  <a:schemeClr val="dk1"/>
                </a:solidFill>
              </a:rPr>
              <a:t>Tyk Classic API Definitions</a:t>
            </a:r>
            <a:r>
              <a:rPr lang="en-GB">
                <a:solidFill>
                  <a:schemeClr val="dk1"/>
                </a:solidFill>
              </a:rPr>
              <a:t>, which are highly flexible and use Tyk’s traditional JSON schema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And </a:t>
            </a:r>
            <a:r>
              <a:rPr b="1" lang="en-GB">
                <a:solidFill>
                  <a:schemeClr val="dk1"/>
                </a:solidFill>
              </a:rPr>
              <a:t>Tyk OAS API Definitions</a:t>
            </a:r>
            <a:r>
              <a:rPr lang="en-GB">
                <a:solidFill>
                  <a:schemeClr val="dk1"/>
                </a:solidFill>
              </a:rPr>
              <a:t>, which are based on the </a:t>
            </a:r>
            <a:r>
              <a:rPr b="1" lang="en-GB">
                <a:solidFill>
                  <a:schemeClr val="dk1"/>
                </a:solidFill>
              </a:rPr>
              <a:t>OpenAPI Specification</a:t>
            </a:r>
            <a:r>
              <a:rPr lang="en-GB">
                <a:solidFill>
                  <a:schemeClr val="dk1"/>
                </a:solidFill>
              </a:rPr>
              <a:t>, providing a standardized, industry-recognized way of defining and managing APIs."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"Regardless of the type you choose, the API Definition is the </a:t>
            </a:r>
            <a:r>
              <a:rPr b="1" lang="en-GB">
                <a:solidFill>
                  <a:schemeClr val="dk1"/>
                </a:solidFill>
              </a:rPr>
              <a:t>single source of truth</a:t>
            </a:r>
            <a:r>
              <a:rPr lang="en-GB">
                <a:solidFill>
                  <a:schemeClr val="dk1"/>
                </a:solidFill>
              </a:rPr>
              <a:t> that governs how Tyk handles your APIs."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5fe0cf7069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5fe0cf7069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“Let’s talk about how Tyk manages and stores your API configurations."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"At the core of Tyk’s API management is something called an </a:t>
            </a:r>
            <a:r>
              <a:rPr b="1" lang="en-GB">
                <a:solidFill>
                  <a:schemeClr val="dk1"/>
                </a:solidFill>
              </a:rPr>
              <a:t>API Definition</a:t>
            </a:r>
            <a:r>
              <a:rPr lang="en-GB">
                <a:solidFill>
                  <a:schemeClr val="dk1"/>
                </a:solidFill>
              </a:rPr>
              <a:t>. This is essentially a </a:t>
            </a:r>
            <a:r>
              <a:rPr b="1" lang="en-GB">
                <a:solidFill>
                  <a:schemeClr val="dk1"/>
                </a:solidFill>
              </a:rPr>
              <a:t>JSON object</a:t>
            </a:r>
            <a:r>
              <a:rPr lang="en-GB">
                <a:solidFill>
                  <a:schemeClr val="dk1"/>
                </a:solidFill>
              </a:rPr>
              <a:t> that describes </a:t>
            </a:r>
            <a:r>
              <a:rPr b="1" lang="en-GB">
                <a:solidFill>
                  <a:schemeClr val="dk1"/>
                </a:solidFill>
              </a:rPr>
              <a:t>everything Tyk needs to know</a:t>
            </a:r>
            <a:r>
              <a:rPr lang="en-GB">
                <a:solidFill>
                  <a:schemeClr val="dk1"/>
                </a:solidFill>
              </a:rPr>
              <a:t> about your API.</a:t>
            </a: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 Each API you expose through Tyk has its own </a:t>
            </a:r>
            <a:r>
              <a:rPr b="1" lang="en-GB">
                <a:solidFill>
                  <a:schemeClr val="dk1"/>
                </a:solidFill>
              </a:rPr>
              <a:t>API Definition</a:t>
            </a:r>
            <a:r>
              <a:rPr lang="en-GB">
                <a:solidFill>
                  <a:schemeClr val="dk1"/>
                </a:solidFill>
              </a:rPr>
              <a:t>, and this is what the Tyk Gateway reads to manage how traffic flows."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"Inside an API Definition, we </a:t>
            </a:r>
            <a:r>
              <a:rPr b="1" lang="en-GB">
                <a:solidFill>
                  <a:schemeClr val="dk1"/>
                </a:solidFill>
              </a:rPr>
              <a:t>encapsulate the management rules</a:t>
            </a:r>
            <a:r>
              <a:rPr lang="en-GB">
                <a:solidFill>
                  <a:schemeClr val="dk1"/>
                </a:solidFill>
              </a:rPr>
              <a:t> for that API.</a:t>
            </a: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 It includes the </a:t>
            </a:r>
            <a:r>
              <a:rPr b="1" lang="en-GB">
                <a:solidFill>
                  <a:schemeClr val="dk1"/>
                </a:solidFill>
              </a:rPr>
              <a:t>settings and middlewares</a:t>
            </a:r>
            <a:r>
              <a:rPr lang="en-GB">
                <a:solidFill>
                  <a:schemeClr val="dk1"/>
                </a:solidFill>
              </a:rPr>
              <a:t> that define how incoming requests are handled, authenticated, and forwarded."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"For example, you can specify: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>
                <a:solidFill>
                  <a:schemeClr val="dk1"/>
                </a:solidFill>
              </a:rPr>
              <a:t>Authentication</a:t>
            </a:r>
            <a:r>
              <a:rPr lang="en-GB">
                <a:solidFill>
                  <a:schemeClr val="dk1"/>
                </a:solidFill>
              </a:rPr>
              <a:t>, like API Keys or JWTs, to secure your API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>
                <a:solidFill>
                  <a:schemeClr val="dk1"/>
                </a:solidFill>
              </a:rPr>
              <a:t>Rate-limiting</a:t>
            </a:r>
            <a:r>
              <a:rPr lang="en-GB">
                <a:solidFill>
                  <a:schemeClr val="dk1"/>
                </a:solidFill>
              </a:rPr>
              <a:t> and quotas to protect your backend services from being overwhelmed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The </a:t>
            </a:r>
            <a:r>
              <a:rPr b="1" lang="en-GB">
                <a:solidFill>
                  <a:schemeClr val="dk1"/>
                </a:solidFill>
              </a:rPr>
              <a:t>Target URL</a:t>
            </a:r>
            <a:r>
              <a:rPr lang="en-GB">
                <a:solidFill>
                  <a:schemeClr val="dk1"/>
                </a:solidFill>
              </a:rPr>
              <a:t>, where Tyk should forward requests after it processes them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Support for </a:t>
            </a:r>
            <a:r>
              <a:rPr b="1" lang="en-GB">
                <a:solidFill>
                  <a:schemeClr val="dk1"/>
                </a:solidFill>
              </a:rPr>
              <a:t>Versions</a:t>
            </a:r>
            <a:r>
              <a:rPr lang="en-GB">
                <a:solidFill>
                  <a:schemeClr val="dk1"/>
                </a:solidFill>
              </a:rPr>
              <a:t>, so you can manage multiple versions of the same API simultaneously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And </a:t>
            </a:r>
            <a:r>
              <a:rPr b="1" lang="en-GB">
                <a:solidFill>
                  <a:schemeClr val="dk1"/>
                </a:solidFill>
              </a:rPr>
              <a:t>Middleware</a:t>
            </a:r>
            <a:r>
              <a:rPr lang="en-GB">
                <a:solidFill>
                  <a:schemeClr val="dk1"/>
                </a:solidFill>
              </a:rPr>
              <a:t>, which lets you apply transformations, enforce business logic, or add custom behaviors on requests and responses."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"Now, there are </a:t>
            </a:r>
            <a:r>
              <a:rPr b="1" lang="en-GB">
                <a:solidFill>
                  <a:schemeClr val="dk1"/>
                </a:solidFill>
              </a:rPr>
              <a:t>two types of API Definitions</a:t>
            </a:r>
            <a:r>
              <a:rPr lang="en-GB">
                <a:solidFill>
                  <a:schemeClr val="dk1"/>
                </a:solidFill>
              </a:rPr>
              <a:t> available in Tyk: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>
                <a:solidFill>
                  <a:schemeClr val="dk1"/>
                </a:solidFill>
              </a:rPr>
              <a:t>Tyk Classic API Definitions</a:t>
            </a:r>
            <a:r>
              <a:rPr lang="en-GB">
                <a:solidFill>
                  <a:schemeClr val="dk1"/>
                </a:solidFill>
              </a:rPr>
              <a:t>, which are highly flexible and use Tyk’s traditional JSON schema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And </a:t>
            </a:r>
            <a:r>
              <a:rPr b="1" lang="en-GB">
                <a:solidFill>
                  <a:schemeClr val="dk1"/>
                </a:solidFill>
              </a:rPr>
              <a:t>Tyk OAS API Definitions</a:t>
            </a:r>
            <a:r>
              <a:rPr lang="en-GB">
                <a:solidFill>
                  <a:schemeClr val="dk1"/>
                </a:solidFill>
              </a:rPr>
              <a:t>, which are based on the </a:t>
            </a:r>
            <a:r>
              <a:rPr b="1" lang="en-GB">
                <a:solidFill>
                  <a:schemeClr val="dk1"/>
                </a:solidFill>
              </a:rPr>
              <a:t>OpenAPI Specification</a:t>
            </a:r>
            <a:r>
              <a:rPr lang="en-GB">
                <a:solidFill>
                  <a:schemeClr val="dk1"/>
                </a:solidFill>
              </a:rPr>
              <a:t>, providing a standardized, industry-recognized way of defining and managing APIs."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"Regardless of the type you choose, the API Definition is the </a:t>
            </a:r>
            <a:r>
              <a:rPr b="1" lang="en-GB">
                <a:solidFill>
                  <a:schemeClr val="dk1"/>
                </a:solidFill>
              </a:rPr>
              <a:t>single source of truth</a:t>
            </a:r>
            <a:r>
              <a:rPr lang="en-GB">
                <a:solidFill>
                  <a:schemeClr val="dk1"/>
                </a:solidFill>
              </a:rPr>
              <a:t> that governs how Tyk handles your APIs."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5fe0cf7069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5fe0cf7069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“Let’s talk about how Tyk manages and stores your API configurations."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"At the core of Tyk’s API management is something called an </a:t>
            </a:r>
            <a:r>
              <a:rPr b="1" lang="en-GB">
                <a:solidFill>
                  <a:schemeClr val="dk1"/>
                </a:solidFill>
              </a:rPr>
              <a:t>API Definition</a:t>
            </a:r>
            <a:r>
              <a:rPr lang="en-GB">
                <a:solidFill>
                  <a:schemeClr val="dk1"/>
                </a:solidFill>
              </a:rPr>
              <a:t>. This is essentially a </a:t>
            </a:r>
            <a:r>
              <a:rPr b="1" lang="en-GB">
                <a:solidFill>
                  <a:schemeClr val="dk1"/>
                </a:solidFill>
              </a:rPr>
              <a:t>JSON object</a:t>
            </a:r>
            <a:r>
              <a:rPr lang="en-GB">
                <a:solidFill>
                  <a:schemeClr val="dk1"/>
                </a:solidFill>
              </a:rPr>
              <a:t> that describes </a:t>
            </a:r>
            <a:r>
              <a:rPr b="1" lang="en-GB">
                <a:solidFill>
                  <a:schemeClr val="dk1"/>
                </a:solidFill>
              </a:rPr>
              <a:t>everything Tyk needs to know</a:t>
            </a:r>
            <a:r>
              <a:rPr lang="en-GB">
                <a:solidFill>
                  <a:schemeClr val="dk1"/>
                </a:solidFill>
              </a:rPr>
              <a:t> about your API.</a:t>
            </a: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 Each API you expose through Tyk has its own </a:t>
            </a:r>
            <a:r>
              <a:rPr b="1" lang="en-GB">
                <a:solidFill>
                  <a:schemeClr val="dk1"/>
                </a:solidFill>
              </a:rPr>
              <a:t>API Definition</a:t>
            </a:r>
            <a:r>
              <a:rPr lang="en-GB">
                <a:solidFill>
                  <a:schemeClr val="dk1"/>
                </a:solidFill>
              </a:rPr>
              <a:t>, and this is what the Tyk Gateway reads to manage how traffic flows."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"Inside an API Definition, we </a:t>
            </a:r>
            <a:r>
              <a:rPr b="1" lang="en-GB">
                <a:solidFill>
                  <a:schemeClr val="dk1"/>
                </a:solidFill>
              </a:rPr>
              <a:t>encapsulate the management rules</a:t>
            </a:r>
            <a:r>
              <a:rPr lang="en-GB">
                <a:solidFill>
                  <a:schemeClr val="dk1"/>
                </a:solidFill>
              </a:rPr>
              <a:t> for that API.</a:t>
            </a: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 It includes the </a:t>
            </a:r>
            <a:r>
              <a:rPr b="1" lang="en-GB">
                <a:solidFill>
                  <a:schemeClr val="dk1"/>
                </a:solidFill>
              </a:rPr>
              <a:t>settings and middlewares</a:t>
            </a:r>
            <a:r>
              <a:rPr lang="en-GB">
                <a:solidFill>
                  <a:schemeClr val="dk1"/>
                </a:solidFill>
              </a:rPr>
              <a:t> that define how incoming requests are handled, authenticated, and forwarded."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"For example, you can specify: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>
                <a:solidFill>
                  <a:schemeClr val="dk1"/>
                </a:solidFill>
              </a:rPr>
              <a:t>Authentication</a:t>
            </a:r>
            <a:r>
              <a:rPr lang="en-GB">
                <a:solidFill>
                  <a:schemeClr val="dk1"/>
                </a:solidFill>
              </a:rPr>
              <a:t>, like API Keys or JWTs, to secure your API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>
                <a:solidFill>
                  <a:schemeClr val="dk1"/>
                </a:solidFill>
              </a:rPr>
              <a:t>Rate-limiting</a:t>
            </a:r>
            <a:r>
              <a:rPr lang="en-GB">
                <a:solidFill>
                  <a:schemeClr val="dk1"/>
                </a:solidFill>
              </a:rPr>
              <a:t> and quotas to protect your backend services from being overwhelmed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The </a:t>
            </a:r>
            <a:r>
              <a:rPr b="1" lang="en-GB">
                <a:solidFill>
                  <a:schemeClr val="dk1"/>
                </a:solidFill>
              </a:rPr>
              <a:t>Target URL</a:t>
            </a:r>
            <a:r>
              <a:rPr lang="en-GB">
                <a:solidFill>
                  <a:schemeClr val="dk1"/>
                </a:solidFill>
              </a:rPr>
              <a:t>, where Tyk should forward requests after it processes them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Support for </a:t>
            </a:r>
            <a:r>
              <a:rPr b="1" lang="en-GB">
                <a:solidFill>
                  <a:schemeClr val="dk1"/>
                </a:solidFill>
              </a:rPr>
              <a:t>Versions</a:t>
            </a:r>
            <a:r>
              <a:rPr lang="en-GB">
                <a:solidFill>
                  <a:schemeClr val="dk1"/>
                </a:solidFill>
              </a:rPr>
              <a:t>, so you can manage multiple versions of the same API simultaneously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And </a:t>
            </a:r>
            <a:r>
              <a:rPr b="1" lang="en-GB">
                <a:solidFill>
                  <a:schemeClr val="dk1"/>
                </a:solidFill>
              </a:rPr>
              <a:t>Middleware</a:t>
            </a:r>
            <a:r>
              <a:rPr lang="en-GB">
                <a:solidFill>
                  <a:schemeClr val="dk1"/>
                </a:solidFill>
              </a:rPr>
              <a:t>, which lets you apply transformations, enforce business logic, or add custom behaviors on requests and responses."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"Now, there are </a:t>
            </a:r>
            <a:r>
              <a:rPr b="1" lang="en-GB">
                <a:solidFill>
                  <a:schemeClr val="dk1"/>
                </a:solidFill>
              </a:rPr>
              <a:t>two types of API Definitions</a:t>
            </a:r>
            <a:r>
              <a:rPr lang="en-GB">
                <a:solidFill>
                  <a:schemeClr val="dk1"/>
                </a:solidFill>
              </a:rPr>
              <a:t> available in Tyk: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>
                <a:solidFill>
                  <a:schemeClr val="dk1"/>
                </a:solidFill>
              </a:rPr>
              <a:t>Tyk Classic API Definitions</a:t>
            </a:r>
            <a:r>
              <a:rPr lang="en-GB">
                <a:solidFill>
                  <a:schemeClr val="dk1"/>
                </a:solidFill>
              </a:rPr>
              <a:t>, which are highly flexible and use Tyk’s traditional JSON schema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And </a:t>
            </a:r>
            <a:r>
              <a:rPr b="1" lang="en-GB">
                <a:solidFill>
                  <a:schemeClr val="dk1"/>
                </a:solidFill>
              </a:rPr>
              <a:t>Tyk OAS API Definitions</a:t>
            </a:r>
            <a:r>
              <a:rPr lang="en-GB">
                <a:solidFill>
                  <a:schemeClr val="dk1"/>
                </a:solidFill>
              </a:rPr>
              <a:t>, which are based on the </a:t>
            </a:r>
            <a:r>
              <a:rPr b="1" lang="en-GB">
                <a:solidFill>
                  <a:schemeClr val="dk1"/>
                </a:solidFill>
              </a:rPr>
              <a:t>OpenAPI Specification</a:t>
            </a:r>
            <a:r>
              <a:rPr lang="en-GB">
                <a:solidFill>
                  <a:schemeClr val="dk1"/>
                </a:solidFill>
              </a:rPr>
              <a:t>, providing a standardized, industry-recognized way of defining and managing APIs."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"Regardless of the type you choose, the API Definition is the </a:t>
            </a:r>
            <a:r>
              <a:rPr b="1" lang="en-GB">
                <a:solidFill>
                  <a:schemeClr val="dk1"/>
                </a:solidFill>
              </a:rPr>
              <a:t>single source of truth</a:t>
            </a:r>
            <a:r>
              <a:rPr lang="en-GB">
                <a:solidFill>
                  <a:schemeClr val="dk1"/>
                </a:solidFill>
              </a:rPr>
              <a:t> that governs how Tyk handles your APIs."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5fe0cf7069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5fe0cf7069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“Let’s talk about how Tyk manages and stores your API configurations."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"At the core of Tyk’s API management is something called an </a:t>
            </a:r>
            <a:r>
              <a:rPr b="1" lang="en-GB">
                <a:solidFill>
                  <a:schemeClr val="dk1"/>
                </a:solidFill>
              </a:rPr>
              <a:t>API Definition</a:t>
            </a:r>
            <a:r>
              <a:rPr lang="en-GB">
                <a:solidFill>
                  <a:schemeClr val="dk1"/>
                </a:solidFill>
              </a:rPr>
              <a:t>. This is essentially a </a:t>
            </a:r>
            <a:r>
              <a:rPr b="1" lang="en-GB">
                <a:solidFill>
                  <a:schemeClr val="dk1"/>
                </a:solidFill>
              </a:rPr>
              <a:t>JSON object</a:t>
            </a:r>
            <a:r>
              <a:rPr lang="en-GB">
                <a:solidFill>
                  <a:schemeClr val="dk1"/>
                </a:solidFill>
              </a:rPr>
              <a:t> that describes </a:t>
            </a:r>
            <a:r>
              <a:rPr b="1" lang="en-GB">
                <a:solidFill>
                  <a:schemeClr val="dk1"/>
                </a:solidFill>
              </a:rPr>
              <a:t>everything Tyk needs to know</a:t>
            </a:r>
            <a:r>
              <a:rPr lang="en-GB">
                <a:solidFill>
                  <a:schemeClr val="dk1"/>
                </a:solidFill>
              </a:rPr>
              <a:t> about your API.</a:t>
            </a: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 Each API you expose through Tyk has its own </a:t>
            </a:r>
            <a:r>
              <a:rPr b="1" lang="en-GB">
                <a:solidFill>
                  <a:schemeClr val="dk1"/>
                </a:solidFill>
              </a:rPr>
              <a:t>API Definition</a:t>
            </a:r>
            <a:r>
              <a:rPr lang="en-GB">
                <a:solidFill>
                  <a:schemeClr val="dk1"/>
                </a:solidFill>
              </a:rPr>
              <a:t>, and this is what the Tyk Gateway reads to manage how traffic flows."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"Inside an API Definition, we </a:t>
            </a:r>
            <a:r>
              <a:rPr b="1" lang="en-GB">
                <a:solidFill>
                  <a:schemeClr val="dk1"/>
                </a:solidFill>
              </a:rPr>
              <a:t>encapsulate the management rules</a:t>
            </a:r>
            <a:r>
              <a:rPr lang="en-GB">
                <a:solidFill>
                  <a:schemeClr val="dk1"/>
                </a:solidFill>
              </a:rPr>
              <a:t> for that API.</a:t>
            </a: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 It includes the </a:t>
            </a:r>
            <a:r>
              <a:rPr b="1" lang="en-GB">
                <a:solidFill>
                  <a:schemeClr val="dk1"/>
                </a:solidFill>
              </a:rPr>
              <a:t>settings and middlewares</a:t>
            </a:r>
            <a:r>
              <a:rPr lang="en-GB">
                <a:solidFill>
                  <a:schemeClr val="dk1"/>
                </a:solidFill>
              </a:rPr>
              <a:t> that define how incoming requests are handled, authenticated, and forwarded."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"For example, you can specify: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>
                <a:solidFill>
                  <a:schemeClr val="dk1"/>
                </a:solidFill>
              </a:rPr>
              <a:t>Authentication</a:t>
            </a:r>
            <a:r>
              <a:rPr lang="en-GB">
                <a:solidFill>
                  <a:schemeClr val="dk1"/>
                </a:solidFill>
              </a:rPr>
              <a:t>, like API Keys or JWTs, to secure your API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>
                <a:solidFill>
                  <a:schemeClr val="dk1"/>
                </a:solidFill>
              </a:rPr>
              <a:t>Rate-limiting</a:t>
            </a:r>
            <a:r>
              <a:rPr lang="en-GB">
                <a:solidFill>
                  <a:schemeClr val="dk1"/>
                </a:solidFill>
              </a:rPr>
              <a:t> and quotas to protect your backend services from being overwhelmed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The </a:t>
            </a:r>
            <a:r>
              <a:rPr b="1" lang="en-GB">
                <a:solidFill>
                  <a:schemeClr val="dk1"/>
                </a:solidFill>
              </a:rPr>
              <a:t>Target URL</a:t>
            </a:r>
            <a:r>
              <a:rPr lang="en-GB">
                <a:solidFill>
                  <a:schemeClr val="dk1"/>
                </a:solidFill>
              </a:rPr>
              <a:t>, where Tyk should forward requests after it processes them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Support for </a:t>
            </a:r>
            <a:r>
              <a:rPr b="1" lang="en-GB">
                <a:solidFill>
                  <a:schemeClr val="dk1"/>
                </a:solidFill>
              </a:rPr>
              <a:t>Versions</a:t>
            </a:r>
            <a:r>
              <a:rPr lang="en-GB">
                <a:solidFill>
                  <a:schemeClr val="dk1"/>
                </a:solidFill>
              </a:rPr>
              <a:t>, so you can manage multiple versions of the same API simultaneously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And </a:t>
            </a:r>
            <a:r>
              <a:rPr b="1" lang="en-GB">
                <a:solidFill>
                  <a:schemeClr val="dk1"/>
                </a:solidFill>
              </a:rPr>
              <a:t>Middleware</a:t>
            </a:r>
            <a:r>
              <a:rPr lang="en-GB">
                <a:solidFill>
                  <a:schemeClr val="dk1"/>
                </a:solidFill>
              </a:rPr>
              <a:t>, which lets you apply transformations, enforce business logic, or add custom behaviors on requests and responses."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"Now, there are </a:t>
            </a:r>
            <a:r>
              <a:rPr b="1" lang="en-GB">
                <a:solidFill>
                  <a:schemeClr val="dk1"/>
                </a:solidFill>
              </a:rPr>
              <a:t>two types of API Definitions</a:t>
            </a:r>
            <a:r>
              <a:rPr lang="en-GB">
                <a:solidFill>
                  <a:schemeClr val="dk1"/>
                </a:solidFill>
              </a:rPr>
              <a:t> available in Tyk: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>
                <a:solidFill>
                  <a:schemeClr val="dk1"/>
                </a:solidFill>
              </a:rPr>
              <a:t>Tyk Classic API Definitions</a:t>
            </a:r>
            <a:r>
              <a:rPr lang="en-GB">
                <a:solidFill>
                  <a:schemeClr val="dk1"/>
                </a:solidFill>
              </a:rPr>
              <a:t>, which are highly flexible and use Tyk’s traditional JSON schema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And </a:t>
            </a:r>
            <a:r>
              <a:rPr b="1" lang="en-GB">
                <a:solidFill>
                  <a:schemeClr val="dk1"/>
                </a:solidFill>
              </a:rPr>
              <a:t>Tyk OAS API Definitions</a:t>
            </a:r>
            <a:r>
              <a:rPr lang="en-GB">
                <a:solidFill>
                  <a:schemeClr val="dk1"/>
                </a:solidFill>
              </a:rPr>
              <a:t>, which are based on the </a:t>
            </a:r>
            <a:r>
              <a:rPr b="1" lang="en-GB">
                <a:solidFill>
                  <a:schemeClr val="dk1"/>
                </a:solidFill>
              </a:rPr>
              <a:t>OpenAPI Specification</a:t>
            </a:r>
            <a:r>
              <a:rPr lang="en-GB">
                <a:solidFill>
                  <a:schemeClr val="dk1"/>
                </a:solidFill>
              </a:rPr>
              <a:t>, providing a standardized, industry-recognized way of defining and managing APIs."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"Regardless of the type you choose, the API Definition is the </a:t>
            </a:r>
            <a:r>
              <a:rPr b="1" lang="en-GB">
                <a:solidFill>
                  <a:schemeClr val="dk1"/>
                </a:solidFill>
              </a:rPr>
              <a:t>single source of truth</a:t>
            </a:r>
            <a:r>
              <a:rPr lang="en-GB">
                <a:solidFill>
                  <a:schemeClr val="dk1"/>
                </a:solidFill>
              </a:rPr>
              <a:t> that governs how Tyk handles your APIs."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fe0cf7069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fe0cf7069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“Let’s talk about how Tyk manages and stores your API configurations."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"At the core of Tyk’s API management is something called an </a:t>
            </a:r>
            <a:r>
              <a:rPr b="1" lang="en-GB">
                <a:solidFill>
                  <a:schemeClr val="dk1"/>
                </a:solidFill>
              </a:rPr>
              <a:t>API Definition</a:t>
            </a:r>
            <a:r>
              <a:rPr lang="en-GB">
                <a:solidFill>
                  <a:schemeClr val="dk1"/>
                </a:solidFill>
              </a:rPr>
              <a:t>. This is essentially a </a:t>
            </a:r>
            <a:r>
              <a:rPr b="1" lang="en-GB">
                <a:solidFill>
                  <a:schemeClr val="dk1"/>
                </a:solidFill>
              </a:rPr>
              <a:t>JSON object</a:t>
            </a:r>
            <a:r>
              <a:rPr lang="en-GB">
                <a:solidFill>
                  <a:schemeClr val="dk1"/>
                </a:solidFill>
              </a:rPr>
              <a:t> that describes </a:t>
            </a:r>
            <a:r>
              <a:rPr b="1" lang="en-GB">
                <a:solidFill>
                  <a:schemeClr val="dk1"/>
                </a:solidFill>
              </a:rPr>
              <a:t>everything Tyk needs to know</a:t>
            </a:r>
            <a:r>
              <a:rPr lang="en-GB">
                <a:solidFill>
                  <a:schemeClr val="dk1"/>
                </a:solidFill>
              </a:rPr>
              <a:t> about your API.</a:t>
            </a: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 Each API you expose through Tyk has its own </a:t>
            </a:r>
            <a:r>
              <a:rPr b="1" lang="en-GB">
                <a:solidFill>
                  <a:schemeClr val="dk1"/>
                </a:solidFill>
              </a:rPr>
              <a:t>API Definition</a:t>
            </a:r>
            <a:r>
              <a:rPr lang="en-GB">
                <a:solidFill>
                  <a:schemeClr val="dk1"/>
                </a:solidFill>
              </a:rPr>
              <a:t>, and this is what the Tyk Gateway reads to manage how traffic flows."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"Inside an API Definition, we </a:t>
            </a:r>
            <a:r>
              <a:rPr b="1" lang="en-GB">
                <a:solidFill>
                  <a:schemeClr val="dk1"/>
                </a:solidFill>
              </a:rPr>
              <a:t>encapsulate the management rules</a:t>
            </a:r>
            <a:r>
              <a:rPr lang="en-GB">
                <a:solidFill>
                  <a:schemeClr val="dk1"/>
                </a:solidFill>
              </a:rPr>
              <a:t> for that API.</a:t>
            </a: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 It includes the </a:t>
            </a:r>
            <a:r>
              <a:rPr b="1" lang="en-GB">
                <a:solidFill>
                  <a:schemeClr val="dk1"/>
                </a:solidFill>
              </a:rPr>
              <a:t>settings and middlewares</a:t>
            </a:r>
            <a:r>
              <a:rPr lang="en-GB">
                <a:solidFill>
                  <a:schemeClr val="dk1"/>
                </a:solidFill>
              </a:rPr>
              <a:t> that define how incoming requests are handled, authenticated, and forwarded."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"For example, you can specify: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>
                <a:solidFill>
                  <a:schemeClr val="dk1"/>
                </a:solidFill>
              </a:rPr>
              <a:t>Authentication</a:t>
            </a:r>
            <a:r>
              <a:rPr lang="en-GB">
                <a:solidFill>
                  <a:schemeClr val="dk1"/>
                </a:solidFill>
              </a:rPr>
              <a:t>, like API Keys or JWTs, to secure your API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>
                <a:solidFill>
                  <a:schemeClr val="dk1"/>
                </a:solidFill>
              </a:rPr>
              <a:t>Rate-limiting</a:t>
            </a:r>
            <a:r>
              <a:rPr lang="en-GB">
                <a:solidFill>
                  <a:schemeClr val="dk1"/>
                </a:solidFill>
              </a:rPr>
              <a:t> and quotas to protect your backend services from being overwhelmed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The </a:t>
            </a:r>
            <a:r>
              <a:rPr b="1" lang="en-GB">
                <a:solidFill>
                  <a:schemeClr val="dk1"/>
                </a:solidFill>
              </a:rPr>
              <a:t>Target URL</a:t>
            </a:r>
            <a:r>
              <a:rPr lang="en-GB">
                <a:solidFill>
                  <a:schemeClr val="dk1"/>
                </a:solidFill>
              </a:rPr>
              <a:t>, where Tyk should forward requests after it processes them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Support for </a:t>
            </a:r>
            <a:r>
              <a:rPr b="1" lang="en-GB">
                <a:solidFill>
                  <a:schemeClr val="dk1"/>
                </a:solidFill>
              </a:rPr>
              <a:t>Versions</a:t>
            </a:r>
            <a:r>
              <a:rPr lang="en-GB">
                <a:solidFill>
                  <a:schemeClr val="dk1"/>
                </a:solidFill>
              </a:rPr>
              <a:t>, so you can manage multiple versions of the same API simultaneously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And </a:t>
            </a:r>
            <a:r>
              <a:rPr b="1" lang="en-GB">
                <a:solidFill>
                  <a:schemeClr val="dk1"/>
                </a:solidFill>
              </a:rPr>
              <a:t>Middleware</a:t>
            </a:r>
            <a:r>
              <a:rPr lang="en-GB">
                <a:solidFill>
                  <a:schemeClr val="dk1"/>
                </a:solidFill>
              </a:rPr>
              <a:t>, which lets you apply transformations, enforce business logic, or add custom behaviors on requests and responses."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"Now, there are </a:t>
            </a:r>
            <a:r>
              <a:rPr b="1" lang="en-GB">
                <a:solidFill>
                  <a:schemeClr val="dk1"/>
                </a:solidFill>
              </a:rPr>
              <a:t>two types of API Definitions</a:t>
            </a:r>
            <a:r>
              <a:rPr lang="en-GB">
                <a:solidFill>
                  <a:schemeClr val="dk1"/>
                </a:solidFill>
              </a:rPr>
              <a:t> available in Tyk: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>
                <a:solidFill>
                  <a:schemeClr val="dk1"/>
                </a:solidFill>
              </a:rPr>
              <a:t>Tyk Classic API Definitions</a:t>
            </a:r>
            <a:r>
              <a:rPr lang="en-GB">
                <a:solidFill>
                  <a:schemeClr val="dk1"/>
                </a:solidFill>
              </a:rPr>
              <a:t>, which are highly flexible and use Tyk’s traditional JSON schema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And </a:t>
            </a:r>
            <a:r>
              <a:rPr b="1" lang="en-GB">
                <a:solidFill>
                  <a:schemeClr val="dk1"/>
                </a:solidFill>
              </a:rPr>
              <a:t>Tyk OAS API Definitions</a:t>
            </a:r>
            <a:r>
              <a:rPr lang="en-GB">
                <a:solidFill>
                  <a:schemeClr val="dk1"/>
                </a:solidFill>
              </a:rPr>
              <a:t>, which are based on the </a:t>
            </a:r>
            <a:r>
              <a:rPr b="1" lang="en-GB">
                <a:solidFill>
                  <a:schemeClr val="dk1"/>
                </a:solidFill>
              </a:rPr>
              <a:t>OpenAPI Specification</a:t>
            </a:r>
            <a:r>
              <a:rPr lang="en-GB">
                <a:solidFill>
                  <a:schemeClr val="dk1"/>
                </a:solidFill>
              </a:rPr>
              <a:t>, providing a standardized, industry-recognized way of defining and managing APIs."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"Regardless of the type you choose, the API Definition is the </a:t>
            </a:r>
            <a:r>
              <a:rPr b="1" lang="en-GB">
                <a:solidFill>
                  <a:schemeClr val="dk1"/>
                </a:solidFill>
              </a:rPr>
              <a:t>single source of truth</a:t>
            </a:r>
            <a:r>
              <a:rPr lang="en-GB">
                <a:solidFill>
                  <a:schemeClr val="dk1"/>
                </a:solidFill>
              </a:rPr>
              <a:t> that governs how Tyk handles your APIs."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8438FA"/>
            </a:gs>
            <a:gs pos="35000">
              <a:srgbClr val="8438FA"/>
            </a:gs>
            <a:gs pos="100000">
              <a:srgbClr val="BB11FF"/>
            </a:gs>
          </a:gsLst>
          <a:lin ang="2700006" scaled="0"/>
        </a:gra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59400" y="1748550"/>
            <a:ext cx="8425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API Deployment</a:t>
            </a:r>
            <a:endParaRPr b="1" sz="3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909875" y="2499150"/>
            <a:ext cx="52902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At Tyk, we offer multiple deployment methods to match the maturity and scale of your API projects — from simple experiments to full-scale GitOps.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" name="Google Shape;56;p13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720000" y="1154200"/>
            <a:ext cx="5290200" cy="23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File-based Configurations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Best For: Open Source users and initial testing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○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Configure APIs using JSON specs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○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Load configs into /apps folder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○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Great for quick iterations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Usage: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○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Testing gateway &amp; API configs in Open Source setups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" name="Google Shape;63;p14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File-Based Configurations</a:t>
            </a:r>
            <a:endParaRPr b="1" sz="38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/>
        </p:nvSpPr>
        <p:spPr>
          <a:xfrm>
            <a:off x="720000" y="1154200"/>
            <a:ext cx="5290200" cy="21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Dashboard UI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Best For: PoC, Trials, and manual learning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○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Intuitive web GUI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○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Instant feedback from changes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○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Easily import and edit APIs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Usage: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○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PoC, hands-on exploration, and testing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" name="Google Shape;71;p15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Dashboard UI</a:t>
            </a:r>
            <a:endParaRPr b="1" sz="38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/>
        </p:nvSpPr>
        <p:spPr>
          <a:xfrm>
            <a:off x="720000" y="1154200"/>
            <a:ext cx="5290200" cy="23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Dashboard or Gateway API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Best For: Programmatic access &amp; automation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○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Use REST APIs to manage APIs, Policies, Keys, etc.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○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Enables scripting and partial automation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○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Imperative (not declarative) style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Usage: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○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Teams needing API-level control and scripting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" name="Google Shape;79;p16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Dashboard or Gateway API</a:t>
            </a:r>
            <a:endParaRPr b="1" sz="3800">
              <a:solidFill>
                <a:srgbClr val="5900CB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/>
        </p:nvSpPr>
        <p:spPr>
          <a:xfrm>
            <a:off x="720000" y="1154200"/>
            <a:ext cx="5290200" cy="21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Tyk Sync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Best For: GitOps-style automation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○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Declarative config in transportable format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○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Store API definitions in Git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○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Enables CI/CD for APIs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Usage: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○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Automated, version-controlled API deployments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" name="Google Shape;87;p17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7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Tyk Sync</a:t>
            </a:r>
            <a:endParaRPr b="1" sz="3800">
              <a:solidFill>
                <a:srgbClr val="5900CB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/>
        </p:nvSpPr>
        <p:spPr>
          <a:xfrm>
            <a:off x="720000" y="1154200"/>
            <a:ext cx="5290200" cy="23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Tyk Operator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Best For: Kubernetes-native environments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○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Treat APIs &amp; Policies as K8s Custom Resources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○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Continuous reconciliation with Git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○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Built on Tyk Sync &amp; GitOps principles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Usage: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031C"/>
              </a:buClr>
              <a:buSzPts val="1400"/>
              <a:buFont typeface="Inter"/>
              <a:buChar char="○"/>
            </a:pPr>
            <a:r>
              <a:rPr lang="en-GB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Kubernetes users who want declarative, drift-resistant API management</a:t>
            </a:r>
            <a:endParaRPr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" name="Google Shape;95;p18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8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Tyk Operator</a:t>
            </a:r>
            <a:endParaRPr b="1" sz="3800">
              <a:solidFill>
                <a:srgbClr val="5900CB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