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5" r:id="rId4"/>
    <p:sldMasterId id="2147483686" r:id="rId5"/>
    <p:sldMasterId id="214748368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y="5143500" cx="9144000"/>
  <p:notesSz cx="6858000" cy="9144000"/>
  <p:embeddedFontLst>
    <p:embeddedFont>
      <p:font typeface="Inter Light"/>
      <p:regular r:id="rId15"/>
      <p:bold r:id="rId16"/>
      <p:italic r:id="rId17"/>
      <p:boldItalic r:id="rId18"/>
    </p:embeddedFont>
    <p:embeddedFont>
      <p:font typeface="Roboto"/>
      <p:regular r:id="rId19"/>
      <p:bold r:id="rId20"/>
      <p:italic r:id="rId21"/>
      <p:boldItalic r:id="rId22"/>
    </p:embeddedFont>
    <p:embeddedFont>
      <p:font typeface="Inter"/>
      <p:regular r:id="rId23"/>
      <p:bold r:id="rId24"/>
      <p:italic r:id="rId25"/>
      <p:boldItalic r:id="rId26"/>
    </p:embeddedFont>
    <p:embeddedFont>
      <p:font typeface="Open Sans SemiBold"/>
      <p:regular r:id="rId27"/>
      <p:bold r:id="rId28"/>
      <p:italic r:id="rId29"/>
      <p:boldItalic r:id="rId30"/>
    </p:embeddedFont>
    <p:embeddedFont>
      <p:font typeface="Inter Medium"/>
      <p:regular r:id="rId31"/>
      <p:bold r:id="rId32"/>
      <p:italic r:id="rId33"/>
      <p:boldItalic r:id="rId34"/>
    </p:embeddedFont>
    <p:embeddedFont>
      <p:font typeface="Open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Inter-bold.fntdata"/><Relationship Id="rId23" Type="http://schemas.openxmlformats.org/officeDocument/2006/relationships/font" Target="fonts/Inter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font" Target="fonts/Inter-boldItalic.fntdata"/><Relationship Id="rId25" Type="http://schemas.openxmlformats.org/officeDocument/2006/relationships/font" Target="fonts/Inter-italic.fntdata"/><Relationship Id="rId28" Type="http://schemas.openxmlformats.org/officeDocument/2006/relationships/font" Target="fonts/OpenSansSemiBold-bold.fntdata"/><Relationship Id="rId27" Type="http://schemas.openxmlformats.org/officeDocument/2006/relationships/font" Target="fonts/OpenSansSemiBold-regular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OpenSansSemiBold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InterMedium-regular.fntdata"/><Relationship Id="rId30" Type="http://schemas.openxmlformats.org/officeDocument/2006/relationships/font" Target="fonts/OpenSansSemiBold-boldItalic.fntdata"/><Relationship Id="rId11" Type="http://schemas.openxmlformats.org/officeDocument/2006/relationships/slide" Target="slides/slide4.xml"/><Relationship Id="rId33" Type="http://schemas.openxmlformats.org/officeDocument/2006/relationships/font" Target="fonts/InterMedium-italic.fntdata"/><Relationship Id="rId10" Type="http://schemas.openxmlformats.org/officeDocument/2006/relationships/slide" Target="slides/slide3.xml"/><Relationship Id="rId32" Type="http://schemas.openxmlformats.org/officeDocument/2006/relationships/font" Target="fonts/InterMedium-bold.fntdata"/><Relationship Id="rId13" Type="http://schemas.openxmlformats.org/officeDocument/2006/relationships/slide" Target="slides/slide6.xml"/><Relationship Id="rId35" Type="http://schemas.openxmlformats.org/officeDocument/2006/relationships/font" Target="fonts/OpenSans-regular.fntdata"/><Relationship Id="rId12" Type="http://schemas.openxmlformats.org/officeDocument/2006/relationships/slide" Target="slides/slide5.xml"/><Relationship Id="rId34" Type="http://schemas.openxmlformats.org/officeDocument/2006/relationships/font" Target="fonts/InterMedium-boldItalic.fntdata"/><Relationship Id="rId15" Type="http://schemas.openxmlformats.org/officeDocument/2006/relationships/font" Target="fonts/InterLight-regular.fntdata"/><Relationship Id="rId37" Type="http://schemas.openxmlformats.org/officeDocument/2006/relationships/font" Target="fonts/OpenSans-italic.fntdata"/><Relationship Id="rId14" Type="http://schemas.openxmlformats.org/officeDocument/2006/relationships/slide" Target="slides/slide7.xml"/><Relationship Id="rId36" Type="http://schemas.openxmlformats.org/officeDocument/2006/relationships/font" Target="fonts/OpenSans-bold.fntdata"/><Relationship Id="rId17" Type="http://schemas.openxmlformats.org/officeDocument/2006/relationships/font" Target="fonts/InterLight-italic.fntdata"/><Relationship Id="rId16" Type="http://schemas.openxmlformats.org/officeDocument/2006/relationships/font" Target="fonts/InterLight-bold.fntdata"/><Relationship Id="rId38" Type="http://schemas.openxmlformats.org/officeDocument/2006/relationships/font" Target="fonts/OpenSans-boldItalic.fntdata"/><Relationship Id="rId19" Type="http://schemas.openxmlformats.org/officeDocument/2006/relationships/font" Target="fonts/Roboto-regular.fntdata"/><Relationship Id="rId18" Type="http://schemas.openxmlformats.org/officeDocument/2006/relationships/font" Target="fonts/InterLight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51da5d13dc_0_3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51da5d13dc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51da5d13dc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51da5d13dc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51da5d13dc_0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51da5d13dc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1da5d13dc_0_6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1da5d13dc_0_6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1da5d13dc_0_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51da5d13dc_0_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51da5d13dc_0_6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51da5d13dc_0_6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51da5d13dc_0_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51da5d13dc_0_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jp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white">
  <p:cSld name="SECTION_HEADER_1_1_1_1"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title"/>
          </p:nvPr>
        </p:nvSpPr>
        <p:spPr>
          <a:xfrm>
            <a:off x="500550" y="0"/>
            <a:ext cx="8520600" cy="11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9pPr>
          </a:lstStyle>
          <a:p/>
        </p:txBody>
      </p:sp>
      <p:sp>
        <p:nvSpPr>
          <p:cNvPr id="59" name="Google Shape;59;p15"/>
          <p:cNvSpPr txBox="1"/>
          <p:nvPr>
            <p:ph idx="2" type="title"/>
          </p:nvPr>
        </p:nvSpPr>
        <p:spPr>
          <a:xfrm>
            <a:off x="500550" y="1140600"/>
            <a:ext cx="8520600" cy="3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sz="1800">
                <a:solidFill>
                  <a:srgbClr val="0D0D18"/>
                </a:solidFill>
              </a:defRPr>
            </a:lvl1pPr>
            <a:lvl2pPr lvl="1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2pPr>
            <a:lvl3pPr lvl="2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3pPr>
            <a:lvl4pPr lvl="3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4pPr>
            <a:lvl5pPr lvl="4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5pPr>
            <a:lvl6pPr lvl="5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6pPr>
            <a:lvl7pPr lvl="6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7pPr>
            <a:lvl8pPr lvl="7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8pPr>
            <a:lvl9pPr lvl="8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9pPr>
          </a:lstStyle>
          <a:p/>
        </p:txBody>
      </p:sp>
      <p:sp>
        <p:nvSpPr>
          <p:cNvPr id="60" name="Google Shape;60;p15"/>
          <p:cNvSpPr txBox="1"/>
          <p:nvPr/>
        </p:nvSpPr>
        <p:spPr>
          <a:xfrm>
            <a:off x="0" y="0"/>
            <a:ext cx="242100" cy="1140600"/>
          </a:xfrm>
          <a:prstGeom prst="rect">
            <a:avLst/>
          </a:prstGeom>
          <a:gradFill>
            <a:gsLst>
              <a:gs pos="0">
                <a:srgbClr val="1A237D"/>
              </a:gs>
              <a:gs pos="100000">
                <a:srgbClr val="2F3F9E"/>
              </a:gs>
            </a:gsLst>
            <a:lin ang="5400012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3" name="Google Shape;6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6" name="Google Shape;6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/>
          <p:nvPr>
            <p:ph type="ctrTitle"/>
          </p:nvPr>
        </p:nvSpPr>
        <p:spPr>
          <a:xfrm>
            <a:off x="311700" y="922550"/>
            <a:ext cx="8520600" cy="16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9" name="Google Shape;69;p18"/>
          <p:cNvSpPr txBox="1"/>
          <p:nvPr>
            <p:ph idx="1" type="subTitle"/>
          </p:nvPr>
        </p:nvSpPr>
        <p:spPr>
          <a:xfrm>
            <a:off x="311700" y="253155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E9BA"/>
              </a:buClr>
              <a:buSzPts val="2000"/>
              <a:buNone/>
              <a:defRPr sz="2000">
                <a:solidFill>
                  <a:srgbClr val="21E9B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0" name="Google Shape;7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1" name="Google Shape;81;p21"/>
          <p:cNvSpPr txBox="1"/>
          <p:nvPr>
            <p:ph idx="1" type="body"/>
          </p:nvPr>
        </p:nvSpPr>
        <p:spPr>
          <a:xfrm>
            <a:off x="311700" y="1389600"/>
            <a:ext cx="50364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2" name="Google Shape;8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6" name="Google Shape;86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E9BA"/>
              </a:buClr>
              <a:buSzPts val="1600"/>
              <a:buNone/>
              <a:defRPr sz="1600">
                <a:solidFill>
                  <a:srgbClr val="21E9B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7" name="Google Shape;87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800"/>
              <a:buChar char="●"/>
              <a:defRPr>
                <a:solidFill>
                  <a:srgbClr val="8438FA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●"/>
              <a:defRPr>
                <a:solidFill>
                  <a:srgbClr val="8438FA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●"/>
              <a:defRPr>
                <a:solidFill>
                  <a:srgbClr val="8438FA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9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1" name="Google Shape;9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4" name="Google Shape;94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5" name="Google Shape;9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7"/>
          <p:cNvSpPr txBox="1"/>
          <p:nvPr>
            <p:ph type="ctrTitle"/>
          </p:nvPr>
        </p:nvSpPr>
        <p:spPr>
          <a:xfrm>
            <a:off x="311700" y="922550"/>
            <a:ext cx="8520600" cy="16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4" name="Google Shape;104;p27"/>
          <p:cNvSpPr txBox="1"/>
          <p:nvPr>
            <p:ph idx="1" type="subTitle"/>
          </p:nvPr>
        </p:nvSpPr>
        <p:spPr>
          <a:xfrm>
            <a:off x="311700" y="25315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E9BA"/>
              </a:buClr>
              <a:buSzPts val="2000"/>
              <a:buNone/>
              <a:defRPr sz="2000">
                <a:solidFill>
                  <a:srgbClr val="21E9B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5" name="Google Shape;10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8" name="Google Shape;10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111" name="Google Shape;11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114" name="Google Shape;114;p3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5" name="Google Shape;115;p3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6" name="Google Shape;116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119" name="Google Shape;119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2" name="Google Shape;122;p32"/>
          <p:cNvSpPr txBox="1"/>
          <p:nvPr>
            <p:ph idx="1" type="body"/>
          </p:nvPr>
        </p:nvSpPr>
        <p:spPr>
          <a:xfrm>
            <a:off x="311700" y="1389600"/>
            <a:ext cx="50364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3" name="Google Shape;123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6" name="Google Shape;126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30" name="Google Shape;130;p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E9BA"/>
              </a:buClr>
              <a:buSzPts val="1600"/>
              <a:buNone/>
              <a:defRPr sz="1600">
                <a:solidFill>
                  <a:srgbClr val="21E9B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1" name="Google Shape;131;p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800"/>
              <a:buChar char="●"/>
              <a:defRPr>
                <a:solidFill>
                  <a:srgbClr val="8438FA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●"/>
              <a:defRPr>
                <a:solidFill>
                  <a:srgbClr val="8438FA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●"/>
              <a:defRPr>
                <a:solidFill>
                  <a:srgbClr val="8438FA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9pPr>
          </a:lstStyle>
          <a:p/>
        </p:txBody>
      </p:sp>
      <p:sp>
        <p:nvSpPr>
          <p:cNvPr id="132" name="Google Shape;132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35" name="Google Shape;135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8" name="Google Shape;138;p3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9" name="Google Shape;13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slide" showMasterSp="0">
  <p:cSld name="Light slide"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8"/>
          <p:cNvSpPr txBox="1"/>
          <p:nvPr>
            <p:ph idx="1" type="body"/>
          </p:nvPr>
        </p:nvSpPr>
        <p:spPr>
          <a:xfrm>
            <a:off x="951731" y="1115566"/>
            <a:ext cx="53022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19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5071"/>
              </a:buClr>
              <a:buSzPts val="3000"/>
              <a:buFont typeface="Arial"/>
              <a:buChar char="●"/>
              <a:defRPr b="1" sz="3000">
                <a:solidFill>
                  <a:srgbClr val="50507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144" name="Google Shape;144;p38"/>
          <p:cNvSpPr txBox="1"/>
          <p:nvPr>
            <p:ph idx="2" type="body"/>
          </p:nvPr>
        </p:nvSpPr>
        <p:spPr>
          <a:xfrm>
            <a:off x="934600" y="858391"/>
            <a:ext cx="2825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pic>
        <p:nvPicPr>
          <p:cNvPr descr="logo_RGB-Transparent1-WEB.png" id="145" name="Google Shape;145;p38"/>
          <p:cNvPicPr preferRelativeResize="0"/>
          <p:nvPr/>
        </p:nvPicPr>
        <p:blipFill rotWithShape="1">
          <a:blip r:embed="rId2">
            <a:alphaModFix/>
          </a:blip>
          <a:srcRect b="40" l="0" r="0" t="40"/>
          <a:stretch/>
        </p:blipFill>
        <p:spPr>
          <a:xfrm>
            <a:off x="243186" y="4749582"/>
            <a:ext cx="279847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38"/>
          <p:cNvSpPr txBox="1"/>
          <p:nvPr>
            <p:ph idx="3" type="body"/>
          </p:nvPr>
        </p:nvSpPr>
        <p:spPr>
          <a:xfrm>
            <a:off x="951731" y="2296477"/>
            <a:ext cx="38601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7305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147" name="Google Shape;147;p38"/>
          <p:cNvSpPr txBox="1"/>
          <p:nvPr>
            <p:ph idx="12" type="sldNum"/>
          </p:nvPr>
        </p:nvSpPr>
        <p:spPr>
          <a:xfrm>
            <a:off x="8543920" y="4773806"/>
            <a:ext cx="3516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dark">
  <p:cSld name="SECTION_HEADER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9"/>
          <p:cNvSpPr txBox="1"/>
          <p:nvPr>
            <p:ph type="title"/>
          </p:nvPr>
        </p:nvSpPr>
        <p:spPr>
          <a:xfrm>
            <a:off x="500550" y="0"/>
            <a:ext cx="8520600" cy="11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9pPr>
          </a:lstStyle>
          <a:p/>
        </p:txBody>
      </p:sp>
      <p:sp>
        <p:nvSpPr>
          <p:cNvPr id="150" name="Google Shape;150;p39"/>
          <p:cNvSpPr txBox="1"/>
          <p:nvPr>
            <p:ph idx="2" type="title"/>
          </p:nvPr>
        </p:nvSpPr>
        <p:spPr>
          <a:xfrm>
            <a:off x="500550" y="1140600"/>
            <a:ext cx="8520600" cy="39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sz="1800">
                <a:solidFill>
                  <a:srgbClr val="E1E1E1"/>
                </a:solidFill>
              </a:defRPr>
            </a:lvl1pPr>
            <a:lvl2pPr lvl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2pPr>
            <a:lvl3pPr lvl="2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3pPr>
            <a:lvl4pPr lvl="3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4pPr>
            <a:lvl5pPr lvl="4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5pPr>
            <a:lvl6pPr lvl="5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6pPr>
            <a:lvl7pPr lvl="6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7pPr>
            <a:lvl8pPr lvl="7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8pPr>
            <a:lvl9pPr lvl="8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9pPr>
          </a:lstStyle>
          <a:p/>
        </p:txBody>
      </p:sp>
      <p:sp>
        <p:nvSpPr>
          <p:cNvPr id="151" name="Google Shape;151;p39"/>
          <p:cNvSpPr txBox="1"/>
          <p:nvPr/>
        </p:nvSpPr>
        <p:spPr>
          <a:xfrm>
            <a:off x="0" y="0"/>
            <a:ext cx="242100" cy="1140600"/>
          </a:xfrm>
          <a:prstGeom prst="rect">
            <a:avLst/>
          </a:prstGeom>
          <a:gradFill>
            <a:gsLst>
              <a:gs pos="0">
                <a:srgbClr val="109EAE"/>
              </a:gs>
              <a:gs pos="100000">
                <a:srgbClr val="00D9BA"/>
              </a:gs>
            </a:gsLst>
            <a:lin ang="5400012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white">
  <p:cSld name="SECTION_HEADER_1_1_1_1"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0"/>
          <p:cNvSpPr txBox="1"/>
          <p:nvPr>
            <p:ph type="title"/>
          </p:nvPr>
        </p:nvSpPr>
        <p:spPr>
          <a:xfrm>
            <a:off x="500550" y="0"/>
            <a:ext cx="8520600" cy="11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9pPr>
          </a:lstStyle>
          <a:p/>
        </p:txBody>
      </p:sp>
      <p:sp>
        <p:nvSpPr>
          <p:cNvPr id="154" name="Google Shape;154;p40"/>
          <p:cNvSpPr txBox="1"/>
          <p:nvPr>
            <p:ph idx="2" type="title"/>
          </p:nvPr>
        </p:nvSpPr>
        <p:spPr>
          <a:xfrm>
            <a:off x="500550" y="1140600"/>
            <a:ext cx="8520600" cy="39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sz="1800">
                <a:solidFill>
                  <a:srgbClr val="0D0D18"/>
                </a:solidFill>
              </a:defRPr>
            </a:lvl1pPr>
            <a:lvl2pPr lvl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2pPr>
            <a:lvl3pPr lvl="2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3pPr>
            <a:lvl4pPr lvl="3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4pPr>
            <a:lvl5pPr lvl="4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5pPr>
            <a:lvl6pPr lvl="5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6pPr>
            <a:lvl7pPr lvl="6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7pPr>
            <a:lvl8pPr lvl="7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8pPr>
            <a:lvl9pPr lvl="8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9pPr>
          </a:lstStyle>
          <a:p/>
        </p:txBody>
      </p:sp>
      <p:sp>
        <p:nvSpPr>
          <p:cNvPr id="155" name="Google Shape;155;p40"/>
          <p:cNvSpPr txBox="1"/>
          <p:nvPr/>
        </p:nvSpPr>
        <p:spPr>
          <a:xfrm>
            <a:off x="0" y="0"/>
            <a:ext cx="242100" cy="1140600"/>
          </a:xfrm>
          <a:prstGeom prst="rect">
            <a:avLst/>
          </a:prstGeom>
          <a:gradFill>
            <a:gsLst>
              <a:gs pos="0">
                <a:srgbClr val="1A237D"/>
              </a:gs>
              <a:gs pos="100000">
                <a:srgbClr val="2F3F9E"/>
              </a:gs>
            </a:gsLst>
            <a:lin ang="5400012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5" Type="http://schemas.openxmlformats.org/officeDocument/2006/relationships/theme" Target="../theme/theme4.xml"/><Relationship Id="rId1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8438FA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i="0" sz="3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i="0" sz="3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i="0" sz="3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i="0" sz="3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i="0" sz="3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i="0" sz="3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i="0" sz="3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i="0" sz="3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i="0" sz="3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b="0" i="0" sz="1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8438FA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0" name="Google Shape;100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1" name="Google Shape;101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15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9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16.png"/><Relationship Id="rId8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20.png"/><Relationship Id="rId6" Type="http://schemas.openxmlformats.org/officeDocument/2006/relationships/image" Target="../media/image11.png"/><Relationship Id="rId7" Type="http://schemas.openxmlformats.org/officeDocument/2006/relationships/image" Target="../media/image19.png"/><Relationship Id="rId8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438FA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2"/>
            <a:ext cx="9144003" cy="5143524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41"/>
          <p:cNvSpPr txBox="1"/>
          <p:nvPr/>
        </p:nvSpPr>
        <p:spPr>
          <a:xfrm>
            <a:off x="691670" y="1274800"/>
            <a:ext cx="37653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4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Tyk Foundational</a:t>
            </a:r>
            <a:r>
              <a:rPr b="1" i="0" lang="en-GB" sz="4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-GB" sz="4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Certification</a:t>
            </a:r>
            <a:endParaRPr b="1" i="0" sz="4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2" name="Google Shape;162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6200" y="872401"/>
            <a:ext cx="584925" cy="29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41"/>
          <p:cNvSpPr txBox="1"/>
          <p:nvPr/>
        </p:nvSpPr>
        <p:spPr>
          <a:xfrm>
            <a:off x="720000" y="3322200"/>
            <a:ext cx="4246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Certification Preparation Course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438FA"/>
            </a:gs>
            <a:gs pos="35000">
              <a:srgbClr val="8438FA"/>
            </a:gs>
            <a:gs pos="100000">
              <a:srgbClr val="BB11FF"/>
            </a:gs>
          </a:gsLst>
          <a:lin ang="2700006" scaled="0"/>
        </a:gra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2"/>
          <p:cNvSpPr txBox="1"/>
          <p:nvPr/>
        </p:nvSpPr>
        <p:spPr>
          <a:xfrm>
            <a:off x="1417350" y="435700"/>
            <a:ext cx="64971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About the Foundational Certification</a:t>
            </a:r>
            <a:endParaRPr b="1" sz="3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9" name="Google Shape;169;p42"/>
          <p:cNvSpPr txBox="1"/>
          <p:nvPr/>
        </p:nvSpPr>
        <p:spPr>
          <a:xfrm>
            <a:off x="1622100" y="1865175"/>
            <a:ext cx="5946900" cy="16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Foundational API management knowledge on Tyk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Created for general audience - non-technical and technical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Hands-on lab sessions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Quizzes for progress checks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Preparation to progress on specific learning paths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Access to Customer Solutions Architects for additional support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" name="Google Shape;170;p42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1" name="Google Shape;17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438FA"/>
            </a:gs>
            <a:gs pos="35000">
              <a:srgbClr val="8438FA"/>
            </a:gs>
            <a:gs pos="100000">
              <a:srgbClr val="BB11FF"/>
            </a:gs>
          </a:gsLst>
          <a:lin ang="2700006" scaled="0"/>
        </a:gra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3"/>
          <p:cNvSpPr txBox="1"/>
          <p:nvPr/>
        </p:nvSpPr>
        <p:spPr>
          <a:xfrm>
            <a:off x="1417350" y="435700"/>
            <a:ext cx="64971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About Tyk</a:t>
            </a:r>
            <a:endParaRPr b="1" sz="3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" name="Google Shape;177;p43"/>
          <p:cNvSpPr txBox="1"/>
          <p:nvPr/>
        </p:nvSpPr>
        <p:spPr>
          <a:xfrm>
            <a:off x="1628075" y="1302825"/>
            <a:ext cx="5946900" cy="3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Tyk is a modern API Management Platform: an open source gateway, powered by Go, and designed as cloud native from the start, enabling: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Traffic management via the open source gateway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Lifecycle management, analytics and observability via our intuitive dashboard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Developer self-service and community engagement through our Enterprise Developer Portal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Highly flexible deployment models: cloud, cloud/multi-cloud hybrid and on-prem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8" name="Google Shape;178;p43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438FA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4400" y="826675"/>
            <a:ext cx="1435200" cy="143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53800" y="826675"/>
            <a:ext cx="1435200" cy="143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2050" y="826675"/>
            <a:ext cx="1435200" cy="143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44"/>
          <p:cNvSpPr txBox="1"/>
          <p:nvPr/>
        </p:nvSpPr>
        <p:spPr>
          <a:xfrm>
            <a:off x="3501600" y="2459125"/>
            <a:ext cx="2139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1E9BA"/>
                </a:solidFill>
                <a:latin typeface="Inter"/>
                <a:ea typeface="Inter"/>
                <a:cs typeface="Inter"/>
                <a:sym typeface="Inter"/>
              </a:rPr>
              <a:t>2016</a:t>
            </a:r>
            <a:endParaRPr b="1" sz="2000">
              <a:solidFill>
                <a:srgbClr val="21E9B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8" name="Google Shape;188;p44"/>
          <p:cNvSpPr txBox="1"/>
          <p:nvPr/>
        </p:nvSpPr>
        <p:spPr>
          <a:xfrm>
            <a:off x="3501600" y="2978875"/>
            <a:ext cx="2223000" cy="15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There</a:t>
            </a:r>
            <a:endParaRPr b="1"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Tyk is incorporated and the paid 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licensing and support model is made generally available.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" name="Google Shape;189;p44"/>
          <p:cNvSpPr txBox="1"/>
          <p:nvPr/>
        </p:nvSpPr>
        <p:spPr>
          <a:xfrm>
            <a:off x="720000" y="2459125"/>
            <a:ext cx="2139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1E9BA"/>
                </a:solidFill>
                <a:latin typeface="Inter"/>
                <a:ea typeface="Inter"/>
                <a:cs typeface="Inter"/>
                <a:sym typeface="Inter"/>
              </a:rPr>
              <a:t>2014</a:t>
            </a:r>
            <a:endParaRPr b="1" sz="2000">
              <a:solidFill>
                <a:srgbClr val="21E9B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" name="Google Shape;190;p44"/>
          <p:cNvSpPr txBox="1"/>
          <p:nvPr/>
        </p:nvSpPr>
        <p:spPr>
          <a:xfrm>
            <a:off x="720000" y="2978875"/>
            <a:ext cx="2223000" cy="13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Here</a:t>
            </a:r>
            <a:endParaRPr b="1"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Tyk is born! Our CEO was looking for a lightweight yet highly performant API Gateway.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1" name="Google Shape;191;p44"/>
          <p:cNvSpPr txBox="1"/>
          <p:nvPr/>
        </p:nvSpPr>
        <p:spPr>
          <a:xfrm>
            <a:off x="6201000" y="2459125"/>
            <a:ext cx="2139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1E9BA"/>
                </a:solidFill>
                <a:latin typeface="Inter"/>
                <a:ea typeface="Inter"/>
                <a:cs typeface="Inter"/>
                <a:sym typeface="Inter"/>
              </a:rPr>
              <a:t>Today</a:t>
            </a:r>
            <a:endParaRPr b="1" sz="2000">
              <a:solidFill>
                <a:srgbClr val="21E9B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2" name="Google Shape;192;p44"/>
          <p:cNvSpPr txBox="1"/>
          <p:nvPr/>
        </p:nvSpPr>
        <p:spPr>
          <a:xfrm>
            <a:off x="6201000" y="2978875"/>
            <a:ext cx="2223000" cy="15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Everywhere</a:t>
            </a:r>
            <a:endParaRPr b="1"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Tyk has over 151 employees  in 31 countries worldwide with hundreds of customers on six continents. 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3" name="Google Shape;193;p44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4" name="Google Shape;194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36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5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0" name="Google Shape;20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1" name="Google Shape;201;p45"/>
          <p:cNvGrpSpPr/>
          <p:nvPr/>
        </p:nvGrpSpPr>
        <p:grpSpPr>
          <a:xfrm>
            <a:off x="3120102" y="1688564"/>
            <a:ext cx="2483325" cy="2483334"/>
            <a:chOff x="14" y="0"/>
            <a:chExt cx="7373294" cy="7373321"/>
          </a:xfrm>
        </p:grpSpPr>
        <p:sp>
          <p:nvSpPr>
            <p:cNvPr id="202" name="Google Shape;202;p45"/>
            <p:cNvSpPr/>
            <p:nvPr/>
          </p:nvSpPr>
          <p:spPr>
            <a:xfrm rot="2645176">
              <a:off x="-14812" y="4439554"/>
              <a:ext cx="4307562" cy="1670600"/>
            </a:xfrm>
            <a:custGeom>
              <a:rect b="b" l="l" r="r" t="t"/>
              <a:pathLst>
                <a:path extrusionOk="0" h="21600" w="21600">
                  <a:moveTo>
                    <a:pt x="3868" y="0"/>
                  </a:moveTo>
                  <a:lnTo>
                    <a:pt x="3900" y="90"/>
                  </a:lnTo>
                  <a:cubicBezTo>
                    <a:pt x="5674" y="4665"/>
                    <a:pt x="8126" y="7495"/>
                    <a:pt x="10833" y="7495"/>
                  </a:cubicBezTo>
                  <a:cubicBezTo>
                    <a:pt x="13202" y="7495"/>
                    <a:pt x="15375" y="5328"/>
                    <a:pt x="17070" y="1721"/>
                  </a:cubicBezTo>
                  <a:lnTo>
                    <a:pt x="17732" y="171"/>
                  </a:lnTo>
                  <a:lnTo>
                    <a:pt x="21600" y="10145"/>
                  </a:lnTo>
                  <a:lnTo>
                    <a:pt x="20550" y="12606"/>
                  </a:lnTo>
                  <a:cubicBezTo>
                    <a:pt x="17909" y="18225"/>
                    <a:pt x="14524" y="21600"/>
                    <a:pt x="10833" y="21600"/>
                  </a:cubicBezTo>
                  <a:cubicBezTo>
                    <a:pt x="6615" y="21600"/>
                    <a:pt x="2796" y="17191"/>
                    <a:pt x="32" y="10064"/>
                  </a:cubicBezTo>
                  <a:lnTo>
                    <a:pt x="0" y="9974"/>
                  </a:lnTo>
                  <a:close/>
                </a:path>
              </a:pathLst>
            </a:custGeom>
            <a:solidFill>
              <a:srgbClr val="8438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C1F25"/>
                </a:buClr>
                <a:buSzPts val="3600"/>
                <a:buFont typeface="Calibri"/>
                <a:buNone/>
              </a:pPr>
              <a:r>
                <a:t/>
              </a:r>
              <a:endParaRPr i="0" sz="2200" u="none" cap="none" strike="noStrike">
                <a:solidFill>
                  <a:srgbClr val="1C1F2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03" name="Google Shape;203;p45"/>
            <p:cNvSpPr/>
            <p:nvPr/>
          </p:nvSpPr>
          <p:spPr>
            <a:xfrm rot="2645110">
              <a:off x="1260438" y="1160"/>
              <a:ext cx="1657349" cy="4294311"/>
            </a:xfrm>
            <a:custGeom>
              <a:rect b="b" l="l" r="r" t="t"/>
              <a:pathLst>
                <a:path extrusionOk="0" h="21600" w="21600">
                  <a:moveTo>
                    <a:pt x="11546" y="0"/>
                  </a:moveTo>
                  <a:lnTo>
                    <a:pt x="21600" y="3880"/>
                  </a:lnTo>
                  <a:lnTo>
                    <a:pt x="20037" y="4544"/>
                  </a:lnTo>
                  <a:cubicBezTo>
                    <a:pt x="16402" y="6244"/>
                    <a:pt x="14218" y="8423"/>
                    <a:pt x="14218" y="10800"/>
                  </a:cubicBezTo>
                  <a:cubicBezTo>
                    <a:pt x="14218" y="13177"/>
                    <a:pt x="16402" y="15356"/>
                    <a:pt x="20037" y="17056"/>
                  </a:cubicBezTo>
                  <a:lnTo>
                    <a:pt x="21600" y="17720"/>
                  </a:lnTo>
                  <a:lnTo>
                    <a:pt x="11546" y="21600"/>
                  </a:lnTo>
                  <a:lnTo>
                    <a:pt x="9066" y="20547"/>
                  </a:lnTo>
                  <a:cubicBezTo>
                    <a:pt x="3402" y="17898"/>
                    <a:pt x="0" y="14502"/>
                    <a:pt x="0" y="10800"/>
                  </a:cubicBezTo>
                  <a:cubicBezTo>
                    <a:pt x="0" y="7098"/>
                    <a:pt x="3402" y="3702"/>
                    <a:pt x="9066" y="1053"/>
                  </a:cubicBezTo>
                  <a:close/>
                </a:path>
              </a:pathLst>
            </a:custGeom>
            <a:solidFill>
              <a:srgbClr val="20EDB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C1F25"/>
                </a:buClr>
                <a:buSzPts val="3600"/>
                <a:buFont typeface="Calibri"/>
                <a:buNone/>
              </a:pPr>
              <a:r>
                <a:t/>
              </a:r>
              <a:endParaRPr i="0" sz="2200" u="none" cap="none" strike="noStrike">
                <a:solidFill>
                  <a:srgbClr val="1C1F2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04" name="Google Shape;204;p45"/>
            <p:cNvSpPr/>
            <p:nvPr/>
          </p:nvSpPr>
          <p:spPr>
            <a:xfrm rot="2645176">
              <a:off x="3061820" y="1263167"/>
              <a:ext cx="4307562" cy="1670600"/>
            </a:xfrm>
            <a:custGeom>
              <a:rect b="b" l="l" r="r" t="t"/>
              <a:pathLst>
                <a:path extrusionOk="0" h="21600" w="21600">
                  <a:moveTo>
                    <a:pt x="10833" y="0"/>
                  </a:moveTo>
                  <a:cubicBezTo>
                    <a:pt x="14524" y="0"/>
                    <a:pt x="17909" y="3375"/>
                    <a:pt x="20550" y="8994"/>
                  </a:cubicBezTo>
                  <a:lnTo>
                    <a:pt x="21600" y="11455"/>
                  </a:lnTo>
                  <a:lnTo>
                    <a:pt x="17732" y="21429"/>
                  </a:lnTo>
                  <a:lnTo>
                    <a:pt x="17070" y="19879"/>
                  </a:lnTo>
                  <a:cubicBezTo>
                    <a:pt x="15375" y="16272"/>
                    <a:pt x="13202" y="14105"/>
                    <a:pt x="10833" y="14105"/>
                  </a:cubicBezTo>
                  <a:cubicBezTo>
                    <a:pt x="8126" y="14105"/>
                    <a:pt x="5674" y="16935"/>
                    <a:pt x="3900" y="21510"/>
                  </a:cubicBezTo>
                  <a:lnTo>
                    <a:pt x="3868" y="21600"/>
                  </a:lnTo>
                  <a:lnTo>
                    <a:pt x="0" y="11626"/>
                  </a:lnTo>
                  <a:lnTo>
                    <a:pt x="32" y="11536"/>
                  </a:lnTo>
                  <a:cubicBezTo>
                    <a:pt x="2796" y="4409"/>
                    <a:pt x="6615" y="0"/>
                    <a:pt x="10833" y="0"/>
                  </a:cubicBezTo>
                  <a:close/>
                </a:path>
              </a:pathLst>
            </a:custGeom>
            <a:solidFill>
              <a:srgbClr val="FFC7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C1F25"/>
                </a:buClr>
                <a:buSzPts val="3600"/>
                <a:buFont typeface="Calibri"/>
                <a:buNone/>
              </a:pPr>
              <a:r>
                <a:t/>
              </a:r>
              <a:endParaRPr i="0" sz="2200" u="none" cap="none" strike="noStrike">
                <a:solidFill>
                  <a:srgbClr val="1C1F2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05" name="Google Shape;205;p45"/>
            <p:cNvSpPr/>
            <p:nvPr/>
          </p:nvSpPr>
          <p:spPr>
            <a:xfrm>
              <a:off x="3622999" y="644930"/>
              <a:ext cx="2861298" cy="3005809"/>
            </a:xfrm>
            <a:custGeom>
              <a:rect b="b" l="l" r="r" t="t"/>
              <a:pathLst>
                <a:path extrusionOk="0" h="21542" w="21600">
                  <a:moveTo>
                    <a:pt x="71" y="3"/>
                  </a:moveTo>
                  <a:cubicBezTo>
                    <a:pt x="4116" y="-58"/>
                    <a:pt x="8179" y="888"/>
                    <a:pt x="11805" y="2848"/>
                  </a:cubicBezTo>
                  <a:lnTo>
                    <a:pt x="12368" y="3170"/>
                  </a:lnTo>
                  <a:lnTo>
                    <a:pt x="13055" y="3792"/>
                  </a:lnTo>
                  <a:cubicBezTo>
                    <a:pt x="17726" y="8227"/>
                    <a:pt x="20838" y="14141"/>
                    <a:pt x="21543" y="20732"/>
                  </a:cubicBezTo>
                  <a:lnTo>
                    <a:pt x="21600" y="21445"/>
                  </a:lnTo>
                  <a:lnTo>
                    <a:pt x="15193" y="21542"/>
                  </a:lnTo>
                  <a:lnTo>
                    <a:pt x="15107" y="20267"/>
                  </a:lnTo>
                  <a:cubicBezTo>
                    <a:pt x="14739" y="17146"/>
                    <a:pt x="13270" y="14122"/>
                    <a:pt x="10708" y="11766"/>
                  </a:cubicBezTo>
                  <a:cubicBezTo>
                    <a:pt x="7780" y="9074"/>
                    <a:pt x="3979" y="7763"/>
                    <a:pt x="202" y="7821"/>
                  </a:cubicBezTo>
                  <a:lnTo>
                    <a:pt x="131" y="7825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FFC7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C1F25"/>
                </a:buClr>
                <a:buSzPts val="3600"/>
                <a:buFont typeface="Calibri"/>
                <a:buNone/>
              </a:pPr>
              <a:r>
                <a:t/>
              </a:r>
              <a:endParaRPr i="0" sz="2200" u="none" cap="none" strike="noStrike">
                <a:solidFill>
                  <a:srgbClr val="1C1F2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06" name="Google Shape;206;p45"/>
            <p:cNvSpPr/>
            <p:nvPr/>
          </p:nvSpPr>
          <p:spPr>
            <a:xfrm rot="2645153">
              <a:off x="4434951" y="3069176"/>
              <a:ext cx="1670600" cy="4320776"/>
            </a:xfrm>
            <a:custGeom>
              <a:rect b="b" l="l" r="r" t="t"/>
              <a:pathLst>
                <a:path extrusionOk="0" h="21600" w="21600">
                  <a:moveTo>
                    <a:pt x="9974" y="0"/>
                  </a:moveTo>
                  <a:lnTo>
                    <a:pt x="10064" y="31"/>
                  </a:lnTo>
                  <a:cubicBezTo>
                    <a:pt x="17191" y="2787"/>
                    <a:pt x="21600" y="6595"/>
                    <a:pt x="21600" y="10800"/>
                  </a:cubicBezTo>
                  <a:cubicBezTo>
                    <a:pt x="21600" y="15005"/>
                    <a:pt x="17191" y="18813"/>
                    <a:pt x="10064" y="21569"/>
                  </a:cubicBezTo>
                  <a:lnTo>
                    <a:pt x="9974" y="21600"/>
                  </a:lnTo>
                  <a:lnTo>
                    <a:pt x="0" y="17744"/>
                  </a:lnTo>
                  <a:lnTo>
                    <a:pt x="90" y="17712"/>
                  </a:lnTo>
                  <a:cubicBezTo>
                    <a:pt x="4665" y="15943"/>
                    <a:pt x="7495" y="13499"/>
                    <a:pt x="7495" y="10800"/>
                  </a:cubicBezTo>
                  <a:cubicBezTo>
                    <a:pt x="7495" y="8101"/>
                    <a:pt x="4665" y="5657"/>
                    <a:pt x="90" y="3888"/>
                  </a:cubicBezTo>
                  <a:lnTo>
                    <a:pt x="0" y="3856"/>
                  </a:lnTo>
                  <a:close/>
                </a:path>
              </a:pathLst>
            </a:custGeom>
            <a:solidFill>
              <a:srgbClr val="EA26A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C1F25"/>
                </a:buClr>
                <a:buSzPts val="3600"/>
                <a:buFont typeface="Calibri"/>
                <a:buNone/>
              </a:pPr>
              <a:r>
                <a:t/>
              </a:r>
              <a:endParaRPr i="0" sz="2200" u="none" cap="none" strike="noStrike">
                <a:solidFill>
                  <a:srgbClr val="1C1F2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07" name="Google Shape;207;p45"/>
            <p:cNvSpPr/>
            <p:nvPr/>
          </p:nvSpPr>
          <p:spPr>
            <a:xfrm>
              <a:off x="3702768" y="3633312"/>
              <a:ext cx="3024479" cy="2819988"/>
            </a:xfrm>
            <a:custGeom>
              <a:rect b="b" l="l" r="r" t="t"/>
              <a:pathLst>
                <a:path extrusionOk="0" h="21600" w="21553">
                  <a:moveTo>
                    <a:pt x="21546" y="0"/>
                  </a:moveTo>
                  <a:lnTo>
                    <a:pt x="21550" y="72"/>
                  </a:lnTo>
                  <a:cubicBezTo>
                    <a:pt x="21600" y="3430"/>
                    <a:pt x="20979" y="6800"/>
                    <a:pt x="19684" y="9930"/>
                  </a:cubicBezTo>
                  <a:lnTo>
                    <a:pt x="19610" y="10098"/>
                  </a:lnTo>
                  <a:lnTo>
                    <a:pt x="19072" y="10835"/>
                  </a:lnTo>
                  <a:cubicBezTo>
                    <a:pt x="14532" y="16748"/>
                    <a:pt x="7920" y="20755"/>
                    <a:pt x="432" y="21572"/>
                  </a:cubicBezTo>
                  <a:lnTo>
                    <a:pt x="92" y="21600"/>
                  </a:lnTo>
                  <a:lnTo>
                    <a:pt x="0" y="15417"/>
                  </a:lnTo>
                  <a:lnTo>
                    <a:pt x="67" y="15420"/>
                  </a:lnTo>
                  <a:cubicBezTo>
                    <a:pt x="3632" y="15359"/>
                    <a:pt x="7176" y="13835"/>
                    <a:pt x="9854" y="10864"/>
                  </a:cubicBezTo>
                  <a:cubicBezTo>
                    <a:pt x="12531" y="7894"/>
                    <a:pt x="13834" y="4038"/>
                    <a:pt x="13777" y="205"/>
                  </a:cubicBezTo>
                  <a:lnTo>
                    <a:pt x="13773" y="133"/>
                  </a:lnTo>
                  <a:close/>
                </a:path>
              </a:pathLst>
            </a:custGeom>
            <a:solidFill>
              <a:srgbClr val="EA26A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C1F25"/>
                </a:buClr>
                <a:buSzPts val="3600"/>
                <a:buFont typeface="Calibri"/>
                <a:buNone/>
              </a:pPr>
              <a:r>
                <a:t/>
              </a:r>
              <a:endParaRPr i="0" sz="2200" u="none" cap="none" strike="noStrike">
                <a:solidFill>
                  <a:srgbClr val="1C1F2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08" name="Google Shape;208;p45"/>
            <p:cNvSpPr/>
            <p:nvPr/>
          </p:nvSpPr>
          <p:spPr>
            <a:xfrm rot="5387961">
              <a:off x="3276661" y="579641"/>
              <a:ext cx="1884612" cy="1205407"/>
            </a:xfrm>
            <a:prstGeom prst="triangle">
              <a:avLst>
                <a:gd fmla="val 50000" name="adj"/>
              </a:avLst>
            </a:prstGeom>
            <a:solidFill>
              <a:srgbClr val="20EDB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C1F25"/>
                </a:buClr>
                <a:buSzPts val="3600"/>
                <a:buFont typeface="Calibri"/>
                <a:buNone/>
              </a:pPr>
              <a:r>
                <a:t/>
              </a:r>
              <a:endParaRPr i="0" sz="2200" u="none" cap="none" strike="noStrike">
                <a:solidFill>
                  <a:srgbClr val="1C1F2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09" name="Google Shape;209;p45"/>
            <p:cNvSpPr/>
            <p:nvPr/>
          </p:nvSpPr>
          <p:spPr>
            <a:xfrm>
              <a:off x="997850" y="3798309"/>
              <a:ext cx="2722302" cy="2938626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5831" y="253"/>
                  </a:lnTo>
                  <a:lnTo>
                    <a:pt x="5870" y="819"/>
                  </a:lnTo>
                  <a:cubicBezTo>
                    <a:pt x="6257" y="4020"/>
                    <a:pt x="7801" y="7121"/>
                    <a:pt x="10494" y="9537"/>
                  </a:cubicBezTo>
                  <a:cubicBezTo>
                    <a:pt x="13187" y="11954"/>
                    <a:pt x="16582" y="13285"/>
                    <a:pt x="20048" y="13541"/>
                  </a:cubicBezTo>
                  <a:lnTo>
                    <a:pt x="21462" y="13582"/>
                  </a:lnTo>
                  <a:lnTo>
                    <a:pt x="21600" y="21600"/>
                  </a:lnTo>
                  <a:lnTo>
                    <a:pt x="19356" y="21534"/>
                  </a:lnTo>
                  <a:cubicBezTo>
                    <a:pt x="15306" y="21235"/>
                    <a:pt x="11318" y="19994"/>
                    <a:pt x="7808" y="17804"/>
                  </a:cubicBezTo>
                  <a:lnTo>
                    <a:pt x="7719" y="17742"/>
                  </a:lnTo>
                  <a:lnTo>
                    <a:pt x="7047" y="17058"/>
                  </a:lnTo>
                  <a:cubicBezTo>
                    <a:pt x="2940" y="12447"/>
                    <a:pt x="355" y="6630"/>
                    <a:pt x="7" y="265"/>
                  </a:cubicBezTo>
                  <a:close/>
                </a:path>
              </a:pathLst>
            </a:custGeom>
            <a:solidFill>
              <a:srgbClr val="8438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C1F25"/>
                </a:buClr>
                <a:buSzPts val="3600"/>
                <a:buFont typeface="Calibri"/>
                <a:buNone/>
              </a:pPr>
              <a:r>
                <a:t/>
              </a:r>
              <a:endParaRPr i="0" sz="2200" u="none" cap="none" strike="noStrike">
                <a:solidFill>
                  <a:srgbClr val="1C1F2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10" name="Google Shape;210;p45"/>
            <p:cNvSpPr/>
            <p:nvPr/>
          </p:nvSpPr>
          <p:spPr>
            <a:xfrm rot="-10758405">
              <a:off x="5221812" y="3615549"/>
              <a:ext cx="1884438" cy="1205190"/>
            </a:xfrm>
            <a:prstGeom prst="triangle">
              <a:avLst>
                <a:gd fmla="val 50000" name="adj"/>
              </a:avLst>
            </a:prstGeom>
            <a:solidFill>
              <a:srgbClr val="FFC7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C1F25"/>
                </a:buClr>
                <a:buSzPts val="3600"/>
                <a:buFont typeface="Calibri"/>
                <a:buNone/>
              </a:pPr>
              <a:r>
                <a:t/>
              </a:r>
              <a:endParaRPr i="0" sz="2200" u="none" cap="none" strike="noStrike">
                <a:solidFill>
                  <a:srgbClr val="1C1F2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11" name="Google Shape;211;p45"/>
            <p:cNvSpPr/>
            <p:nvPr/>
          </p:nvSpPr>
          <p:spPr>
            <a:xfrm rot="-5400000">
              <a:off x="2178071" y="5564828"/>
              <a:ext cx="1884600" cy="1205400"/>
            </a:xfrm>
            <a:prstGeom prst="triangle">
              <a:avLst>
                <a:gd fmla="val 50000" name="adj"/>
              </a:avLst>
            </a:prstGeom>
            <a:solidFill>
              <a:srgbClr val="EA26A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C1F25"/>
                </a:buClr>
                <a:buSzPts val="3600"/>
                <a:buFont typeface="Calibri"/>
                <a:buNone/>
              </a:pPr>
              <a:r>
                <a:t/>
              </a:r>
              <a:endParaRPr i="0" sz="2200" u="none" cap="none" strike="noStrike">
                <a:solidFill>
                  <a:srgbClr val="1C1F2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12" name="Google Shape;212;p45"/>
            <p:cNvSpPr/>
            <p:nvPr/>
          </p:nvSpPr>
          <p:spPr>
            <a:xfrm>
              <a:off x="3614420" y="924422"/>
              <a:ext cx="1206090" cy="1202148"/>
            </a:xfrm>
            <a:custGeom>
              <a:rect b="b" l="l" r="r" t="t"/>
              <a:pathLst>
                <a:path extrusionOk="0" h="21600" w="21600">
                  <a:moveTo>
                    <a:pt x="7648" y="0"/>
                  </a:moveTo>
                  <a:cubicBezTo>
                    <a:pt x="10064" y="0"/>
                    <a:pt x="12451" y="123"/>
                    <a:pt x="14803" y="363"/>
                  </a:cubicBezTo>
                  <a:lnTo>
                    <a:pt x="16431" y="570"/>
                  </a:lnTo>
                  <a:lnTo>
                    <a:pt x="21600" y="4595"/>
                  </a:lnTo>
                  <a:lnTo>
                    <a:pt x="73" y="21600"/>
                  </a:lnTo>
                  <a:lnTo>
                    <a:pt x="0" y="425"/>
                  </a:lnTo>
                  <a:lnTo>
                    <a:pt x="493" y="363"/>
                  </a:lnTo>
                  <a:cubicBezTo>
                    <a:pt x="2845" y="123"/>
                    <a:pt x="5232" y="0"/>
                    <a:pt x="7648" y="0"/>
                  </a:cubicBezTo>
                  <a:close/>
                </a:path>
              </a:pathLst>
            </a:custGeom>
            <a:solidFill>
              <a:srgbClr val="20EDB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C1F25"/>
                </a:buClr>
                <a:buSzPts val="3600"/>
                <a:buFont typeface="Calibri"/>
                <a:buNone/>
              </a:pPr>
              <a:r>
                <a:t/>
              </a:r>
              <a:endParaRPr i="0" sz="2200" u="none" cap="none" strike="noStrike">
                <a:solidFill>
                  <a:srgbClr val="1C1F2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13" name="Google Shape;213;p45"/>
            <p:cNvSpPr/>
            <p:nvPr/>
          </p:nvSpPr>
          <p:spPr>
            <a:xfrm>
              <a:off x="647992" y="953600"/>
              <a:ext cx="2981880" cy="2782404"/>
            </a:xfrm>
            <a:custGeom>
              <a:rect b="b" l="l" r="r" t="t"/>
              <a:pathLst>
                <a:path extrusionOk="0" h="21600" w="21600">
                  <a:moveTo>
                    <a:pt x="21580" y="0"/>
                  </a:moveTo>
                  <a:lnTo>
                    <a:pt x="21600" y="6133"/>
                  </a:lnTo>
                  <a:lnTo>
                    <a:pt x="20480" y="6210"/>
                  </a:lnTo>
                  <a:cubicBezTo>
                    <a:pt x="17325" y="6588"/>
                    <a:pt x="14269" y="8099"/>
                    <a:pt x="11888" y="10734"/>
                  </a:cubicBezTo>
                  <a:cubicBezTo>
                    <a:pt x="9506" y="13369"/>
                    <a:pt x="8194" y="16690"/>
                    <a:pt x="7942" y="20082"/>
                  </a:cubicBezTo>
                  <a:lnTo>
                    <a:pt x="7901" y="21465"/>
                  </a:lnTo>
                  <a:lnTo>
                    <a:pt x="0" y="21600"/>
                  </a:lnTo>
                  <a:lnTo>
                    <a:pt x="65" y="19404"/>
                  </a:lnTo>
                  <a:cubicBezTo>
                    <a:pt x="212" y="17423"/>
                    <a:pt x="592" y="15457"/>
                    <a:pt x="1204" y="13557"/>
                  </a:cubicBezTo>
                  <a:lnTo>
                    <a:pt x="1510" y="12727"/>
                  </a:lnTo>
                  <a:lnTo>
                    <a:pt x="1991" y="12002"/>
                  </a:lnTo>
                  <a:cubicBezTo>
                    <a:pt x="6338" y="5772"/>
                    <a:pt x="12867" y="1393"/>
                    <a:pt x="20363" y="166"/>
                  </a:cubicBezTo>
                  <a:close/>
                </a:path>
              </a:pathLst>
            </a:custGeom>
            <a:solidFill>
              <a:srgbClr val="20EDB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C1F25"/>
                </a:buClr>
                <a:buSzPts val="3600"/>
                <a:buFont typeface="Calibri"/>
                <a:buNone/>
              </a:pPr>
              <a:r>
                <a:t/>
              </a:r>
              <a:endParaRPr i="0" sz="2200" u="none" cap="none" strike="noStrike">
                <a:solidFill>
                  <a:srgbClr val="1C1F2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14" name="Google Shape;214;p45"/>
            <p:cNvSpPr/>
            <p:nvPr/>
          </p:nvSpPr>
          <p:spPr>
            <a:xfrm rot="160403">
              <a:off x="338163" y="2605467"/>
              <a:ext cx="1884551" cy="1205220"/>
            </a:xfrm>
            <a:prstGeom prst="triangle">
              <a:avLst>
                <a:gd fmla="val 50000" name="adj"/>
              </a:avLst>
            </a:prstGeom>
            <a:solidFill>
              <a:srgbClr val="8438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C1F25"/>
                </a:buClr>
                <a:buSzPts val="3600"/>
                <a:buFont typeface="Calibri"/>
                <a:buNone/>
              </a:pPr>
              <a:r>
                <a:t/>
              </a:r>
              <a:endParaRPr i="0" sz="2200" u="none" cap="none" strike="noStrike">
                <a:solidFill>
                  <a:srgbClr val="1C1F2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15" name="Google Shape;215;p45"/>
            <p:cNvSpPr/>
            <p:nvPr/>
          </p:nvSpPr>
          <p:spPr>
            <a:xfrm>
              <a:off x="995889" y="2606176"/>
              <a:ext cx="1198746" cy="1247994"/>
            </a:xfrm>
            <a:custGeom>
              <a:rect b="b" l="l" r="r" t="t"/>
              <a:pathLst>
                <a:path extrusionOk="0" h="21600" w="21600">
                  <a:moveTo>
                    <a:pt x="5655" y="0"/>
                  </a:moveTo>
                  <a:lnTo>
                    <a:pt x="21600" y="21600"/>
                  </a:lnTo>
                  <a:lnTo>
                    <a:pt x="75" y="20633"/>
                  </a:lnTo>
                  <a:lnTo>
                    <a:pt x="0" y="17778"/>
                  </a:lnTo>
                  <a:cubicBezTo>
                    <a:pt x="0" y="14276"/>
                    <a:pt x="277" y="10836"/>
                    <a:pt x="811" y="7478"/>
                  </a:cubicBezTo>
                  <a:lnTo>
                    <a:pt x="1296" y="4868"/>
                  </a:lnTo>
                  <a:close/>
                </a:path>
              </a:pathLst>
            </a:custGeom>
            <a:solidFill>
              <a:srgbClr val="8438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C1F25"/>
                </a:buClr>
                <a:buSzPts val="3600"/>
                <a:buFont typeface="Calibri"/>
                <a:buNone/>
              </a:pPr>
              <a:r>
                <a:t/>
              </a:r>
              <a:endParaRPr i="0" sz="2200" u="none" cap="none" strike="noStrike">
                <a:solidFill>
                  <a:srgbClr val="1C1F2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16" name="Google Shape;216;p45"/>
            <p:cNvSpPr/>
            <p:nvPr/>
          </p:nvSpPr>
          <p:spPr>
            <a:xfrm>
              <a:off x="5228031" y="3604022"/>
              <a:ext cx="1268892" cy="121662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362" y="270"/>
                  </a:lnTo>
                  <a:lnTo>
                    <a:pt x="21513" y="2344"/>
                  </a:lnTo>
                  <a:cubicBezTo>
                    <a:pt x="21571" y="3527"/>
                    <a:pt x="21600" y="4717"/>
                    <a:pt x="21600" y="5914"/>
                  </a:cubicBezTo>
                  <a:cubicBezTo>
                    <a:pt x="21600" y="8309"/>
                    <a:pt x="21484" y="10676"/>
                    <a:pt x="21257" y="13008"/>
                  </a:cubicBezTo>
                  <a:lnTo>
                    <a:pt x="21043" y="14764"/>
                  </a:lnTo>
                  <a:lnTo>
                    <a:pt x="15789" y="21600"/>
                  </a:lnTo>
                  <a:close/>
                </a:path>
              </a:pathLst>
            </a:custGeom>
            <a:solidFill>
              <a:srgbClr val="FFC7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C1F25"/>
                </a:buClr>
                <a:buSzPts val="3600"/>
                <a:buFont typeface="Calibri"/>
                <a:buNone/>
              </a:pPr>
              <a:r>
                <a:t/>
              </a:r>
              <a:endParaRPr i="0" sz="2200" u="none" cap="none" strike="noStrike">
                <a:solidFill>
                  <a:srgbClr val="1C1F2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17" name="Google Shape;217;p45"/>
            <p:cNvSpPr/>
            <p:nvPr/>
          </p:nvSpPr>
          <p:spPr>
            <a:xfrm>
              <a:off x="2516566" y="5225364"/>
              <a:ext cx="1205280" cy="1244484"/>
            </a:xfrm>
            <a:custGeom>
              <a:rect b="b" l="l" r="r" t="t"/>
              <a:pathLst>
                <a:path extrusionOk="0" h="21600" w="21600">
                  <a:moveTo>
                    <a:pt x="21600" y="0"/>
                  </a:moveTo>
                  <a:lnTo>
                    <a:pt x="21600" y="21305"/>
                  </a:lnTo>
                  <a:lnTo>
                    <a:pt x="18787" y="21512"/>
                  </a:lnTo>
                  <a:cubicBezTo>
                    <a:pt x="17593" y="21570"/>
                    <a:pt x="16392" y="21600"/>
                    <a:pt x="15183" y="21600"/>
                  </a:cubicBezTo>
                  <a:cubicBezTo>
                    <a:pt x="12766" y="21600"/>
                    <a:pt x="10377" y="21481"/>
                    <a:pt x="8023" y="21250"/>
                  </a:cubicBezTo>
                  <a:lnTo>
                    <a:pt x="6164" y="21021"/>
                  </a:lnTo>
                  <a:lnTo>
                    <a:pt x="0" y="16354"/>
                  </a:lnTo>
                  <a:close/>
                </a:path>
              </a:pathLst>
            </a:custGeom>
            <a:solidFill>
              <a:srgbClr val="EA26A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C1F25"/>
                </a:buClr>
                <a:buSzPts val="3600"/>
                <a:buFont typeface="Calibri"/>
                <a:buNone/>
              </a:pPr>
              <a:r>
                <a:t/>
              </a:r>
              <a:endParaRPr i="0" sz="2200" u="none" cap="none" strike="noStrike">
                <a:solidFill>
                  <a:srgbClr val="1C1F2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18" name="Google Shape;218;p45"/>
          <p:cNvSpPr/>
          <p:nvPr/>
        </p:nvSpPr>
        <p:spPr>
          <a:xfrm>
            <a:off x="6149453" y="1868342"/>
            <a:ext cx="275400" cy="275400"/>
          </a:xfrm>
          <a:prstGeom prst="ellipse">
            <a:avLst/>
          </a:prstGeom>
          <a:solidFill>
            <a:srgbClr val="FFC74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9FF"/>
              </a:buClr>
              <a:buSzPts val="2500"/>
              <a:buFont typeface="Roboto"/>
              <a:buNone/>
            </a:pPr>
            <a:r>
              <a:t/>
            </a:r>
            <a:endParaRPr b="1" i="0" sz="1100" u="none" cap="none" strike="noStrike">
              <a:solidFill>
                <a:srgbClr val="F7F9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9" name="Google Shape;219;p45"/>
          <p:cNvSpPr txBox="1"/>
          <p:nvPr/>
        </p:nvSpPr>
        <p:spPr>
          <a:xfrm>
            <a:off x="6189759" y="1926479"/>
            <a:ext cx="1947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GB" sz="800" u="none" cap="none" strike="noStrike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sz="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0" name="Google Shape;220;p45"/>
          <p:cNvSpPr txBox="1"/>
          <p:nvPr/>
        </p:nvSpPr>
        <p:spPr>
          <a:xfrm>
            <a:off x="6510735" y="1925690"/>
            <a:ext cx="1924800" cy="10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pen Sans"/>
              <a:buNone/>
            </a:pPr>
            <a:r>
              <a:rPr b="1"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API Implementation</a:t>
            </a:r>
            <a:endParaRPr sz="6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79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FC743"/>
              </a:buClr>
              <a:buSzPts val="800"/>
              <a:buFont typeface="Inter"/>
              <a:buChar char="●"/>
            </a:pPr>
            <a:r>
              <a:rPr lang="en-GB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API Testing</a:t>
            </a:r>
            <a:endParaRPr sz="8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794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C743"/>
              </a:buClr>
              <a:buSzPts val="800"/>
              <a:buFont typeface="Inter"/>
              <a:buChar char="●"/>
            </a:pPr>
            <a:r>
              <a:rPr lang="en-GB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Access Control</a:t>
            </a:r>
            <a:endParaRPr sz="8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794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C743"/>
              </a:buClr>
              <a:buSzPts val="800"/>
              <a:buFont typeface="Inter"/>
              <a:buChar char="●"/>
            </a:pPr>
            <a:r>
              <a:rPr lang="en-GB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Rate Limiting &amp; Quotas</a:t>
            </a:r>
            <a:endParaRPr sz="8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794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C743"/>
              </a:buClr>
              <a:buSzPts val="800"/>
              <a:buFont typeface="Inter"/>
              <a:buChar char="●"/>
            </a:pPr>
            <a:r>
              <a:rPr lang="en-GB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Custom Plugins</a:t>
            </a:r>
            <a:endParaRPr sz="8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1" name="Google Shape;221;p45"/>
          <p:cNvSpPr/>
          <p:nvPr/>
        </p:nvSpPr>
        <p:spPr>
          <a:xfrm>
            <a:off x="6149453" y="3208059"/>
            <a:ext cx="275400" cy="275400"/>
          </a:xfrm>
          <a:prstGeom prst="ellipse">
            <a:avLst/>
          </a:prstGeom>
          <a:solidFill>
            <a:srgbClr val="EA26A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9FF"/>
              </a:buClr>
              <a:buSzPts val="2500"/>
              <a:buFont typeface="Roboto"/>
              <a:buNone/>
            </a:pPr>
            <a:r>
              <a:t/>
            </a:r>
            <a:endParaRPr b="1" i="0" sz="1100" u="none" cap="none" strike="noStrike">
              <a:solidFill>
                <a:srgbClr val="F7F9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2" name="Google Shape;222;p45"/>
          <p:cNvSpPr txBox="1"/>
          <p:nvPr/>
        </p:nvSpPr>
        <p:spPr>
          <a:xfrm>
            <a:off x="6189759" y="3266197"/>
            <a:ext cx="1947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GB" sz="800" u="none" cap="none" strike="noStrike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r>
              <a:rPr b="1" lang="en-GB" sz="8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sz="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3" name="Google Shape;223;p45"/>
          <p:cNvSpPr txBox="1"/>
          <p:nvPr/>
        </p:nvSpPr>
        <p:spPr>
          <a:xfrm>
            <a:off x="6510735" y="3265415"/>
            <a:ext cx="1924800" cy="9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pen Sans"/>
              <a:buNone/>
            </a:pPr>
            <a:r>
              <a:rPr b="1"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API Management</a:t>
            </a:r>
            <a:endParaRPr b="1"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79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EA26A9"/>
              </a:buClr>
              <a:buSzPts val="800"/>
              <a:buFont typeface="Inter"/>
              <a:buChar char="●"/>
            </a:pPr>
            <a:r>
              <a:rPr lang="en-GB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Version Control</a:t>
            </a:r>
            <a:endParaRPr sz="8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794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26A9"/>
              </a:buClr>
              <a:buSzPts val="800"/>
              <a:buFont typeface="Inter"/>
              <a:buChar char="●"/>
            </a:pPr>
            <a:r>
              <a:rPr lang="en-GB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Environment Management</a:t>
            </a:r>
            <a:endParaRPr sz="8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794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26A9"/>
              </a:buClr>
              <a:buSzPts val="800"/>
              <a:buFont typeface="Inter"/>
              <a:buChar char="●"/>
            </a:pPr>
            <a:r>
              <a:rPr lang="en-GB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Monitoring &amp; Optimization</a:t>
            </a:r>
            <a:endParaRPr sz="8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794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26A9"/>
              </a:buClr>
              <a:buSzPts val="800"/>
              <a:buFont typeface="Inter"/>
              <a:buChar char="●"/>
            </a:pPr>
            <a:r>
              <a:rPr lang="en-GB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Analytics</a:t>
            </a:r>
            <a:endParaRPr sz="8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4" name="Google Shape;224;p45"/>
          <p:cNvSpPr/>
          <p:nvPr/>
        </p:nvSpPr>
        <p:spPr>
          <a:xfrm>
            <a:off x="708378" y="1868342"/>
            <a:ext cx="275400" cy="275400"/>
          </a:xfrm>
          <a:prstGeom prst="ellipse">
            <a:avLst/>
          </a:prstGeom>
          <a:solidFill>
            <a:srgbClr val="20EDB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5" name="Google Shape;225;p45"/>
          <p:cNvSpPr txBox="1"/>
          <p:nvPr/>
        </p:nvSpPr>
        <p:spPr>
          <a:xfrm>
            <a:off x="748685" y="1926479"/>
            <a:ext cx="1947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GB" sz="800" u="none" cap="none" strike="noStrike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sz="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6" name="Google Shape;226;p45"/>
          <p:cNvSpPr txBox="1"/>
          <p:nvPr/>
        </p:nvSpPr>
        <p:spPr>
          <a:xfrm>
            <a:off x="1098337" y="1925690"/>
            <a:ext cx="1612200" cy="8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pen Sans"/>
              <a:buNone/>
            </a:pPr>
            <a:r>
              <a:rPr b="1"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API Importing</a:t>
            </a:r>
            <a:endParaRPr sz="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794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20EDBA"/>
              </a:buClr>
              <a:buSzPts val="800"/>
              <a:buFont typeface="Inter"/>
              <a:buChar char="●"/>
            </a:pPr>
            <a:r>
              <a:rPr lang="en-GB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OpenAPISpec 2/3</a:t>
            </a:r>
            <a:endParaRPr sz="8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794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EDBA"/>
              </a:buClr>
              <a:buSzPts val="800"/>
              <a:buFont typeface="Inter"/>
              <a:buChar char="●"/>
            </a:pPr>
            <a:r>
              <a:rPr lang="en-GB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APIARY Blueprints</a:t>
            </a:r>
            <a:endParaRPr sz="8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794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EDBA"/>
              </a:buClr>
              <a:buSzPts val="800"/>
              <a:buFont typeface="Inter"/>
              <a:buChar char="●"/>
            </a:pPr>
            <a:r>
              <a:rPr lang="en-GB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WSDL</a:t>
            </a:r>
            <a:endParaRPr sz="8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794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EDBA"/>
              </a:buClr>
              <a:buSzPts val="800"/>
              <a:buFont typeface="Inter"/>
              <a:buChar char="●"/>
            </a:pPr>
            <a:r>
              <a:rPr lang="en-GB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REST/SOAP/GraphQL sources</a:t>
            </a:r>
            <a:endParaRPr sz="8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27" name="Google Shape;227;p45"/>
          <p:cNvGrpSpPr/>
          <p:nvPr/>
        </p:nvGrpSpPr>
        <p:grpSpPr>
          <a:xfrm>
            <a:off x="708378" y="3208059"/>
            <a:ext cx="275261" cy="275261"/>
            <a:chOff x="-1" y="-1"/>
            <a:chExt cx="1016100" cy="1016100"/>
          </a:xfrm>
        </p:grpSpPr>
        <p:sp>
          <p:nvSpPr>
            <p:cNvPr id="228" name="Google Shape;228;p45"/>
            <p:cNvSpPr/>
            <p:nvPr/>
          </p:nvSpPr>
          <p:spPr>
            <a:xfrm>
              <a:off x="-1" y="-1"/>
              <a:ext cx="1016100" cy="1016100"/>
            </a:xfrm>
            <a:prstGeom prst="ellipse">
              <a:avLst/>
            </a:prstGeom>
            <a:solidFill>
              <a:srgbClr val="8438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00"/>
                <a:buFont typeface="Roboto"/>
                <a:buNone/>
              </a:pPr>
              <a:r>
                <a:t/>
              </a:r>
              <a:endParaRPr b="1" i="0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29" name="Google Shape;229;p45"/>
            <p:cNvSpPr txBox="1"/>
            <p:nvPr/>
          </p:nvSpPr>
          <p:spPr>
            <a:xfrm>
              <a:off x="148789" y="214610"/>
              <a:ext cx="718500" cy="586800"/>
            </a:xfrm>
            <a:prstGeom prst="rect">
              <a:avLst/>
            </a:prstGeom>
            <a:solidFill>
              <a:srgbClr val="8438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05071"/>
                </a:buClr>
                <a:buSzPts val="4000"/>
                <a:buFont typeface="Arial"/>
                <a:buNone/>
              </a:pPr>
              <a:r>
                <a:rPr b="1" i="0" lang="en-GB" sz="800" u="none" cap="none" strike="noStrike">
                  <a:solidFill>
                    <a:srgbClr val="F7F9FF"/>
                  </a:solidFill>
                  <a:latin typeface="Inter"/>
                  <a:ea typeface="Inter"/>
                  <a:cs typeface="Inter"/>
                  <a:sym typeface="Inter"/>
                </a:rPr>
                <a:t>0</a:t>
              </a:r>
              <a:r>
                <a:rPr b="1" lang="en-GB" sz="800">
                  <a:solidFill>
                    <a:srgbClr val="F7F9FF"/>
                  </a:solidFill>
                  <a:latin typeface="Inter"/>
                  <a:ea typeface="Inter"/>
                  <a:cs typeface="Inter"/>
                  <a:sym typeface="Inter"/>
                </a:rPr>
                <a:t>4</a:t>
              </a:r>
              <a:endParaRPr sz="800">
                <a:solidFill>
                  <a:srgbClr val="F7F9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30" name="Google Shape;230;p45"/>
          <p:cNvSpPr txBox="1"/>
          <p:nvPr/>
        </p:nvSpPr>
        <p:spPr>
          <a:xfrm>
            <a:off x="1098337" y="3265416"/>
            <a:ext cx="1645800" cy="11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pen Sans"/>
              <a:buNone/>
            </a:pPr>
            <a:r>
              <a:rPr b="1"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API Consumption</a:t>
            </a:r>
            <a:endParaRPr sz="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794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8438FA"/>
              </a:buClr>
              <a:buSzPts val="800"/>
              <a:buFont typeface="Inter"/>
              <a:buChar char="●"/>
            </a:pPr>
            <a:r>
              <a:rPr lang="en-GB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API Publishing &amp; Monetization</a:t>
            </a:r>
            <a:endParaRPr sz="8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794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800"/>
              <a:buFont typeface="Inter"/>
              <a:buChar char="●"/>
            </a:pPr>
            <a:r>
              <a:rPr lang="en-GB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Automated Key Provisioning</a:t>
            </a:r>
            <a:endParaRPr sz="8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794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800"/>
              <a:buFont typeface="Inter"/>
              <a:buChar char="●"/>
            </a:pPr>
            <a:r>
              <a:rPr lang="en-GB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Multi-Tenant Management</a:t>
            </a:r>
            <a:endParaRPr sz="8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1" name="Google Shape;231;p45"/>
          <p:cNvSpPr txBox="1"/>
          <p:nvPr/>
        </p:nvSpPr>
        <p:spPr>
          <a:xfrm>
            <a:off x="720000" y="766675"/>
            <a:ext cx="5290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Full lifecycle APIM</a:t>
            </a:r>
            <a:endParaRPr b="1" sz="3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2" name="Google Shape;232;p45"/>
          <p:cNvSpPr txBox="1"/>
          <p:nvPr/>
        </p:nvSpPr>
        <p:spPr>
          <a:xfrm>
            <a:off x="720000" y="491425"/>
            <a:ext cx="529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1E9BA"/>
                </a:solidFill>
                <a:latin typeface="Inter Medium"/>
                <a:ea typeface="Inter Medium"/>
                <a:cs typeface="Inter Medium"/>
                <a:sym typeface="Inter Medium"/>
              </a:rPr>
              <a:t>THE WHOLE CYCLE</a:t>
            </a:r>
            <a:endParaRPr sz="1200">
              <a:solidFill>
                <a:srgbClr val="21E9BA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438FA"/>
            </a:gs>
            <a:gs pos="35000">
              <a:srgbClr val="8438FA"/>
            </a:gs>
            <a:gs pos="100000">
              <a:srgbClr val="BB11FF"/>
            </a:gs>
          </a:gsLst>
          <a:lin ang="2700006" scaled="0"/>
        </a:gra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8675" y="1670285"/>
            <a:ext cx="9906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64725" y="1670285"/>
            <a:ext cx="9906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76700" y="1670285"/>
            <a:ext cx="9906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88675" y="3162385"/>
            <a:ext cx="9906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64725" y="3162385"/>
            <a:ext cx="9906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4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076700" y="3162385"/>
            <a:ext cx="9906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46"/>
          <p:cNvSpPr txBox="1"/>
          <p:nvPr/>
        </p:nvSpPr>
        <p:spPr>
          <a:xfrm>
            <a:off x="893850" y="758475"/>
            <a:ext cx="7356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Tyk is not just a unique name!</a:t>
            </a:r>
            <a:endParaRPr b="1" sz="3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4" name="Google Shape;244;p46"/>
          <p:cNvSpPr txBox="1"/>
          <p:nvPr/>
        </p:nvSpPr>
        <p:spPr>
          <a:xfrm>
            <a:off x="2181900" y="491425"/>
            <a:ext cx="478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1E9BA"/>
                </a:solidFill>
                <a:latin typeface="Inter Medium"/>
                <a:ea typeface="Inter Medium"/>
                <a:cs typeface="Inter Medium"/>
                <a:sym typeface="Inter Medium"/>
              </a:rPr>
              <a:t>YEAH, BUT WHY TYK?</a:t>
            </a:r>
            <a:endParaRPr sz="1200">
              <a:solidFill>
                <a:srgbClr val="21E9BA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45" name="Google Shape;245;p46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6" name="Google Shape;246;p4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46"/>
          <p:cNvSpPr txBox="1"/>
          <p:nvPr/>
        </p:nvSpPr>
        <p:spPr>
          <a:xfrm>
            <a:off x="1475425" y="2650785"/>
            <a:ext cx="181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Simplicity</a:t>
            </a:r>
            <a:endParaRPr/>
          </a:p>
        </p:txBody>
      </p:sp>
      <p:sp>
        <p:nvSpPr>
          <p:cNvPr id="248" name="Google Shape;248;p46"/>
          <p:cNvSpPr txBox="1"/>
          <p:nvPr/>
        </p:nvSpPr>
        <p:spPr>
          <a:xfrm>
            <a:off x="3663450" y="2650785"/>
            <a:ext cx="181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Deployment flexibility</a:t>
            </a:r>
            <a:endParaRPr/>
          </a:p>
        </p:txBody>
      </p:sp>
      <p:sp>
        <p:nvSpPr>
          <p:cNvPr id="249" name="Google Shape;249;p46"/>
          <p:cNvSpPr txBox="1"/>
          <p:nvPr/>
        </p:nvSpPr>
        <p:spPr>
          <a:xfrm>
            <a:off x="5851475" y="2650785"/>
            <a:ext cx="181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Batteries included</a:t>
            </a:r>
            <a:endParaRPr/>
          </a:p>
        </p:txBody>
      </p:sp>
      <p:sp>
        <p:nvSpPr>
          <p:cNvPr id="250" name="Google Shape;250;p46"/>
          <p:cNvSpPr txBox="1"/>
          <p:nvPr/>
        </p:nvSpPr>
        <p:spPr>
          <a:xfrm>
            <a:off x="1475425" y="4142885"/>
            <a:ext cx="181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Highly secure</a:t>
            </a:r>
            <a:endParaRPr/>
          </a:p>
        </p:txBody>
      </p:sp>
      <p:sp>
        <p:nvSpPr>
          <p:cNvPr id="251" name="Google Shape;251;p46"/>
          <p:cNvSpPr txBox="1"/>
          <p:nvPr/>
        </p:nvSpPr>
        <p:spPr>
          <a:xfrm>
            <a:off x="3663450" y="4142885"/>
            <a:ext cx="18171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GraphQL/ Universal Data Graph</a:t>
            </a:r>
            <a:endParaRPr/>
          </a:p>
        </p:txBody>
      </p:sp>
      <p:sp>
        <p:nvSpPr>
          <p:cNvPr id="252" name="Google Shape;252;p46"/>
          <p:cNvSpPr txBox="1"/>
          <p:nvPr/>
        </p:nvSpPr>
        <p:spPr>
          <a:xfrm>
            <a:off x="5851475" y="4142885"/>
            <a:ext cx="181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Our own stack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438FA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3257" y="2761275"/>
            <a:ext cx="1221740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47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9" name="Google Shape;259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47"/>
          <p:cNvSpPr txBox="1"/>
          <p:nvPr/>
        </p:nvSpPr>
        <p:spPr>
          <a:xfrm>
            <a:off x="1060800" y="1409175"/>
            <a:ext cx="2020500" cy="11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"Tyk is easy to set up, easy to integrate, support GraphQL and works excellent on K8s. The best dashboard out of any we tried. The support service is excellent"</a:t>
            </a:r>
            <a:endParaRPr sz="1000">
              <a:solidFill>
                <a:srgbClr val="FFFFFF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21E9BA"/>
                </a:solidFill>
                <a:latin typeface="Inter"/>
                <a:ea typeface="Inter"/>
                <a:cs typeface="Inter"/>
                <a:sym typeface="Inter"/>
              </a:rPr>
              <a:t>Technical Director</a:t>
            </a:r>
            <a:endParaRPr b="1" sz="500">
              <a:solidFill>
                <a:srgbClr val="21E9B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1" name="Google Shape;261;p47"/>
          <p:cNvSpPr txBox="1"/>
          <p:nvPr/>
        </p:nvSpPr>
        <p:spPr>
          <a:xfrm>
            <a:off x="3588680" y="3396964"/>
            <a:ext cx="2020800" cy="12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05071"/>
              </a:buClr>
              <a:buSzPts val="2600"/>
              <a:buFont typeface="Open Sans"/>
              <a:buNone/>
            </a:pPr>
            <a:r>
              <a:rPr lang="en-GB" sz="10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"The tyk platform allows us a consolidated and secure front-of-house for our APIs, from the ultra modern,all the way back to our most legacy (20+y/o) APIs, and it works every time"</a:t>
            </a:r>
            <a:endParaRPr sz="100">
              <a:solidFill>
                <a:srgbClr val="FFFFFF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2000"/>
              <a:buFont typeface="Open Sans"/>
              <a:buNone/>
            </a:pPr>
            <a:r>
              <a:t/>
            </a:r>
            <a:endParaRPr sz="4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2000"/>
              <a:buFont typeface="Open Sans"/>
              <a:buNone/>
            </a:pPr>
            <a:r>
              <a:rPr b="1" i="0" lang="en-GB" sz="800" u="none" cap="none" strike="noStrike">
                <a:solidFill>
                  <a:srgbClr val="21E9BA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b="1" lang="en-GB" sz="800">
                <a:solidFill>
                  <a:srgbClr val="21E9BA"/>
                </a:solidFill>
                <a:latin typeface="Inter"/>
                <a:ea typeface="Inter"/>
                <a:cs typeface="Inter"/>
                <a:sym typeface="Inter"/>
              </a:rPr>
              <a:t>ead DevOps Engineer</a:t>
            </a:r>
            <a:endParaRPr b="1" sz="500">
              <a:solidFill>
                <a:srgbClr val="21E9B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2" name="Google Shape;262;p47"/>
          <p:cNvSpPr txBox="1"/>
          <p:nvPr/>
        </p:nvSpPr>
        <p:spPr>
          <a:xfrm>
            <a:off x="6062644" y="1417541"/>
            <a:ext cx="2020500" cy="10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05071"/>
              </a:buClr>
              <a:buSzPts val="2600"/>
              <a:buFont typeface="Open Sans"/>
              <a:buNone/>
            </a:pPr>
            <a:r>
              <a:rPr lang="en-GB" sz="10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"Most complete and feature-rich API Gateway. The onboarding process and the support we receive from Tyk Team are fantastic."</a:t>
            </a:r>
            <a:endParaRPr sz="100">
              <a:solidFill>
                <a:srgbClr val="FFFFFF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2000"/>
              <a:buFont typeface="Open Sans"/>
              <a:buNone/>
            </a:pPr>
            <a:r>
              <a:t/>
            </a:r>
            <a:endParaRPr sz="4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2000"/>
              <a:buFont typeface="Open Sans"/>
              <a:buNone/>
            </a:pPr>
            <a:r>
              <a:rPr b="1" lang="en-GB" sz="800">
                <a:solidFill>
                  <a:srgbClr val="21E9BA"/>
                </a:solidFill>
                <a:latin typeface="Inter"/>
                <a:ea typeface="Inter"/>
                <a:cs typeface="Inter"/>
                <a:sym typeface="Inter"/>
              </a:rPr>
              <a:t>Senior Cloud Infrastructure Engineer</a:t>
            </a:r>
            <a:endParaRPr b="1" sz="500">
              <a:solidFill>
                <a:srgbClr val="21E9B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63" name="Google Shape;263;p47"/>
          <p:cNvPicPr preferRelativeResize="0"/>
          <p:nvPr/>
        </p:nvPicPr>
        <p:blipFill rotWithShape="1">
          <a:blip r:embed="rId5">
            <a:alphaModFix/>
          </a:blip>
          <a:srcRect b="0" l="3140" r="3140" t="0"/>
          <a:stretch/>
        </p:blipFill>
        <p:spPr>
          <a:xfrm>
            <a:off x="6193513" y="3211460"/>
            <a:ext cx="1760400" cy="1606200"/>
          </a:xfrm>
          <a:prstGeom prst="roundRect">
            <a:avLst>
              <a:gd fmla="val 5608" name="adj"/>
            </a:avLst>
          </a:prstGeom>
          <a:noFill/>
          <a:ln cap="flat" cmpd="sng" w="9525">
            <a:solidFill>
              <a:srgbClr val="E3CEFF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264" name="Google Shape;264;p47"/>
          <p:cNvGrpSpPr/>
          <p:nvPr/>
        </p:nvGrpSpPr>
        <p:grpSpPr>
          <a:xfrm>
            <a:off x="1185945" y="2732495"/>
            <a:ext cx="1760269" cy="2085071"/>
            <a:chOff x="8047910" y="4559687"/>
            <a:chExt cx="6141900" cy="7275197"/>
          </a:xfrm>
        </p:grpSpPr>
        <p:pic>
          <p:nvPicPr>
            <p:cNvPr id="265" name="Google Shape;265;p47"/>
            <p:cNvPicPr preferRelativeResize="0"/>
            <p:nvPr/>
          </p:nvPicPr>
          <p:blipFill rotWithShape="1">
            <a:blip r:embed="rId6">
              <a:alphaModFix/>
            </a:blip>
            <a:srcRect b="749" l="0" r="0" t="739"/>
            <a:stretch/>
          </p:blipFill>
          <p:spPr>
            <a:xfrm>
              <a:off x="8047910" y="6230884"/>
              <a:ext cx="6141900" cy="5604000"/>
            </a:xfrm>
            <a:prstGeom prst="roundRect">
              <a:avLst>
                <a:gd fmla="val 5608" name="adj"/>
              </a:avLst>
            </a:prstGeom>
            <a:noFill/>
            <a:ln cap="flat" cmpd="sng" w="9525">
              <a:solidFill>
                <a:srgbClr val="E3CEFF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266" name="Google Shape;266;p47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540833" y="4559687"/>
              <a:ext cx="1155993" cy="118971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7" name="Google Shape;267;p47"/>
          <p:cNvSpPr txBox="1"/>
          <p:nvPr/>
        </p:nvSpPr>
        <p:spPr>
          <a:xfrm>
            <a:off x="50" y="530300"/>
            <a:ext cx="9144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Highly rated APIM Solution</a:t>
            </a:r>
            <a:endParaRPr b="1" sz="38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8" name="Google Shape;268;p47"/>
          <p:cNvSpPr txBox="1"/>
          <p:nvPr/>
        </p:nvSpPr>
        <p:spPr>
          <a:xfrm>
            <a:off x="2181900" y="262825"/>
            <a:ext cx="478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1E9BA"/>
                </a:solidFill>
                <a:latin typeface="Inter Medium"/>
                <a:ea typeface="Inter Medium"/>
                <a:cs typeface="Inter Medium"/>
                <a:sym typeface="Inter Medium"/>
              </a:rPr>
              <a:t>THE REVIEWS ARE IN</a:t>
            </a:r>
            <a:endParaRPr sz="1200">
              <a:solidFill>
                <a:srgbClr val="21E9BA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269" name="Google Shape;269;p4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08250" y="1365150"/>
            <a:ext cx="1792365" cy="1792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yk main slide deck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yk main slide deck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