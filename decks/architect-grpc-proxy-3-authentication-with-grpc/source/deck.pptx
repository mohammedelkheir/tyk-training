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Lst>
  <p:sldSz cy="5143500" cx="9144000"/>
  <p:notesSz cx="6858000" cy="9144000"/>
  <p:embeddedFontLst>
    <p:embeddedFont>
      <p:font typeface="Inter Light"/>
      <p:regular r:id="rId8"/>
      <p:bold r:id="rId9"/>
      <p:italic r:id="rId10"/>
      <p:boldItalic r:id="rId11"/>
    </p:embeddedFont>
    <p:embeddedFont>
      <p:font typeface="Inter"/>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880">
          <p15:clr>
            <a:srgbClr val="747775"/>
          </p15:clr>
        </p15:guide>
        <p15:guide id="2" orient="horz" pos="454">
          <p15:clr>
            <a:srgbClr val="747775"/>
          </p15:clr>
        </p15:guide>
        <p15:guide id="3" pos="454">
          <p15:clr>
            <a:srgbClr val="747775"/>
          </p15:clr>
        </p15:guide>
        <p15:guide id="4" pos="5329">
          <p15:clr>
            <a:srgbClr val="747775"/>
          </p15:clr>
        </p15:guide>
        <p15:guide id="5" orient="horz" pos="278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p:guide pos="454" orient="horz"/>
        <p:guide pos="454"/>
        <p:guide pos="5329"/>
        <p:guide pos="2786" orient="horz"/>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InterLight-boldItalic.fntdata"/><Relationship Id="rId10" Type="http://schemas.openxmlformats.org/officeDocument/2006/relationships/font" Target="fonts/InterLight-italic.fntdata"/><Relationship Id="rId13" Type="http://schemas.openxmlformats.org/officeDocument/2006/relationships/font" Target="fonts/Inter-bold.fntdata"/><Relationship Id="rId12" Type="http://schemas.openxmlformats.org/officeDocument/2006/relationships/font" Target="fonts/Inter-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InterLight-bold.fntdata"/><Relationship Id="rId15" Type="http://schemas.openxmlformats.org/officeDocument/2006/relationships/font" Target="fonts/Inter-boldItalic.fntdata"/><Relationship Id="rId14" Type="http://schemas.openxmlformats.org/officeDocument/2006/relationships/font" Target="fonts/Inter-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font" Target="fonts/InterLigh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g361282fca9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 name="Google Shape;51;g361282fca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61282fca91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61282fca91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this section, we’ll look at how Tyk secures gRPC-based services. gRPC is often used for high-performance microservice communication, so securing it is critical. Tyk supports standard authentication mechanisms like Mutual TLS, Basic Auth, and Bearer Tokens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Mutual TLS, or mTLS, is the most secure way to authenticate clients and servers. Both parties must present valid certificates, and Tyk will validate them. This is excellent for service-to-service authentication in a zero-trust environment.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Basic Authentication is straightforward and supported by most clients. Tyk will decode the base64 string, verify the credentials, and grant access accordingly. It's great for quick testing or legacy system integration.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Token-based auth is what we commonly use for APIs—simple, secure, and scalable. Your gRPC client just needs to attach the token in the header, and Tyk handles the validation based on your configured policies.</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0" y="922550"/>
            <a:ext cx="8520600" cy="165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531550"/>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21E9BA"/>
              </a:buClr>
              <a:buSzPts val="2000"/>
              <a:buNone/>
              <a:defRPr sz="2000">
                <a:solidFill>
                  <a:srgbClr val="21E9BA"/>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sp>
        <p:nvSpPr>
          <p:cNvPr id="20" name="Google Shape;20;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21" name="Google Shape;21;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2" name="Google Shape;22;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26" name="Google Shape;26;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7" name="Shape 27"/>
        <p:cNvGrpSpPr/>
        <p:nvPr/>
      </p:nvGrpSpPr>
      <p:grpSpPr>
        <a:xfrm>
          <a:off x="0" y="0"/>
          <a:ext cx="0" cy="0"/>
          <a:chOff x="0" y="0"/>
          <a:chExt cx="0" cy="0"/>
        </a:xfrm>
      </p:grpSpPr>
      <p:sp>
        <p:nvSpPr>
          <p:cNvPr id="28" name="Google Shape;28;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9" name="Google Shape;29;p7"/>
          <p:cNvSpPr txBox="1"/>
          <p:nvPr>
            <p:ph idx="1" type="body"/>
          </p:nvPr>
        </p:nvSpPr>
        <p:spPr>
          <a:xfrm>
            <a:off x="311700" y="1389600"/>
            <a:ext cx="50364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1" name="Shape 31"/>
        <p:cNvGrpSpPr/>
        <p:nvPr/>
      </p:nvGrpSpPr>
      <p:grpSpPr>
        <a:xfrm>
          <a:off x="0" y="0"/>
          <a:ext cx="0" cy="0"/>
          <a:chOff x="0" y="0"/>
          <a:chExt cx="0" cy="0"/>
        </a:xfrm>
      </p:grpSpPr>
      <p:sp>
        <p:nvSpPr>
          <p:cNvPr id="32" name="Google Shape;32;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4" name="Shape 34"/>
        <p:cNvGrpSpPr/>
        <p:nvPr/>
      </p:nvGrpSpPr>
      <p:grpSpPr>
        <a:xfrm>
          <a:off x="0" y="0"/>
          <a:ext cx="0" cy="0"/>
          <a:chOff x="0" y="0"/>
          <a:chExt cx="0" cy="0"/>
        </a:xfrm>
      </p:grpSpPr>
      <p:sp>
        <p:nvSpPr>
          <p:cNvPr id="35" name="Google Shape;35;p9"/>
          <p:cNvSpPr/>
          <p:nvPr/>
        </p:nvSpPr>
        <p:spPr>
          <a:xfrm>
            <a:off x="4572000" y="-12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7" name="Google Shape;37;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21E9BA"/>
              </a:buClr>
              <a:buSzPts val="1600"/>
              <a:buNone/>
              <a:defRPr sz="1600">
                <a:solidFill>
                  <a:srgbClr val="21E9BA"/>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8" name="Google Shape;38;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rgbClr val="8438FA"/>
              </a:buClr>
              <a:buSzPts val="1800"/>
              <a:buChar char="●"/>
              <a:defRPr>
                <a:solidFill>
                  <a:srgbClr val="8438FA"/>
                </a:solidFill>
              </a:defRPr>
            </a:lvl1pPr>
            <a:lvl2pPr indent="-317500" lvl="1" marL="914400">
              <a:spcBef>
                <a:spcPts val="0"/>
              </a:spcBef>
              <a:spcAft>
                <a:spcPts val="0"/>
              </a:spcAft>
              <a:buClr>
                <a:srgbClr val="8438FA"/>
              </a:buClr>
              <a:buSzPts val="1400"/>
              <a:buChar char="○"/>
              <a:defRPr>
                <a:solidFill>
                  <a:srgbClr val="8438FA"/>
                </a:solidFill>
              </a:defRPr>
            </a:lvl2pPr>
            <a:lvl3pPr indent="-317500" lvl="2" marL="1371600">
              <a:spcBef>
                <a:spcPts val="0"/>
              </a:spcBef>
              <a:spcAft>
                <a:spcPts val="0"/>
              </a:spcAft>
              <a:buClr>
                <a:srgbClr val="8438FA"/>
              </a:buClr>
              <a:buSzPts val="1400"/>
              <a:buChar char="■"/>
              <a:defRPr>
                <a:solidFill>
                  <a:srgbClr val="8438FA"/>
                </a:solidFill>
              </a:defRPr>
            </a:lvl3pPr>
            <a:lvl4pPr indent="-317500" lvl="3" marL="1828800">
              <a:spcBef>
                <a:spcPts val="0"/>
              </a:spcBef>
              <a:spcAft>
                <a:spcPts val="0"/>
              </a:spcAft>
              <a:buClr>
                <a:srgbClr val="8438FA"/>
              </a:buClr>
              <a:buSzPts val="1400"/>
              <a:buChar char="●"/>
              <a:defRPr>
                <a:solidFill>
                  <a:srgbClr val="8438FA"/>
                </a:solidFill>
              </a:defRPr>
            </a:lvl4pPr>
            <a:lvl5pPr indent="-317500" lvl="4" marL="2286000">
              <a:spcBef>
                <a:spcPts val="0"/>
              </a:spcBef>
              <a:spcAft>
                <a:spcPts val="0"/>
              </a:spcAft>
              <a:buClr>
                <a:srgbClr val="8438FA"/>
              </a:buClr>
              <a:buSzPts val="1400"/>
              <a:buChar char="○"/>
              <a:defRPr>
                <a:solidFill>
                  <a:srgbClr val="8438FA"/>
                </a:solidFill>
              </a:defRPr>
            </a:lvl5pPr>
            <a:lvl6pPr indent="-317500" lvl="5" marL="2743200">
              <a:spcBef>
                <a:spcPts val="0"/>
              </a:spcBef>
              <a:spcAft>
                <a:spcPts val="0"/>
              </a:spcAft>
              <a:buClr>
                <a:srgbClr val="8438FA"/>
              </a:buClr>
              <a:buSzPts val="1400"/>
              <a:buChar char="■"/>
              <a:defRPr>
                <a:solidFill>
                  <a:srgbClr val="8438FA"/>
                </a:solidFill>
              </a:defRPr>
            </a:lvl6pPr>
            <a:lvl7pPr indent="-317500" lvl="6" marL="3200400">
              <a:spcBef>
                <a:spcPts val="0"/>
              </a:spcBef>
              <a:spcAft>
                <a:spcPts val="0"/>
              </a:spcAft>
              <a:buClr>
                <a:srgbClr val="8438FA"/>
              </a:buClr>
              <a:buSzPts val="1400"/>
              <a:buChar char="●"/>
              <a:defRPr>
                <a:solidFill>
                  <a:srgbClr val="8438FA"/>
                </a:solidFill>
              </a:defRPr>
            </a:lvl7pPr>
            <a:lvl8pPr indent="-317500" lvl="7" marL="3657600">
              <a:spcBef>
                <a:spcPts val="0"/>
              </a:spcBef>
              <a:spcAft>
                <a:spcPts val="0"/>
              </a:spcAft>
              <a:buClr>
                <a:srgbClr val="8438FA"/>
              </a:buClr>
              <a:buSzPts val="1400"/>
              <a:buChar char="○"/>
              <a:defRPr>
                <a:solidFill>
                  <a:srgbClr val="8438FA"/>
                </a:solidFill>
              </a:defRPr>
            </a:lvl8pPr>
            <a:lvl9pPr indent="-317500" lvl="8" marL="4114800">
              <a:spcBef>
                <a:spcPts val="0"/>
              </a:spcBef>
              <a:spcAft>
                <a:spcPts val="0"/>
              </a:spcAft>
              <a:buClr>
                <a:srgbClr val="8438FA"/>
              </a:buClr>
              <a:buSzPts val="1400"/>
              <a:buChar char="■"/>
              <a:defRPr>
                <a:solidFill>
                  <a:srgbClr val="8438FA"/>
                </a:solidFill>
              </a:defRPr>
            </a:lvl9pPr>
          </a:lstStyle>
          <a:p/>
        </p:txBody>
      </p:sp>
      <p:sp>
        <p:nvSpPr>
          <p:cNvPr id="39" name="Google Shape;3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0" name="Shape 40"/>
        <p:cNvGrpSpPr/>
        <p:nvPr/>
      </p:nvGrpSpPr>
      <p:grpSpPr>
        <a:xfrm>
          <a:off x="0" y="0"/>
          <a:ext cx="0" cy="0"/>
          <a:chOff x="0" y="0"/>
          <a:chExt cx="0" cy="0"/>
        </a:xfrm>
      </p:grpSpPr>
      <p:sp>
        <p:nvSpPr>
          <p:cNvPr id="41" name="Google Shape;41;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2" name="Google Shape;42;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3" name="Shape 43"/>
        <p:cNvGrpSpPr/>
        <p:nvPr/>
      </p:nvGrpSpPr>
      <p:grpSpPr>
        <a:xfrm>
          <a:off x="0" y="0"/>
          <a:ext cx="0" cy="0"/>
          <a:chOff x="0" y="0"/>
          <a:chExt cx="0" cy="0"/>
        </a:xfrm>
      </p:grpSpPr>
      <p:sp>
        <p:nvSpPr>
          <p:cNvPr id="44" name="Google Shape;44;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5" name="Google Shape;45;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6" name="Google Shape;4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7" name="Shape 47"/>
        <p:cNvGrpSpPr/>
        <p:nvPr/>
      </p:nvGrpSpPr>
      <p:grpSpPr>
        <a:xfrm>
          <a:off x="0" y="0"/>
          <a:ext cx="0" cy="0"/>
          <a:chOff x="0" y="0"/>
          <a:chExt cx="0" cy="0"/>
        </a:xfrm>
      </p:grpSpPr>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8438FA"/>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1pPr>
            <a:lvl2pPr lvl="1">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2pPr>
            <a:lvl3pPr lvl="2">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3pPr>
            <a:lvl4pPr lvl="3">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4pPr>
            <a:lvl5pPr lvl="4">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5pPr>
            <a:lvl6pPr lvl="5">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6pPr>
            <a:lvl7pPr lvl="6">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7pPr>
            <a:lvl8pPr lvl="7">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8pPr>
            <a:lvl9pPr lvl="8">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1"/>
              </a:buClr>
              <a:buSzPts val="1800"/>
              <a:buFont typeface="Inter"/>
              <a:buChar char="●"/>
              <a:defRPr sz="1800">
                <a:solidFill>
                  <a:schemeClr val="lt1"/>
                </a:solidFill>
                <a:latin typeface="Inter"/>
                <a:ea typeface="Inter"/>
                <a:cs typeface="Inter"/>
                <a:sym typeface="Inter"/>
              </a:defRPr>
            </a:lvl1pPr>
            <a:lvl2pPr indent="-317500" lvl="1" marL="9144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2pPr>
            <a:lvl3pPr indent="-317500" lvl="2" marL="13716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3pPr>
            <a:lvl4pPr indent="-317500" lvl="3" marL="18288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4pPr>
            <a:lvl5pPr indent="-317500" lvl="4" marL="22860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5pPr>
            <a:lvl6pPr indent="-317500" lvl="5" marL="27432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6pPr>
            <a:lvl7pPr indent="-317500" lvl="6" marL="32004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7pPr>
            <a:lvl8pPr indent="-317500" lvl="7" marL="36576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8pPr>
            <a:lvl9pPr indent="-317500" lvl="8" marL="41148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Inter Light"/>
                <a:ea typeface="Inter Light"/>
                <a:cs typeface="Inter Light"/>
                <a:sym typeface="Inter Light"/>
              </a:defRPr>
            </a:lvl1pPr>
            <a:lvl2pPr lvl="1" algn="r">
              <a:buNone/>
              <a:defRPr sz="1000">
                <a:solidFill>
                  <a:schemeClr val="lt1"/>
                </a:solidFill>
                <a:latin typeface="Inter Light"/>
                <a:ea typeface="Inter Light"/>
                <a:cs typeface="Inter Light"/>
                <a:sym typeface="Inter Light"/>
              </a:defRPr>
            </a:lvl2pPr>
            <a:lvl3pPr lvl="2" algn="r">
              <a:buNone/>
              <a:defRPr sz="1000">
                <a:solidFill>
                  <a:schemeClr val="lt1"/>
                </a:solidFill>
                <a:latin typeface="Inter Light"/>
                <a:ea typeface="Inter Light"/>
                <a:cs typeface="Inter Light"/>
                <a:sym typeface="Inter Light"/>
              </a:defRPr>
            </a:lvl3pPr>
            <a:lvl4pPr lvl="3" algn="r">
              <a:buNone/>
              <a:defRPr sz="1000">
                <a:solidFill>
                  <a:schemeClr val="lt1"/>
                </a:solidFill>
                <a:latin typeface="Inter Light"/>
                <a:ea typeface="Inter Light"/>
                <a:cs typeface="Inter Light"/>
                <a:sym typeface="Inter Light"/>
              </a:defRPr>
            </a:lvl4pPr>
            <a:lvl5pPr lvl="4" algn="r">
              <a:buNone/>
              <a:defRPr sz="1000">
                <a:solidFill>
                  <a:schemeClr val="lt1"/>
                </a:solidFill>
                <a:latin typeface="Inter Light"/>
                <a:ea typeface="Inter Light"/>
                <a:cs typeface="Inter Light"/>
                <a:sym typeface="Inter Light"/>
              </a:defRPr>
            </a:lvl5pPr>
            <a:lvl6pPr lvl="5" algn="r">
              <a:buNone/>
              <a:defRPr sz="1000">
                <a:solidFill>
                  <a:schemeClr val="lt1"/>
                </a:solidFill>
                <a:latin typeface="Inter Light"/>
                <a:ea typeface="Inter Light"/>
                <a:cs typeface="Inter Light"/>
                <a:sym typeface="Inter Light"/>
              </a:defRPr>
            </a:lvl6pPr>
            <a:lvl7pPr lvl="6" algn="r">
              <a:buNone/>
              <a:defRPr sz="1000">
                <a:solidFill>
                  <a:schemeClr val="lt1"/>
                </a:solidFill>
                <a:latin typeface="Inter Light"/>
                <a:ea typeface="Inter Light"/>
                <a:cs typeface="Inter Light"/>
                <a:sym typeface="Inter Light"/>
              </a:defRPr>
            </a:lvl7pPr>
            <a:lvl8pPr lvl="7" algn="r">
              <a:buNone/>
              <a:defRPr sz="1000">
                <a:solidFill>
                  <a:schemeClr val="lt1"/>
                </a:solidFill>
                <a:latin typeface="Inter Light"/>
                <a:ea typeface="Inter Light"/>
                <a:cs typeface="Inter Light"/>
                <a:sym typeface="Inter Light"/>
              </a:defRPr>
            </a:lvl8pPr>
            <a:lvl9pPr lvl="8" algn="r">
              <a:buNone/>
              <a:defRPr sz="1000">
                <a:solidFill>
                  <a:schemeClr val="lt1"/>
                </a:solidFill>
                <a:latin typeface="Inter Light"/>
                <a:ea typeface="Inter Light"/>
                <a:cs typeface="Inter Light"/>
                <a:sym typeface="Inter Light"/>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8438FA"/>
            </a:gs>
            <a:gs pos="35000">
              <a:srgbClr val="8438FA"/>
            </a:gs>
            <a:gs pos="100000">
              <a:srgbClr val="BB11FF"/>
            </a:gs>
          </a:gsLst>
          <a:lin ang="2700006" scaled="0"/>
        </a:gradFill>
      </p:bgPr>
    </p:bg>
    <p:spTree>
      <p:nvGrpSpPr>
        <p:cNvPr id="52" name="Shape 52"/>
        <p:cNvGrpSpPr/>
        <p:nvPr/>
      </p:nvGrpSpPr>
      <p:grpSpPr>
        <a:xfrm>
          <a:off x="0" y="0"/>
          <a:ext cx="0" cy="0"/>
          <a:chOff x="0" y="0"/>
          <a:chExt cx="0" cy="0"/>
        </a:xfrm>
      </p:grpSpPr>
      <p:sp>
        <p:nvSpPr>
          <p:cNvPr id="53" name="Google Shape;53;p13"/>
          <p:cNvSpPr txBox="1"/>
          <p:nvPr/>
        </p:nvSpPr>
        <p:spPr>
          <a:xfrm>
            <a:off x="1415550" y="1909950"/>
            <a:ext cx="6312900" cy="754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3700">
                <a:solidFill>
                  <a:schemeClr val="lt1"/>
                </a:solidFill>
                <a:latin typeface="Inter"/>
                <a:ea typeface="Inter"/>
                <a:cs typeface="Inter"/>
                <a:sym typeface="Inter"/>
              </a:rPr>
              <a:t>Authentication with gRPC</a:t>
            </a:r>
            <a:endParaRPr b="1" sz="3700">
              <a:solidFill>
                <a:schemeClr val="lt1"/>
              </a:solidFill>
              <a:latin typeface="Inter"/>
              <a:ea typeface="Inter"/>
              <a:cs typeface="Inter"/>
              <a:sym typeface="Inter"/>
            </a:endParaRPr>
          </a:p>
        </p:txBody>
      </p:sp>
      <p:sp>
        <p:nvSpPr>
          <p:cNvPr id="54" name="Google Shape;54;p13"/>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5" name="Google Shape;55;p13"/>
          <p:cNvPicPr preferRelativeResize="0"/>
          <p:nvPr/>
        </p:nvPicPr>
        <p:blipFill>
          <a:blip r:embed="rId3">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 name="Shape 59"/>
        <p:cNvGrpSpPr/>
        <p:nvPr/>
      </p:nvGrpSpPr>
      <p:grpSpPr>
        <a:xfrm>
          <a:off x="0" y="0"/>
          <a:ext cx="0" cy="0"/>
          <a:chOff x="0" y="0"/>
          <a:chExt cx="0" cy="0"/>
        </a:xfrm>
      </p:grpSpPr>
      <p:sp>
        <p:nvSpPr>
          <p:cNvPr id="60" name="Google Shape;60;p14"/>
          <p:cNvSpPr txBox="1"/>
          <p:nvPr/>
        </p:nvSpPr>
        <p:spPr>
          <a:xfrm>
            <a:off x="415200" y="925600"/>
            <a:ext cx="77382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900">
              <a:solidFill>
                <a:srgbClr val="03031C"/>
              </a:solidFill>
              <a:latin typeface="Inter"/>
              <a:ea typeface="Inter"/>
              <a:cs typeface="Inter"/>
              <a:sym typeface="Inter"/>
            </a:endParaRPr>
          </a:p>
        </p:txBody>
      </p:sp>
      <p:sp>
        <p:nvSpPr>
          <p:cNvPr id="61" name="Google Shape;61;p14"/>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14"/>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63" name="Google Shape;63;p14"/>
          <p:cNvSpPr txBox="1"/>
          <p:nvPr/>
        </p:nvSpPr>
        <p:spPr>
          <a:xfrm>
            <a:off x="720000" y="233275"/>
            <a:ext cx="78588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300">
                <a:solidFill>
                  <a:srgbClr val="5900CB"/>
                </a:solidFill>
                <a:latin typeface="Inter"/>
                <a:ea typeface="Inter"/>
                <a:cs typeface="Inter"/>
                <a:sym typeface="Inter"/>
              </a:rPr>
              <a:t>Authentication for gRPC APIs in Tyk</a:t>
            </a:r>
            <a:endParaRPr b="1" sz="3300">
              <a:solidFill>
                <a:srgbClr val="5900CB"/>
              </a:solidFill>
              <a:latin typeface="Inter"/>
              <a:ea typeface="Inter"/>
              <a:cs typeface="Inter"/>
              <a:sym typeface="Inter"/>
            </a:endParaRPr>
          </a:p>
        </p:txBody>
      </p:sp>
      <p:sp>
        <p:nvSpPr>
          <p:cNvPr id="64" name="Google Shape;64;p14"/>
          <p:cNvSpPr txBox="1"/>
          <p:nvPr/>
        </p:nvSpPr>
        <p:spPr>
          <a:xfrm>
            <a:off x="863625" y="1125700"/>
            <a:ext cx="7738200" cy="42654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Font typeface="Inter"/>
              <a:buChar char="●"/>
            </a:pPr>
            <a:r>
              <a:rPr b="1" lang="en-GB">
                <a:solidFill>
                  <a:schemeClr val="dk1"/>
                </a:solidFill>
                <a:latin typeface="Inter"/>
                <a:ea typeface="Inter"/>
                <a:cs typeface="Inter"/>
                <a:sym typeface="Inter"/>
              </a:rPr>
              <a:t>Mutual TLS (mTLS)</a:t>
            </a:r>
            <a:endParaRPr b="1">
              <a:solidFill>
                <a:schemeClr val="dk1"/>
              </a:solidFill>
              <a:latin typeface="Inter"/>
              <a:ea typeface="Inter"/>
              <a:cs typeface="Inter"/>
              <a:sym typeface="Inter"/>
            </a:endParaRPr>
          </a:p>
          <a:p>
            <a:pPr indent="-317500" lvl="1" marL="9144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Two-way certificate validation</a:t>
            </a:r>
            <a:endParaRPr>
              <a:solidFill>
                <a:schemeClr val="dk1"/>
              </a:solidFill>
              <a:latin typeface="Inter"/>
              <a:ea typeface="Inter"/>
              <a:cs typeface="Inter"/>
              <a:sym typeface="Inter"/>
            </a:endParaRPr>
          </a:p>
          <a:p>
            <a:pPr indent="-317500" lvl="1" marL="9144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Ideal for secure internal communication</a:t>
            </a:r>
            <a:endParaRPr>
              <a:solidFill>
                <a:schemeClr val="dk1"/>
              </a:solidFill>
              <a:latin typeface="Inter"/>
              <a:ea typeface="Inter"/>
              <a:cs typeface="Inter"/>
              <a:sym typeface="Inter"/>
            </a:endParaRPr>
          </a:p>
          <a:p>
            <a:pPr indent="-317500" lvl="1" marL="9144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Configure using standard Tyk Mutual TLS settings</a:t>
            </a:r>
            <a:endParaRPr>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Inter"/>
              <a:buChar char="●"/>
            </a:pPr>
            <a:r>
              <a:rPr b="1" lang="en-GB">
                <a:solidFill>
                  <a:schemeClr val="dk1"/>
                </a:solidFill>
                <a:latin typeface="Inter"/>
                <a:ea typeface="Inter"/>
                <a:cs typeface="Inter"/>
                <a:sym typeface="Inter"/>
              </a:rPr>
              <a:t>Basic Authentication</a:t>
            </a:r>
            <a:endParaRPr b="1">
              <a:solidFill>
                <a:schemeClr val="dk1"/>
              </a:solidFill>
              <a:latin typeface="Inter"/>
              <a:ea typeface="Inter"/>
              <a:cs typeface="Inter"/>
              <a:sym typeface="Inter"/>
            </a:endParaRPr>
          </a:p>
          <a:p>
            <a:pPr indent="-317500" lvl="1" marL="9144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Uses username and password encoded in base64</a:t>
            </a:r>
            <a:endParaRPr>
              <a:solidFill>
                <a:schemeClr val="dk1"/>
              </a:solidFill>
              <a:latin typeface="Inter"/>
              <a:ea typeface="Inter"/>
              <a:cs typeface="Inter"/>
              <a:sym typeface="Inter"/>
            </a:endParaRPr>
          </a:p>
          <a:p>
            <a:pPr indent="-317500" lvl="1" marL="9144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Sent in the </a:t>
            </a:r>
            <a:r>
              <a:rPr lang="en-GB">
                <a:solidFill>
                  <a:schemeClr val="dk1"/>
                </a:solidFill>
                <a:latin typeface="Courier New"/>
                <a:ea typeface="Courier New"/>
                <a:cs typeface="Courier New"/>
                <a:sym typeface="Courier New"/>
              </a:rPr>
              <a:t>Authorization</a:t>
            </a:r>
            <a:r>
              <a:rPr lang="en-GB">
                <a:solidFill>
                  <a:schemeClr val="dk1"/>
                </a:solidFill>
                <a:latin typeface="Inter"/>
                <a:ea typeface="Inter"/>
                <a:cs typeface="Inter"/>
                <a:sym typeface="Inter"/>
              </a:rPr>
              <a:t> header</a:t>
            </a:r>
            <a:endParaRPr>
              <a:solidFill>
                <a:schemeClr val="dk1"/>
              </a:solidFill>
              <a:latin typeface="Inter"/>
              <a:ea typeface="Inter"/>
              <a:cs typeface="Inter"/>
              <a:sym typeface="Inter"/>
            </a:endParaRPr>
          </a:p>
          <a:p>
            <a:pPr indent="-317500" lvl="1" marL="9144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Example: </a:t>
            </a:r>
            <a:r>
              <a:rPr lang="en-GB">
                <a:solidFill>
                  <a:schemeClr val="dk1"/>
                </a:solidFill>
                <a:latin typeface="Courier New"/>
                <a:ea typeface="Courier New"/>
                <a:cs typeface="Courier New"/>
                <a:sym typeface="Courier New"/>
              </a:rPr>
              <a:t>Authorization: Basic base64(username:password)</a:t>
            </a:r>
            <a:endParaRPr>
              <a:solidFill>
                <a:schemeClr val="dk1"/>
              </a:solidFill>
              <a:latin typeface="Courier New"/>
              <a:ea typeface="Courier New"/>
              <a:cs typeface="Courier New"/>
              <a:sym typeface="Courier New"/>
            </a:endParaRPr>
          </a:p>
          <a:p>
            <a:pPr indent="-317500" lvl="0" marL="457200" rtl="0" algn="l">
              <a:lnSpc>
                <a:spcPct val="115000"/>
              </a:lnSpc>
              <a:spcBef>
                <a:spcPts val="0"/>
              </a:spcBef>
              <a:spcAft>
                <a:spcPts val="0"/>
              </a:spcAft>
              <a:buClr>
                <a:schemeClr val="dk1"/>
              </a:buClr>
              <a:buSzPts val="1400"/>
              <a:buFont typeface="Inter"/>
              <a:buChar char="●"/>
            </a:pPr>
            <a:r>
              <a:rPr b="1" lang="en-GB">
                <a:solidFill>
                  <a:schemeClr val="dk1"/>
                </a:solidFill>
                <a:latin typeface="Inter"/>
                <a:ea typeface="Inter"/>
                <a:cs typeface="Inter"/>
                <a:sym typeface="Inter"/>
              </a:rPr>
              <a:t>Token-Based Authentication</a:t>
            </a:r>
            <a:endParaRPr b="1">
              <a:solidFill>
                <a:schemeClr val="dk1"/>
              </a:solidFill>
              <a:latin typeface="Inter"/>
              <a:ea typeface="Inter"/>
              <a:cs typeface="Inter"/>
              <a:sym typeface="Inter"/>
            </a:endParaRPr>
          </a:p>
          <a:p>
            <a:pPr indent="-317500" lvl="1" marL="9144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Sends a bearer token in the Authorization header</a:t>
            </a:r>
            <a:endParaRPr>
              <a:solidFill>
                <a:schemeClr val="dk1"/>
              </a:solidFill>
              <a:latin typeface="Inter"/>
              <a:ea typeface="Inter"/>
              <a:cs typeface="Inter"/>
              <a:sym typeface="Inter"/>
            </a:endParaRPr>
          </a:p>
          <a:p>
            <a:pPr indent="-317500" lvl="1" marL="9144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Example: </a:t>
            </a:r>
            <a:r>
              <a:rPr lang="en-GB">
                <a:solidFill>
                  <a:schemeClr val="dk1"/>
                </a:solidFill>
                <a:latin typeface="Courier New"/>
                <a:ea typeface="Courier New"/>
                <a:cs typeface="Courier New"/>
                <a:sym typeface="Courier New"/>
              </a:rPr>
              <a:t>Authorization: Bearer your-token</a:t>
            </a:r>
            <a:endParaRPr>
              <a:solidFill>
                <a:schemeClr val="dk1"/>
              </a:solidFill>
              <a:latin typeface="Courier New"/>
              <a:ea typeface="Courier New"/>
              <a:cs typeface="Courier New"/>
              <a:sym typeface="Courier New"/>
            </a:endParaRPr>
          </a:p>
          <a:p>
            <a:pPr indent="-317500" lvl="1" marL="9144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Works seamlessly with Tyk’s policies and API key system</a:t>
            </a:r>
            <a:endParaRPr>
              <a:solidFill>
                <a:schemeClr val="dk1"/>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Tyk main slide deck">
  <a:themeElements>
    <a:clrScheme name="Simple Light">
      <a:dk1>
        <a:srgbClr val="03031C"/>
      </a:dk1>
      <a:lt1>
        <a:srgbClr val="FFFFFF"/>
      </a:lt1>
      <a:dk2>
        <a:srgbClr val="8438FA"/>
      </a:dk2>
      <a:lt2>
        <a:srgbClr val="5900CB"/>
      </a:lt2>
      <a:accent1>
        <a:srgbClr val="FFC743"/>
      </a:accent1>
      <a:accent2>
        <a:srgbClr val="FFF500"/>
      </a:accent2>
      <a:accent3>
        <a:srgbClr val="20EDBA"/>
      </a:accent3>
      <a:accent4>
        <a:srgbClr val="00A3A0"/>
      </a:accent4>
      <a:accent5>
        <a:srgbClr val="BB11FF"/>
      </a:accent5>
      <a:accent6>
        <a:srgbClr val="EA26A9"/>
      </a:accent6>
      <a:hlink>
        <a:srgbClr val="E3CE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