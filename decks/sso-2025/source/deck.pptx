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Inter Light"/>
      <p:regular r:id="rId24"/>
      <p:bold r:id="rId25"/>
      <p:italic r:id="rId26"/>
      <p:boldItalic r:id="rId27"/>
    </p:embeddedFont>
    <p:embeddedFont>
      <p:font typeface="Roboto"/>
      <p:regular r:id="rId28"/>
      <p:bold r:id="rId29"/>
      <p:italic r:id="rId30"/>
      <p:boldItalic r:id="rId31"/>
    </p:embeddedFont>
    <p:embeddedFont>
      <p:font typeface="Inter"/>
      <p:regular r:id="rId32"/>
      <p:bold r:id="rId33"/>
      <p:italic r:id="rId34"/>
      <p:boldItalic r:id="rId35"/>
    </p:embeddedFont>
    <p:embeddedFont>
      <p:font typeface="Open Sans SemiBold"/>
      <p:regular r:id="rId36"/>
      <p:bold r:id="rId37"/>
      <p:italic r:id="rId38"/>
      <p:boldItalic r:id="rId39"/>
    </p:embeddedFont>
    <p:embeddedFont>
      <p:font typeface="Roboto Mono"/>
      <p:regular r:id="rId40"/>
      <p:bold r:id="rId41"/>
      <p:italic r:id="rId42"/>
      <p:boldItalic r:id="rId43"/>
    </p:embeddedFont>
    <p:embeddedFont>
      <p:font typeface="Inter Medium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880">
          <p15:clr>
            <a:srgbClr val="747775"/>
          </p15:clr>
        </p15:guide>
        <p15:guide id="2" orient="horz" pos="454">
          <p15:clr>
            <a:srgbClr val="747775"/>
          </p15:clr>
        </p15:guide>
        <p15:guide id="3" pos="454">
          <p15:clr>
            <a:srgbClr val="747775"/>
          </p15:clr>
        </p15:guide>
        <p15:guide id="4" pos="5329">
          <p15:clr>
            <a:srgbClr val="747775"/>
          </p15:clr>
        </p15:guide>
        <p15:guide id="5" orient="horz" pos="278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/>
        <p:guide pos="454" orient="horz"/>
        <p:guide pos="454"/>
        <p:guide pos="5329"/>
        <p:guide pos="2786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regular.fntdata"/><Relationship Id="rId20" Type="http://schemas.openxmlformats.org/officeDocument/2006/relationships/slide" Target="slides/slide15.xml"/><Relationship Id="rId42" Type="http://schemas.openxmlformats.org/officeDocument/2006/relationships/font" Target="fonts/RobotoMono-italic.fntdata"/><Relationship Id="rId41" Type="http://schemas.openxmlformats.org/officeDocument/2006/relationships/font" Target="fonts/RobotoMono-bold.fntdata"/><Relationship Id="rId22" Type="http://schemas.openxmlformats.org/officeDocument/2006/relationships/slide" Target="slides/slide17.xml"/><Relationship Id="rId44" Type="http://schemas.openxmlformats.org/officeDocument/2006/relationships/font" Target="fonts/InterMedium-regular.fntdata"/><Relationship Id="rId21" Type="http://schemas.openxmlformats.org/officeDocument/2006/relationships/slide" Target="slides/slide16.xml"/><Relationship Id="rId43" Type="http://schemas.openxmlformats.org/officeDocument/2006/relationships/font" Target="fonts/RobotoMono-boldItalic.fntdata"/><Relationship Id="rId24" Type="http://schemas.openxmlformats.org/officeDocument/2006/relationships/font" Target="fonts/InterLight-regular.fntdata"/><Relationship Id="rId46" Type="http://schemas.openxmlformats.org/officeDocument/2006/relationships/font" Target="fonts/InterMedium-italic.fntdata"/><Relationship Id="rId23" Type="http://schemas.openxmlformats.org/officeDocument/2006/relationships/slide" Target="slides/slide18.xml"/><Relationship Id="rId45" Type="http://schemas.openxmlformats.org/officeDocument/2006/relationships/font" Target="fonts/InterMedium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Light-italic.fntdata"/><Relationship Id="rId25" Type="http://schemas.openxmlformats.org/officeDocument/2006/relationships/font" Target="fonts/InterLight-bold.fntdata"/><Relationship Id="rId47" Type="http://schemas.openxmlformats.org/officeDocument/2006/relationships/font" Target="fonts/InterMedium-boldItalic.fntdata"/><Relationship Id="rId28" Type="http://schemas.openxmlformats.org/officeDocument/2006/relationships/font" Target="fonts/Roboto-regular.fntdata"/><Relationship Id="rId27" Type="http://schemas.openxmlformats.org/officeDocument/2006/relationships/font" Target="fonts/InterLigh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boldItalic.fntdata"/><Relationship Id="rId30" Type="http://schemas.openxmlformats.org/officeDocument/2006/relationships/font" Target="fonts/Roboto-italic.fntdata"/><Relationship Id="rId11" Type="http://schemas.openxmlformats.org/officeDocument/2006/relationships/slide" Target="slides/slide6.xml"/><Relationship Id="rId33" Type="http://schemas.openxmlformats.org/officeDocument/2006/relationships/font" Target="fonts/Inter-bold.fntdata"/><Relationship Id="rId10" Type="http://schemas.openxmlformats.org/officeDocument/2006/relationships/slide" Target="slides/slide5.xml"/><Relationship Id="rId32" Type="http://schemas.openxmlformats.org/officeDocument/2006/relationships/font" Target="fonts/Inter-regular.fntdata"/><Relationship Id="rId13" Type="http://schemas.openxmlformats.org/officeDocument/2006/relationships/slide" Target="slides/slide8.xml"/><Relationship Id="rId35" Type="http://schemas.openxmlformats.org/officeDocument/2006/relationships/font" Target="fonts/Inter-boldItalic.fntdata"/><Relationship Id="rId12" Type="http://schemas.openxmlformats.org/officeDocument/2006/relationships/slide" Target="slides/slide7.xml"/><Relationship Id="rId34" Type="http://schemas.openxmlformats.org/officeDocument/2006/relationships/font" Target="fonts/Inter-italic.fntdata"/><Relationship Id="rId15" Type="http://schemas.openxmlformats.org/officeDocument/2006/relationships/slide" Target="slides/slide10.xml"/><Relationship Id="rId37" Type="http://schemas.openxmlformats.org/officeDocument/2006/relationships/font" Target="fonts/OpenSansSemiBold-bold.fntdata"/><Relationship Id="rId14" Type="http://schemas.openxmlformats.org/officeDocument/2006/relationships/slide" Target="slides/slide9.xml"/><Relationship Id="rId36" Type="http://schemas.openxmlformats.org/officeDocument/2006/relationships/font" Target="fonts/OpenSansSemiBold-regular.fntdata"/><Relationship Id="rId17" Type="http://schemas.openxmlformats.org/officeDocument/2006/relationships/slide" Target="slides/slide12.xml"/><Relationship Id="rId39" Type="http://schemas.openxmlformats.org/officeDocument/2006/relationships/font" Target="fonts/OpenSansSemiBold-boldItalic.fntdata"/><Relationship Id="rId16" Type="http://schemas.openxmlformats.org/officeDocument/2006/relationships/slide" Target="slides/slide11.xml"/><Relationship Id="rId38" Type="http://schemas.openxmlformats.org/officeDocument/2006/relationships/font" Target="fonts/OpenSansSemiBold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53bf8e780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53bf8e78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7bdcaa49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7bdcaa49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77bdcaa49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77bdcaa49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“Single Sign-On, or SSO, means you log in once and get access to all your apps without re-entering credentials.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The benefits are clear: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Centralized identity management, so access is controlled in one place.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Consistent policies across every app.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Less password fatigue for users.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And faster onboarding or offboarding.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Behind the scenes, SSO relies on open standards like </a:t>
            </a:r>
            <a:r>
              <a:rPr b="1" lang="en-GB">
                <a:solidFill>
                  <a:schemeClr val="dk1"/>
                </a:solidFill>
              </a:rPr>
              <a:t>OIDC, OAuth 2.0, SAML 2.0</a:t>
            </a:r>
            <a:r>
              <a:rPr lang="en-GB">
                <a:solidFill>
                  <a:schemeClr val="dk1"/>
                </a:solidFill>
              </a:rPr>
              <a:t>, and integration with </a:t>
            </a:r>
            <a:r>
              <a:rPr b="1" lang="en-GB">
                <a:solidFill>
                  <a:schemeClr val="dk1"/>
                </a:solidFill>
              </a:rPr>
              <a:t>LDAP or Active Directory</a:t>
            </a: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In short: SSO improves security, simplifies user experience, and saves IT time.”</a:t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7bdcaa49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77bdcaa49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“Tyk Identity Broker, or TIB, is the bridge between your identity management systems and the Tyk Dashboard, Portal, and Gateway.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Think of it as middleware — it sits between your Identity Providers, like Google, GitHub, or Active Directory, and Tyk.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The key use cases are: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Single Sign-On for the Dashboard or Developer Portal,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Social logins using providers like Google or GitHub,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LDAP or Active Directory for internal teams,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And even token generation for mobile and web apps.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Since version 3.0, TIB has been built right into Tyk. You can run it in two modes: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>
                <a:solidFill>
                  <a:schemeClr val="dk1"/>
                </a:solidFill>
              </a:rPr>
              <a:t>Internal TIB</a:t>
            </a:r>
            <a:r>
              <a:rPr lang="en-GB">
                <a:solidFill>
                  <a:schemeClr val="dk1"/>
                </a:solidFill>
              </a:rPr>
              <a:t>, embedded directly in the Dashboard,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Or </a:t>
            </a:r>
            <a:r>
              <a:rPr b="1" lang="en-GB">
                <a:solidFill>
                  <a:schemeClr val="dk1"/>
                </a:solidFill>
              </a:rPr>
              <a:t>External TIB</a:t>
            </a:r>
            <a:r>
              <a:rPr lang="en-GB">
                <a:solidFill>
                  <a:schemeClr val="dk1"/>
                </a:solidFill>
              </a:rPr>
              <a:t>, as a standalone service for more complex setups.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In short, TIB gives you the flexibility to plug in any identity system you need while keeping Tyk secure and user-friendly.”</a:t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77bdcaa494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77bdcaa49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>
                <a:solidFill>
                  <a:schemeClr val="dk1"/>
                </a:solidFill>
              </a:rPr>
              <a:t>The user starts by hitting the SSO login endpoint.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>
                <a:solidFill>
                  <a:schemeClr val="dk1"/>
                </a:solidFill>
              </a:rPr>
              <a:t>TIB redirects them to the Identity Provider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>
                <a:solidFill>
                  <a:schemeClr val="dk1"/>
                </a:solidFill>
              </a:rPr>
              <a:t>The IDP handles the authentication and returns an ID token.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>
                <a:solidFill>
                  <a:schemeClr val="dk1"/>
                </a:solidFill>
              </a:rPr>
              <a:t>TIB verifies that token, then checks the database for the user.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If the user exists, TIB creates a nonce code.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If not, it creates an ad hoc session on the fly.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>
                <a:solidFill>
                  <a:schemeClr val="dk1"/>
                </a:solidFill>
              </a:rPr>
              <a:t>Finally, the user is seamlessly redirected into the Tyk Dashboard.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So from the user’s perspective, it’s just one clean login. Behind the scenes, TIB is doing the heavy lifting to connect Keycloak and Tyk securely.”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7bdcaa494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77bdcaa494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When enterprises adopt GraphQL, they quickly realize that centralizing everything into a single GraphQL service doesn’t scale well—it becomes hard to manage, and teams step on each other’s toes.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GraphQL Federation addresses this by enabling multiple services to define parts of the graph independently.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With Tyk’s federation support, you can stitch these services into a unified API surface—making it easier for teams to work independently while offering a seamless experience to API consumers.</a:t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77bdcaa494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77bdcaa494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When enterprises adopt GraphQL, they quickly realize that centralizing everything into a single GraphQL service doesn’t scale well—it becomes hard to manage, and teams step on each other’s toes.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GraphQL Federation addresses this by enabling multiple services to define parts of the graph independently.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With Tyk’s federation support, you can stitch these services into a unified API surface—making it easier for teams to work independently while offering a seamless experience to API consumers.</a:t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77bdcaa494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77bdcaa494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When enterprises adopt GraphQL, they quickly realize that centralizing everything into a single GraphQL service doesn’t scale well—it becomes hard to manage, and teams step on each other’s toes.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GraphQL Federation addresses this by enabling multiple services to define parts of the graph independently.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With Tyk’s federation support, you can stitch these services into a unified API surface—making it easier for teams to work independently while offering a seamless experience to API consumers.</a:t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77bdcaa494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77bdcaa494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When enterprises adopt GraphQL, they quickly realize that centralizing everything into a single GraphQL service doesn’t scale well—it becomes hard to manage, and teams step on each other’s toes.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GraphQL Federation addresses this by enabling multiple services to define parts of the graph independently.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With Tyk’s federation support, you can stitch these services into a unified API surface—making it easier for teams to work independently while offering a seamless experience to API consumers.</a:t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77bdcaa494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77bdcaa494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When enterprises adopt GraphQL, they quickly realize that centralizing everything into a single GraphQL service doesn’t scale well—it becomes hard to manage, and teams step on each other’s toes.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GraphQL Federation addresses this by enabling multiple services to define parts of the graph independently.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With Tyk’s federation support, you can stitch these services into a unified API surface—making it easier for teams to work independently while offering a seamless experience to API consumers.</a:t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7bdcaa494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77bdcaa494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When enterprises adopt GraphQL, they quickly realize that centralizing everything into a single GraphQL service doesn’t scale well—it becomes hard to manage, and teams step on each other’s toes.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GraphQL Federation addresses this by enabling multiple services to define parts of the graph independently.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With Tyk’s federation support, you can stitch these services into a unified API surface—making it easier for teams to work independently while offering a seamless experience to API consumers.</a:t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77bdcaa494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77bdcaa494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When enterprises adopt GraphQL, they quickly realize that centralizing everything into a single GraphQL service doesn’t scale well—it becomes hard to manage, and teams step on each other’s toes.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GraphQL Federation addresses this by enabling multiple services to define parts of the graph independently.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With Tyk’s federation support, you can stitch these services into a unified API surface—making it easier for teams to work independently while offering a seamless experience to API consumers.</a:t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77bdcaa494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77bdcaa494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When enterprises adopt GraphQL, they quickly realize that centralizing everything into a single GraphQL service doesn’t scale well—it becomes hard to manage, and teams step on each other’s toes.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GraphQL Federation addresses this by enabling multiple services to define parts of the graph independently.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With Tyk’s federation support, you can stitch these services into a unified API surface—making it easier for teams to work independently while offering a seamless experience to API consumers.</a:t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77bdcaa494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77bdcaa494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77bdcaa494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77bdcaa494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When enterprises adopt GraphQL, they quickly realize that centralizing everything into a single GraphQL service doesn’t scale well—it becomes hard to manage, and teams step on each other’s toes.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GraphQL Federation addresses this by enabling multiple services to define parts of the graph independently.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With Tyk’s federation support, you can stitch these services into a unified API surface—making it easier for teams to work independently while offering a seamless experience to API consumers.</a:t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77bdcaa494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77bdcaa494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When enterprises adopt GraphQL, they quickly realize that centralizing everything into a single GraphQL service doesn’t scale well—it becomes hard to manage, and teams step on each other’s toes.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GraphQL Federation addresses this by enabling multiple services to define parts of the graph independently.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With Tyk’s federation support, you can stitch these services into a unified API surface—making it easier for teams to work independently while offering a seamless experience to API consumers.</a:t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77bdcaa494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77bdcaa494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When enterprises adopt GraphQL, they quickly realize that centralizing everything into a single GraphQL service doesn’t scale well—it becomes hard to manage, and teams step on each other’s toes.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GraphQL Federation addresses this by enabling multiple services to define parts of the graph independently.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With Tyk’s federation support, you can stitch these services into a unified API surface—making it easier for teams to work independently while offering a seamless experience to API consumers.</a:t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77bdcaa494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77bdcaa494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When enterprises adopt GraphQL, they quickly realize that centralizing everything into a single GraphQL service doesn’t scale well—it becomes hard to manage, and teams step on each other’s toes.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GraphQL Federation addresses this by enabling multiple services to define parts of the graph independently.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With Tyk’s federation support, you can stitch these services into a unified API surface—making it easier for teams to work independently while offering a seamless experience to API consumers.</a:t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0" y="922550"/>
            <a:ext cx="8520600" cy="16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5315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E9BA"/>
              </a:buClr>
              <a:buSzPts val="2000"/>
              <a:buNone/>
              <a:defRPr sz="2000">
                <a:solidFill>
                  <a:srgbClr val="21E9B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" name="Google Shape;22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311700" y="1389600"/>
            <a:ext cx="50364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7" name="Google Shape;37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E9BA"/>
              </a:buClr>
              <a:buSzPts val="1600"/>
              <a:buNone/>
              <a:defRPr sz="1600">
                <a:solidFill>
                  <a:srgbClr val="21E9B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" name="Google Shape;38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800"/>
              <a:buChar char="●"/>
              <a:defRPr>
                <a:solidFill>
                  <a:srgbClr val="8438FA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●"/>
              <a:defRPr>
                <a:solidFill>
                  <a:srgbClr val="8438FA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●"/>
              <a:defRPr>
                <a:solidFill>
                  <a:srgbClr val="8438FA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9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5" name="Google Shape;45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slide" showMasterSp="0">
  <p:cSld name="Light slide">
    <p:bg>
      <p:bgPr>
        <a:solidFill>
          <a:srgbClr val="FFFFFF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" type="body"/>
          </p:nvPr>
        </p:nvSpPr>
        <p:spPr>
          <a:xfrm>
            <a:off x="951731" y="1115566"/>
            <a:ext cx="5302200" cy="8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19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5071"/>
              </a:buClr>
              <a:buSzPts val="3000"/>
              <a:buFont typeface="Arial"/>
              <a:buChar char="●"/>
              <a:defRPr b="1" sz="3000">
                <a:solidFill>
                  <a:srgbClr val="50507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2" type="body"/>
          </p:nvPr>
        </p:nvSpPr>
        <p:spPr>
          <a:xfrm>
            <a:off x="934600" y="858391"/>
            <a:ext cx="2825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2730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1pPr>
            <a:lvl2pPr indent="-2730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pic>
        <p:nvPicPr>
          <p:cNvPr descr="logo_RGB-Transparent1-WEB.png" id="52" name="Google Shape;52;p13"/>
          <p:cNvPicPr preferRelativeResize="0"/>
          <p:nvPr/>
        </p:nvPicPr>
        <p:blipFill rotWithShape="1">
          <a:blip r:embed="rId2">
            <a:alphaModFix/>
          </a:blip>
          <a:srcRect b="40" l="0" r="0" t="40"/>
          <a:stretch/>
        </p:blipFill>
        <p:spPr>
          <a:xfrm>
            <a:off x="243186" y="4749582"/>
            <a:ext cx="279847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3"/>
          <p:cNvSpPr txBox="1"/>
          <p:nvPr>
            <p:ph idx="3" type="body"/>
          </p:nvPr>
        </p:nvSpPr>
        <p:spPr>
          <a:xfrm>
            <a:off x="951731" y="2296477"/>
            <a:ext cx="38601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730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1pPr>
            <a:lvl2pPr indent="-2730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8543920" y="4773806"/>
            <a:ext cx="3516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0" lvl="1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indent="0" lvl="2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indent="0" lvl="3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indent="0" lvl="4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indent="0" lvl="5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indent="0" lvl="6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indent="0" lvl="7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indent="0" lvl="8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ndard dark">
  <p:cSld name="SECTION_HEADER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type="title"/>
          </p:nvPr>
        </p:nvSpPr>
        <p:spPr>
          <a:xfrm>
            <a:off x="500550" y="0"/>
            <a:ext cx="8520600" cy="11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9pPr>
          </a:lstStyle>
          <a:p/>
        </p:txBody>
      </p:sp>
      <p:sp>
        <p:nvSpPr>
          <p:cNvPr id="57" name="Google Shape;57;p14"/>
          <p:cNvSpPr txBox="1"/>
          <p:nvPr>
            <p:ph idx="2" type="title"/>
          </p:nvPr>
        </p:nvSpPr>
        <p:spPr>
          <a:xfrm>
            <a:off x="500550" y="1140600"/>
            <a:ext cx="8520600" cy="39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sz="1800">
                <a:solidFill>
                  <a:srgbClr val="E1E1E1"/>
                </a:solidFill>
              </a:defRPr>
            </a:lvl1pPr>
            <a:lvl2pPr lvl="1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2pPr>
            <a:lvl3pPr lvl="2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3pPr>
            <a:lvl4pPr lvl="3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4pPr>
            <a:lvl5pPr lvl="4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5pPr>
            <a:lvl6pPr lvl="5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6pPr>
            <a:lvl7pPr lvl="6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7pPr>
            <a:lvl8pPr lvl="7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8pPr>
            <a:lvl9pPr lvl="8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9pPr>
          </a:lstStyle>
          <a:p/>
        </p:txBody>
      </p:sp>
      <p:sp>
        <p:nvSpPr>
          <p:cNvPr id="58" name="Google Shape;58;p14"/>
          <p:cNvSpPr txBox="1"/>
          <p:nvPr/>
        </p:nvSpPr>
        <p:spPr>
          <a:xfrm>
            <a:off x="0" y="0"/>
            <a:ext cx="242100" cy="1140600"/>
          </a:xfrm>
          <a:prstGeom prst="rect">
            <a:avLst/>
          </a:prstGeom>
          <a:gradFill>
            <a:gsLst>
              <a:gs pos="0">
                <a:srgbClr val="109EAE"/>
              </a:gs>
              <a:gs pos="100000">
                <a:srgbClr val="00D9BA"/>
              </a:gs>
            </a:gsLst>
            <a:lin ang="5400012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ndard white">
  <p:cSld name="SECTION_HEADER_1_1_1_1">
    <p:bg>
      <p:bgPr>
        <a:solidFill>
          <a:srgbClr val="FFFFFF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>
            <p:ph type="title"/>
          </p:nvPr>
        </p:nvSpPr>
        <p:spPr>
          <a:xfrm>
            <a:off x="500550" y="0"/>
            <a:ext cx="8520600" cy="11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9pPr>
          </a:lstStyle>
          <a:p/>
        </p:txBody>
      </p:sp>
      <p:sp>
        <p:nvSpPr>
          <p:cNvPr id="61" name="Google Shape;61;p15"/>
          <p:cNvSpPr txBox="1"/>
          <p:nvPr>
            <p:ph idx="2" type="title"/>
          </p:nvPr>
        </p:nvSpPr>
        <p:spPr>
          <a:xfrm>
            <a:off x="500550" y="1140600"/>
            <a:ext cx="8520600" cy="39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sz="1800">
                <a:solidFill>
                  <a:srgbClr val="0D0D18"/>
                </a:solidFill>
              </a:defRPr>
            </a:lvl1pPr>
            <a:lvl2pPr lvl="1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2pPr>
            <a:lvl3pPr lvl="2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3pPr>
            <a:lvl4pPr lvl="3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4pPr>
            <a:lvl5pPr lvl="4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5pPr>
            <a:lvl6pPr lvl="5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6pPr>
            <a:lvl7pPr lvl="6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7pPr>
            <a:lvl8pPr lvl="7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8pPr>
            <a:lvl9pPr lvl="8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9pPr>
          </a:lstStyle>
          <a:p/>
        </p:txBody>
      </p:sp>
      <p:sp>
        <p:nvSpPr>
          <p:cNvPr id="62" name="Google Shape;62;p15"/>
          <p:cNvSpPr txBox="1"/>
          <p:nvPr/>
        </p:nvSpPr>
        <p:spPr>
          <a:xfrm>
            <a:off x="0" y="0"/>
            <a:ext cx="242100" cy="1140600"/>
          </a:xfrm>
          <a:prstGeom prst="rect">
            <a:avLst/>
          </a:prstGeom>
          <a:gradFill>
            <a:gsLst>
              <a:gs pos="0">
                <a:srgbClr val="1A237D"/>
              </a:gs>
              <a:gs pos="100000">
                <a:srgbClr val="2F3F9E"/>
              </a:gs>
            </a:gsLst>
            <a:lin ang="5400012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8438FA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438FA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2"/>
            <a:ext cx="9144003" cy="5143524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6"/>
          <p:cNvSpPr txBox="1"/>
          <p:nvPr/>
        </p:nvSpPr>
        <p:spPr>
          <a:xfrm>
            <a:off x="691670" y="1274800"/>
            <a:ext cx="37653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4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Tyk Onboarding</a:t>
            </a:r>
            <a:endParaRPr b="1" sz="4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9" name="Google Shape;6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6200" y="720001"/>
            <a:ext cx="584925" cy="2996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6"/>
          <p:cNvSpPr txBox="1"/>
          <p:nvPr/>
        </p:nvSpPr>
        <p:spPr>
          <a:xfrm>
            <a:off x="720000" y="4008000"/>
            <a:ext cx="4246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Sr. Customer Solutions Architect</a:t>
            </a:r>
            <a:endParaRPr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8438FA"/>
            </a:gs>
            <a:gs pos="35000">
              <a:srgbClr val="8438FA"/>
            </a:gs>
            <a:gs pos="100000">
              <a:srgbClr val="BB11FF"/>
            </a:gs>
          </a:gsLst>
          <a:lin ang="2700006" scaled="0"/>
        </a:gra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/>
        </p:nvSpPr>
        <p:spPr>
          <a:xfrm>
            <a:off x="1926900" y="1419375"/>
            <a:ext cx="52902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Single Sign-On</a:t>
            </a:r>
            <a:endParaRPr b="1" sz="3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" name="Google Shape;76;p17"/>
          <p:cNvSpPr txBox="1"/>
          <p:nvPr/>
        </p:nvSpPr>
        <p:spPr>
          <a:xfrm>
            <a:off x="1926900" y="1144125"/>
            <a:ext cx="529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1E9BA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2</a:t>
            </a:r>
            <a:endParaRPr sz="1200">
              <a:solidFill>
                <a:srgbClr val="21E9BA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77" name="Google Shape;77;p17"/>
          <p:cNvSpPr txBox="1"/>
          <p:nvPr/>
        </p:nvSpPr>
        <p:spPr>
          <a:xfrm>
            <a:off x="1926900" y="2169975"/>
            <a:ext cx="529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8" name="Google Shape;78;p17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9" name="Google Shape;7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/>
        </p:nvSpPr>
        <p:spPr>
          <a:xfrm>
            <a:off x="720000" y="1154200"/>
            <a:ext cx="8139900" cy="30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Authenticate once, access multiple apps without re-entering credentials.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b="1"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Benefits:</a:t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Centralized identity management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Consistent access policies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Reduced password fatigue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Faster onboarding/offboarding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b="1"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Protocols:</a:t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OpenID Connect (OIDC)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OAuth 2.0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SAML 2.0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LDAP/Active Directory</a:t>
            </a:r>
            <a:endParaRPr sz="17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5" name="Google Shape;85;p18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Single Sign-On</a:t>
            </a:r>
            <a:endParaRPr b="1" sz="38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/>
        </p:nvSpPr>
        <p:spPr>
          <a:xfrm>
            <a:off x="720000" y="1154200"/>
            <a:ext cx="8139900" cy="29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TIB bridges your Identity Management Systems with Tyk Dashboard, Portal &amp; Gateway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1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Middleware between Identity Providers (IdPs) and Tyk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Key Use Cases: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SSO for Dashboard or Portal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Social logins (Google, GitHub, etc.)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LDAP/AD for internal teams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Token generation for mobile/web apps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Built-in since Tyk v3.0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Two Modes: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Internal TIB: embedded in Dashboard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External TIB: standalone service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" name="Google Shape;93;p19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9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Tyk Identity Broker</a:t>
            </a:r>
            <a:endParaRPr b="1" sz="38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/>
        </p:nvSpPr>
        <p:spPr>
          <a:xfrm>
            <a:off x="720000" y="1154200"/>
            <a:ext cx="3250800" cy="3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User initiates login via SSO endpoint.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TIB redirects to IDP for authentication.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Keycloak validates user and returns ID token.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TIB verifies token and searches in database for user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100"/>
              <a:buFont typeface="Inter"/>
              <a:buChar char="○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If found, nonce code created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100"/>
              <a:buFont typeface="Inter"/>
              <a:buChar char="○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If not found, ad hoc user session is created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Redirects to Dashboard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" name="Google Shape;101;p20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0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SSO Flow</a:t>
            </a:r>
            <a:endParaRPr b="1" sz="38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4" name="Google Shape;10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70800" y="1006475"/>
            <a:ext cx="4980950" cy="3061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/>
        </p:nvSpPr>
        <p:spPr>
          <a:xfrm>
            <a:off x="720000" y="1154200"/>
            <a:ext cx="3250800" cy="3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User initiates authentication via TIB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100"/>
              <a:buFont typeface="Inter"/>
              <a:buAutoNum type="arabicPeriod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TIB validates identity via IDP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100"/>
              <a:buFont typeface="Inter"/>
              <a:buAutoNum type="arabicPeriod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IDP requests for authentication data from the client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100"/>
              <a:buFont typeface="Inter"/>
              <a:buAutoNum type="arabicPeriod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TIB receives accepted or rejected response from IDP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100"/>
              <a:buFont typeface="Inter"/>
              <a:buAutoNum type="arabicPeriod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TIB requests for token from Tyk Gateway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100"/>
              <a:buFont typeface="Inter"/>
              <a:buAutoNum type="arabicPeriod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Returns token to client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100"/>
              <a:buFont typeface="Inter"/>
              <a:buAutoNum type="arabicPeriod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Client can now make a request to the Gateway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" name="Google Shape;110;p21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1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Authentication Flow</a:t>
            </a:r>
            <a:endParaRPr b="1" sz="38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3" name="Google Shape;11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3350" y="1140475"/>
            <a:ext cx="4868401" cy="28625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/>
        </p:nvSpPr>
        <p:spPr>
          <a:xfrm>
            <a:off x="720000" y="1154200"/>
            <a:ext cx="8139900" cy="17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Request Flow: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3031C"/>
              </a:buClr>
              <a:buSzPts val="1100"/>
              <a:buFont typeface="Inter"/>
              <a:buAutoNum type="arabicPeriod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User attempts login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100"/>
              <a:buFont typeface="Inter"/>
              <a:buAutoNum type="arabicPeriod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TIB matches request to a Profile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100"/>
              <a:buFont typeface="Inter"/>
              <a:buAutoNum type="arabicPeriod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Profile invokes: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100"/>
              <a:buFont typeface="Inter"/>
              <a:buChar char="○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Identity Provider → validates identity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100"/>
              <a:buFont typeface="Inter"/>
              <a:buChar char="○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Identity Handler → maps to Tyk (Dashboard, Portal, OAuth)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" name="Google Shape;119;p22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2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TIB Architecture</a:t>
            </a:r>
            <a:endParaRPr b="1" sz="38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/>
        </p:nvSpPr>
        <p:spPr>
          <a:xfrm>
            <a:off x="720000" y="1154200"/>
            <a:ext cx="8139900" cy="15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Social: Google, GitHub, Twitter, Bitbucket, etc.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LDAP: Validate username/password against LDAP server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Proxy: Forward to external service, validate by status/response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SAML: Authenticate against enterprise SAML IdP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" name="Google Shape;127;p23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8" name="Google Shape;12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3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Identity Providers</a:t>
            </a:r>
            <a:endParaRPr b="1" sz="38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/>
          <p:nvPr/>
        </p:nvSpPr>
        <p:spPr>
          <a:xfrm>
            <a:off x="720000" y="1154200"/>
            <a:ext cx="8139900" cy="12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GenerateOrLoginUserProfile</a:t>
            </a: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 → Dashboard SSO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GenerateOrLoginDeveloperProfile</a:t>
            </a: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 → Portal SSO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GenerateOAuthTokenForClient</a:t>
            </a: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 → Issue Tyk OAuth token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5" name="Google Shape;135;p24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4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Identity Handlers</a:t>
            </a:r>
            <a:endParaRPr b="1" sz="38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/>
          <p:nvPr/>
        </p:nvSpPr>
        <p:spPr>
          <a:xfrm>
            <a:off x="720000" y="1154200"/>
            <a:ext cx="8139900" cy="15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Profiles define how a Provider + Handler + Action fit together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Stored in MongoDB or file depending on setup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Dashboard UI simplifies management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Example: Azure AD (OIDC) → TIB → Dashboard SSO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3" name="Google Shape;143;p25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4" name="Google Shape;14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5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Profiles</a:t>
            </a:r>
            <a:endParaRPr b="1" sz="38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 txBox="1"/>
          <p:nvPr/>
        </p:nvSpPr>
        <p:spPr>
          <a:xfrm>
            <a:off x="720000" y="1154200"/>
            <a:ext cx="8139900" cy="15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Core Fields: ID, OrgID, ActionType, Type, ReturnURL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Optional Fields: Group mappings, email claims, user ID claims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Security: Restrict SSO to registered users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Example JSON profile snippet shown in workshop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" name="Google Shape;151;p26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2" name="Google Shape;15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6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Anatomy of a Profile</a:t>
            </a:r>
            <a:endParaRPr b="1" sz="38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"/>
          <p:cNvSpPr txBox="1"/>
          <p:nvPr/>
        </p:nvSpPr>
        <p:spPr>
          <a:xfrm>
            <a:off x="720000" y="1154200"/>
            <a:ext cx="8139900" cy="15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LDAP: server, port, DN, filters, attributes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Proxy: target host, OKCode/Response/Regex, token field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Social: callback URLs, provider keys/secrets, scopes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SAML: metadata URL, certs, entity ID, redirect URLs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9" name="Google Shape;159;p27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0" name="Google Shape;16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7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Provider-Specific Fields</a:t>
            </a:r>
            <a:endParaRPr b="1" sz="38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/>
          <p:cNvSpPr txBox="1"/>
          <p:nvPr/>
        </p:nvSpPr>
        <p:spPr>
          <a:xfrm>
            <a:off x="0" y="0"/>
            <a:ext cx="5529600" cy="5625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 sz="1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"ActionType": "GenerateOAuthTokenForClient",</a:t>
            </a:r>
            <a:endParaRPr b="1" sz="1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"ID": "keycloak-profile",</a:t>
            </a:r>
            <a:endParaRPr b="1" sz="1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"OrgID": "ORG_ID",</a:t>
            </a:r>
            <a:endParaRPr b="1" sz="1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"IdentityHandlerConfig": {</a:t>
            </a:r>
            <a:endParaRPr b="1" sz="1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"DashboardCredential": "DASHBOARD_ADMIN_API_KEY",</a:t>
            </a:r>
            <a:endParaRPr b="1" sz="1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"PolicyID": "POLICY_ID"</a:t>
            </a:r>
            <a:endParaRPr b="1" sz="1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},</a:t>
            </a:r>
            <a:endParaRPr b="1" sz="1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"IdentityProvider": {</a:t>
            </a:r>
            <a:endParaRPr b="1" sz="1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"Name": "OpenIDConnect",</a:t>
            </a:r>
            <a:endParaRPr b="1" sz="1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"OpenIDConnectConfig": {</a:t>
            </a:r>
            <a:endParaRPr b="1" sz="1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"ClientID": "tyk-tib",</a:t>
            </a:r>
            <a:endParaRPr b="1" sz="1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"ClientSecret": "SECRET",</a:t>
            </a:r>
            <a:endParaRPr b="1" sz="1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"CallbackBaseURL": "http://&lt;TIB_HOST&gt;:3010/auth/keycloak-profile/openid-connect/callback",</a:t>
            </a:r>
            <a:endParaRPr b="1" sz="1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"IssuerURL": "http://&lt;KEYCLOAK_HOST&gt;/realms/TykSSO"</a:t>
            </a:r>
            <a:endParaRPr b="1" sz="1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1" sz="1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1" sz="1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7" name="Google Shape;167;p28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8" name="Google Shape;16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8"/>
          <p:cNvSpPr txBox="1"/>
          <p:nvPr/>
        </p:nvSpPr>
        <p:spPr>
          <a:xfrm>
            <a:off x="5601500" y="28775"/>
            <a:ext cx="3465000" cy="43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lang="en-GB" sz="1100">
                <a:solidFill>
                  <a:schemeClr val="dk1"/>
                </a:solidFill>
              </a:rPr>
              <a:t> – Profile name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OrgID</a:t>
            </a:r>
            <a:r>
              <a:rPr lang="en-GB" sz="1100">
                <a:solidFill>
                  <a:schemeClr val="dk1"/>
                </a:solidFill>
              </a:rPr>
              <a:t> – Tyk Organization ID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ActionType</a:t>
            </a:r>
            <a:r>
              <a:rPr lang="en-GB" sz="1100">
                <a:solidFill>
                  <a:schemeClr val="dk1"/>
                </a:solidFill>
              </a:rPr>
              <a:t> – Action to perform (e.g., GenerateOAuthTokenForClient)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IdentityHandlerConfig</a:t>
            </a:r>
            <a:r>
              <a:rPr lang="en-GB" sz="1100">
                <a:solidFill>
                  <a:schemeClr val="dk1"/>
                </a:solidFill>
              </a:rPr>
              <a:t> – Policy, API, Dashboard mapping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IdentityProvider</a:t>
            </a:r>
            <a:r>
              <a:rPr lang="en-GB" sz="1100">
                <a:solidFill>
                  <a:schemeClr val="dk1"/>
                </a:solidFill>
              </a:rPr>
              <a:t> – IdP type &amp; configuration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8438FA"/>
            </a:gs>
            <a:gs pos="35000">
              <a:srgbClr val="8438FA"/>
            </a:gs>
            <a:gs pos="100000">
              <a:srgbClr val="BB11FF"/>
            </a:gs>
          </a:gsLst>
          <a:lin ang="2700006" scaled="0"/>
        </a:gra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9"/>
          <p:cNvSpPr txBox="1"/>
          <p:nvPr/>
        </p:nvSpPr>
        <p:spPr>
          <a:xfrm>
            <a:off x="1926900" y="1992975"/>
            <a:ext cx="52902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Hands-On Workshop</a:t>
            </a:r>
            <a:endParaRPr b="1" sz="3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5" name="Google Shape;175;p29"/>
          <p:cNvSpPr txBox="1"/>
          <p:nvPr/>
        </p:nvSpPr>
        <p:spPr>
          <a:xfrm>
            <a:off x="1926900" y="2169975"/>
            <a:ext cx="529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6" name="Google Shape;176;p29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7" name="Google Shape;17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0"/>
          <p:cNvSpPr txBox="1"/>
          <p:nvPr/>
        </p:nvSpPr>
        <p:spPr>
          <a:xfrm>
            <a:off x="720000" y="1154200"/>
            <a:ext cx="8139900" cy="39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# Add Bitnami Helm repository</a:t>
            </a:r>
            <a:endParaRPr sz="10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helm repo add bitnami https://charts.bitnami.com/bitnami</a:t>
            </a:r>
            <a:endParaRPr sz="10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helm repo update</a:t>
            </a:r>
            <a:endParaRPr sz="10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# Install Keycloak with Helm</a:t>
            </a:r>
            <a:endParaRPr sz="10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helm install keycloak bitnami/keycloak \</a:t>
            </a:r>
            <a:endParaRPr sz="10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  --namespace keycloak \</a:t>
            </a:r>
            <a:endParaRPr sz="10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  --create-namespace \</a:t>
            </a:r>
            <a:endParaRPr sz="10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  --set auth.adminUser=admin \</a:t>
            </a:r>
            <a:endParaRPr sz="10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  --set auth.adminPassword=admin \</a:t>
            </a:r>
            <a:endParaRPr sz="10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  --set service.type=NodePort \</a:t>
            </a:r>
            <a:endParaRPr sz="10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  --set service.nodePorts.http=30082 \</a:t>
            </a:r>
            <a:endParaRPr sz="10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  --set service.nodePorts.https=30083</a:t>
            </a:r>
            <a:endParaRPr sz="10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3" name="Google Shape;183;p30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4" name="Google Shape;18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30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Hands-On Workshop</a:t>
            </a:r>
            <a:endParaRPr b="1" sz="38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1"/>
          <p:cNvSpPr txBox="1"/>
          <p:nvPr/>
        </p:nvSpPr>
        <p:spPr>
          <a:xfrm>
            <a:off x="720000" y="1154200"/>
            <a:ext cx="8139900" cy="24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AutoNum type="arabicPeriod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In your desired Realm, create a client of OpenID Connect type, and set your desired Client ID.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AutoNum type="arabicPeriod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Enable client authentication, then save the client.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AutoNum type="arabicPeriod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Retrieve the Secret (from the credentials tab) of the Client you just created.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AutoNum type="arabicPeriod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Retrieve the well known endpoint of the realm.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AutoNum type="alphaLcPeriod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Accessible from “Realm Settings” &gt; “General” Tab &gt; OpenID Endpoint Configuration.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1" name="Google Shape;191;p31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2" name="Google Shape;19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31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Hands-On Workshop</a:t>
            </a:r>
            <a:endParaRPr b="1" sz="38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2"/>
          <p:cNvSpPr txBox="1"/>
          <p:nvPr/>
        </p:nvSpPr>
        <p:spPr>
          <a:xfrm>
            <a:off x="720000" y="1154200"/>
            <a:ext cx="8139900" cy="35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AutoNum type="arabicPeriod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Log in to your Dashboard and select Identity Management, located under System Management.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AutoNum type="arabicPeriod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Create a profile, give it a name and select “Login to Tyk Dashboard”.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AutoNum type="arabicPeriod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Set the provider type as “OpenID Connect”.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AutoNum type="arabicPeriod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Fill in the Client ID, Client Secret and Discovery URL/endpoint from Keycloak.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AutoNum type="arabicPeriod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Copy the callback URL from Tyk and then you can click “Create Profile” to save the profile.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AutoNum type="arabicPeriod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Go to Keycloak, and paste the callback URL you just copied to “Valid redirect URIs” in the Keycloak Client, and then save the client.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AutoNum type="alphaLcPeriod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This can be accessed by selecting the “Settings” tab when viewing a Keycloak client.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AutoNum type="arabicPeriod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Save the profile.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9" name="Google Shape;199;p32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0" name="Google Shape;20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32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Hands-On Workshop</a:t>
            </a:r>
            <a:endParaRPr b="1" sz="38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3"/>
          <p:cNvSpPr txBox="1"/>
          <p:nvPr/>
        </p:nvSpPr>
        <p:spPr>
          <a:xfrm>
            <a:off x="720000" y="1154200"/>
            <a:ext cx="8139900" cy="20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AutoNum type="arabicPeriod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From your Identity Management Profiles click the profile you created to open it.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AutoNum type="arabicPeriod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Copy the Login URL and paste it into a browser tab.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AutoNum type="arabicPeriod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You will now see the Keycloak login form.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AutoNum type="arabicPeriod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Enter the email address and password of your Keycloak user.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AutoNum type="arabicPeriod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You should now be redirected to the Tyk Dashboard and logged in.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7" name="Google Shape;207;p33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8" name="Google Shape;20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3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Hands-On Workshop</a:t>
            </a:r>
            <a:endParaRPr b="1" sz="38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yk main slide deck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