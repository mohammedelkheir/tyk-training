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Open Sans SemiBold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231C74-01E3-418E-99E7-BD348E8F5755}">
  <a:tblStyle styleId="{9C231C74-01E3-418E-99E7-BD348E8F575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regular.fntdata"/><Relationship Id="rId41" Type="http://schemas.openxmlformats.org/officeDocument/2006/relationships/font" Target="fonts/RobotoLight-boldItalic.fntdata"/><Relationship Id="rId22" Type="http://schemas.openxmlformats.org/officeDocument/2006/relationships/font" Target="fonts/Roboto-regular.fntdata"/><Relationship Id="rId44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bold.fntdata"/><Relationship Id="rId30" Type="http://schemas.openxmlformats.org/officeDocument/2006/relationships/font" Target="fonts/OpenSa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6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9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.fntdata"/><Relationship Id="rId16" Type="http://schemas.openxmlformats.org/officeDocument/2006/relationships/slide" Target="slides/slide10.xml"/><Relationship Id="rId38" Type="http://schemas.openxmlformats.org/officeDocument/2006/relationships/font" Target="fonts/Roboto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af4642c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af4642c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af4642c6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af4642c6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af4642c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af4642c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af4642c6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af4642c6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af4642c6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af4642c6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af4642c6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af4642c6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a117fba5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a117fba5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a117fba5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a117fba5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af4642c6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af4642c6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af4642c6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af4642c6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a117fba5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a117fba5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a117fba5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a117fba5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a117fba5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a117fba5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example illustrates how Policies can be combined and the effect this has on the Key.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 the left side of the diagram are 5 Policies. 4 are partitioned Policies; A, B, C and D. And Policy E is a standard Policy. For the sake of simplicity, only three properties are shown; Access Rights, Quotas and Rate Limit.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 the right side of the diagram are 5 keys. The properties shown in the Keys are colour-code to match the Policies they are inherited from.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Starting at the top;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Key 1 is associated with Policy A. Policy A is a partitioned Policy which only defines Access Rights, so Key 1 inherits only that property, leaving the Key’s other properties, Quota and Rate Limit, to be defined directly on the Key itself.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Key 2 is associated with three Policies; A, B and D. Each of these Policies is partitioned, and none of the partitions overlap, so this is ok. This means that each of the Key’s properties is defined by a different Policy.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Key 3 is associated with two Policies; A and C. This is much like the last example, but in this case, Policy C defines two properties, but they don’t overlap with Policy A, so this is ok.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Key 4 is associated with two Policies D and E. This is a mixture of different types of Policy, Policy D is partitioned and Policy E is normal. This results in Policy D’s properties overriding Policy E’s properties; so although Policy E defines a Quota, the Key uses the Quota from Policy D, as it is a partitioned Policy.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Key 5 is associated with one Policy, E. Policy E is a standard Policy, so all of its properties are inherited.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a117fba5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a117fba5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example shows how Policy data is combined with Key data, resulting in the session data used by the Gateway to process the request.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left side of the diagram has the Policy objects. The right side of the diagram shows the sequence as the request is processed by the Gateway.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colour-coding and lines show the relationships between the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Starting at the top right with the Request, it provides an Authorization header containing a key.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Gateway uses that value to retrieve the key data from the database. This is what’s shown in the Key box.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Key defines the Policies it’s associated with in the “apply_policies” property. In this case it has 2 Policies, as linked by the teal colour and line.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Gateway processes these Policies and merges them with the Key to create the session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case, the Policies are partitioned, with one Policies defining the Rate Limit data, and the other Policy defining the Quota and Access Rights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These are merged into the Key data as shown by the Yellow and Pink colours and lines.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data is then used by the Gateway during the rest of the request lifecycle.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Policies in Tyk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738950" y="2246175"/>
            <a:ext cx="5679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 how Tyk manages API access, quotas, and rate limits through reusable, scalable templates.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Policies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93826" y="1024725"/>
            <a:ext cx="81810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Tyk, Security Policies act as templates for access control and rate limiting.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 Keys (tokens) are what clients use to authenticate and access APIs.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By combining them, you can: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Standardize access control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Update access rights at scale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 tiered access levels (Basic → Premium → Enterprise)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Monitor and manage usage centrally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Security Policy Overview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93826" y="1024725"/>
            <a:ext cx="81810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Security Policy defines reusable rules for: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Access lists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Tags &amp; metadata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Acts as a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template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to apply consistent limits or permissions to many keys.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Makes it easy to modify access for thousands of keys at once.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Screenshot 2025-10-09 at 5.07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271" y="926575"/>
            <a:ext cx="3330589" cy="297356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Why Use Policies?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93825" y="1024725"/>
            <a:ext cx="59916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Without policies: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API key must be updated manually.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With policies: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Update once → all associated keys inherit changes.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 Upgrade 10,000 users’ quotas by updating just one policy.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Policy Capabilities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87697" y="1024725"/>
            <a:ext cx="76596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Tyk policy can define: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APIs and versions accessible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Allowed methods and paths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Tags and metadata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can also be partitioned — e.g.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Apply global ACLs for all users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Apply per-user rate limits and quotas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720000" y="157075"/>
            <a:ext cx="8781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Relationship: Policy vs Access Key</a:t>
            </a:r>
            <a:endParaRPr b="1" sz="3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1565700" y="121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{9C231C74-01E3-418E-99E7-BD348E8F5755}</a:tableStyleId>
              </a:tblPr>
              <a:tblGrid>
                <a:gridCol w="1369425"/>
                <a:gridCol w="51256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Concept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Security Policy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 template that defines access control, rate limits, and quotas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Access Key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The actual token used by a client to access APIs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>
            <a:off x="963825" y="2831250"/>
            <a:ext cx="76341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are applied to keys when keys are created.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override any individual settings on the key.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Multiple policies can be combined for flexible control.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Policy Evaluation Flow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787697" y="1024725"/>
            <a:ext cx="76596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When a request comes in: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reads the Access Key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Checks which Policies are linked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Merges rules → applies rate limit, quota, ACL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Grants or denies API access accordingly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Note: This enables centralized management and consistent enforcement.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9418" y="0"/>
            <a:ext cx="3754582" cy="51509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3920313" y="235526"/>
            <a:ext cx="1766700" cy="5328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377639" y="381521"/>
            <a:ext cx="353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b="0" i="0" lang="en-GB" sz="1100" u="none" cap="none" strike="noStrike">
                <a:solidFill>
                  <a:srgbClr val="606060"/>
                </a:solidFill>
                <a:latin typeface="Roboto"/>
                <a:ea typeface="Roboto"/>
                <a:cs typeface="Roboto"/>
                <a:sym typeface="Roboto"/>
              </a:rPr>
              <a:t>Quota and rate limiting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-16256" y="2266528"/>
            <a:ext cx="3929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b="0" i="0" lang="en-GB" sz="1100" u="none" cap="none" strike="noStrike">
                <a:solidFill>
                  <a:srgbClr val="606060"/>
                </a:solidFill>
                <a:latin typeface="Roboto"/>
                <a:ea typeface="Roboto"/>
                <a:cs typeface="Roboto"/>
                <a:sym typeface="Roboto"/>
              </a:rPr>
              <a:t>Access control (API ID / Path Version)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830309" y="4164961"/>
            <a:ext cx="30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b="0" i="0" lang="en-GB" sz="1100" u="none" cap="none" strike="noStrike">
                <a:solidFill>
                  <a:srgbClr val="606060"/>
                </a:solidFill>
                <a:latin typeface="Roboto"/>
                <a:ea typeface="Roboto"/>
                <a:cs typeface="Roboto"/>
                <a:sym typeface="Roboto"/>
              </a:rPr>
              <a:t>Lock out policy holders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830308" y="4581959"/>
            <a:ext cx="30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b="0" i="0" lang="en-GB" sz="1100" u="none" cap="none" strike="noStrike">
                <a:solidFill>
                  <a:srgbClr val="606060"/>
                </a:solidFill>
                <a:latin typeface="Roboto"/>
                <a:ea typeface="Roboto"/>
                <a:cs typeface="Roboto"/>
                <a:sym typeface="Roboto"/>
              </a:rPr>
              <a:t>Meta data and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931539" y="837618"/>
            <a:ext cx="1755600" cy="3112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3920313" y="4202052"/>
            <a:ext cx="1766700" cy="1836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920313" y="4511422"/>
            <a:ext cx="1766700" cy="4098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720000" y="309475"/>
            <a:ext cx="8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Key Policy Fields</a:t>
            </a:r>
            <a:endParaRPr b="1" sz="34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36" name="Google Shape;136;p22"/>
          <p:cNvGraphicFramePr/>
          <p:nvPr/>
        </p:nvGraphicFramePr>
        <p:xfrm>
          <a:off x="1397050" y="131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{9C231C74-01E3-418E-99E7-BD348E8F5755}</a:tableStyleId>
              </a:tblPr>
              <a:tblGrid>
                <a:gridCol w="3032350"/>
                <a:gridCol w="3676350"/>
              </a:tblGrid>
              <a:tr h="35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Field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active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Must be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en-GB" sz="1100"/>
                        <a:t> for Tyk to load policy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is_inactive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Disables keys using this policy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rate</a:t>
                      </a:r>
                      <a:r>
                        <a:rPr lang="en-GB" sz="1100"/>
                        <a:t> /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Rate limiting window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quota_max</a:t>
                      </a:r>
                      <a:r>
                        <a:rPr lang="en-GB" sz="1100"/>
                        <a:t> /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quota_renewal_rate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Quota configuration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access_rights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Defines accessible APIs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key_expires_in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Optional trial key expiry time (in seconds)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Key Example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787697" y="1024725"/>
            <a:ext cx="76596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{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"org_id": "53ac07777cbb8c2d53000002",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"apply_policies": [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"59672779fa4387000129507d",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"53222349fa4387004324324e"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],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"quota_max": 1000,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"rate": 3,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"per": 1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}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key inherits all limits, ACLs, and quotas from the applied policies.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Any changes to the policy → immediately reflected for this key.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720000" y="309475"/>
            <a:ext cx="8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Policies: General vs Per-API Rules</a:t>
            </a:r>
            <a:endParaRPr b="1" sz="34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869950" y="1366850"/>
            <a:ext cx="7659600" cy="3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Rules defined in the policy can be set generally for all APIs, or specifically for individual APIs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Only some rules can be set per-API: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80007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80007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Throttling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80007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80007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Path-based permissions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Important: This cannot be used at the same time as Policy partitioning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/>
        </p:nvSpPr>
        <p:spPr>
          <a:xfrm>
            <a:off x="720000" y="309475"/>
            <a:ext cx="8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Policies: Policy Partitioning</a:t>
            </a:r>
            <a:endParaRPr b="1" sz="34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Policy partitioning allows policies to enforce only specific rules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Helps reduce the total number of Policies required and provide more flexibility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must select at least one rule set to enforce: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 control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GraphQL query depth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 txBox="1"/>
          <p:nvPr/>
        </p:nvSpPr>
        <p:spPr>
          <a:xfrm>
            <a:off x="720000" y="309475"/>
            <a:ext cx="8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Policies: Multi-Policy Keys</a:t>
            </a:r>
            <a:endParaRPr b="1" sz="34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is possible to assign multiple Policies to a Key: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Policy rules will be merged to create a combined rule set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is possible to select Policies with the same API Access Rights, if their path-based permissions do not conflict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When using partitioned Policies, their partitions must not overlap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720000" y="309475"/>
            <a:ext cx="8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Example</a:t>
            </a:r>
            <a:endParaRPr b="1" sz="34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6513" y="768475"/>
            <a:ext cx="3576225" cy="419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720000" y="309475"/>
            <a:ext cx="80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Example</a:t>
            </a:r>
            <a:endParaRPr b="1" sz="34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7600" y="0"/>
            <a:ext cx="44665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