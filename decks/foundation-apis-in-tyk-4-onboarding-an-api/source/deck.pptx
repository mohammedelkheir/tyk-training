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Inter"/>
      <p:regular r:id="rId13"/>
      <p:bold r:id="rId14"/>
      <p:italic r:id="rId15"/>
      <p:boldItalic r:id="rId16"/>
    </p:embeddedFont>
    <p:embeddedFont>
      <p:font typeface="Open Sans SemiBold"/>
      <p:regular r:id="rId17"/>
      <p:bold r:id="rId18"/>
      <p:italic r:id="rId19"/>
      <p:boldItalic r:id="rId20"/>
    </p:embeddedFont>
    <p:embeddedFont>
      <p:font typeface="Roboto Mon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SemiBold-boldItalic.fntdata"/><Relationship Id="rId11" Type="http://schemas.openxmlformats.org/officeDocument/2006/relationships/slide" Target="slides/slide6.xml"/><Relationship Id="rId22" Type="http://schemas.openxmlformats.org/officeDocument/2006/relationships/font" Target="fonts/RobotoMono-bold.fntdata"/><Relationship Id="rId10" Type="http://schemas.openxmlformats.org/officeDocument/2006/relationships/slide" Target="slides/slide5.xml"/><Relationship Id="rId21" Type="http://schemas.openxmlformats.org/officeDocument/2006/relationships/font" Target="fonts/RobotoMono-regular.fntdata"/><Relationship Id="rId13" Type="http://schemas.openxmlformats.org/officeDocument/2006/relationships/font" Target="fonts/Inter-regular.fntdata"/><Relationship Id="rId24" Type="http://schemas.openxmlformats.org/officeDocument/2006/relationships/font" Target="fonts/RobotoMono-boldItalic.fntdata"/><Relationship Id="rId12" Type="http://schemas.openxmlformats.org/officeDocument/2006/relationships/slide" Target="slides/slide7.xml"/><Relationship Id="rId23" Type="http://schemas.openxmlformats.org/officeDocument/2006/relationships/font" Target="fonts/RobotoMon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italic.fntdata"/><Relationship Id="rId14" Type="http://schemas.openxmlformats.org/officeDocument/2006/relationships/font" Target="fonts/Inter-bold.fntdata"/><Relationship Id="rId17" Type="http://schemas.openxmlformats.org/officeDocument/2006/relationships/font" Target="fonts/OpenSansSemiBold-regular.fntdata"/><Relationship Id="rId16" Type="http://schemas.openxmlformats.org/officeDocument/2006/relationships/font" Target="fonts/Inter-boldItalic.fntdata"/><Relationship Id="rId5" Type="http://schemas.openxmlformats.org/officeDocument/2006/relationships/notesMaster" Target="notesMasters/notesMaster1.xml"/><Relationship Id="rId19" Type="http://schemas.openxmlformats.org/officeDocument/2006/relationships/font" Target="fonts/OpenSansSemiBold-italic.fntdata"/><Relationship Id="rId6" Type="http://schemas.openxmlformats.org/officeDocument/2006/relationships/slide" Target="slides/slide1.xml"/><Relationship Id="rId18" Type="http://schemas.openxmlformats.org/officeDocument/2006/relationships/font" Target="fonts/OpenSansSemiBold-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1dcb0dd5c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1dcb0dd5c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58a27306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58a27306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"Tyk supports the </a:t>
            </a:r>
            <a:r>
              <a:rPr b="1" lang="en-GB">
                <a:solidFill>
                  <a:schemeClr val="dk1"/>
                </a:solidFill>
              </a:rPr>
              <a:t>OpenAPI Specification</a:t>
            </a:r>
            <a:r>
              <a:rPr lang="en-GB">
                <a:solidFill>
                  <a:schemeClr val="dk1"/>
                </a:solidFill>
              </a:rPr>
              <a:t>, or OAS, which is the industry standard for defining APIs."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"If you’re already using OAS to design and document your APIs, you can </a:t>
            </a:r>
            <a:r>
              <a:rPr b="1" lang="en-GB">
                <a:solidFill>
                  <a:schemeClr val="dk1"/>
                </a:solidFill>
              </a:rPr>
              <a:t>import</a:t>
            </a:r>
            <a:r>
              <a:rPr lang="en-GB">
                <a:solidFill>
                  <a:schemeClr val="dk1"/>
                </a:solidFill>
              </a:rPr>
              <a:t> those definitions directly into Tyk."</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offers </a:t>
            </a:r>
            <a:r>
              <a:rPr b="1" lang="en-GB">
                <a:solidFill>
                  <a:schemeClr val="dk1"/>
                </a:solidFill>
              </a:rPr>
              <a:t>significant time savings</a:t>
            </a:r>
            <a:r>
              <a:rPr lang="en-GB">
                <a:solidFill>
                  <a:schemeClr val="dk1"/>
                </a:solidFill>
              </a:rPr>
              <a:t> and reduces complexity because you don’t need to redefine your APIs from scratch."</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58a273064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58a273064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diagram shows the structure of a </a:t>
            </a:r>
            <a:r>
              <a:rPr b="1" lang="en-GB">
                <a:solidFill>
                  <a:schemeClr val="dk1"/>
                </a:solidFill>
              </a:rPr>
              <a:t>Tyk OAS API Definition</a:t>
            </a:r>
            <a:r>
              <a:rPr lang="en-GB">
                <a:solidFill>
                  <a:schemeClr val="dk1"/>
                </a:solidFill>
              </a:rPr>
              <a:t>, which is made up of two key parts."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"First, you have the </a:t>
            </a:r>
            <a:r>
              <a:rPr b="1" lang="en-GB">
                <a:solidFill>
                  <a:schemeClr val="dk1"/>
                </a:solidFill>
              </a:rPr>
              <a:t>standard OAS section</a:t>
            </a:r>
            <a:r>
              <a:rPr lang="en-GB">
                <a:solidFill>
                  <a:schemeClr val="dk1"/>
                </a:solidFill>
              </a:rPr>
              <a:t>. This is typically created in your </a:t>
            </a:r>
            <a:r>
              <a:rPr b="1" lang="en-GB">
                <a:solidFill>
                  <a:schemeClr val="dk1"/>
                </a:solidFill>
              </a:rPr>
              <a:t>code editor</a:t>
            </a:r>
            <a:r>
              <a:rPr lang="en-GB">
                <a:solidFill>
                  <a:schemeClr val="dk1"/>
                </a:solidFill>
              </a:rPr>
              <a:t> or design tool. It describes your API: the endpoints, methods, request/response models, and documentation—everything you’d expect in an OpenAPI Spec."</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"Then, when you import this into Tyk, we automatically add a </a:t>
            </a:r>
            <a:r>
              <a:rPr b="1" lang="en-GB">
                <a:solidFill>
                  <a:srgbClr val="188038"/>
                </a:solidFill>
                <a:latin typeface="Roboto Mono"/>
                <a:ea typeface="Roboto Mono"/>
                <a:cs typeface="Roboto Mono"/>
                <a:sym typeface="Roboto Mono"/>
              </a:rPr>
              <a:t>x-tyk-api-gateway</a:t>
            </a:r>
            <a:r>
              <a:rPr lang="en-GB">
                <a:solidFill>
                  <a:schemeClr val="dk1"/>
                </a:solidFill>
              </a:rPr>
              <a:t> section."</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section contains </a:t>
            </a:r>
            <a:r>
              <a:rPr b="1" lang="en-GB">
                <a:solidFill>
                  <a:schemeClr val="dk1"/>
                </a:solidFill>
              </a:rPr>
              <a:t>Tyk-specific configurations</a:t>
            </a:r>
            <a:r>
              <a:rPr lang="en-GB">
                <a:solidFill>
                  <a:schemeClr val="dk1"/>
                </a:solidFill>
              </a:rPr>
              <a:t>—things like authentication, rate limiting, policies, plugins, and all the controls that Tyk applies to manage and secure your API traffic."</a:t>
            </a:r>
            <a:endParaRPr>
              <a:solidFill>
                <a:schemeClr val="dk1"/>
              </a:solidFill>
            </a:endParaRPr>
          </a:p>
          <a:p>
            <a:pPr indent="0" lvl="0" marL="381000" marR="381000" rtl="0" algn="l">
              <a:lnSpc>
                <a:spcPct val="115000"/>
              </a:lnSpc>
              <a:spcBef>
                <a:spcPts val="1200"/>
              </a:spcBef>
              <a:spcAft>
                <a:spcPts val="0"/>
              </a:spcAft>
              <a:buNone/>
            </a:pPr>
            <a:r>
              <a:rPr lang="en-GB">
                <a:solidFill>
                  <a:schemeClr val="dk1"/>
                </a:solidFill>
              </a:rPr>
              <a:t>"So, in short: you design your API as usual in OAS, and Tyk adds the gateway-specific logic to bring it to life inside the Tyk platform."</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“You can export an imported OAS definition for a full Tyk OAS definition or you can start from a template”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6045b6636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6045b6636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diagram shows the structure of a </a:t>
            </a:r>
            <a:r>
              <a:rPr b="1" lang="en-GB">
                <a:solidFill>
                  <a:schemeClr val="dk1"/>
                </a:solidFill>
              </a:rPr>
              <a:t>Tyk OAS API Definition</a:t>
            </a:r>
            <a:r>
              <a:rPr lang="en-GB">
                <a:solidFill>
                  <a:schemeClr val="dk1"/>
                </a:solidFill>
              </a:rPr>
              <a:t>, which is made up of two key parts."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"First, you have the </a:t>
            </a:r>
            <a:r>
              <a:rPr b="1" lang="en-GB">
                <a:solidFill>
                  <a:schemeClr val="dk1"/>
                </a:solidFill>
              </a:rPr>
              <a:t>standard OAS section</a:t>
            </a:r>
            <a:r>
              <a:rPr lang="en-GB">
                <a:solidFill>
                  <a:schemeClr val="dk1"/>
                </a:solidFill>
              </a:rPr>
              <a:t>. This is typically created in your </a:t>
            </a:r>
            <a:r>
              <a:rPr b="1" lang="en-GB">
                <a:solidFill>
                  <a:schemeClr val="dk1"/>
                </a:solidFill>
              </a:rPr>
              <a:t>code editor</a:t>
            </a:r>
            <a:r>
              <a:rPr lang="en-GB">
                <a:solidFill>
                  <a:schemeClr val="dk1"/>
                </a:solidFill>
              </a:rPr>
              <a:t> or design tool. It describes your API: the endpoints, methods, request/response models, and documentation—everything you’d expect in an OpenAPI Spec."</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"Then, when you import this into Tyk, we automatically add a </a:t>
            </a:r>
            <a:r>
              <a:rPr b="1" lang="en-GB">
                <a:solidFill>
                  <a:srgbClr val="188038"/>
                </a:solidFill>
                <a:latin typeface="Roboto Mono"/>
                <a:ea typeface="Roboto Mono"/>
                <a:cs typeface="Roboto Mono"/>
                <a:sym typeface="Roboto Mono"/>
              </a:rPr>
              <a:t>x-tyk-api-gateway</a:t>
            </a:r>
            <a:r>
              <a:rPr lang="en-GB">
                <a:solidFill>
                  <a:schemeClr val="dk1"/>
                </a:solidFill>
              </a:rPr>
              <a:t> section."</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section contains </a:t>
            </a:r>
            <a:r>
              <a:rPr b="1" lang="en-GB">
                <a:solidFill>
                  <a:schemeClr val="dk1"/>
                </a:solidFill>
              </a:rPr>
              <a:t>Tyk-specific configurations</a:t>
            </a:r>
            <a:r>
              <a:rPr lang="en-GB">
                <a:solidFill>
                  <a:schemeClr val="dk1"/>
                </a:solidFill>
              </a:rPr>
              <a:t>—things like authentication, rate limiting, policies, plugins, and all the controls that Tyk applies to manage and secure your API traffic."</a:t>
            </a:r>
            <a:endParaRPr>
              <a:solidFill>
                <a:schemeClr val="dk1"/>
              </a:solidFill>
            </a:endParaRPr>
          </a:p>
          <a:p>
            <a:pPr indent="0" lvl="0" marL="381000" marR="381000" rtl="0" algn="l">
              <a:lnSpc>
                <a:spcPct val="115000"/>
              </a:lnSpc>
              <a:spcBef>
                <a:spcPts val="1200"/>
              </a:spcBef>
              <a:spcAft>
                <a:spcPts val="0"/>
              </a:spcAft>
              <a:buNone/>
            </a:pPr>
            <a:r>
              <a:rPr lang="en-GB">
                <a:solidFill>
                  <a:schemeClr val="dk1"/>
                </a:solidFill>
              </a:rPr>
              <a:t>"So, in short: you design your API as usual in OAS, and Tyk adds the gateway-specific logic to bring it to life inside the Tyk platform."</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“You can export an imported OAS definition for a full Tyk OAS definition or you can start from a template”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045b66361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6045b66361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diagram shows the structure of a </a:t>
            </a:r>
            <a:r>
              <a:rPr b="1" lang="en-GB">
                <a:solidFill>
                  <a:schemeClr val="dk1"/>
                </a:solidFill>
              </a:rPr>
              <a:t>Tyk OAS API Definition</a:t>
            </a:r>
            <a:r>
              <a:rPr lang="en-GB">
                <a:solidFill>
                  <a:schemeClr val="dk1"/>
                </a:solidFill>
              </a:rPr>
              <a:t>, which is made up of two key parts."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"First, you have the </a:t>
            </a:r>
            <a:r>
              <a:rPr b="1" lang="en-GB">
                <a:solidFill>
                  <a:schemeClr val="dk1"/>
                </a:solidFill>
              </a:rPr>
              <a:t>standard OAS section</a:t>
            </a:r>
            <a:r>
              <a:rPr lang="en-GB">
                <a:solidFill>
                  <a:schemeClr val="dk1"/>
                </a:solidFill>
              </a:rPr>
              <a:t>. This is typically created in your </a:t>
            </a:r>
            <a:r>
              <a:rPr b="1" lang="en-GB">
                <a:solidFill>
                  <a:schemeClr val="dk1"/>
                </a:solidFill>
              </a:rPr>
              <a:t>code editor</a:t>
            </a:r>
            <a:r>
              <a:rPr lang="en-GB">
                <a:solidFill>
                  <a:schemeClr val="dk1"/>
                </a:solidFill>
              </a:rPr>
              <a:t> or design tool. It describes your API: the endpoints, methods, request/response models, and documentation—everything you’d expect in an OpenAPI Spec."</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"Then, when you import this into Tyk, we automatically add a </a:t>
            </a:r>
            <a:r>
              <a:rPr b="1" lang="en-GB">
                <a:solidFill>
                  <a:srgbClr val="188038"/>
                </a:solidFill>
                <a:latin typeface="Roboto Mono"/>
                <a:ea typeface="Roboto Mono"/>
                <a:cs typeface="Roboto Mono"/>
                <a:sym typeface="Roboto Mono"/>
              </a:rPr>
              <a:t>x-tyk-api-gateway</a:t>
            </a:r>
            <a:r>
              <a:rPr lang="en-GB">
                <a:solidFill>
                  <a:schemeClr val="dk1"/>
                </a:solidFill>
              </a:rPr>
              <a:t> section."</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section contains </a:t>
            </a:r>
            <a:r>
              <a:rPr b="1" lang="en-GB">
                <a:solidFill>
                  <a:schemeClr val="dk1"/>
                </a:solidFill>
              </a:rPr>
              <a:t>Tyk-specific configurations</a:t>
            </a:r>
            <a:r>
              <a:rPr lang="en-GB">
                <a:solidFill>
                  <a:schemeClr val="dk1"/>
                </a:solidFill>
              </a:rPr>
              <a:t>—things like authentication, rate limiting, policies, plugins, and all the controls that Tyk applies to manage and secure your API traffic."</a:t>
            </a:r>
            <a:endParaRPr>
              <a:solidFill>
                <a:schemeClr val="dk1"/>
              </a:solidFill>
            </a:endParaRPr>
          </a:p>
          <a:p>
            <a:pPr indent="0" lvl="0" marL="381000" marR="381000" rtl="0" algn="l">
              <a:lnSpc>
                <a:spcPct val="115000"/>
              </a:lnSpc>
              <a:spcBef>
                <a:spcPts val="1200"/>
              </a:spcBef>
              <a:spcAft>
                <a:spcPts val="0"/>
              </a:spcAft>
              <a:buNone/>
            </a:pPr>
            <a:r>
              <a:rPr lang="en-GB">
                <a:solidFill>
                  <a:schemeClr val="dk1"/>
                </a:solidFill>
              </a:rPr>
              <a:t>"So, in short: you design your API as usual in OAS, and Tyk adds the gateway-specific logic to bring it to life inside the Tyk platform."</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“You can export an imported OAS definition for a full Tyk OAS definition or you can start from a template”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6045b66361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6045b66361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diagram shows the structure of a </a:t>
            </a:r>
            <a:r>
              <a:rPr b="1" lang="en-GB">
                <a:solidFill>
                  <a:schemeClr val="dk1"/>
                </a:solidFill>
              </a:rPr>
              <a:t>Tyk OAS API Definition</a:t>
            </a:r>
            <a:r>
              <a:rPr lang="en-GB">
                <a:solidFill>
                  <a:schemeClr val="dk1"/>
                </a:solidFill>
              </a:rPr>
              <a:t>, which is made up of two key parts."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"First, you have the </a:t>
            </a:r>
            <a:r>
              <a:rPr b="1" lang="en-GB">
                <a:solidFill>
                  <a:schemeClr val="dk1"/>
                </a:solidFill>
              </a:rPr>
              <a:t>standard OAS section</a:t>
            </a:r>
            <a:r>
              <a:rPr lang="en-GB">
                <a:solidFill>
                  <a:schemeClr val="dk1"/>
                </a:solidFill>
              </a:rPr>
              <a:t>. This is typically created in your </a:t>
            </a:r>
            <a:r>
              <a:rPr b="1" lang="en-GB">
                <a:solidFill>
                  <a:schemeClr val="dk1"/>
                </a:solidFill>
              </a:rPr>
              <a:t>code editor</a:t>
            </a:r>
            <a:r>
              <a:rPr lang="en-GB">
                <a:solidFill>
                  <a:schemeClr val="dk1"/>
                </a:solidFill>
              </a:rPr>
              <a:t> or design tool. It describes your API: the endpoints, methods, request/response models, and documentation—everything you’d expect in an OpenAPI Spec."</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"Then, when you import this into Tyk, we automatically add a </a:t>
            </a:r>
            <a:r>
              <a:rPr b="1" lang="en-GB">
                <a:solidFill>
                  <a:srgbClr val="188038"/>
                </a:solidFill>
                <a:latin typeface="Roboto Mono"/>
                <a:ea typeface="Roboto Mono"/>
                <a:cs typeface="Roboto Mono"/>
                <a:sym typeface="Roboto Mono"/>
              </a:rPr>
              <a:t>x-tyk-api-gateway</a:t>
            </a:r>
            <a:r>
              <a:rPr lang="en-GB">
                <a:solidFill>
                  <a:schemeClr val="dk1"/>
                </a:solidFill>
              </a:rPr>
              <a:t> section."</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section contains </a:t>
            </a:r>
            <a:r>
              <a:rPr b="1" lang="en-GB">
                <a:solidFill>
                  <a:schemeClr val="dk1"/>
                </a:solidFill>
              </a:rPr>
              <a:t>Tyk-specific configurations</a:t>
            </a:r>
            <a:r>
              <a:rPr lang="en-GB">
                <a:solidFill>
                  <a:schemeClr val="dk1"/>
                </a:solidFill>
              </a:rPr>
              <a:t>—things like authentication, rate limiting, policies, plugins, and all the controls that Tyk applies to manage and secure your API traffic."</a:t>
            </a:r>
            <a:endParaRPr>
              <a:solidFill>
                <a:schemeClr val="dk1"/>
              </a:solidFill>
            </a:endParaRPr>
          </a:p>
          <a:p>
            <a:pPr indent="0" lvl="0" marL="381000" marR="381000" rtl="0" algn="l">
              <a:lnSpc>
                <a:spcPct val="115000"/>
              </a:lnSpc>
              <a:spcBef>
                <a:spcPts val="1200"/>
              </a:spcBef>
              <a:spcAft>
                <a:spcPts val="0"/>
              </a:spcAft>
              <a:buNone/>
            </a:pPr>
            <a:r>
              <a:rPr lang="en-GB">
                <a:solidFill>
                  <a:schemeClr val="dk1"/>
                </a:solidFill>
              </a:rPr>
              <a:t>"So, in short: you design your API as usual in OAS, and Tyk adds the gateway-specific logic to bring it to life inside the Tyk platform."</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“You can export an imported OAS definition for a full Tyk OAS definition or you can start from a template”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045b66361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6045b66361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diagram shows the structure of a </a:t>
            </a:r>
            <a:r>
              <a:rPr b="1" lang="en-GB">
                <a:solidFill>
                  <a:schemeClr val="dk1"/>
                </a:solidFill>
              </a:rPr>
              <a:t>Tyk OAS API Definition</a:t>
            </a:r>
            <a:r>
              <a:rPr lang="en-GB">
                <a:solidFill>
                  <a:schemeClr val="dk1"/>
                </a:solidFill>
              </a:rPr>
              <a:t>, which is made up of two key parts."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"First, you have the </a:t>
            </a:r>
            <a:r>
              <a:rPr b="1" lang="en-GB">
                <a:solidFill>
                  <a:schemeClr val="dk1"/>
                </a:solidFill>
              </a:rPr>
              <a:t>standard OAS section</a:t>
            </a:r>
            <a:r>
              <a:rPr lang="en-GB">
                <a:solidFill>
                  <a:schemeClr val="dk1"/>
                </a:solidFill>
              </a:rPr>
              <a:t>. This is typically created in your </a:t>
            </a:r>
            <a:r>
              <a:rPr b="1" lang="en-GB">
                <a:solidFill>
                  <a:schemeClr val="dk1"/>
                </a:solidFill>
              </a:rPr>
              <a:t>code editor</a:t>
            </a:r>
            <a:r>
              <a:rPr lang="en-GB">
                <a:solidFill>
                  <a:schemeClr val="dk1"/>
                </a:solidFill>
              </a:rPr>
              <a:t> or design tool. It describes your API: the endpoints, methods, request/response models, and documentation—everything you’d expect in an OpenAPI Spec."</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"Then, when you import this into Tyk, we automatically add a </a:t>
            </a:r>
            <a:r>
              <a:rPr b="1" lang="en-GB">
                <a:solidFill>
                  <a:srgbClr val="188038"/>
                </a:solidFill>
                <a:latin typeface="Roboto Mono"/>
                <a:ea typeface="Roboto Mono"/>
                <a:cs typeface="Roboto Mono"/>
                <a:sym typeface="Roboto Mono"/>
              </a:rPr>
              <a:t>x-tyk-api-gateway</a:t>
            </a:r>
            <a:r>
              <a:rPr lang="en-GB">
                <a:solidFill>
                  <a:schemeClr val="dk1"/>
                </a:solidFill>
              </a:rPr>
              <a:t> section."</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section contains </a:t>
            </a:r>
            <a:r>
              <a:rPr b="1" lang="en-GB">
                <a:solidFill>
                  <a:schemeClr val="dk1"/>
                </a:solidFill>
              </a:rPr>
              <a:t>Tyk-specific configurations</a:t>
            </a:r>
            <a:r>
              <a:rPr lang="en-GB">
                <a:solidFill>
                  <a:schemeClr val="dk1"/>
                </a:solidFill>
              </a:rPr>
              <a:t>—things like authentication, rate limiting, policies, plugins, and all the controls that Tyk applies to manage and secure your API traffic."</a:t>
            </a:r>
            <a:endParaRPr>
              <a:solidFill>
                <a:schemeClr val="dk1"/>
              </a:solidFill>
            </a:endParaRPr>
          </a:p>
          <a:p>
            <a:pPr indent="0" lvl="0" marL="381000" marR="381000" rtl="0" algn="l">
              <a:lnSpc>
                <a:spcPct val="115000"/>
              </a:lnSpc>
              <a:spcBef>
                <a:spcPts val="1200"/>
              </a:spcBef>
              <a:spcAft>
                <a:spcPts val="0"/>
              </a:spcAft>
              <a:buNone/>
            </a:pPr>
            <a:r>
              <a:rPr lang="en-GB">
                <a:solidFill>
                  <a:schemeClr val="dk1"/>
                </a:solidFill>
              </a:rPr>
              <a:t>"So, in short: you design your API as usual in OAS, and Tyk adds the gateway-specific logic to bring it to life inside the Tyk platform."</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“You can export an imported OAS definition for a full Tyk OAS definition or you can start from a template”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slide" showMasterSp="0">
  <p:cSld name="Light slide">
    <p:bg>
      <p:bgPr>
        <a:solidFill>
          <a:srgbClr val="FFFFFF"/>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951731" y="1115566"/>
            <a:ext cx="5302200" cy="887700"/>
          </a:xfrm>
          <a:prstGeom prst="rect">
            <a:avLst/>
          </a:prstGeom>
          <a:noFill/>
          <a:ln>
            <a:noFill/>
          </a:ln>
        </p:spPr>
        <p:txBody>
          <a:bodyPr anchorCtr="0" anchor="t" bIns="0" lIns="0" spcFirstLastPara="1" rIns="0" wrap="square" tIns="0">
            <a:normAutofit/>
          </a:bodyPr>
          <a:lstStyle>
            <a:lvl1pPr indent="-419100" lvl="0" marL="457200" algn="l">
              <a:lnSpc>
                <a:spcPct val="100000"/>
              </a:lnSpc>
              <a:spcBef>
                <a:spcPts val="0"/>
              </a:spcBef>
              <a:spcAft>
                <a:spcPts val="0"/>
              </a:spcAft>
              <a:buClr>
                <a:srgbClr val="505071"/>
              </a:buClr>
              <a:buSzPts val="3000"/>
              <a:buFont typeface="Arial"/>
              <a:buChar char="●"/>
              <a:defRPr b="1" sz="3000">
                <a:solidFill>
                  <a:srgbClr val="505071"/>
                </a:solidFill>
                <a:latin typeface="Arial"/>
                <a:ea typeface="Arial"/>
                <a:cs typeface="Arial"/>
                <a:sym typeface="Arial"/>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52" name="Google Shape;52;p13"/>
          <p:cNvSpPr txBox="1"/>
          <p:nvPr>
            <p:ph idx="2" type="body"/>
          </p:nvPr>
        </p:nvSpPr>
        <p:spPr>
          <a:xfrm>
            <a:off x="934600" y="858391"/>
            <a:ext cx="2825700" cy="200100"/>
          </a:xfrm>
          <a:prstGeom prst="rect">
            <a:avLst/>
          </a:prstGeom>
          <a:noFill/>
          <a:ln>
            <a:noFill/>
          </a:ln>
        </p:spPr>
        <p:txBody>
          <a:bodyPr anchorCtr="0" anchor="t" bIns="19050" lIns="19050" spcFirstLastPara="1" rIns="19050" wrap="square" tIns="19050">
            <a:normAutofit/>
          </a:bodyPr>
          <a:lstStyle>
            <a:lvl1pPr indent="-273050" lvl="0" marL="457200" algn="l">
              <a:lnSpc>
                <a:spcPct val="10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pic>
        <p:nvPicPr>
          <p:cNvPr descr="logo_RGB-Transparent1-WEB.png" id="53" name="Google Shape;53;p13"/>
          <p:cNvPicPr preferRelativeResize="0"/>
          <p:nvPr/>
        </p:nvPicPr>
        <p:blipFill rotWithShape="1">
          <a:blip r:embed="rId2">
            <a:alphaModFix/>
          </a:blip>
          <a:srcRect b="40" l="0" r="0" t="40"/>
          <a:stretch/>
        </p:blipFill>
        <p:spPr>
          <a:xfrm>
            <a:off x="243186" y="4749582"/>
            <a:ext cx="279847" cy="142875"/>
          </a:xfrm>
          <a:prstGeom prst="rect">
            <a:avLst/>
          </a:prstGeom>
          <a:noFill/>
          <a:ln>
            <a:noFill/>
          </a:ln>
        </p:spPr>
      </p:pic>
      <p:sp>
        <p:nvSpPr>
          <p:cNvPr id="54" name="Google Shape;54;p13"/>
          <p:cNvSpPr txBox="1"/>
          <p:nvPr>
            <p:ph idx="3" type="body"/>
          </p:nvPr>
        </p:nvSpPr>
        <p:spPr>
          <a:xfrm>
            <a:off x="951731" y="2296477"/>
            <a:ext cx="3860100" cy="550500"/>
          </a:xfrm>
          <a:prstGeom prst="rect">
            <a:avLst/>
          </a:prstGeom>
          <a:noFill/>
          <a:ln>
            <a:noFill/>
          </a:ln>
        </p:spPr>
        <p:txBody>
          <a:bodyPr anchorCtr="0" anchor="t" bIns="0" lIns="0" spcFirstLastPara="1" rIns="0" wrap="square" tIns="0">
            <a:normAutofit/>
          </a:bodyPr>
          <a:lstStyle>
            <a:lvl1pPr indent="-273050" lvl="0" marL="457200" algn="l">
              <a:lnSpc>
                <a:spcPct val="12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55" name="Google Shape;55;p13"/>
          <p:cNvSpPr txBox="1"/>
          <p:nvPr>
            <p:ph idx="12" type="sldNum"/>
          </p:nvPr>
        </p:nvSpPr>
        <p:spPr>
          <a:xfrm>
            <a:off x="8543920" y="4773806"/>
            <a:ext cx="351600" cy="162000"/>
          </a:xfrm>
          <a:prstGeom prst="rect">
            <a:avLst/>
          </a:prstGeom>
          <a:noFill/>
          <a:ln>
            <a:noFill/>
          </a:ln>
        </p:spPr>
        <p:txBody>
          <a:bodyPr anchorCtr="0" anchor="b" bIns="0" lIns="0" spcFirstLastPara="1" rIns="0" wrap="square" tIns="0">
            <a:normAutofit/>
          </a:bodyPr>
          <a:lstStyle>
            <a:lvl1pPr indent="0" lvl="0"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1pPr>
            <a:lvl2pPr indent="0" lvl="1"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2pPr>
            <a:lvl3pPr indent="0" lvl="2"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3pPr>
            <a:lvl4pPr indent="0" lvl="3"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4pPr>
            <a:lvl5pPr indent="0" lvl="4"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5pPr>
            <a:lvl6pPr indent="0" lvl="5"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6pPr>
            <a:lvl7pPr indent="0" lvl="6"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7pPr>
            <a:lvl8pPr indent="0" lvl="7"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8pPr>
            <a:lvl9pPr indent="0" lvl="8"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59" name="Shape 59"/>
        <p:cNvGrpSpPr/>
        <p:nvPr/>
      </p:nvGrpSpPr>
      <p:grpSpPr>
        <a:xfrm>
          <a:off x="0" y="0"/>
          <a:ext cx="0" cy="0"/>
          <a:chOff x="0" y="0"/>
          <a:chExt cx="0" cy="0"/>
        </a:xfrm>
      </p:grpSpPr>
      <p:sp>
        <p:nvSpPr>
          <p:cNvPr id="60" name="Google Shape;60;p14"/>
          <p:cNvSpPr txBox="1"/>
          <p:nvPr/>
        </p:nvSpPr>
        <p:spPr>
          <a:xfrm>
            <a:off x="376425" y="962175"/>
            <a:ext cx="84252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800">
                <a:solidFill>
                  <a:schemeClr val="lt1"/>
                </a:solidFill>
                <a:latin typeface="Inter"/>
                <a:ea typeface="Inter"/>
                <a:cs typeface="Inter"/>
                <a:sym typeface="Inter"/>
              </a:rPr>
              <a:t>Onboarding APIs into Tyk</a:t>
            </a:r>
            <a:endParaRPr b="1" sz="3800">
              <a:solidFill>
                <a:schemeClr val="lt1"/>
              </a:solidFill>
              <a:latin typeface="Inter"/>
              <a:ea typeface="Inter"/>
              <a:cs typeface="Inter"/>
              <a:sym typeface="Inter"/>
            </a:endParaRPr>
          </a:p>
        </p:txBody>
      </p:sp>
      <p:sp>
        <p:nvSpPr>
          <p:cNvPr id="61" name="Google Shape;61;p14"/>
          <p:cNvSpPr txBox="1"/>
          <p:nvPr/>
        </p:nvSpPr>
        <p:spPr>
          <a:xfrm>
            <a:off x="1738950" y="1712775"/>
            <a:ext cx="5679300" cy="1143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GB">
                <a:solidFill>
                  <a:schemeClr val="lt1"/>
                </a:solidFill>
                <a:latin typeface="Inter"/>
                <a:ea typeface="Inter"/>
                <a:cs typeface="Inter"/>
                <a:sym typeface="Inter"/>
              </a:rPr>
              <a:t>Onboarding an API into Tyk means making Tyk aware of your API so it can manage, protect, and monitor it. This flow is designed to help developers ensure their APIs are production-ready and meet organizational requirements.</a:t>
            </a:r>
            <a:endParaRPr>
              <a:solidFill>
                <a:schemeClr val="lt1"/>
              </a:solidFill>
              <a:latin typeface="Inter"/>
              <a:ea typeface="Inter"/>
              <a:cs typeface="Inter"/>
              <a:sym typeface="Inter"/>
            </a:endParaRPr>
          </a:p>
        </p:txBody>
      </p:sp>
      <p:sp>
        <p:nvSpPr>
          <p:cNvPr id="62" name="Google Shape;62;p1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sp>
        <p:nvSpPr>
          <p:cNvPr id="68" name="Google Shape;68;p15"/>
          <p:cNvSpPr txBox="1"/>
          <p:nvPr/>
        </p:nvSpPr>
        <p:spPr>
          <a:xfrm>
            <a:off x="720000" y="1001800"/>
            <a:ext cx="4955700" cy="238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rgbClr val="03031C"/>
                </a:solidFill>
                <a:latin typeface="Inter"/>
                <a:ea typeface="Inter"/>
                <a:cs typeface="Inter"/>
                <a:sym typeface="Inter"/>
              </a:rPr>
              <a:t>Start by telling Tyk about your API.</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lang="en-GB">
                <a:solidFill>
                  <a:srgbClr val="03031C"/>
                </a:solidFill>
                <a:latin typeface="Inter"/>
                <a:ea typeface="Inter"/>
                <a:cs typeface="Inter"/>
                <a:sym typeface="Inter"/>
              </a:rPr>
              <a:t>You specify:</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The listen path (what path Tyk should expose)</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The target URL (where requests are forwarded)</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Whether the API uses HTTP or HTTPS</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lang="en-GB">
                <a:solidFill>
                  <a:srgbClr val="03031C"/>
                </a:solidFill>
                <a:latin typeface="Inter"/>
                <a:ea typeface="Inter"/>
                <a:cs typeface="Inter"/>
                <a:sym typeface="Inter"/>
              </a:rPr>
              <a:t>This is the foundation, Tyk needs to know where to send traffic and what to call it.</a:t>
            </a:r>
            <a:endParaRPr>
              <a:solidFill>
                <a:srgbClr val="03031C"/>
              </a:solidFill>
              <a:latin typeface="Inter"/>
              <a:ea typeface="Inter"/>
              <a:cs typeface="Inter"/>
              <a:sym typeface="Inter"/>
            </a:endParaRPr>
          </a:p>
        </p:txBody>
      </p:sp>
      <p:sp>
        <p:nvSpPr>
          <p:cNvPr id="69" name="Google Shape;69;p1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 name="Google Shape;70;p1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71" name="Google Shape;71;p15"/>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Define your API</a:t>
            </a:r>
            <a:endParaRPr b="1" sz="3800">
              <a:solidFill>
                <a:srgbClr val="03031C"/>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sp>
        <p:nvSpPr>
          <p:cNvPr id="76" name="Google Shape;76;p16"/>
          <p:cNvSpPr txBox="1"/>
          <p:nvPr/>
        </p:nvSpPr>
        <p:spPr>
          <a:xfrm>
            <a:off x="756150" y="335275"/>
            <a:ext cx="76317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Secure the API</a:t>
            </a:r>
            <a:endParaRPr b="1" sz="3800">
              <a:solidFill>
                <a:srgbClr val="5900CB"/>
              </a:solidFill>
              <a:latin typeface="Inter"/>
              <a:ea typeface="Inter"/>
              <a:cs typeface="Inter"/>
              <a:sym typeface="Inter"/>
            </a:endParaRPr>
          </a:p>
        </p:txBody>
      </p:sp>
      <p:sp>
        <p:nvSpPr>
          <p:cNvPr id="77" name="Google Shape;77;p16"/>
          <p:cNvSpPr txBox="1"/>
          <p:nvPr/>
        </p:nvSpPr>
        <p:spPr>
          <a:xfrm>
            <a:off x="834725" y="1138275"/>
            <a:ext cx="5886300" cy="238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Once registered, the next concern is access control. </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Tyk supports various authentication mechanisms:</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API Keys (most basic)</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OAuth 2.0 or JWT (token-based access)</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mTLS (certificate-based)</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This ensures only authorized clients can use your API. </a:t>
            </a:r>
            <a:r>
              <a:rPr lang="en-GB">
                <a:solidFill>
                  <a:schemeClr val="dk1"/>
                </a:solidFill>
                <a:latin typeface="Inter"/>
                <a:ea typeface="Inter"/>
                <a:cs typeface="Inter"/>
                <a:sym typeface="Inter"/>
              </a:rPr>
              <a:t>It is optional but recommended.</a:t>
            </a:r>
            <a:endParaRPr>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p17"/>
          <p:cNvSpPr txBox="1"/>
          <p:nvPr/>
        </p:nvSpPr>
        <p:spPr>
          <a:xfrm>
            <a:off x="756150" y="335275"/>
            <a:ext cx="81513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400">
                <a:solidFill>
                  <a:srgbClr val="5900CB"/>
                </a:solidFill>
                <a:latin typeface="Inter"/>
                <a:ea typeface="Inter"/>
                <a:cs typeface="Inter"/>
                <a:sym typeface="Inter"/>
              </a:rPr>
              <a:t>Access Control Rules Using Policies</a:t>
            </a:r>
            <a:endParaRPr b="1" sz="3400">
              <a:solidFill>
                <a:srgbClr val="5900CB"/>
              </a:solidFill>
              <a:latin typeface="Inter"/>
              <a:ea typeface="Inter"/>
              <a:cs typeface="Inter"/>
              <a:sym typeface="Inter"/>
            </a:endParaRPr>
          </a:p>
        </p:txBody>
      </p:sp>
      <p:sp>
        <p:nvSpPr>
          <p:cNvPr id="83" name="Google Shape;83;p17"/>
          <p:cNvSpPr txBox="1"/>
          <p:nvPr/>
        </p:nvSpPr>
        <p:spPr>
          <a:xfrm>
            <a:off x="834725" y="1138275"/>
            <a:ext cx="5886300" cy="312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Tyk uses policies to control how your API is used:</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Rate limiting (requests per minute/hour/day)</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Quotas (total requests allowed)</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Access permissions (what endpoints and methods are allowed)</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Policies are reusable and can be assigned to different users or applications. </a:t>
            </a:r>
            <a:r>
              <a:rPr lang="en-GB">
                <a:solidFill>
                  <a:schemeClr val="dk1"/>
                </a:solidFill>
                <a:latin typeface="Inter"/>
                <a:ea typeface="Inter"/>
                <a:cs typeface="Inter"/>
                <a:sym typeface="Inter"/>
              </a:rPr>
              <a:t>It is optional but </a:t>
            </a:r>
            <a:r>
              <a:rPr lang="en-GB">
                <a:solidFill>
                  <a:schemeClr val="dk1"/>
                </a:solidFill>
                <a:latin typeface="Inter"/>
                <a:ea typeface="Inter"/>
                <a:cs typeface="Inter"/>
                <a:sym typeface="Inter"/>
              </a:rPr>
              <a:t>recommended</a:t>
            </a:r>
            <a:r>
              <a:rPr lang="en-GB">
                <a:solidFill>
                  <a:schemeClr val="dk1"/>
                </a:solidFill>
                <a:latin typeface="Inter"/>
                <a:ea typeface="Inter"/>
                <a:cs typeface="Inter"/>
                <a:sym typeface="Inter"/>
              </a:rPr>
              <a:t>. </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For JWT authentication, policies are mandatory to apply access control rules to the API request.</a:t>
            </a:r>
            <a:endParaRPr>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8"/>
          <p:cNvSpPr txBox="1"/>
          <p:nvPr/>
        </p:nvSpPr>
        <p:spPr>
          <a:xfrm>
            <a:off x="756150" y="335275"/>
            <a:ext cx="81513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Customize API Behavior with Middleware</a:t>
            </a:r>
            <a:endParaRPr b="1" sz="3800">
              <a:solidFill>
                <a:srgbClr val="5900CB"/>
              </a:solidFill>
              <a:latin typeface="Inter"/>
              <a:ea typeface="Inter"/>
              <a:cs typeface="Inter"/>
              <a:sym typeface="Inter"/>
            </a:endParaRPr>
          </a:p>
        </p:txBody>
      </p:sp>
      <p:sp>
        <p:nvSpPr>
          <p:cNvPr id="89" name="Google Shape;89;p18"/>
          <p:cNvSpPr txBox="1"/>
          <p:nvPr/>
        </p:nvSpPr>
        <p:spPr>
          <a:xfrm>
            <a:off x="834725" y="1747875"/>
            <a:ext cx="5886300" cy="213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Tyk has a wide variety of Out Of The Box plugins for extending API behavior:</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Add custom headers</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Modify request/response payloads</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Validate input data</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Block/transform requests</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This gives you flexibility without changing backend services.</a:t>
            </a:r>
            <a:endParaRPr>
              <a:solidFill>
                <a:schemeClr val="dk1"/>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19"/>
          <p:cNvSpPr txBox="1"/>
          <p:nvPr/>
        </p:nvSpPr>
        <p:spPr>
          <a:xfrm>
            <a:off x="756150" y="335275"/>
            <a:ext cx="8151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Monitoring and Observability</a:t>
            </a:r>
            <a:endParaRPr b="1" sz="3800">
              <a:solidFill>
                <a:srgbClr val="5900CB"/>
              </a:solidFill>
              <a:latin typeface="Inter"/>
              <a:ea typeface="Inter"/>
              <a:cs typeface="Inter"/>
              <a:sym typeface="Inter"/>
            </a:endParaRPr>
          </a:p>
        </p:txBody>
      </p:sp>
      <p:sp>
        <p:nvSpPr>
          <p:cNvPr id="95" name="Google Shape;95;p19"/>
          <p:cNvSpPr txBox="1"/>
          <p:nvPr/>
        </p:nvSpPr>
        <p:spPr>
          <a:xfrm>
            <a:off x="834725" y="1519275"/>
            <a:ext cx="5886300" cy="263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Tyk provides analytics out of the box using the Dashboard GUI</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You can track:</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Number of requests</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Status codes</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Latency</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Errors</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For deeper visibility, you can integrate with tools like Prometheus, Grafana, or </a:t>
            </a:r>
            <a:r>
              <a:rPr lang="en-GB">
                <a:solidFill>
                  <a:schemeClr val="dk1"/>
                </a:solidFill>
                <a:latin typeface="Inter"/>
                <a:ea typeface="Inter"/>
                <a:cs typeface="Inter"/>
                <a:sym typeface="Inter"/>
              </a:rPr>
              <a:t>OpenTelemetry</a:t>
            </a:r>
            <a:r>
              <a:rPr lang="en-GB">
                <a:solidFill>
                  <a:schemeClr val="dk1"/>
                </a:solidFill>
                <a:latin typeface="Inter"/>
                <a:ea typeface="Inter"/>
                <a:cs typeface="Inter"/>
                <a:sym typeface="Inter"/>
              </a:rPr>
              <a:t>.</a:t>
            </a:r>
            <a:endParaRPr>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sp>
        <p:nvSpPr>
          <p:cNvPr id="100" name="Google Shape;100;p20"/>
          <p:cNvSpPr txBox="1"/>
          <p:nvPr/>
        </p:nvSpPr>
        <p:spPr>
          <a:xfrm>
            <a:off x="756150" y="335275"/>
            <a:ext cx="8151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Running a smoke test</a:t>
            </a:r>
            <a:endParaRPr b="1" sz="3800">
              <a:solidFill>
                <a:srgbClr val="5900CB"/>
              </a:solidFill>
              <a:latin typeface="Inter"/>
              <a:ea typeface="Inter"/>
              <a:cs typeface="Inter"/>
              <a:sym typeface="Inter"/>
            </a:endParaRPr>
          </a:p>
        </p:txBody>
      </p:sp>
      <p:sp>
        <p:nvSpPr>
          <p:cNvPr id="101" name="Google Shape;101;p20"/>
          <p:cNvSpPr txBox="1"/>
          <p:nvPr/>
        </p:nvSpPr>
        <p:spPr>
          <a:xfrm>
            <a:off x="834725" y="1519275"/>
            <a:ext cx="5886300" cy="213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Before going live, test your API from within the Tyk Dashboard or using tools like Postman.</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The routing works correctly</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Security is enforced</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Rate limiting behaves as expected</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You’ve successfully created, secured, and deployed your first API</a:t>
            </a:r>
            <a:endParaRPr>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