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Inter"/>
      <p:regular r:id="rId15"/>
      <p:bold r:id="rId16"/>
      <p:italic r:id="rId17"/>
      <p:boldItalic r:id="rId18"/>
    </p:embeddedFont>
    <p:embeddedFont>
      <p:font typeface="Open Sans SemiBold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SemiBold-bold.fntdata"/><Relationship Id="rId11" Type="http://schemas.openxmlformats.org/officeDocument/2006/relationships/slide" Target="slides/slide6.xml"/><Relationship Id="rId22" Type="http://schemas.openxmlformats.org/officeDocument/2006/relationships/font" Target="fonts/OpenSansSemiBold-boldItalic.fntdata"/><Relationship Id="rId10" Type="http://schemas.openxmlformats.org/officeDocument/2006/relationships/slide" Target="slides/slide5.xml"/><Relationship Id="rId21" Type="http://schemas.openxmlformats.org/officeDocument/2006/relationships/font" Target="fonts/OpenSansSemiBold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regular.fntdata"/><Relationship Id="rId14" Type="http://schemas.openxmlformats.org/officeDocument/2006/relationships/slide" Target="slides/slide9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SemiBold-regular.fntdata"/><Relationship Id="rId6" Type="http://schemas.openxmlformats.org/officeDocument/2006/relationships/slide" Target="slides/slide1.xml"/><Relationship Id="rId18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1dcb0dd5c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1dcb0dd5c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19f8548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19f8548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85d2f8a8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85d2f8a8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85d2f8a8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85d2f8a8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Without Access Rights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Everyone (all users) can access the API freely.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Green light means there's no restriction, which matches reality when access rights are not enforced.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Implication: This can lead to unauthorized usage, abuse, or security issues.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85d2f8a8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85d2f8a8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Tyk </a:t>
            </a:r>
            <a:r>
              <a:rPr lang="en-GB"/>
              <a:t>sits in front of your APIs and enforces access control. For each incoming request, it checks: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the key validity and whether that key is able to access the API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both are true, the request is passed through. If not, it is denied.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f17e0f2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f17e0f2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f17e0f23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f17e0f23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f17e0f23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f17e0f23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685d2f8a8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685d2f8a8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slide" showMasterSp="0">
  <p:cSld name="Light slide"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951731" y="1115566"/>
            <a:ext cx="5302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3000"/>
              <a:buFont typeface="Arial"/>
              <a:buChar char="●"/>
              <a:defRPr b="1" sz="3000">
                <a:solidFill>
                  <a:srgbClr val="5050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2" type="body"/>
          </p:nvPr>
        </p:nvSpPr>
        <p:spPr>
          <a:xfrm>
            <a:off x="934600" y="858391"/>
            <a:ext cx="282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pic>
        <p:nvPicPr>
          <p:cNvPr descr="logo_RGB-Transparent1-WEB.png" id="53" name="Google Shape;53;p13"/>
          <p:cNvPicPr preferRelativeResize="0"/>
          <p:nvPr/>
        </p:nvPicPr>
        <p:blipFill rotWithShape="1">
          <a:blip r:embed="rId2">
            <a:alphaModFix/>
          </a:blip>
          <a:srcRect b="40" l="0" r="0" t="40"/>
          <a:stretch/>
        </p:blipFill>
        <p:spPr>
          <a:xfrm>
            <a:off x="243186" y="4749582"/>
            <a:ext cx="2798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idx="3" type="body"/>
          </p:nvPr>
        </p:nvSpPr>
        <p:spPr>
          <a:xfrm>
            <a:off x="951731" y="2296477"/>
            <a:ext cx="3860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543920" y="4773806"/>
            <a:ext cx="351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376425" y="962175"/>
            <a:ext cx="84252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Security with Tyk:</a:t>
            </a:r>
            <a:endParaRPr b="1" sz="3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Access Rights</a:t>
            </a:r>
            <a:endParaRPr b="1" sz="3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1738950" y="2246175"/>
            <a:ext cx="56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 Tyk, Access rights control what APIs a client can use.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14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720000" y="157075"/>
            <a:ext cx="7842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What are Access Rights in Tyk?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869950" y="1443049"/>
            <a:ext cx="7659600" cy="3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Tyk is an enterprise-grade API Gateway that controls authentication, authorization, and traffic governance.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It enforces these rules through: 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Access Rights (per-client permissions)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Policies (centralized templates for rate limits, quotas, and scopes)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720000" y="157075"/>
            <a:ext cx="7842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What an API Client Is Allowed to Access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869950" y="1519249"/>
            <a:ext cx="7659600" cy="3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Every API client (like a user, application, or service) is associated with an API Key or token. That key defines the client’s Access Rights — a list of APIs and API versions it is allowed to call.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You can explicitly allow specific APIs or versions.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You do not need to define what is denied — if an API isn’t listed, access is automatically blocked.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the client tries to access an unauthorized API, the Tyk Gateway will reject the request with a 403 Forbidden error.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raffic light with green signal isolated on white background (provided by Getty Images)"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1813" y="1231377"/>
            <a:ext cx="1914574" cy="19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720000" y="808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Without </a:t>
            </a: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Access rights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1975" y="1999737"/>
            <a:ext cx="1606827" cy="16012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" name="Google Shape;89;p17"/>
          <p:cNvCxnSpPr/>
          <p:nvPr/>
        </p:nvCxnSpPr>
        <p:spPr>
          <a:xfrm rot="10800000">
            <a:off x="2662750" y="2862850"/>
            <a:ext cx="2252700" cy="7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90" name="Google Shape;9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80261" y="1804291"/>
            <a:ext cx="816778" cy="813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56173" y="3449963"/>
            <a:ext cx="769202" cy="766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54134" y="2267459"/>
            <a:ext cx="769202" cy="766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42201" y="2683452"/>
            <a:ext cx="769202" cy="766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62210" y="3095398"/>
            <a:ext cx="816778" cy="813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83783" y="1161725"/>
            <a:ext cx="816778" cy="813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72422" y="2399228"/>
            <a:ext cx="816778" cy="813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Access Rights with Tyk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175" y="1731637"/>
            <a:ext cx="1606827" cy="1601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37812" y="1731643"/>
            <a:ext cx="1606827" cy="1601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45386" y="1813666"/>
            <a:ext cx="816778" cy="813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21298" y="3459338"/>
            <a:ext cx="769202" cy="766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19259" y="2276834"/>
            <a:ext cx="769202" cy="766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07326" y="2692827"/>
            <a:ext cx="769202" cy="766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27335" y="3104773"/>
            <a:ext cx="816778" cy="813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48908" y="1171100"/>
            <a:ext cx="816778" cy="813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37547" y="2408603"/>
            <a:ext cx="816778" cy="8139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" name="Google Shape;113;p18"/>
          <p:cNvCxnSpPr/>
          <p:nvPr/>
        </p:nvCxnSpPr>
        <p:spPr>
          <a:xfrm flipH="1">
            <a:off x="5171500" y="2567075"/>
            <a:ext cx="843300" cy="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" name="Google Shape;114;p18"/>
          <p:cNvSpPr txBox="1"/>
          <p:nvPr/>
        </p:nvSpPr>
        <p:spPr>
          <a:xfrm>
            <a:off x="2404775" y="3435650"/>
            <a:ext cx="34851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API Key valid?</a:t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Does this key have access to the API?</a:t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15" name="Google Shape;115;p18"/>
          <p:cNvCxnSpPr/>
          <p:nvPr/>
        </p:nvCxnSpPr>
        <p:spPr>
          <a:xfrm flipH="1">
            <a:off x="1939250" y="2527600"/>
            <a:ext cx="843300" cy="93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/>
        </p:nvSpPr>
        <p:spPr>
          <a:xfrm>
            <a:off x="720000" y="157075"/>
            <a:ext cx="7842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Define Access Rights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869950" y="1214450"/>
            <a:ext cx="4520400" cy="35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Access rights are configured in both API Key and Policy objects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Defined by the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access_rights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property: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Contains a list of APIs which are allowed to be accessed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Each API entry contains a list of versions which are allowed to be accessed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Note: When new versions of an API are created, they are not automatically added to access rights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4" name="Google Shape;124;p19"/>
          <p:cNvPicPr preferRelativeResize="0"/>
          <p:nvPr/>
        </p:nvPicPr>
        <p:blipFill rotWithShape="1">
          <a:blip r:embed="rId4">
            <a:alphaModFix/>
          </a:blip>
          <a:srcRect b="60673" l="0" r="0" t="21936"/>
          <a:stretch/>
        </p:blipFill>
        <p:spPr>
          <a:xfrm>
            <a:off x="5845275" y="1856875"/>
            <a:ext cx="2860425" cy="109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0"/>
          <p:cNvSpPr txBox="1"/>
          <p:nvPr/>
        </p:nvSpPr>
        <p:spPr>
          <a:xfrm>
            <a:off x="720000" y="157075"/>
            <a:ext cx="78426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Access Rights: Path Based Permissions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869950" y="1214449"/>
            <a:ext cx="7659600" cy="3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Path-based permissions provide additional granular control of API access, based on HTTP methods and paths: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Defined as the HTTP methods allowed for a path e.g.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 /hello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Paths and methods act as an allow list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APIs must be selected in Access Rights to enable path-based permissions to be defined for them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 txBox="1"/>
          <p:nvPr/>
        </p:nvSpPr>
        <p:spPr>
          <a:xfrm>
            <a:off x="381550" y="157075"/>
            <a:ext cx="8181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Access Rights: Path-Based Permissions Enforcement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869950" y="1443049"/>
            <a:ext cx="7659600" cy="3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Enforcement is based on the permissions granted to the API client: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the requested API, HTTP method and path combination is not found in the path-based permissions then the request is blocked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Example: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/profile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allows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requests, any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requests for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/profile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are blocked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API clients which fail the path-based permissions check will be blocked: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HTTP status code: 403 Forbidden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 txBox="1"/>
          <p:nvPr/>
        </p:nvSpPr>
        <p:spPr>
          <a:xfrm>
            <a:off x="720000" y="157075"/>
            <a:ext cx="7833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3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Policies: Reusable Access Templates</a:t>
            </a:r>
            <a:endParaRPr b="1" sz="3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890050" y="1302275"/>
            <a:ext cx="7064100" cy="30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Rather than configuring access rights for every single API Key, Tyk lets you define Policies that group: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Which APIs (and versions) can be accessed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Quotas or usage limits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Rate limiting rules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Expiry rules or custom metadata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You assign policies to API keys, OAuth clients, or JWT tokens — making it easy to manage consistent access rules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