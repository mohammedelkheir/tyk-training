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Inter Light"/>
      <p:regular r:id="rId8"/>
      <p:bold r:id="rId9"/>
      <p:italic r:id="rId10"/>
      <p:boldItalic r:id="rId11"/>
    </p:embeddedFont>
    <p:embeddedFont>
      <p:font typeface="Inter"/>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Light-boldItalic.fntdata"/><Relationship Id="rId10" Type="http://schemas.openxmlformats.org/officeDocument/2006/relationships/font" Target="fonts/InterLight-italic.fntdata"/><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Light-bold.fntdata"/><Relationship Id="rId15" Type="http://schemas.openxmlformats.org/officeDocument/2006/relationships/font" Target="fonts/Inter-boldItalic.fntdata"/><Relationship Id="rId14"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InterLigh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1dd162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1dd162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1dd1627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1dd1627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using circuit breakers with </a:t>
            </a:r>
            <a:r>
              <a:rPr b="1" lang="en-GB">
                <a:solidFill>
                  <a:schemeClr val="dk1"/>
                </a:solidFill>
              </a:rPr>
              <a:t>multiple upstream hosts</a:t>
            </a:r>
            <a:r>
              <a:rPr lang="en-GB">
                <a:solidFill>
                  <a:schemeClr val="dk1"/>
                </a:solidFill>
              </a:rPr>
              <a:t>, it's important to understand that Tyk aggregates all failures </a:t>
            </a:r>
            <a:r>
              <a:rPr b="1" lang="en-GB">
                <a:solidFill>
                  <a:schemeClr val="dk1"/>
                </a:solidFill>
              </a:rPr>
              <a:t>at the endpoint level</a:t>
            </a:r>
            <a:r>
              <a:rPr lang="en-GB">
                <a:solidFill>
                  <a:schemeClr val="dk1"/>
                </a:solidFill>
              </a:rPr>
              <a:t>—not per host. So if even one of your hosts is failing and contributes enough 5xx responses to exceed the failure threshold, the circuit breaker will trip.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Now, this also means that during </a:t>
            </a:r>
            <a:r>
              <a:rPr b="1" lang="en-GB">
                <a:solidFill>
                  <a:schemeClr val="dk1"/>
                </a:solidFill>
              </a:rPr>
              <a:t>half-open mode</a:t>
            </a:r>
            <a:r>
              <a:rPr lang="en-GB">
                <a:solidFill>
                  <a:schemeClr val="dk1"/>
                </a:solidFill>
              </a:rPr>
              <a:t>, any healthy upstream can cause the breaker to reset if it replies to Tyk’s test request—restoring service sooner. But watch out for </a:t>
            </a:r>
            <a:r>
              <a:rPr b="1" lang="en-GB">
                <a:solidFill>
                  <a:schemeClr val="dk1"/>
                </a:solidFill>
              </a:rPr>
              <a:t>BreakerTripped events</a:t>
            </a:r>
            <a:r>
              <a:rPr lang="en-GB">
                <a:solidFill>
                  <a:schemeClr val="dk1"/>
                </a:solidFill>
              </a:rPr>
              <a:t>, as they’re a useful signal that at least one backend might still be unhealthy.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For </a:t>
            </a:r>
            <a:r>
              <a:rPr b="1" lang="en-GB">
                <a:solidFill>
                  <a:schemeClr val="dk1"/>
                </a:solidFill>
              </a:rPr>
              <a:t>multi-Gateway environments</a:t>
            </a:r>
            <a:r>
              <a:rPr lang="en-GB">
                <a:solidFill>
                  <a:schemeClr val="dk1"/>
                </a:solidFill>
              </a:rPr>
              <a:t>, each Tyk Gateway maintains </a:t>
            </a:r>
            <a:r>
              <a:rPr b="1" lang="en-GB">
                <a:solidFill>
                  <a:schemeClr val="dk1"/>
                </a:solidFill>
              </a:rPr>
              <a:t>its own circuit breaker state</a:t>
            </a:r>
            <a:r>
              <a:rPr lang="en-GB">
                <a:solidFill>
                  <a:schemeClr val="dk1"/>
                </a:solidFill>
              </a:rPr>
              <a:t>. There is no centralized pool of stats or breaker coordination. This is by design—to preserve speed, isolation, and resilience.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a load-balanced setup, this means that one Gateway might trip its breaker first and start returning 503s, but other Gateways could still be routing traffic to the upstream until they trip their own breakers.</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926900" y="1909950"/>
            <a:ext cx="5290200" cy="1323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Multiple Upstreams &amp; Gateways</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415200" y="1154200"/>
            <a:ext cx="7738200" cy="337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Multiple Upstream Hosts</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Circuit breaker applies at the API endpoint level, not per host.</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Sample + failure counts are aggregated across all upstreams.</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Breaker trips if threshold is breached, even if only some hosts are failing.</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In half-open mode, breaker resets if a healthy host responds.</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t/>
            </a:r>
            <a:endParaRPr>
              <a:solidFill>
                <a:srgbClr val="03031C"/>
              </a:solidFill>
              <a:latin typeface="Inter"/>
              <a:ea typeface="Inter"/>
              <a:cs typeface="Inter"/>
              <a:sym typeface="Inter"/>
            </a:endParaRPr>
          </a:p>
          <a:p>
            <a:pPr indent="0" lvl="0" marL="0" rtl="0" algn="l">
              <a:lnSpc>
                <a:spcPct val="115000"/>
              </a:lnSpc>
              <a:spcBef>
                <a:spcPts val="0"/>
              </a:spcBef>
              <a:spcAft>
                <a:spcPts val="0"/>
              </a:spcAft>
              <a:buNone/>
            </a:pPr>
            <a:r>
              <a:rPr b="1" lang="en-GB">
                <a:solidFill>
                  <a:srgbClr val="03031C"/>
                </a:solidFill>
                <a:latin typeface="Inter"/>
                <a:ea typeface="Inter"/>
                <a:cs typeface="Inter"/>
                <a:sym typeface="Inter"/>
              </a:rPr>
              <a:t>Multiple Tyk Gateways</a:t>
            </a:r>
            <a:endParaRPr b="1">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Circuit breakers run independently on each Gateway node.</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No shared state between Gateways (no centralized tracking).</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Ensures high availability and low latency.</a:t>
            </a:r>
            <a:endParaRPr>
              <a:solidFill>
                <a:srgbClr val="03031C"/>
              </a:solidFill>
              <a:latin typeface="Inter"/>
              <a:ea typeface="Inter"/>
              <a:cs typeface="Inter"/>
              <a:sym typeface="Inter"/>
            </a:endParaRPr>
          </a:p>
          <a:p>
            <a:pPr indent="-317500" lvl="0" marL="4572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In load-balanced setups:</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One Gateway might trip early.</a:t>
            </a:r>
            <a:endParaRPr>
              <a:solidFill>
                <a:srgbClr val="03031C"/>
              </a:solidFill>
              <a:latin typeface="Inter"/>
              <a:ea typeface="Inter"/>
              <a:cs typeface="Inter"/>
              <a:sym typeface="Inter"/>
            </a:endParaRPr>
          </a:p>
          <a:p>
            <a:pPr indent="-317500" lvl="1" marL="914400" rtl="0" algn="l">
              <a:lnSpc>
                <a:spcPct val="115000"/>
              </a:lnSpc>
              <a:spcBef>
                <a:spcPts val="0"/>
              </a:spcBef>
              <a:spcAft>
                <a:spcPts val="0"/>
              </a:spcAft>
              <a:buClr>
                <a:srgbClr val="03031C"/>
              </a:buClr>
              <a:buSzPts val="1400"/>
              <a:buFont typeface="Inter"/>
              <a:buChar char="○"/>
            </a:pPr>
            <a:r>
              <a:rPr lang="en-GB">
                <a:solidFill>
                  <a:srgbClr val="03031C"/>
                </a:solidFill>
                <a:latin typeface="Inter"/>
                <a:ea typeface="Inter"/>
                <a:cs typeface="Inter"/>
                <a:sym typeface="Inter"/>
              </a:rPr>
              <a:t>Others may continue sending traffic until they trip too.</a:t>
            </a:r>
            <a:endParaRPr>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157075"/>
            <a:ext cx="785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800">
                <a:solidFill>
                  <a:srgbClr val="5900CB"/>
                </a:solidFill>
                <a:latin typeface="Inter"/>
                <a:ea typeface="Inter"/>
                <a:cs typeface="Inter"/>
                <a:sym typeface="Inter"/>
              </a:rPr>
              <a:t>Multiple Upstreams &amp; Gateways</a:t>
            </a:r>
            <a:endParaRPr b="1" sz="3800">
              <a:solidFill>
                <a:srgbClr val="03031C"/>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