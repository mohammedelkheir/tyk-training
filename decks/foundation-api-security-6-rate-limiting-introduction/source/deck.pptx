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Inter"/>
      <p:regular r:id="rId13"/>
      <p:bold r:id="rId14"/>
      <p:italic r:id="rId15"/>
      <p:boldItalic r:id="rId16"/>
    </p:embeddedFont>
    <p:embeddedFont>
      <p:font typeface="Open Sans SemiBold"/>
      <p:regular r:id="rId17"/>
      <p:bold r:id="rId18"/>
      <p:italic r:id="rId19"/>
      <p:boldItalic r:id="rId20"/>
    </p:embeddedFont>
    <p:embeddedFont>
      <p:font typeface="Open Sa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SemiBold-boldItalic.fntdata"/><Relationship Id="rId11" Type="http://schemas.openxmlformats.org/officeDocument/2006/relationships/slide" Target="slides/slide6.xml"/><Relationship Id="rId22" Type="http://schemas.openxmlformats.org/officeDocument/2006/relationships/font" Target="fonts/OpenSans-bold.fntdata"/><Relationship Id="rId10" Type="http://schemas.openxmlformats.org/officeDocument/2006/relationships/slide" Target="slides/slide5.xml"/><Relationship Id="rId21" Type="http://schemas.openxmlformats.org/officeDocument/2006/relationships/font" Target="fonts/OpenSans-regular.fntdata"/><Relationship Id="rId13" Type="http://schemas.openxmlformats.org/officeDocument/2006/relationships/font" Target="fonts/Inter-regular.fntdata"/><Relationship Id="rId24" Type="http://schemas.openxmlformats.org/officeDocument/2006/relationships/font" Target="fonts/OpenSans-boldItalic.fntdata"/><Relationship Id="rId12" Type="http://schemas.openxmlformats.org/officeDocument/2006/relationships/slide" Target="slides/slide7.xml"/><Relationship Id="rId23" Type="http://schemas.openxmlformats.org/officeDocument/2006/relationships/font" Target="fonts/Open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italic.fntdata"/><Relationship Id="rId14" Type="http://schemas.openxmlformats.org/officeDocument/2006/relationships/font" Target="fonts/Inter-bold.fntdata"/><Relationship Id="rId17" Type="http://schemas.openxmlformats.org/officeDocument/2006/relationships/font" Target="fonts/OpenSansSemiBold-regular.fntdata"/><Relationship Id="rId16" Type="http://schemas.openxmlformats.org/officeDocument/2006/relationships/font" Target="fonts/Inter-boldItalic.fntdata"/><Relationship Id="rId5" Type="http://schemas.openxmlformats.org/officeDocument/2006/relationships/notesMaster" Target="notesMasters/notesMaster1.xml"/><Relationship Id="rId19" Type="http://schemas.openxmlformats.org/officeDocument/2006/relationships/font" Target="fonts/OpenSansSemiBold-italic.fntdata"/><Relationship Id="rId6" Type="http://schemas.openxmlformats.org/officeDocument/2006/relationships/slide" Target="slides/slide1.xml"/><Relationship Id="rId18" Type="http://schemas.openxmlformats.org/officeDocument/2006/relationships/font" Target="fonts/OpenSansSemiBold-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51dcb0dd5c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51dcb0dd5c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6a1223ce19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g36a1223ce19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Let's start with the basics — what is rate limiting?</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Rate limiting is a way to control how many requests a user or system can make to an API within a specific timeframe.</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Why do we need this? Because without any limits, someone — either intentionally or accidentally — could overload our system by sending thousands of requests in a short amount of time.</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So, by applying rate limits, we can protect our backend services, prevent abuse, and ensure that all users get a fair and consistent experience.</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For example, you can say: “This user can make 100 requests every 60 seconds.” Once they hit that limit, any additional requests will be blocked — usually with an HTTP 429 status code, which means Too Many Requests.</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It's kind of like traffic lights for your API — allowing the right flow of requests while preventing a traffic jam.</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6a1223ce19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 name="Google Shape;77;g36a1223ce19_0_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solidFill>
                  <a:schemeClr val="dk1"/>
                </a:solidFill>
              </a:rPr>
              <a:t>So heres a simple analogy,</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rPr lang="en-GB" sz="1100">
                <a:solidFill>
                  <a:schemeClr val="dk1"/>
                </a:solidFill>
                <a:latin typeface="Arial"/>
                <a:ea typeface="Arial"/>
                <a:cs typeface="Arial"/>
                <a:sym typeface="Arial"/>
              </a:rPr>
              <a:t>Imagine you're at a popular ice cream shop on a hot summer day. The server behind the counter can only scoop ice cream for a certain number of customers per minute.</a:t>
            </a:r>
            <a:endParaRPr sz="1100">
              <a:solidFill>
                <a:schemeClr val="dk1"/>
              </a:solidFill>
              <a:latin typeface="Arial"/>
              <a:ea typeface="Arial"/>
              <a:cs typeface="Arial"/>
              <a:sym typeface="Arial"/>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6a1223ce19_0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g36a1223ce19_0_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rPr lang="en-GB" sz="1100">
                <a:solidFill>
                  <a:schemeClr val="dk1"/>
                </a:solidFill>
                <a:latin typeface="Arial"/>
                <a:ea typeface="Arial"/>
                <a:cs typeface="Arial"/>
                <a:sym typeface="Arial"/>
              </a:rPr>
              <a:t>If too many customers show up at once and each order more than 2 scoops, the ice cream stand gets overwhelmed, and the line grows longer, causing everyone to wait for a very long time.</a:t>
            </a:r>
            <a:endParaRPr/>
          </a:p>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6a1223ce19_0_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g36a1223ce19_0_5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rPr lang="en-GB"/>
              <a:t> The ice cream shop got an idea and adds a policy that says, "Each customer can only order two scoops in a minute." This way, the server can handle the demand, and everyone gets to enjoy their treat!</a:t>
            </a:r>
            <a:endParaRPr/>
          </a:p>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6a1223ce19_0_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g36a1223ce19_0_7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rPr lang="en-GB"/>
              <a:t>Rate limits in the digital world work similarly. They control the number of requests (like customers) that can access an API (the ice cream server) within a specific time frame. This helps prevent the system from getting overwhelmed and ensures that everyone gets their share of ice cream (or data) without causing delays or crashes.</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The Gateway enforces the policy that a client can only make 2 requests per minute. If a client makes a 3rd request in the same minute, the Gateway will return an error to the client. This allows the API server to be able to handle the requests and not be overwhelmed.</a:t>
            </a:r>
            <a:endParaRPr/>
          </a:p>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6a1223ce19_0_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g36a1223ce19_0_8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Now that we know what rate limiting is, let's talk about why it matters.</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First, it helps mitigate API abuse and maintain performance. Without rate limiting, a single user — or worse, a bad actor — could flood your system with requests, causing slowdowns or even outages for everyone else.</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Rate limiting acts like an extra line of defense, especially in situations like DDoS attacks, where attackers try to overwhelm your service.</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Here’s a practical example:</a:t>
            </a:r>
            <a:endParaRPr/>
          </a:p>
          <a:p>
            <a:pPr indent="0" lvl="0" marL="0" rtl="0" algn="l">
              <a:lnSpc>
                <a:spcPct val="117999"/>
              </a:lnSpc>
              <a:spcBef>
                <a:spcPts val="0"/>
              </a:spcBef>
              <a:spcAft>
                <a:spcPts val="0"/>
              </a:spcAft>
              <a:buSzPts val="1400"/>
              <a:buNone/>
            </a:pPr>
            <a:r>
              <a:rPr lang="en-GB"/>
              <a:t>Let’s say you've tested your system and you know it performs well up to 500 requests per second. You wouldn’t want traffic to exceed that, right?</a:t>
            </a:r>
            <a:endParaRPr/>
          </a:p>
          <a:p>
            <a:pPr indent="0" lvl="0" marL="0" rtl="0" algn="l">
              <a:lnSpc>
                <a:spcPct val="117999"/>
              </a:lnSpc>
              <a:spcBef>
                <a:spcPts val="0"/>
              </a:spcBef>
              <a:spcAft>
                <a:spcPts val="0"/>
              </a:spcAft>
              <a:buSzPts val="1400"/>
              <a:buNone/>
            </a:pPr>
            <a:r>
              <a:rPr lang="en-GB"/>
              <a:t>So, you set a global rate limit at 500 RPS to keep your system stable.</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GB"/>
              <a:t>This way, even if something goes wrong — like a bug or a misbehaving client — your services are still protected.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slide" showMasterSp="0">
  <p:cSld name="Light slide">
    <p:bg>
      <p:bgPr>
        <a:solidFill>
          <a:srgbClr val="FFFFFF"/>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951731" y="1115566"/>
            <a:ext cx="5302200" cy="887700"/>
          </a:xfrm>
          <a:prstGeom prst="rect">
            <a:avLst/>
          </a:prstGeom>
          <a:noFill/>
          <a:ln>
            <a:noFill/>
          </a:ln>
        </p:spPr>
        <p:txBody>
          <a:bodyPr anchorCtr="0" anchor="t" bIns="0" lIns="0" spcFirstLastPara="1" rIns="0" wrap="square" tIns="0">
            <a:normAutofit/>
          </a:bodyPr>
          <a:lstStyle>
            <a:lvl1pPr indent="-419100" lvl="0" marL="457200" algn="l">
              <a:lnSpc>
                <a:spcPct val="100000"/>
              </a:lnSpc>
              <a:spcBef>
                <a:spcPts val="0"/>
              </a:spcBef>
              <a:spcAft>
                <a:spcPts val="0"/>
              </a:spcAft>
              <a:buClr>
                <a:srgbClr val="505071"/>
              </a:buClr>
              <a:buSzPts val="3000"/>
              <a:buFont typeface="Arial"/>
              <a:buChar char="●"/>
              <a:defRPr b="1" sz="3000">
                <a:solidFill>
                  <a:srgbClr val="505071"/>
                </a:solidFill>
                <a:latin typeface="Arial"/>
                <a:ea typeface="Arial"/>
                <a:cs typeface="Arial"/>
                <a:sym typeface="Arial"/>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sp>
        <p:nvSpPr>
          <p:cNvPr id="52" name="Google Shape;52;p13"/>
          <p:cNvSpPr txBox="1"/>
          <p:nvPr>
            <p:ph idx="2" type="body"/>
          </p:nvPr>
        </p:nvSpPr>
        <p:spPr>
          <a:xfrm>
            <a:off x="934600" y="858391"/>
            <a:ext cx="2825700" cy="200100"/>
          </a:xfrm>
          <a:prstGeom prst="rect">
            <a:avLst/>
          </a:prstGeom>
          <a:noFill/>
          <a:ln>
            <a:noFill/>
          </a:ln>
        </p:spPr>
        <p:txBody>
          <a:bodyPr anchorCtr="0" anchor="t" bIns="19050" lIns="19050" spcFirstLastPara="1" rIns="19050" wrap="square" tIns="19050">
            <a:normAutofit/>
          </a:bodyPr>
          <a:lstStyle>
            <a:lvl1pPr indent="-273050" lvl="0" marL="457200" algn="l">
              <a:lnSpc>
                <a:spcPct val="100000"/>
              </a:lnSpc>
              <a:spcBef>
                <a:spcPts val="0"/>
              </a:spcBef>
              <a:spcAft>
                <a:spcPts val="0"/>
              </a:spcAft>
              <a:buClr>
                <a:srgbClr val="7A79A1"/>
              </a:buClr>
              <a:buSzPts val="700"/>
              <a:buChar char="●"/>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pic>
        <p:nvPicPr>
          <p:cNvPr descr="logo_RGB-Transparent1-WEB.png" id="53" name="Google Shape;53;p13"/>
          <p:cNvPicPr preferRelativeResize="0"/>
          <p:nvPr/>
        </p:nvPicPr>
        <p:blipFill rotWithShape="1">
          <a:blip r:embed="rId2">
            <a:alphaModFix/>
          </a:blip>
          <a:srcRect b="40" l="0" r="0" t="40"/>
          <a:stretch/>
        </p:blipFill>
        <p:spPr>
          <a:xfrm>
            <a:off x="243186" y="4749582"/>
            <a:ext cx="279847" cy="142875"/>
          </a:xfrm>
          <a:prstGeom prst="rect">
            <a:avLst/>
          </a:prstGeom>
          <a:noFill/>
          <a:ln>
            <a:noFill/>
          </a:ln>
        </p:spPr>
      </p:pic>
      <p:sp>
        <p:nvSpPr>
          <p:cNvPr id="54" name="Google Shape;54;p13"/>
          <p:cNvSpPr txBox="1"/>
          <p:nvPr>
            <p:ph idx="3" type="body"/>
          </p:nvPr>
        </p:nvSpPr>
        <p:spPr>
          <a:xfrm>
            <a:off x="951731" y="2296477"/>
            <a:ext cx="3860100" cy="550500"/>
          </a:xfrm>
          <a:prstGeom prst="rect">
            <a:avLst/>
          </a:prstGeom>
          <a:noFill/>
          <a:ln>
            <a:noFill/>
          </a:ln>
        </p:spPr>
        <p:txBody>
          <a:bodyPr anchorCtr="0" anchor="t" bIns="0" lIns="0" spcFirstLastPara="1" rIns="0" wrap="square" tIns="0">
            <a:normAutofit/>
          </a:bodyPr>
          <a:lstStyle>
            <a:lvl1pPr indent="-273050" lvl="0" marL="457200" algn="l">
              <a:lnSpc>
                <a:spcPct val="120000"/>
              </a:lnSpc>
              <a:spcBef>
                <a:spcPts val="0"/>
              </a:spcBef>
              <a:spcAft>
                <a:spcPts val="0"/>
              </a:spcAft>
              <a:buClr>
                <a:srgbClr val="7A79A1"/>
              </a:buClr>
              <a:buSzPts val="700"/>
              <a:buChar char="●"/>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sp>
        <p:nvSpPr>
          <p:cNvPr id="55" name="Google Shape;55;p13"/>
          <p:cNvSpPr txBox="1"/>
          <p:nvPr>
            <p:ph idx="12" type="sldNum"/>
          </p:nvPr>
        </p:nvSpPr>
        <p:spPr>
          <a:xfrm>
            <a:off x="8543920" y="4773806"/>
            <a:ext cx="351600" cy="162000"/>
          </a:xfrm>
          <a:prstGeom prst="rect">
            <a:avLst/>
          </a:prstGeom>
          <a:noFill/>
          <a:ln>
            <a:noFill/>
          </a:ln>
        </p:spPr>
        <p:txBody>
          <a:bodyPr anchorCtr="0" anchor="b" bIns="0" lIns="0" spcFirstLastPara="1" rIns="0" wrap="square" tIns="0">
            <a:normAutofit/>
          </a:bodyPr>
          <a:lstStyle>
            <a:lvl1pPr indent="0" lvl="0"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1pPr>
            <a:lvl2pPr indent="0" lvl="1"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2pPr>
            <a:lvl3pPr indent="0" lvl="2"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3pPr>
            <a:lvl4pPr indent="0" lvl="3"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4pPr>
            <a:lvl5pPr indent="0" lvl="4"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5pPr>
            <a:lvl6pPr indent="0" lvl="5"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6pPr>
            <a:lvl7pPr indent="0" lvl="6"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7pPr>
            <a:lvl8pPr indent="0" lvl="7"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8pPr>
            <a:lvl9pPr indent="0" lvl="8"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Blank" showMasterSp="0">
  <p:cSld name="Light Blank">
    <p:bg>
      <p:bgPr>
        <a:solidFill>
          <a:srgbClr val="F7F9FF"/>
        </a:solidFill>
      </p:bgPr>
    </p:bg>
    <p:spTree>
      <p:nvGrpSpPr>
        <p:cNvPr id="56" name="Shape 56"/>
        <p:cNvGrpSpPr/>
        <p:nvPr/>
      </p:nvGrpSpPr>
      <p:grpSpPr>
        <a:xfrm>
          <a:off x="0" y="0"/>
          <a:ext cx="0" cy="0"/>
          <a:chOff x="0" y="0"/>
          <a:chExt cx="0" cy="0"/>
        </a:xfrm>
      </p:grpSpPr>
      <p:pic>
        <p:nvPicPr>
          <p:cNvPr descr="logo_RGB-Transparent1-WEB.png" id="57" name="Google Shape;57;p14"/>
          <p:cNvPicPr preferRelativeResize="0"/>
          <p:nvPr/>
        </p:nvPicPr>
        <p:blipFill rotWithShape="1">
          <a:blip r:embed="rId2">
            <a:alphaModFix/>
          </a:blip>
          <a:srcRect b="40" l="0" r="0" t="40"/>
          <a:stretch/>
        </p:blipFill>
        <p:spPr>
          <a:xfrm>
            <a:off x="243186" y="4749582"/>
            <a:ext cx="279847" cy="142875"/>
          </a:xfrm>
          <a:prstGeom prst="rect">
            <a:avLst/>
          </a:prstGeom>
          <a:noFill/>
          <a:ln>
            <a:noFill/>
          </a:ln>
        </p:spPr>
      </p:pic>
      <p:sp>
        <p:nvSpPr>
          <p:cNvPr id="58" name="Google Shape;58;p14"/>
          <p:cNvSpPr txBox="1"/>
          <p:nvPr>
            <p:ph idx="12" type="sldNum"/>
          </p:nvPr>
        </p:nvSpPr>
        <p:spPr>
          <a:xfrm>
            <a:off x="8739188" y="4762500"/>
            <a:ext cx="162600" cy="160200"/>
          </a:xfrm>
          <a:prstGeom prst="rect">
            <a:avLst/>
          </a:prstGeom>
          <a:noFill/>
          <a:ln>
            <a:noFill/>
          </a:ln>
          <a:effectLst>
            <a:outerShdw blurRad="381000" rotWithShape="0">
              <a:srgbClr val="000000">
                <a:alpha val="29409"/>
              </a:srgbClr>
            </a:outerShdw>
          </a:effectLst>
        </p:spPr>
        <p:txBody>
          <a:bodyPr anchorCtr="0" anchor="t" bIns="0" lIns="0" spcFirstLastPara="1" rIns="0" wrap="square" tIns="0">
            <a:noAutofit/>
          </a:bodyPr>
          <a:lstStyle>
            <a:lvl1pPr indent="0" lvl="0" marL="0" marR="0" algn="r">
              <a:lnSpc>
                <a:spcPct val="150000"/>
              </a:lnSpc>
              <a:spcBef>
                <a:spcPts val="0"/>
              </a:spcBef>
              <a:spcAft>
                <a:spcPts val="0"/>
              </a:spcAft>
              <a:buClr>
                <a:srgbClr val="00D9BA"/>
              </a:buClr>
              <a:buSzPts val="1100"/>
              <a:buFont typeface="Arial"/>
              <a:buNone/>
              <a:defRPr b="1" i="0" sz="1100" u="none" cap="none" strike="noStrike">
                <a:solidFill>
                  <a:srgbClr val="00D9BA"/>
                </a:solidFill>
                <a:latin typeface="Arial"/>
                <a:ea typeface="Arial"/>
                <a:cs typeface="Arial"/>
                <a:sym typeface="Arial"/>
              </a:defRPr>
            </a:lvl1pPr>
            <a:lvl2pPr indent="0" lvl="1" marL="0" marR="0" algn="r">
              <a:lnSpc>
                <a:spcPct val="150000"/>
              </a:lnSpc>
              <a:spcBef>
                <a:spcPts val="0"/>
              </a:spcBef>
              <a:spcAft>
                <a:spcPts val="0"/>
              </a:spcAft>
              <a:buClr>
                <a:srgbClr val="00D9BA"/>
              </a:buClr>
              <a:buSzPts val="1100"/>
              <a:buFont typeface="Arial"/>
              <a:buNone/>
              <a:defRPr b="1" i="0" sz="1100" u="none" cap="none" strike="noStrike">
                <a:solidFill>
                  <a:srgbClr val="00D9BA"/>
                </a:solidFill>
                <a:latin typeface="Arial"/>
                <a:ea typeface="Arial"/>
                <a:cs typeface="Arial"/>
                <a:sym typeface="Arial"/>
              </a:defRPr>
            </a:lvl2pPr>
            <a:lvl3pPr indent="0" lvl="2" marL="0" marR="0" algn="r">
              <a:lnSpc>
                <a:spcPct val="150000"/>
              </a:lnSpc>
              <a:spcBef>
                <a:spcPts val="0"/>
              </a:spcBef>
              <a:spcAft>
                <a:spcPts val="0"/>
              </a:spcAft>
              <a:buClr>
                <a:srgbClr val="00D9BA"/>
              </a:buClr>
              <a:buSzPts val="1100"/>
              <a:buFont typeface="Arial"/>
              <a:buNone/>
              <a:defRPr b="1" i="0" sz="1100" u="none" cap="none" strike="noStrike">
                <a:solidFill>
                  <a:srgbClr val="00D9BA"/>
                </a:solidFill>
                <a:latin typeface="Arial"/>
                <a:ea typeface="Arial"/>
                <a:cs typeface="Arial"/>
                <a:sym typeface="Arial"/>
              </a:defRPr>
            </a:lvl3pPr>
            <a:lvl4pPr indent="0" lvl="3" marL="0" marR="0" algn="r">
              <a:lnSpc>
                <a:spcPct val="150000"/>
              </a:lnSpc>
              <a:spcBef>
                <a:spcPts val="0"/>
              </a:spcBef>
              <a:spcAft>
                <a:spcPts val="0"/>
              </a:spcAft>
              <a:buClr>
                <a:srgbClr val="00D9BA"/>
              </a:buClr>
              <a:buSzPts val="1100"/>
              <a:buFont typeface="Arial"/>
              <a:buNone/>
              <a:defRPr b="1" i="0" sz="1100" u="none" cap="none" strike="noStrike">
                <a:solidFill>
                  <a:srgbClr val="00D9BA"/>
                </a:solidFill>
                <a:latin typeface="Arial"/>
                <a:ea typeface="Arial"/>
                <a:cs typeface="Arial"/>
                <a:sym typeface="Arial"/>
              </a:defRPr>
            </a:lvl4pPr>
            <a:lvl5pPr indent="0" lvl="4" marL="0" marR="0" algn="r">
              <a:lnSpc>
                <a:spcPct val="150000"/>
              </a:lnSpc>
              <a:spcBef>
                <a:spcPts val="0"/>
              </a:spcBef>
              <a:spcAft>
                <a:spcPts val="0"/>
              </a:spcAft>
              <a:buClr>
                <a:srgbClr val="00D9BA"/>
              </a:buClr>
              <a:buSzPts val="1100"/>
              <a:buFont typeface="Arial"/>
              <a:buNone/>
              <a:defRPr b="1" i="0" sz="1100" u="none" cap="none" strike="noStrike">
                <a:solidFill>
                  <a:srgbClr val="00D9BA"/>
                </a:solidFill>
                <a:latin typeface="Arial"/>
                <a:ea typeface="Arial"/>
                <a:cs typeface="Arial"/>
                <a:sym typeface="Arial"/>
              </a:defRPr>
            </a:lvl5pPr>
            <a:lvl6pPr indent="0" lvl="5" marL="0" marR="0" algn="r">
              <a:lnSpc>
                <a:spcPct val="150000"/>
              </a:lnSpc>
              <a:spcBef>
                <a:spcPts val="0"/>
              </a:spcBef>
              <a:spcAft>
                <a:spcPts val="0"/>
              </a:spcAft>
              <a:buClr>
                <a:srgbClr val="00D9BA"/>
              </a:buClr>
              <a:buSzPts val="1100"/>
              <a:buFont typeface="Arial"/>
              <a:buNone/>
              <a:defRPr b="1" i="0" sz="1100" u="none" cap="none" strike="noStrike">
                <a:solidFill>
                  <a:srgbClr val="00D9BA"/>
                </a:solidFill>
                <a:latin typeface="Arial"/>
                <a:ea typeface="Arial"/>
                <a:cs typeface="Arial"/>
                <a:sym typeface="Arial"/>
              </a:defRPr>
            </a:lvl6pPr>
            <a:lvl7pPr indent="0" lvl="6" marL="0" marR="0" algn="r">
              <a:lnSpc>
                <a:spcPct val="150000"/>
              </a:lnSpc>
              <a:spcBef>
                <a:spcPts val="0"/>
              </a:spcBef>
              <a:spcAft>
                <a:spcPts val="0"/>
              </a:spcAft>
              <a:buClr>
                <a:srgbClr val="00D9BA"/>
              </a:buClr>
              <a:buSzPts val="1100"/>
              <a:buFont typeface="Arial"/>
              <a:buNone/>
              <a:defRPr b="1" i="0" sz="1100" u="none" cap="none" strike="noStrike">
                <a:solidFill>
                  <a:srgbClr val="00D9BA"/>
                </a:solidFill>
                <a:latin typeface="Arial"/>
                <a:ea typeface="Arial"/>
                <a:cs typeface="Arial"/>
                <a:sym typeface="Arial"/>
              </a:defRPr>
            </a:lvl7pPr>
            <a:lvl8pPr indent="0" lvl="7" marL="0" marR="0" algn="r">
              <a:lnSpc>
                <a:spcPct val="150000"/>
              </a:lnSpc>
              <a:spcBef>
                <a:spcPts val="0"/>
              </a:spcBef>
              <a:spcAft>
                <a:spcPts val="0"/>
              </a:spcAft>
              <a:buClr>
                <a:srgbClr val="00D9BA"/>
              </a:buClr>
              <a:buSzPts val="1100"/>
              <a:buFont typeface="Arial"/>
              <a:buNone/>
              <a:defRPr b="1" i="0" sz="1100" u="none" cap="none" strike="noStrike">
                <a:solidFill>
                  <a:srgbClr val="00D9BA"/>
                </a:solidFill>
                <a:latin typeface="Arial"/>
                <a:ea typeface="Arial"/>
                <a:cs typeface="Arial"/>
                <a:sym typeface="Arial"/>
              </a:defRPr>
            </a:lvl8pPr>
            <a:lvl9pPr indent="0" lvl="8" marL="0" marR="0" algn="r">
              <a:lnSpc>
                <a:spcPct val="150000"/>
              </a:lnSpc>
              <a:spcBef>
                <a:spcPts val="0"/>
              </a:spcBef>
              <a:spcAft>
                <a:spcPts val="0"/>
              </a:spcAft>
              <a:buClr>
                <a:srgbClr val="00D9BA"/>
              </a:buClr>
              <a:buSzPts val="1100"/>
              <a:buFont typeface="Arial"/>
              <a:buNone/>
              <a:defRPr b="1" i="0" sz="1100" u="none" cap="none" strike="noStrike">
                <a:solidFill>
                  <a:srgbClr val="00D9BA"/>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b="0" sz="900">
              <a:solidFill>
                <a:srgbClr val="7A79A1"/>
              </a:solidFill>
              <a:latin typeface="Open Sans"/>
              <a:ea typeface="Open Sans"/>
              <a:cs typeface="Open Sans"/>
              <a:sym typeface="Open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png"/><Relationship Id="rId5" Type="http://schemas.openxmlformats.org/officeDocument/2006/relationships/image" Target="../media/image13.png"/><Relationship Id="rId6" Type="http://schemas.openxmlformats.org/officeDocument/2006/relationships/image" Target="../media/image6.png"/><Relationship Id="rId7" Type="http://schemas.openxmlformats.org/officeDocument/2006/relationships/image" Target="../media/image12.png"/><Relationship Id="rId8"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38FA"/>
            </a:gs>
            <a:gs pos="35000">
              <a:srgbClr val="8438FA"/>
            </a:gs>
            <a:gs pos="100000">
              <a:srgbClr val="BB11FF"/>
            </a:gs>
          </a:gsLst>
          <a:lin ang="2700006" scaled="0"/>
        </a:gradFill>
      </p:bgPr>
    </p:bg>
    <p:spTree>
      <p:nvGrpSpPr>
        <p:cNvPr id="62" name="Shape 62"/>
        <p:cNvGrpSpPr/>
        <p:nvPr/>
      </p:nvGrpSpPr>
      <p:grpSpPr>
        <a:xfrm>
          <a:off x="0" y="0"/>
          <a:ext cx="0" cy="0"/>
          <a:chOff x="0" y="0"/>
          <a:chExt cx="0" cy="0"/>
        </a:xfrm>
      </p:grpSpPr>
      <p:sp>
        <p:nvSpPr>
          <p:cNvPr id="63" name="Google Shape;63;p15"/>
          <p:cNvSpPr txBox="1"/>
          <p:nvPr/>
        </p:nvSpPr>
        <p:spPr>
          <a:xfrm>
            <a:off x="376425" y="962175"/>
            <a:ext cx="8425200" cy="135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800">
                <a:solidFill>
                  <a:schemeClr val="lt1"/>
                </a:solidFill>
                <a:latin typeface="Inter"/>
                <a:ea typeface="Inter"/>
                <a:cs typeface="Inter"/>
                <a:sym typeface="Inter"/>
              </a:rPr>
              <a:t>API </a:t>
            </a:r>
            <a:r>
              <a:rPr b="1" lang="en-GB" sz="3800">
                <a:solidFill>
                  <a:schemeClr val="lt1"/>
                </a:solidFill>
                <a:latin typeface="Inter"/>
                <a:ea typeface="Inter"/>
                <a:cs typeface="Inter"/>
                <a:sym typeface="Inter"/>
              </a:rPr>
              <a:t>Security with Tyk:</a:t>
            </a:r>
            <a:endParaRPr b="1" sz="3800">
              <a:solidFill>
                <a:schemeClr val="lt1"/>
              </a:solidFill>
              <a:latin typeface="Inter"/>
              <a:ea typeface="Inter"/>
              <a:cs typeface="Inter"/>
              <a:sym typeface="Inter"/>
            </a:endParaRPr>
          </a:p>
          <a:p>
            <a:pPr indent="0" lvl="0" marL="0" rtl="0" algn="ctr">
              <a:spcBef>
                <a:spcPts val="0"/>
              </a:spcBef>
              <a:spcAft>
                <a:spcPts val="0"/>
              </a:spcAft>
              <a:buNone/>
            </a:pPr>
            <a:r>
              <a:rPr b="1" lang="en-GB" sz="3800">
                <a:solidFill>
                  <a:schemeClr val="lt1"/>
                </a:solidFill>
                <a:latin typeface="Inter"/>
                <a:ea typeface="Inter"/>
                <a:cs typeface="Inter"/>
                <a:sym typeface="Inter"/>
              </a:rPr>
              <a:t>What is Rate Limiting</a:t>
            </a:r>
            <a:endParaRPr b="1" sz="3800">
              <a:solidFill>
                <a:schemeClr val="lt1"/>
              </a:solidFill>
              <a:latin typeface="Inter"/>
              <a:ea typeface="Inter"/>
              <a:cs typeface="Inter"/>
              <a:sym typeface="Inter"/>
            </a:endParaRPr>
          </a:p>
        </p:txBody>
      </p:sp>
      <p:sp>
        <p:nvSpPr>
          <p:cNvPr id="64" name="Google Shape;64;p15"/>
          <p:cNvSpPr txBox="1"/>
          <p:nvPr/>
        </p:nvSpPr>
        <p:spPr>
          <a:xfrm>
            <a:off x="1738950" y="2246175"/>
            <a:ext cx="56793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GB">
                <a:solidFill>
                  <a:schemeClr val="lt1"/>
                </a:solidFill>
                <a:latin typeface="Inter"/>
                <a:ea typeface="Inter"/>
                <a:cs typeface="Inter"/>
                <a:sym typeface="Inter"/>
              </a:rPr>
              <a:t>Understanding how Rate Limiting works</a:t>
            </a:r>
            <a:endParaRPr>
              <a:solidFill>
                <a:schemeClr val="lt1"/>
              </a:solidFill>
              <a:latin typeface="Inter"/>
              <a:ea typeface="Inter"/>
              <a:cs typeface="Inter"/>
              <a:sym typeface="Inter"/>
            </a:endParaRPr>
          </a:p>
        </p:txBody>
      </p:sp>
      <p:sp>
        <p:nvSpPr>
          <p:cNvPr id="65" name="Google Shape;65;p1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 name="Google Shape;66;p15"/>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idx="4294967295" type="title"/>
          </p:nvPr>
        </p:nvSpPr>
        <p:spPr>
          <a:xfrm>
            <a:off x="352425" y="45225"/>
            <a:ext cx="7030800" cy="1140600"/>
          </a:xfrm>
          <a:prstGeom prst="rect">
            <a:avLst/>
          </a:prstGeom>
          <a:noFill/>
          <a:ln>
            <a:noFill/>
          </a:ln>
        </p:spPr>
        <p:txBody>
          <a:bodyPr anchorCtr="0" anchor="ctr" bIns="17150" lIns="17150" spcFirstLastPara="1" rIns="17150" wrap="square" tIns="17150">
            <a:noAutofit/>
          </a:bodyPr>
          <a:lstStyle/>
          <a:p>
            <a:pPr indent="0" lvl="0" marL="0" rtl="0" algn="l">
              <a:lnSpc>
                <a:spcPct val="100000"/>
              </a:lnSpc>
              <a:spcBef>
                <a:spcPts val="0"/>
              </a:spcBef>
              <a:spcAft>
                <a:spcPts val="0"/>
              </a:spcAft>
              <a:buSzPts val="3000"/>
              <a:buNone/>
            </a:pPr>
            <a:r>
              <a:rPr b="1" lang="en-GB" sz="3800">
                <a:solidFill>
                  <a:srgbClr val="5900CB"/>
                </a:solidFill>
                <a:latin typeface="Inter"/>
                <a:ea typeface="Inter"/>
                <a:cs typeface="Inter"/>
                <a:sym typeface="Inter"/>
              </a:rPr>
              <a:t>What is Rate Limiting?</a:t>
            </a:r>
            <a:endParaRPr b="1" sz="3800">
              <a:solidFill>
                <a:srgbClr val="5900CB"/>
              </a:solidFill>
              <a:latin typeface="Inter"/>
              <a:ea typeface="Inter"/>
              <a:cs typeface="Inter"/>
              <a:sym typeface="Inter"/>
            </a:endParaRPr>
          </a:p>
        </p:txBody>
      </p:sp>
      <p:sp>
        <p:nvSpPr>
          <p:cNvPr id="72" name="Google Shape;72;p16"/>
          <p:cNvSpPr txBox="1"/>
          <p:nvPr/>
        </p:nvSpPr>
        <p:spPr>
          <a:xfrm>
            <a:off x="432225" y="1236169"/>
            <a:ext cx="8411100" cy="780300"/>
          </a:xfrm>
          <a:prstGeom prst="rect">
            <a:avLst/>
          </a:prstGeom>
          <a:noFill/>
          <a:ln>
            <a:noFill/>
          </a:ln>
        </p:spPr>
        <p:txBody>
          <a:bodyPr anchorCtr="0" anchor="t" bIns="34275" lIns="34275" spcFirstLastPara="1" rIns="34275" wrap="square" tIns="34275">
            <a:spAutoFit/>
          </a:bodyPr>
          <a:lstStyle/>
          <a:p>
            <a:pPr indent="-152400" lvl="0" marL="177800" marR="0" rtl="0" algn="l">
              <a:lnSpc>
                <a:spcPct val="115000"/>
              </a:lnSpc>
              <a:spcBef>
                <a:spcPts val="0"/>
              </a:spcBef>
              <a:spcAft>
                <a:spcPts val="0"/>
              </a:spcAft>
              <a:buClr>
                <a:srgbClr val="505071"/>
              </a:buClr>
              <a:buSzPts val="1400"/>
              <a:buFont typeface="Inter"/>
              <a:buChar char="●"/>
            </a:pPr>
            <a:r>
              <a:rPr lang="en-GB">
                <a:solidFill>
                  <a:srgbClr val="505071"/>
                </a:solidFill>
                <a:latin typeface="Inter"/>
                <a:ea typeface="Inter"/>
                <a:cs typeface="Inter"/>
                <a:sym typeface="Inter"/>
              </a:rPr>
              <a:t>Rate limiting controls how many requests a user/system can make in a given timeframe.</a:t>
            </a:r>
            <a:endParaRPr i="0" u="none" cap="none" strike="noStrike">
              <a:solidFill>
                <a:srgbClr val="505071"/>
              </a:solidFill>
              <a:latin typeface="Inter"/>
              <a:ea typeface="Inter"/>
              <a:cs typeface="Inter"/>
              <a:sym typeface="Inter"/>
            </a:endParaRPr>
          </a:p>
          <a:p>
            <a:pPr indent="-152400" lvl="0" marL="177800" marR="0" rtl="0" algn="l">
              <a:lnSpc>
                <a:spcPct val="115000"/>
              </a:lnSpc>
              <a:spcBef>
                <a:spcPts val="0"/>
              </a:spcBef>
              <a:spcAft>
                <a:spcPts val="0"/>
              </a:spcAft>
              <a:buClr>
                <a:srgbClr val="505071"/>
              </a:buClr>
              <a:buSzPts val="1400"/>
              <a:buFont typeface="Inter"/>
              <a:buChar char="●"/>
            </a:pPr>
            <a:r>
              <a:rPr i="0" lang="en-GB" u="none" cap="none" strike="noStrike">
                <a:solidFill>
                  <a:srgbClr val="505071"/>
                </a:solidFill>
                <a:latin typeface="Inter"/>
                <a:ea typeface="Inter"/>
                <a:cs typeface="Inter"/>
                <a:sym typeface="Inter"/>
              </a:rPr>
              <a:t>Prevent API abuse and maintain performance</a:t>
            </a:r>
            <a:endParaRPr i="0" u="none" cap="none" strike="noStrike">
              <a:solidFill>
                <a:srgbClr val="505071"/>
              </a:solidFill>
              <a:latin typeface="Inter"/>
              <a:ea typeface="Inter"/>
              <a:cs typeface="Inter"/>
              <a:sym typeface="Inter"/>
            </a:endParaRPr>
          </a:p>
          <a:p>
            <a:pPr indent="-152400" lvl="0" marL="177800" marR="0" rtl="0" algn="l">
              <a:lnSpc>
                <a:spcPct val="115000"/>
              </a:lnSpc>
              <a:spcBef>
                <a:spcPts val="0"/>
              </a:spcBef>
              <a:spcAft>
                <a:spcPts val="0"/>
              </a:spcAft>
              <a:buClr>
                <a:srgbClr val="505071"/>
              </a:buClr>
              <a:buSzPts val="1400"/>
              <a:buFont typeface="Inter"/>
              <a:buChar char="●"/>
            </a:pPr>
            <a:r>
              <a:rPr i="0" lang="en-GB" u="none" cap="none" strike="noStrike">
                <a:solidFill>
                  <a:srgbClr val="505071"/>
                </a:solidFill>
                <a:latin typeface="Inter"/>
                <a:ea typeface="Inter"/>
                <a:cs typeface="Inter"/>
                <a:sym typeface="Inter"/>
              </a:rPr>
              <a:t>Client can make x number of requests per y number of seconds</a:t>
            </a:r>
            <a:endParaRPr>
              <a:solidFill>
                <a:srgbClr val="505071"/>
              </a:solidFill>
              <a:latin typeface="Inter"/>
              <a:ea typeface="Inter"/>
              <a:cs typeface="Inter"/>
              <a:sym typeface="Inter"/>
            </a:endParaRPr>
          </a:p>
        </p:txBody>
      </p:sp>
      <p:sp>
        <p:nvSpPr>
          <p:cNvPr id="73" name="Google Shape;73;p16"/>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 name="Google Shape;74;p16"/>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17"/>
          <p:cNvPicPr preferRelativeResize="0"/>
          <p:nvPr/>
        </p:nvPicPr>
        <p:blipFill rotWithShape="1">
          <a:blip r:embed="rId3">
            <a:alphaModFix/>
          </a:blip>
          <a:srcRect b="0" l="0" r="0" t="0"/>
          <a:stretch/>
        </p:blipFill>
        <p:spPr>
          <a:xfrm>
            <a:off x="394753" y="1645875"/>
            <a:ext cx="1332984" cy="1332984"/>
          </a:xfrm>
          <a:prstGeom prst="rect">
            <a:avLst/>
          </a:prstGeom>
          <a:noFill/>
          <a:ln>
            <a:noFill/>
          </a:ln>
        </p:spPr>
      </p:pic>
      <p:pic>
        <p:nvPicPr>
          <p:cNvPr id="80" name="Google Shape;80;p17"/>
          <p:cNvPicPr preferRelativeResize="0"/>
          <p:nvPr/>
        </p:nvPicPr>
        <p:blipFill rotWithShape="1">
          <a:blip r:embed="rId4">
            <a:alphaModFix/>
          </a:blip>
          <a:srcRect b="0" l="0" r="0" t="0"/>
          <a:stretch/>
        </p:blipFill>
        <p:spPr>
          <a:xfrm>
            <a:off x="3182269" y="1749825"/>
            <a:ext cx="1229034" cy="1229034"/>
          </a:xfrm>
          <a:prstGeom prst="rect">
            <a:avLst/>
          </a:prstGeom>
          <a:noFill/>
          <a:ln>
            <a:noFill/>
          </a:ln>
        </p:spPr>
      </p:pic>
      <p:cxnSp>
        <p:nvCxnSpPr>
          <p:cNvPr id="81" name="Google Shape;81;p17"/>
          <p:cNvCxnSpPr>
            <a:stCxn id="80" idx="1"/>
          </p:cNvCxnSpPr>
          <p:nvPr/>
        </p:nvCxnSpPr>
        <p:spPr>
          <a:xfrm rot="10800000">
            <a:off x="1956769" y="2364342"/>
            <a:ext cx="1225500" cy="0"/>
          </a:xfrm>
          <a:prstGeom prst="straightConnector1">
            <a:avLst/>
          </a:prstGeom>
          <a:noFill/>
          <a:ln cap="flat" cmpd="sng" w="76200">
            <a:solidFill>
              <a:schemeClr val="dk1"/>
            </a:solidFill>
            <a:prstDash val="solid"/>
            <a:round/>
            <a:headEnd len="sm" w="sm" type="none"/>
            <a:tailEnd len="med" w="med" type="triangle"/>
          </a:ln>
        </p:spPr>
      </p:cxnSp>
      <p:sp>
        <p:nvSpPr>
          <p:cNvPr id="82" name="Google Shape;82;p17"/>
          <p:cNvSpPr txBox="1"/>
          <p:nvPr/>
        </p:nvSpPr>
        <p:spPr>
          <a:xfrm>
            <a:off x="341414" y="3073059"/>
            <a:ext cx="1439700" cy="2232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Open Sans"/>
                <a:ea typeface="Open Sans"/>
                <a:cs typeface="Open Sans"/>
                <a:sym typeface="Open Sans"/>
              </a:rPr>
              <a:t>2 Scoops  per minute</a:t>
            </a:r>
            <a:endParaRPr b="0" i="0" sz="1000" u="none" cap="none" strike="noStrike">
              <a:solidFill>
                <a:srgbClr val="000000"/>
              </a:solidFill>
              <a:latin typeface="Open Sans"/>
              <a:ea typeface="Open Sans"/>
              <a:cs typeface="Open Sans"/>
              <a:sym typeface="Open Sans"/>
            </a:endParaRPr>
          </a:p>
        </p:txBody>
      </p:sp>
      <p:sp>
        <p:nvSpPr>
          <p:cNvPr id="83" name="Google Shape;83;p17"/>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4" name="Google Shape;84;p17"/>
          <p:cNvPicPr preferRelativeResize="0"/>
          <p:nvPr/>
        </p:nvPicPr>
        <p:blipFill>
          <a:blip r:embed="rId5">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8"/>
          <p:cNvPicPr preferRelativeResize="0"/>
          <p:nvPr/>
        </p:nvPicPr>
        <p:blipFill rotWithShape="1">
          <a:blip r:embed="rId3">
            <a:alphaModFix/>
          </a:blip>
          <a:srcRect b="0" l="0" r="0" t="0"/>
          <a:stretch/>
        </p:blipFill>
        <p:spPr>
          <a:xfrm>
            <a:off x="394753" y="1645875"/>
            <a:ext cx="1332984" cy="1332984"/>
          </a:xfrm>
          <a:prstGeom prst="rect">
            <a:avLst/>
          </a:prstGeom>
          <a:noFill/>
          <a:ln>
            <a:noFill/>
          </a:ln>
        </p:spPr>
      </p:pic>
      <p:pic>
        <p:nvPicPr>
          <p:cNvPr id="90" name="Google Shape;90;p18"/>
          <p:cNvPicPr preferRelativeResize="0"/>
          <p:nvPr/>
        </p:nvPicPr>
        <p:blipFill rotWithShape="1">
          <a:blip r:embed="rId4">
            <a:alphaModFix/>
          </a:blip>
          <a:srcRect b="0" l="0" r="0" t="0"/>
          <a:stretch/>
        </p:blipFill>
        <p:spPr>
          <a:xfrm>
            <a:off x="3182269" y="1749825"/>
            <a:ext cx="1229034" cy="1229034"/>
          </a:xfrm>
          <a:prstGeom prst="rect">
            <a:avLst/>
          </a:prstGeom>
          <a:noFill/>
          <a:ln>
            <a:noFill/>
          </a:ln>
        </p:spPr>
      </p:pic>
      <p:cxnSp>
        <p:nvCxnSpPr>
          <p:cNvPr id="91" name="Google Shape;91;p18"/>
          <p:cNvCxnSpPr>
            <a:stCxn id="90" idx="1"/>
          </p:cNvCxnSpPr>
          <p:nvPr/>
        </p:nvCxnSpPr>
        <p:spPr>
          <a:xfrm rot="10800000">
            <a:off x="1956769" y="2364342"/>
            <a:ext cx="1225500" cy="0"/>
          </a:xfrm>
          <a:prstGeom prst="straightConnector1">
            <a:avLst/>
          </a:prstGeom>
          <a:noFill/>
          <a:ln cap="flat" cmpd="sng" w="76200">
            <a:solidFill>
              <a:schemeClr val="dk1"/>
            </a:solidFill>
            <a:prstDash val="solid"/>
            <a:round/>
            <a:headEnd len="sm" w="sm" type="none"/>
            <a:tailEnd len="med" w="med" type="triangle"/>
          </a:ln>
        </p:spPr>
      </p:cxnSp>
      <p:sp>
        <p:nvSpPr>
          <p:cNvPr id="92" name="Google Shape;92;p18"/>
          <p:cNvSpPr txBox="1"/>
          <p:nvPr/>
        </p:nvSpPr>
        <p:spPr>
          <a:xfrm>
            <a:off x="341414" y="3073059"/>
            <a:ext cx="1439700" cy="2232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Open Sans"/>
                <a:ea typeface="Open Sans"/>
                <a:cs typeface="Open Sans"/>
                <a:sym typeface="Open Sans"/>
              </a:rPr>
              <a:t>2 Scoops  per minute</a:t>
            </a:r>
            <a:endParaRPr b="0" i="0" sz="1000" u="none" cap="none" strike="noStrike">
              <a:solidFill>
                <a:srgbClr val="000000"/>
              </a:solidFill>
              <a:latin typeface="Open Sans"/>
              <a:ea typeface="Open Sans"/>
              <a:cs typeface="Open Sans"/>
              <a:sym typeface="Open Sans"/>
            </a:endParaRPr>
          </a:p>
        </p:txBody>
      </p:sp>
      <p:pic>
        <p:nvPicPr>
          <p:cNvPr id="93" name="Google Shape;93;p18"/>
          <p:cNvPicPr preferRelativeResize="0"/>
          <p:nvPr/>
        </p:nvPicPr>
        <p:blipFill rotWithShape="1">
          <a:blip r:embed="rId4">
            <a:alphaModFix/>
          </a:blip>
          <a:srcRect b="0" l="0" r="0" t="0"/>
          <a:stretch/>
        </p:blipFill>
        <p:spPr>
          <a:xfrm>
            <a:off x="3477431" y="1749825"/>
            <a:ext cx="1229034" cy="1229034"/>
          </a:xfrm>
          <a:prstGeom prst="rect">
            <a:avLst/>
          </a:prstGeom>
          <a:noFill/>
          <a:ln>
            <a:noFill/>
          </a:ln>
        </p:spPr>
      </p:pic>
      <p:pic>
        <p:nvPicPr>
          <p:cNvPr id="94" name="Google Shape;94;p18"/>
          <p:cNvPicPr preferRelativeResize="0"/>
          <p:nvPr/>
        </p:nvPicPr>
        <p:blipFill rotWithShape="1">
          <a:blip r:embed="rId4">
            <a:alphaModFix/>
          </a:blip>
          <a:srcRect b="0" l="0" r="0" t="0"/>
          <a:stretch/>
        </p:blipFill>
        <p:spPr>
          <a:xfrm>
            <a:off x="3725194" y="1749825"/>
            <a:ext cx="1229034" cy="1229034"/>
          </a:xfrm>
          <a:prstGeom prst="rect">
            <a:avLst/>
          </a:prstGeom>
          <a:noFill/>
          <a:ln>
            <a:noFill/>
          </a:ln>
        </p:spPr>
      </p:pic>
      <p:pic>
        <p:nvPicPr>
          <p:cNvPr id="95" name="Google Shape;95;p18"/>
          <p:cNvPicPr preferRelativeResize="0"/>
          <p:nvPr/>
        </p:nvPicPr>
        <p:blipFill rotWithShape="1">
          <a:blip r:embed="rId4">
            <a:alphaModFix/>
          </a:blip>
          <a:srcRect b="0" l="0" r="0" t="0"/>
          <a:stretch/>
        </p:blipFill>
        <p:spPr>
          <a:xfrm>
            <a:off x="4020356" y="1749825"/>
            <a:ext cx="1229034" cy="1229034"/>
          </a:xfrm>
          <a:prstGeom prst="rect">
            <a:avLst/>
          </a:prstGeom>
          <a:noFill/>
          <a:ln>
            <a:noFill/>
          </a:ln>
        </p:spPr>
      </p:pic>
      <p:pic>
        <p:nvPicPr>
          <p:cNvPr id="96" name="Google Shape;96;p18"/>
          <p:cNvPicPr preferRelativeResize="0"/>
          <p:nvPr/>
        </p:nvPicPr>
        <p:blipFill rotWithShape="1">
          <a:blip r:embed="rId4">
            <a:alphaModFix/>
          </a:blip>
          <a:srcRect b="0" l="0" r="0" t="0"/>
          <a:stretch/>
        </p:blipFill>
        <p:spPr>
          <a:xfrm>
            <a:off x="4296694" y="1749825"/>
            <a:ext cx="1229034" cy="1229034"/>
          </a:xfrm>
          <a:prstGeom prst="rect">
            <a:avLst/>
          </a:prstGeom>
          <a:noFill/>
          <a:ln>
            <a:noFill/>
          </a:ln>
        </p:spPr>
      </p:pic>
      <p:pic>
        <p:nvPicPr>
          <p:cNvPr id="97" name="Google Shape;97;p18"/>
          <p:cNvPicPr preferRelativeResize="0"/>
          <p:nvPr/>
        </p:nvPicPr>
        <p:blipFill rotWithShape="1">
          <a:blip r:embed="rId4">
            <a:alphaModFix/>
          </a:blip>
          <a:srcRect b="0" l="0" r="0" t="0"/>
          <a:stretch/>
        </p:blipFill>
        <p:spPr>
          <a:xfrm>
            <a:off x="4591856" y="1749825"/>
            <a:ext cx="1229034" cy="1229034"/>
          </a:xfrm>
          <a:prstGeom prst="rect">
            <a:avLst/>
          </a:prstGeom>
          <a:noFill/>
          <a:ln>
            <a:noFill/>
          </a:ln>
        </p:spPr>
      </p:pic>
      <p:pic>
        <p:nvPicPr>
          <p:cNvPr id="98" name="Google Shape;98;p18"/>
          <p:cNvPicPr preferRelativeResize="0"/>
          <p:nvPr/>
        </p:nvPicPr>
        <p:blipFill rotWithShape="1">
          <a:blip r:embed="rId4">
            <a:alphaModFix/>
          </a:blip>
          <a:srcRect b="0" l="0" r="0" t="0"/>
          <a:stretch/>
        </p:blipFill>
        <p:spPr>
          <a:xfrm>
            <a:off x="4839619" y="1749825"/>
            <a:ext cx="1229034" cy="1229034"/>
          </a:xfrm>
          <a:prstGeom prst="rect">
            <a:avLst/>
          </a:prstGeom>
          <a:noFill/>
          <a:ln>
            <a:noFill/>
          </a:ln>
        </p:spPr>
      </p:pic>
      <p:pic>
        <p:nvPicPr>
          <p:cNvPr id="99" name="Google Shape;99;p18"/>
          <p:cNvPicPr preferRelativeResize="0"/>
          <p:nvPr/>
        </p:nvPicPr>
        <p:blipFill rotWithShape="1">
          <a:blip r:embed="rId4">
            <a:alphaModFix/>
          </a:blip>
          <a:srcRect b="0" l="0" r="0" t="0"/>
          <a:stretch/>
        </p:blipFill>
        <p:spPr>
          <a:xfrm>
            <a:off x="5134781" y="1749825"/>
            <a:ext cx="1229034" cy="1229034"/>
          </a:xfrm>
          <a:prstGeom prst="rect">
            <a:avLst/>
          </a:prstGeom>
          <a:noFill/>
          <a:ln>
            <a:noFill/>
          </a:ln>
        </p:spPr>
      </p:pic>
      <p:pic>
        <p:nvPicPr>
          <p:cNvPr id="100" name="Google Shape;100;p18"/>
          <p:cNvPicPr preferRelativeResize="0"/>
          <p:nvPr/>
        </p:nvPicPr>
        <p:blipFill rotWithShape="1">
          <a:blip r:embed="rId4">
            <a:alphaModFix/>
          </a:blip>
          <a:srcRect b="0" l="0" r="0" t="0"/>
          <a:stretch/>
        </p:blipFill>
        <p:spPr>
          <a:xfrm>
            <a:off x="5411119" y="1749825"/>
            <a:ext cx="1229034" cy="1229034"/>
          </a:xfrm>
          <a:prstGeom prst="rect">
            <a:avLst/>
          </a:prstGeom>
          <a:noFill/>
          <a:ln>
            <a:noFill/>
          </a:ln>
        </p:spPr>
      </p:pic>
      <p:pic>
        <p:nvPicPr>
          <p:cNvPr id="101" name="Google Shape;101;p18"/>
          <p:cNvPicPr preferRelativeResize="0"/>
          <p:nvPr/>
        </p:nvPicPr>
        <p:blipFill rotWithShape="1">
          <a:blip r:embed="rId4">
            <a:alphaModFix/>
          </a:blip>
          <a:srcRect b="0" l="0" r="0" t="0"/>
          <a:stretch/>
        </p:blipFill>
        <p:spPr>
          <a:xfrm>
            <a:off x="5706281" y="1749825"/>
            <a:ext cx="1229034" cy="1229034"/>
          </a:xfrm>
          <a:prstGeom prst="rect">
            <a:avLst/>
          </a:prstGeom>
          <a:noFill/>
          <a:ln>
            <a:noFill/>
          </a:ln>
        </p:spPr>
      </p:pic>
      <p:pic>
        <p:nvPicPr>
          <p:cNvPr id="102" name="Google Shape;102;p18"/>
          <p:cNvPicPr preferRelativeResize="0"/>
          <p:nvPr/>
        </p:nvPicPr>
        <p:blipFill rotWithShape="1">
          <a:blip r:embed="rId4">
            <a:alphaModFix/>
          </a:blip>
          <a:srcRect b="0" l="0" r="0" t="0"/>
          <a:stretch/>
        </p:blipFill>
        <p:spPr>
          <a:xfrm>
            <a:off x="5954044" y="1749825"/>
            <a:ext cx="1229034" cy="1229034"/>
          </a:xfrm>
          <a:prstGeom prst="rect">
            <a:avLst/>
          </a:prstGeom>
          <a:noFill/>
          <a:ln>
            <a:noFill/>
          </a:ln>
        </p:spPr>
      </p:pic>
      <p:pic>
        <p:nvPicPr>
          <p:cNvPr id="103" name="Google Shape;103;p18"/>
          <p:cNvPicPr preferRelativeResize="0"/>
          <p:nvPr/>
        </p:nvPicPr>
        <p:blipFill rotWithShape="1">
          <a:blip r:embed="rId4">
            <a:alphaModFix/>
          </a:blip>
          <a:srcRect b="0" l="0" r="0" t="0"/>
          <a:stretch/>
        </p:blipFill>
        <p:spPr>
          <a:xfrm>
            <a:off x="6249206" y="1749825"/>
            <a:ext cx="1229034" cy="1229034"/>
          </a:xfrm>
          <a:prstGeom prst="rect">
            <a:avLst/>
          </a:prstGeom>
          <a:noFill/>
          <a:ln>
            <a:noFill/>
          </a:ln>
        </p:spPr>
      </p:pic>
      <p:pic>
        <p:nvPicPr>
          <p:cNvPr id="104" name="Google Shape;104;p18"/>
          <p:cNvPicPr preferRelativeResize="0"/>
          <p:nvPr/>
        </p:nvPicPr>
        <p:blipFill rotWithShape="1">
          <a:blip r:embed="rId4">
            <a:alphaModFix/>
          </a:blip>
          <a:srcRect b="0" l="0" r="0" t="0"/>
          <a:stretch/>
        </p:blipFill>
        <p:spPr>
          <a:xfrm>
            <a:off x="6525544" y="1749825"/>
            <a:ext cx="1229034" cy="1229034"/>
          </a:xfrm>
          <a:prstGeom prst="rect">
            <a:avLst/>
          </a:prstGeom>
          <a:noFill/>
          <a:ln>
            <a:noFill/>
          </a:ln>
        </p:spPr>
      </p:pic>
      <p:pic>
        <p:nvPicPr>
          <p:cNvPr id="105" name="Google Shape;105;p18"/>
          <p:cNvPicPr preferRelativeResize="0"/>
          <p:nvPr/>
        </p:nvPicPr>
        <p:blipFill rotWithShape="1">
          <a:blip r:embed="rId4">
            <a:alphaModFix/>
          </a:blip>
          <a:srcRect b="0" l="0" r="0" t="0"/>
          <a:stretch/>
        </p:blipFill>
        <p:spPr>
          <a:xfrm>
            <a:off x="6820706" y="1749825"/>
            <a:ext cx="1229034" cy="1229034"/>
          </a:xfrm>
          <a:prstGeom prst="rect">
            <a:avLst/>
          </a:prstGeom>
          <a:noFill/>
          <a:ln>
            <a:noFill/>
          </a:ln>
        </p:spPr>
      </p:pic>
      <p:pic>
        <p:nvPicPr>
          <p:cNvPr id="106" name="Google Shape;106;p18"/>
          <p:cNvPicPr preferRelativeResize="0"/>
          <p:nvPr/>
        </p:nvPicPr>
        <p:blipFill rotWithShape="1">
          <a:blip r:embed="rId4">
            <a:alphaModFix/>
          </a:blip>
          <a:srcRect b="0" l="0" r="0" t="0"/>
          <a:stretch/>
        </p:blipFill>
        <p:spPr>
          <a:xfrm>
            <a:off x="7068469" y="1749825"/>
            <a:ext cx="1229034" cy="1229034"/>
          </a:xfrm>
          <a:prstGeom prst="rect">
            <a:avLst/>
          </a:prstGeom>
          <a:noFill/>
          <a:ln>
            <a:noFill/>
          </a:ln>
        </p:spPr>
      </p:pic>
      <p:pic>
        <p:nvPicPr>
          <p:cNvPr id="107" name="Google Shape;107;p18"/>
          <p:cNvPicPr preferRelativeResize="0"/>
          <p:nvPr/>
        </p:nvPicPr>
        <p:blipFill rotWithShape="1">
          <a:blip r:embed="rId4">
            <a:alphaModFix/>
          </a:blip>
          <a:srcRect b="0" l="0" r="0" t="0"/>
          <a:stretch/>
        </p:blipFill>
        <p:spPr>
          <a:xfrm>
            <a:off x="7363631" y="1749825"/>
            <a:ext cx="1229034" cy="1229034"/>
          </a:xfrm>
          <a:prstGeom prst="rect">
            <a:avLst/>
          </a:prstGeom>
          <a:noFill/>
          <a:ln>
            <a:noFill/>
          </a:ln>
        </p:spPr>
      </p:pic>
      <p:sp>
        <p:nvSpPr>
          <p:cNvPr id="108" name="Google Shape;108;p18"/>
          <p:cNvSpPr txBox="1"/>
          <p:nvPr/>
        </p:nvSpPr>
        <p:spPr>
          <a:xfrm>
            <a:off x="3524480" y="1461150"/>
            <a:ext cx="544500" cy="3156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Open Sans"/>
                <a:ea typeface="Open Sans"/>
                <a:cs typeface="Open Sans"/>
                <a:sym typeface="Open Sans"/>
              </a:rPr>
              <a:t>10 Scoops</a:t>
            </a:r>
            <a:endParaRPr b="0" i="0" sz="800" u="none" cap="none" strike="noStrike">
              <a:solidFill>
                <a:srgbClr val="000000"/>
              </a:solidFill>
              <a:latin typeface="Open Sans"/>
              <a:ea typeface="Open Sans"/>
              <a:cs typeface="Open Sans"/>
              <a:sym typeface="Open Sans"/>
            </a:endParaRPr>
          </a:p>
        </p:txBody>
      </p:sp>
      <p:sp>
        <p:nvSpPr>
          <p:cNvPr id="109" name="Google Shape;109;p18"/>
          <p:cNvSpPr txBox="1"/>
          <p:nvPr/>
        </p:nvSpPr>
        <p:spPr>
          <a:xfrm>
            <a:off x="4411299" y="1461150"/>
            <a:ext cx="544500" cy="3156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Open Sans"/>
                <a:ea typeface="Open Sans"/>
                <a:cs typeface="Open Sans"/>
                <a:sym typeface="Open Sans"/>
              </a:rPr>
              <a:t>10 Scoops</a:t>
            </a:r>
            <a:endParaRPr b="0" i="0" sz="800" u="none" cap="none" strike="noStrike">
              <a:solidFill>
                <a:srgbClr val="000000"/>
              </a:solidFill>
              <a:latin typeface="Open Sans"/>
              <a:ea typeface="Open Sans"/>
              <a:cs typeface="Open Sans"/>
              <a:sym typeface="Open Sans"/>
            </a:endParaRPr>
          </a:p>
        </p:txBody>
      </p:sp>
      <p:sp>
        <p:nvSpPr>
          <p:cNvPr id="110" name="Google Shape;110;p18"/>
          <p:cNvSpPr txBox="1"/>
          <p:nvPr/>
        </p:nvSpPr>
        <p:spPr>
          <a:xfrm>
            <a:off x="5298117" y="1461150"/>
            <a:ext cx="544500" cy="3156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Open Sans"/>
                <a:ea typeface="Open Sans"/>
                <a:cs typeface="Open Sans"/>
                <a:sym typeface="Open Sans"/>
              </a:rPr>
              <a:t>10 Scoops</a:t>
            </a:r>
            <a:endParaRPr b="0" i="0" sz="800" u="none" cap="none" strike="noStrike">
              <a:solidFill>
                <a:srgbClr val="000000"/>
              </a:solidFill>
              <a:latin typeface="Open Sans"/>
              <a:ea typeface="Open Sans"/>
              <a:cs typeface="Open Sans"/>
              <a:sym typeface="Open Sans"/>
            </a:endParaRPr>
          </a:p>
        </p:txBody>
      </p:sp>
      <p:sp>
        <p:nvSpPr>
          <p:cNvPr id="111" name="Google Shape;111;p18"/>
          <p:cNvSpPr txBox="1"/>
          <p:nvPr/>
        </p:nvSpPr>
        <p:spPr>
          <a:xfrm>
            <a:off x="7071755" y="1461150"/>
            <a:ext cx="544500" cy="3156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Open Sans"/>
                <a:ea typeface="Open Sans"/>
                <a:cs typeface="Open Sans"/>
                <a:sym typeface="Open Sans"/>
              </a:rPr>
              <a:t>10 Scoops</a:t>
            </a:r>
            <a:endParaRPr b="0" i="0" sz="800" u="none" cap="none" strike="noStrike">
              <a:solidFill>
                <a:srgbClr val="000000"/>
              </a:solidFill>
              <a:latin typeface="Open Sans"/>
              <a:ea typeface="Open Sans"/>
              <a:cs typeface="Open Sans"/>
              <a:sym typeface="Open Sans"/>
            </a:endParaRPr>
          </a:p>
        </p:txBody>
      </p:sp>
      <p:sp>
        <p:nvSpPr>
          <p:cNvPr id="112" name="Google Shape;112;p18"/>
          <p:cNvSpPr txBox="1"/>
          <p:nvPr/>
        </p:nvSpPr>
        <p:spPr>
          <a:xfrm>
            <a:off x="3819638" y="1402650"/>
            <a:ext cx="544500" cy="1923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Open Sans"/>
                <a:ea typeface="Open Sans"/>
                <a:cs typeface="Open Sans"/>
                <a:sym typeface="Open Sans"/>
              </a:rPr>
              <a:t>2 Scoops</a:t>
            </a:r>
            <a:endParaRPr b="0" i="0" sz="800" u="none" cap="none" strike="noStrike">
              <a:solidFill>
                <a:srgbClr val="000000"/>
              </a:solidFill>
              <a:latin typeface="Open Sans"/>
              <a:ea typeface="Open Sans"/>
              <a:cs typeface="Open Sans"/>
              <a:sym typeface="Open Sans"/>
            </a:endParaRPr>
          </a:p>
        </p:txBody>
      </p:sp>
      <p:sp>
        <p:nvSpPr>
          <p:cNvPr id="113" name="Google Shape;113;p18"/>
          <p:cNvSpPr txBox="1"/>
          <p:nvPr/>
        </p:nvSpPr>
        <p:spPr>
          <a:xfrm>
            <a:off x="5704589" y="1338788"/>
            <a:ext cx="544500" cy="1923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Open Sans"/>
                <a:ea typeface="Open Sans"/>
                <a:cs typeface="Open Sans"/>
                <a:sym typeface="Open Sans"/>
              </a:rPr>
              <a:t>2 Scoops</a:t>
            </a:r>
            <a:endParaRPr b="0" i="0" sz="800" u="none" cap="none" strike="noStrike">
              <a:solidFill>
                <a:srgbClr val="000000"/>
              </a:solidFill>
              <a:latin typeface="Open Sans"/>
              <a:ea typeface="Open Sans"/>
              <a:cs typeface="Open Sans"/>
              <a:sym typeface="Open Sans"/>
            </a:endParaRPr>
          </a:p>
        </p:txBody>
      </p:sp>
      <p:sp>
        <p:nvSpPr>
          <p:cNvPr id="114" name="Google Shape;114;p18"/>
          <p:cNvSpPr txBox="1"/>
          <p:nvPr/>
        </p:nvSpPr>
        <p:spPr>
          <a:xfrm>
            <a:off x="7884699" y="1402650"/>
            <a:ext cx="544500" cy="1923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Open Sans"/>
                <a:ea typeface="Open Sans"/>
                <a:cs typeface="Open Sans"/>
                <a:sym typeface="Open Sans"/>
              </a:rPr>
              <a:t>2 Scoops</a:t>
            </a:r>
            <a:endParaRPr b="0" i="0" sz="800" u="none" cap="none" strike="noStrike">
              <a:solidFill>
                <a:srgbClr val="000000"/>
              </a:solidFill>
              <a:latin typeface="Open Sans"/>
              <a:ea typeface="Open Sans"/>
              <a:cs typeface="Open Sans"/>
              <a:sym typeface="Open Sans"/>
            </a:endParaRPr>
          </a:p>
        </p:txBody>
      </p:sp>
      <p:sp>
        <p:nvSpPr>
          <p:cNvPr id="115" name="Google Shape;115;p18"/>
          <p:cNvSpPr txBox="1"/>
          <p:nvPr/>
        </p:nvSpPr>
        <p:spPr>
          <a:xfrm>
            <a:off x="6184936" y="1461150"/>
            <a:ext cx="544500" cy="1923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Open Sans"/>
                <a:ea typeface="Open Sans"/>
                <a:cs typeface="Open Sans"/>
                <a:sym typeface="Open Sans"/>
              </a:rPr>
              <a:t>7 Scoops</a:t>
            </a:r>
            <a:endParaRPr b="0" i="0" sz="800" u="none" cap="none" strike="noStrike">
              <a:solidFill>
                <a:srgbClr val="000000"/>
              </a:solidFill>
              <a:latin typeface="Open Sans"/>
              <a:ea typeface="Open Sans"/>
              <a:cs typeface="Open Sans"/>
              <a:sym typeface="Open Sans"/>
            </a:endParaRPr>
          </a:p>
        </p:txBody>
      </p:sp>
      <p:sp>
        <p:nvSpPr>
          <p:cNvPr id="116" name="Google Shape;116;p18"/>
          <p:cNvSpPr txBox="1"/>
          <p:nvPr/>
        </p:nvSpPr>
        <p:spPr>
          <a:xfrm>
            <a:off x="5704589" y="1523513"/>
            <a:ext cx="544500" cy="1923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Open Sans"/>
                <a:ea typeface="Open Sans"/>
                <a:cs typeface="Open Sans"/>
                <a:sym typeface="Open Sans"/>
              </a:rPr>
              <a:t>7 Scoops</a:t>
            </a:r>
            <a:endParaRPr b="0" i="0" sz="800" u="none" cap="none" strike="noStrike">
              <a:solidFill>
                <a:srgbClr val="000000"/>
              </a:solidFill>
              <a:latin typeface="Open Sans"/>
              <a:ea typeface="Open Sans"/>
              <a:cs typeface="Open Sans"/>
              <a:sym typeface="Open Sans"/>
            </a:endParaRPr>
          </a:p>
        </p:txBody>
      </p:sp>
      <p:sp>
        <p:nvSpPr>
          <p:cNvPr id="117" name="Google Shape;117;p18"/>
          <p:cNvSpPr txBox="1"/>
          <p:nvPr/>
        </p:nvSpPr>
        <p:spPr>
          <a:xfrm>
            <a:off x="4854708" y="1402650"/>
            <a:ext cx="544500" cy="1923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Open Sans"/>
                <a:ea typeface="Open Sans"/>
                <a:cs typeface="Open Sans"/>
                <a:sym typeface="Open Sans"/>
              </a:rPr>
              <a:t>7 Scoops</a:t>
            </a:r>
            <a:endParaRPr b="0" i="0" sz="800" u="none" cap="none" strike="noStrike">
              <a:solidFill>
                <a:srgbClr val="000000"/>
              </a:solidFill>
              <a:latin typeface="Open Sans"/>
              <a:ea typeface="Open Sans"/>
              <a:cs typeface="Open Sans"/>
              <a:sym typeface="Open Sans"/>
            </a:endParaRPr>
          </a:p>
        </p:txBody>
      </p:sp>
      <p:sp>
        <p:nvSpPr>
          <p:cNvPr id="118" name="Google Shape;118;p18"/>
          <p:cNvSpPr txBox="1"/>
          <p:nvPr/>
        </p:nvSpPr>
        <p:spPr>
          <a:xfrm>
            <a:off x="6591413" y="1402650"/>
            <a:ext cx="544500" cy="1923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Open Sans"/>
                <a:ea typeface="Open Sans"/>
                <a:cs typeface="Open Sans"/>
                <a:sym typeface="Open Sans"/>
              </a:rPr>
              <a:t>7 Scoops</a:t>
            </a:r>
            <a:endParaRPr b="0" i="0" sz="800" u="none" cap="none" strike="noStrike">
              <a:solidFill>
                <a:srgbClr val="000000"/>
              </a:solidFill>
              <a:latin typeface="Open Sans"/>
              <a:ea typeface="Open Sans"/>
              <a:cs typeface="Open Sans"/>
              <a:sym typeface="Open Sans"/>
            </a:endParaRPr>
          </a:p>
        </p:txBody>
      </p:sp>
      <p:sp>
        <p:nvSpPr>
          <p:cNvPr id="119" name="Google Shape;119;p18"/>
          <p:cNvSpPr txBox="1"/>
          <p:nvPr/>
        </p:nvSpPr>
        <p:spPr>
          <a:xfrm>
            <a:off x="7410680" y="1523513"/>
            <a:ext cx="544500" cy="1923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Open Sans"/>
                <a:ea typeface="Open Sans"/>
                <a:cs typeface="Open Sans"/>
                <a:sym typeface="Open Sans"/>
              </a:rPr>
              <a:t>5 Scoops</a:t>
            </a:r>
            <a:endParaRPr b="0" i="0" sz="800" u="none" cap="none" strike="noStrike">
              <a:solidFill>
                <a:srgbClr val="000000"/>
              </a:solidFill>
              <a:latin typeface="Open Sans"/>
              <a:ea typeface="Open Sans"/>
              <a:cs typeface="Open Sans"/>
              <a:sym typeface="Open Sans"/>
            </a:endParaRPr>
          </a:p>
        </p:txBody>
      </p:sp>
      <p:sp>
        <p:nvSpPr>
          <p:cNvPr id="120" name="Google Shape;120;p18"/>
          <p:cNvSpPr txBox="1"/>
          <p:nvPr/>
        </p:nvSpPr>
        <p:spPr>
          <a:xfrm>
            <a:off x="4004827" y="1523513"/>
            <a:ext cx="544500" cy="1923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Open Sans"/>
                <a:ea typeface="Open Sans"/>
                <a:cs typeface="Open Sans"/>
                <a:sym typeface="Open Sans"/>
              </a:rPr>
              <a:t>5 Scoops</a:t>
            </a:r>
            <a:endParaRPr b="0" i="0" sz="800" u="none" cap="none" strike="noStrike">
              <a:solidFill>
                <a:srgbClr val="000000"/>
              </a:solidFill>
              <a:latin typeface="Open Sans"/>
              <a:ea typeface="Open Sans"/>
              <a:cs typeface="Open Sans"/>
              <a:sym typeface="Open Sans"/>
            </a:endParaRPr>
          </a:p>
        </p:txBody>
      </p:sp>
      <p:sp>
        <p:nvSpPr>
          <p:cNvPr id="121" name="Google Shape;121;p18"/>
          <p:cNvSpPr txBox="1"/>
          <p:nvPr/>
        </p:nvSpPr>
        <p:spPr>
          <a:xfrm>
            <a:off x="4762111" y="1523513"/>
            <a:ext cx="544500" cy="1923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Open Sans"/>
                <a:ea typeface="Open Sans"/>
                <a:cs typeface="Open Sans"/>
                <a:sym typeface="Open Sans"/>
              </a:rPr>
              <a:t>5 Scoops</a:t>
            </a:r>
            <a:endParaRPr b="0" i="0" sz="800" u="none" cap="none" strike="noStrike">
              <a:solidFill>
                <a:srgbClr val="000000"/>
              </a:solidFill>
              <a:latin typeface="Open Sans"/>
              <a:ea typeface="Open Sans"/>
              <a:cs typeface="Open Sans"/>
              <a:sym typeface="Open Sans"/>
            </a:endParaRPr>
          </a:p>
        </p:txBody>
      </p:sp>
      <p:sp>
        <p:nvSpPr>
          <p:cNvPr id="122" name="Google Shape;122;p18"/>
          <p:cNvSpPr txBox="1"/>
          <p:nvPr/>
        </p:nvSpPr>
        <p:spPr>
          <a:xfrm>
            <a:off x="6445477" y="1587375"/>
            <a:ext cx="544500" cy="1923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Open Sans"/>
                <a:ea typeface="Open Sans"/>
                <a:cs typeface="Open Sans"/>
                <a:sym typeface="Open Sans"/>
              </a:rPr>
              <a:t>5 Scoops</a:t>
            </a:r>
            <a:endParaRPr b="0" i="0" sz="800" u="none" cap="none" strike="noStrike">
              <a:solidFill>
                <a:srgbClr val="000000"/>
              </a:solidFill>
              <a:latin typeface="Open Sans"/>
              <a:ea typeface="Open Sans"/>
              <a:cs typeface="Open Sans"/>
              <a:sym typeface="Open Sans"/>
            </a:endParaRPr>
          </a:p>
        </p:txBody>
      </p:sp>
      <p:sp>
        <p:nvSpPr>
          <p:cNvPr id="123" name="Google Shape;123;p18"/>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4" name="Google Shape;124;p18"/>
          <p:cNvPicPr preferRelativeResize="0"/>
          <p:nvPr/>
        </p:nvPicPr>
        <p:blipFill>
          <a:blip r:embed="rId5">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19"/>
          <p:cNvPicPr preferRelativeResize="0"/>
          <p:nvPr/>
        </p:nvPicPr>
        <p:blipFill rotWithShape="1">
          <a:blip r:embed="rId3">
            <a:alphaModFix/>
          </a:blip>
          <a:srcRect b="0" l="0" r="0" t="0"/>
          <a:stretch/>
        </p:blipFill>
        <p:spPr>
          <a:xfrm>
            <a:off x="394753" y="1645875"/>
            <a:ext cx="1332984" cy="1332984"/>
          </a:xfrm>
          <a:prstGeom prst="rect">
            <a:avLst/>
          </a:prstGeom>
          <a:noFill/>
          <a:ln>
            <a:noFill/>
          </a:ln>
        </p:spPr>
      </p:pic>
      <p:pic>
        <p:nvPicPr>
          <p:cNvPr id="130" name="Google Shape;130;p19"/>
          <p:cNvPicPr preferRelativeResize="0"/>
          <p:nvPr/>
        </p:nvPicPr>
        <p:blipFill rotWithShape="1">
          <a:blip r:embed="rId4">
            <a:alphaModFix/>
          </a:blip>
          <a:srcRect b="0" l="0" r="0" t="0"/>
          <a:stretch/>
        </p:blipFill>
        <p:spPr>
          <a:xfrm>
            <a:off x="3182269" y="1749825"/>
            <a:ext cx="1229034" cy="1229034"/>
          </a:xfrm>
          <a:prstGeom prst="rect">
            <a:avLst/>
          </a:prstGeom>
          <a:noFill/>
          <a:ln>
            <a:noFill/>
          </a:ln>
        </p:spPr>
      </p:pic>
      <p:cxnSp>
        <p:nvCxnSpPr>
          <p:cNvPr id="131" name="Google Shape;131;p19"/>
          <p:cNvCxnSpPr>
            <a:stCxn id="130" idx="1"/>
          </p:cNvCxnSpPr>
          <p:nvPr/>
        </p:nvCxnSpPr>
        <p:spPr>
          <a:xfrm rot="10800000">
            <a:off x="1956769" y="2364342"/>
            <a:ext cx="1225500" cy="0"/>
          </a:xfrm>
          <a:prstGeom prst="straightConnector1">
            <a:avLst/>
          </a:prstGeom>
          <a:noFill/>
          <a:ln cap="flat" cmpd="sng" w="76200">
            <a:solidFill>
              <a:schemeClr val="dk1"/>
            </a:solidFill>
            <a:prstDash val="solid"/>
            <a:round/>
            <a:headEnd len="sm" w="sm" type="none"/>
            <a:tailEnd len="med" w="med" type="triangle"/>
          </a:ln>
        </p:spPr>
      </p:cxnSp>
      <p:sp>
        <p:nvSpPr>
          <p:cNvPr id="132" name="Google Shape;132;p19"/>
          <p:cNvSpPr txBox="1"/>
          <p:nvPr/>
        </p:nvSpPr>
        <p:spPr>
          <a:xfrm>
            <a:off x="341414" y="3073059"/>
            <a:ext cx="1439700" cy="2232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Open Sans"/>
                <a:ea typeface="Open Sans"/>
                <a:cs typeface="Open Sans"/>
                <a:sym typeface="Open Sans"/>
              </a:rPr>
              <a:t>2 Scoops  per minute</a:t>
            </a:r>
            <a:endParaRPr b="0" i="0" sz="1000" u="none" cap="none" strike="noStrike">
              <a:solidFill>
                <a:srgbClr val="000000"/>
              </a:solidFill>
              <a:latin typeface="Open Sans"/>
              <a:ea typeface="Open Sans"/>
              <a:cs typeface="Open Sans"/>
              <a:sym typeface="Open Sans"/>
            </a:endParaRPr>
          </a:p>
        </p:txBody>
      </p:sp>
      <p:pic>
        <p:nvPicPr>
          <p:cNvPr id="133" name="Google Shape;133;p19"/>
          <p:cNvPicPr preferRelativeResize="0"/>
          <p:nvPr/>
        </p:nvPicPr>
        <p:blipFill rotWithShape="1">
          <a:blip r:embed="rId5">
            <a:alphaModFix/>
          </a:blip>
          <a:srcRect b="0" l="0" r="0" t="0"/>
          <a:stretch/>
        </p:blipFill>
        <p:spPr>
          <a:xfrm>
            <a:off x="146845" y="-78975"/>
            <a:ext cx="1828800" cy="1828800"/>
          </a:xfrm>
          <a:prstGeom prst="rect">
            <a:avLst/>
          </a:prstGeom>
          <a:noFill/>
          <a:ln>
            <a:noFill/>
          </a:ln>
        </p:spPr>
      </p:pic>
      <p:sp>
        <p:nvSpPr>
          <p:cNvPr id="134" name="Google Shape;134;p19"/>
          <p:cNvSpPr txBox="1"/>
          <p:nvPr/>
        </p:nvSpPr>
        <p:spPr>
          <a:xfrm>
            <a:off x="572044" y="824634"/>
            <a:ext cx="978300" cy="392400"/>
          </a:xfrm>
          <a:prstGeom prst="rect">
            <a:avLst/>
          </a:prstGeom>
          <a:noFill/>
          <a:ln>
            <a:noFill/>
          </a:ln>
        </p:spPr>
        <p:txBody>
          <a:bodyPr anchorCtr="0" anchor="t" bIns="34275" lIns="34275" spcFirstLastPara="1" rIns="342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GB" sz="700" u="none" cap="none" strike="noStrike">
                <a:solidFill>
                  <a:srgbClr val="000000"/>
                </a:solidFill>
                <a:latin typeface="Open Sans"/>
                <a:ea typeface="Open Sans"/>
                <a:cs typeface="Open Sans"/>
                <a:sym typeface="Open Sans"/>
              </a:rPr>
              <a:t>2 Scoops per minute</a:t>
            </a:r>
            <a:endParaRPr b="0" i="0" sz="700" u="none"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100"/>
              <a:buFont typeface="Arial"/>
              <a:buNone/>
            </a:pPr>
            <a:r>
              <a:rPr lang="en-GB" sz="700">
                <a:latin typeface="Open Sans"/>
                <a:ea typeface="Open Sans"/>
                <a:cs typeface="Open Sans"/>
                <a:sym typeface="Open Sans"/>
              </a:rPr>
              <a:t>Please come again later</a:t>
            </a:r>
            <a:endParaRPr sz="700">
              <a:latin typeface="Open Sans"/>
              <a:ea typeface="Open Sans"/>
              <a:cs typeface="Open Sans"/>
              <a:sym typeface="Open Sans"/>
            </a:endParaRPr>
          </a:p>
        </p:txBody>
      </p:sp>
      <p:pic>
        <p:nvPicPr>
          <p:cNvPr id="135" name="Google Shape;135;p19"/>
          <p:cNvPicPr preferRelativeResize="0"/>
          <p:nvPr/>
        </p:nvPicPr>
        <p:blipFill rotWithShape="1">
          <a:blip r:embed="rId4">
            <a:alphaModFix/>
          </a:blip>
          <a:srcRect b="0" l="0" r="0" t="0"/>
          <a:stretch/>
        </p:blipFill>
        <p:spPr>
          <a:xfrm>
            <a:off x="3861544" y="1749825"/>
            <a:ext cx="1229034" cy="1229034"/>
          </a:xfrm>
          <a:prstGeom prst="rect">
            <a:avLst/>
          </a:prstGeom>
          <a:noFill/>
          <a:ln>
            <a:noFill/>
          </a:ln>
        </p:spPr>
      </p:pic>
      <p:pic>
        <p:nvPicPr>
          <p:cNvPr id="136" name="Google Shape;136;p19"/>
          <p:cNvPicPr preferRelativeResize="0"/>
          <p:nvPr/>
        </p:nvPicPr>
        <p:blipFill rotWithShape="1">
          <a:blip r:embed="rId4">
            <a:alphaModFix/>
          </a:blip>
          <a:srcRect b="0" l="0" r="0" t="0"/>
          <a:stretch/>
        </p:blipFill>
        <p:spPr>
          <a:xfrm>
            <a:off x="4519078" y="1749825"/>
            <a:ext cx="1229034" cy="1229034"/>
          </a:xfrm>
          <a:prstGeom prst="rect">
            <a:avLst/>
          </a:prstGeom>
          <a:noFill/>
          <a:ln>
            <a:noFill/>
          </a:ln>
        </p:spPr>
      </p:pic>
      <p:pic>
        <p:nvPicPr>
          <p:cNvPr id="137" name="Google Shape;137;p19"/>
          <p:cNvPicPr preferRelativeResize="0"/>
          <p:nvPr/>
        </p:nvPicPr>
        <p:blipFill rotWithShape="1">
          <a:blip r:embed="rId4">
            <a:alphaModFix/>
          </a:blip>
          <a:srcRect b="0" l="0" r="0" t="0"/>
          <a:stretch/>
        </p:blipFill>
        <p:spPr>
          <a:xfrm>
            <a:off x="5182519" y="1749825"/>
            <a:ext cx="1229034" cy="1229034"/>
          </a:xfrm>
          <a:prstGeom prst="rect">
            <a:avLst/>
          </a:prstGeom>
          <a:noFill/>
          <a:ln>
            <a:noFill/>
          </a:ln>
        </p:spPr>
      </p:pic>
      <p:pic>
        <p:nvPicPr>
          <p:cNvPr id="138" name="Google Shape;138;p19"/>
          <p:cNvPicPr preferRelativeResize="0"/>
          <p:nvPr/>
        </p:nvPicPr>
        <p:blipFill rotWithShape="1">
          <a:blip r:embed="rId4">
            <a:alphaModFix/>
          </a:blip>
          <a:srcRect b="0" l="0" r="0" t="0"/>
          <a:stretch/>
        </p:blipFill>
        <p:spPr>
          <a:xfrm>
            <a:off x="5861794" y="1749825"/>
            <a:ext cx="1229034" cy="1229034"/>
          </a:xfrm>
          <a:prstGeom prst="rect">
            <a:avLst/>
          </a:prstGeom>
          <a:noFill/>
          <a:ln>
            <a:noFill/>
          </a:ln>
        </p:spPr>
      </p:pic>
      <p:pic>
        <p:nvPicPr>
          <p:cNvPr id="139" name="Google Shape;139;p19"/>
          <p:cNvPicPr preferRelativeResize="0"/>
          <p:nvPr/>
        </p:nvPicPr>
        <p:blipFill rotWithShape="1">
          <a:blip r:embed="rId4">
            <a:alphaModFix/>
          </a:blip>
          <a:srcRect b="0" l="0" r="0" t="0"/>
          <a:stretch/>
        </p:blipFill>
        <p:spPr>
          <a:xfrm>
            <a:off x="6519328" y="1749825"/>
            <a:ext cx="1229034" cy="1229034"/>
          </a:xfrm>
          <a:prstGeom prst="rect">
            <a:avLst/>
          </a:prstGeom>
          <a:noFill/>
          <a:ln>
            <a:noFill/>
          </a:ln>
        </p:spPr>
      </p:pic>
      <p:sp>
        <p:nvSpPr>
          <p:cNvPr id="140" name="Google Shape;140;p19"/>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1" name="Google Shape;141;p19"/>
          <p:cNvPicPr preferRelativeResize="0"/>
          <p:nvPr/>
        </p:nvPicPr>
        <p:blipFill>
          <a:blip r:embed="rId6">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0"/>
          <p:cNvPicPr preferRelativeResize="0"/>
          <p:nvPr/>
        </p:nvPicPr>
        <p:blipFill rotWithShape="1">
          <a:blip r:embed="rId3">
            <a:alphaModFix/>
          </a:blip>
          <a:srcRect b="8949" l="8949" r="8949" t="8949"/>
          <a:stretch/>
        </p:blipFill>
        <p:spPr>
          <a:xfrm rot="5400000">
            <a:off x="3968437" y="2616619"/>
            <a:ext cx="729882" cy="729882"/>
          </a:xfrm>
          <a:prstGeom prst="rect">
            <a:avLst/>
          </a:prstGeom>
          <a:noFill/>
          <a:ln>
            <a:noFill/>
          </a:ln>
        </p:spPr>
      </p:pic>
      <p:pic>
        <p:nvPicPr>
          <p:cNvPr id="147" name="Google Shape;147;p20"/>
          <p:cNvPicPr preferRelativeResize="0"/>
          <p:nvPr/>
        </p:nvPicPr>
        <p:blipFill rotWithShape="1">
          <a:blip r:embed="rId4">
            <a:alphaModFix/>
          </a:blip>
          <a:srcRect b="0" l="0" r="0" t="0"/>
          <a:stretch/>
        </p:blipFill>
        <p:spPr>
          <a:xfrm>
            <a:off x="1866056" y="2616619"/>
            <a:ext cx="729882" cy="729882"/>
          </a:xfrm>
          <a:prstGeom prst="rect">
            <a:avLst/>
          </a:prstGeom>
          <a:noFill/>
          <a:ln>
            <a:noFill/>
          </a:ln>
        </p:spPr>
      </p:pic>
      <p:pic>
        <p:nvPicPr>
          <p:cNvPr id="148" name="Google Shape;148;p20"/>
          <p:cNvPicPr preferRelativeResize="0"/>
          <p:nvPr/>
        </p:nvPicPr>
        <p:blipFill rotWithShape="1">
          <a:blip r:embed="rId5">
            <a:alphaModFix/>
          </a:blip>
          <a:srcRect b="0" l="0" r="0" t="0"/>
          <a:stretch/>
        </p:blipFill>
        <p:spPr>
          <a:xfrm>
            <a:off x="6070819" y="2616619"/>
            <a:ext cx="729882" cy="729882"/>
          </a:xfrm>
          <a:prstGeom prst="rect">
            <a:avLst/>
          </a:prstGeom>
          <a:noFill/>
          <a:ln>
            <a:noFill/>
          </a:ln>
        </p:spPr>
      </p:pic>
      <p:sp>
        <p:nvSpPr>
          <p:cNvPr id="149" name="Google Shape;149;p20"/>
          <p:cNvSpPr txBox="1"/>
          <p:nvPr/>
        </p:nvSpPr>
        <p:spPr>
          <a:xfrm>
            <a:off x="2020566" y="3428006"/>
            <a:ext cx="520200" cy="2385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Open Sans"/>
                <a:ea typeface="Open Sans"/>
                <a:cs typeface="Open Sans"/>
                <a:sym typeface="Open Sans"/>
              </a:rPr>
              <a:t>Client</a:t>
            </a:r>
            <a:endParaRPr b="0" i="0" sz="1100" u="none" cap="none" strike="noStrike">
              <a:solidFill>
                <a:srgbClr val="000000"/>
              </a:solidFill>
              <a:latin typeface="Open Sans"/>
              <a:ea typeface="Open Sans"/>
              <a:cs typeface="Open Sans"/>
              <a:sym typeface="Open Sans"/>
            </a:endParaRPr>
          </a:p>
        </p:txBody>
      </p:sp>
      <p:sp>
        <p:nvSpPr>
          <p:cNvPr id="150" name="Google Shape;150;p20"/>
          <p:cNvSpPr txBox="1"/>
          <p:nvPr/>
        </p:nvSpPr>
        <p:spPr>
          <a:xfrm>
            <a:off x="3987497" y="3428006"/>
            <a:ext cx="729900" cy="2385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Open Sans"/>
                <a:ea typeface="Open Sans"/>
                <a:cs typeface="Open Sans"/>
                <a:sym typeface="Open Sans"/>
              </a:rPr>
              <a:t>Gateway</a:t>
            </a:r>
            <a:endParaRPr b="0" i="0" sz="1100" u="none" cap="none" strike="noStrike">
              <a:solidFill>
                <a:srgbClr val="000000"/>
              </a:solidFill>
              <a:latin typeface="Open Sans"/>
              <a:ea typeface="Open Sans"/>
              <a:cs typeface="Open Sans"/>
              <a:sym typeface="Open Sans"/>
            </a:endParaRPr>
          </a:p>
        </p:txBody>
      </p:sp>
      <p:sp>
        <p:nvSpPr>
          <p:cNvPr id="151" name="Google Shape;151;p20"/>
          <p:cNvSpPr txBox="1"/>
          <p:nvPr/>
        </p:nvSpPr>
        <p:spPr>
          <a:xfrm>
            <a:off x="6185109" y="3428006"/>
            <a:ext cx="520200" cy="2385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Open Sans"/>
                <a:ea typeface="Open Sans"/>
                <a:cs typeface="Open Sans"/>
                <a:sym typeface="Open Sans"/>
              </a:rPr>
              <a:t>Server</a:t>
            </a:r>
            <a:endParaRPr b="0" i="0" sz="1100" u="none" cap="none" strike="noStrike">
              <a:solidFill>
                <a:srgbClr val="000000"/>
              </a:solidFill>
              <a:latin typeface="Open Sans"/>
              <a:ea typeface="Open Sans"/>
              <a:cs typeface="Open Sans"/>
              <a:sym typeface="Open Sans"/>
            </a:endParaRPr>
          </a:p>
        </p:txBody>
      </p:sp>
      <p:pic>
        <p:nvPicPr>
          <p:cNvPr id="152" name="Google Shape;152;p20"/>
          <p:cNvPicPr preferRelativeResize="0"/>
          <p:nvPr/>
        </p:nvPicPr>
        <p:blipFill rotWithShape="1">
          <a:blip r:embed="rId6">
            <a:alphaModFix/>
          </a:blip>
          <a:srcRect b="0" l="0" r="0" t="0"/>
          <a:stretch/>
        </p:blipFill>
        <p:spPr>
          <a:xfrm>
            <a:off x="6045361" y="1488600"/>
            <a:ext cx="780797" cy="780797"/>
          </a:xfrm>
          <a:prstGeom prst="rect">
            <a:avLst/>
          </a:prstGeom>
          <a:noFill/>
          <a:ln>
            <a:noFill/>
          </a:ln>
        </p:spPr>
      </p:pic>
      <p:pic>
        <p:nvPicPr>
          <p:cNvPr id="153" name="Google Shape;153;p20"/>
          <p:cNvPicPr preferRelativeResize="0"/>
          <p:nvPr/>
        </p:nvPicPr>
        <p:blipFill rotWithShape="1">
          <a:blip r:embed="rId7">
            <a:alphaModFix/>
          </a:blip>
          <a:srcRect b="0" l="0" r="0" t="0"/>
          <a:stretch/>
        </p:blipFill>
        <p:spPr>
          <a:xfrm>
            <a:off x="3737186" y="1230225"/>
            <a:ext cx="1192388" cy="1192388"/>
          </a:xfrm>
          <a:prstGeom prst="rect">
            <a:avLst/>
          </a:prstGeom>
          <a:noFill/>
          <a:ln>
            <a:noFill/>
          </a:ln>
        </p:spPr>
      </p:pic>
      <p:sp>
        <p:nvSpPr>
          <p:cNvPr id="154" name="Google Shape;154;p20"/>
          <p:cNvSpPr txBox="1"/>
          <p:nvPr/>
        </p:nvSpPr>
        <p:spPr>
          <a:xfrm>
            <a:off x="4014418" y="1819383"/>
            <a:ext cx="637800" cy="284700"/>
          </a:xfrm>
          <a:prstGeom prst="rect">
            <a:avLst/>
          </a:prstGeom>
          <a:noFill/>
          <a:ln>
            <a:noFill/>
          </a:ln>
        </p:spPr>
        <p:txBody>
          <a:bodyPr anchorCtr="0" anchor="t" bIns="34275" lIns="34275" spcFirstLastPara="1" rIns="34275" wrap="square" tIns="34275">
            <a:spAutoFit/>
          </a:bodyPr>
          <a:lstStyle/>
          <a:p>
            <a:pPr indent="0" lvl="0" marL="0" marR="0" rtl="0" algn="ctr">
              <a:lnSpc>
                <a:spcPct val="100000"/>
              </a:lnSpc>
              <a:spcBef>
                <a:spcPts val="0"/>
              </a:spcBef>
              <a:spcAft>
                <a:spcPts val="0"/>
              </a:spcAft>
              <a:buClr>
                <a:srgbClr val="000000"/>
              </a:buClr>
              <a:buSzPts val="700"/>
              <a:buFont typeface="Arial"/>
              <a:buNone/>
            </a:pPr>
            <a:r>
              <a:rPr b="0" i="0" lang="en-GB" sz="700" u="none" cap="none" strike="noStrike">
                <a:solidFill>
                  <a:srgbClr val="000000"/>
                </a:solidFill>
                <a:latin typeface="Open Sans"/>
                <a:ea typeface="Open Sans"/>
                <a:cs typeface="Open Sans"/>
                <a:sym typeface="Open Sans"/>
              </a:rPr>
              <a:t>2 Scoops per minute</a:t>
            </a:r>
            <a:endParaRPr b="0" i="0" sz="700" u="none" cap="none" strike="noStrike">
              <a:solidFill>
                <a:srgbClr val="000000"/>
              </a:solidFill>
              <a:latin typeface="Open Sans"/>
              <a:ea typeface="Open Sans"/>
              <a:cs typeface="Open Sans"/>
              <a:sym typeface="Open Sans"/>
            </a:endParaRPr>
          </a:p>
        </p:txBody>
      </p:sp>
      <p:pic>
        <p:nvPicPr>
          <p:cNvPr id="155" name="Google Shape;155;p20"/>
          <p:cNvPicPr preferRelativeResize="0"/>
          <p:nvPr/>
        </p:nvPicPr>
        <p:blipFill rotWithShape="1">
          <a:blip r:embed="rId8">
            <a:alphaModFix/>
          </a:blip>
          <a:srcRect b="0" l="0" r="0" t="0"/>
          <a:stretch/>
        </p:blipFill>
        <p:spPr>
          <a:xfrm>
            <a:off x="1760091" y="1488601"/>
            <a:ext cx="780787" cy="780796"/>
          </a:xfrm>
          <a:prstGeom prst="rect">
            <a:avLst/>
          </a:prstGeom>
          <a:noFill/>
          <a:ln>
            <a:noFill/>
          </a:ln>
        </p:spPr>
      </p:pic>
      <p:cxnSp>
        <p:nvCxnSpPr>
          <p:cNvPr id="156" name="Google Shape;156;p20"/>
          <p:cNvCxnSpPr>
            <a:stCxn id="147" idx="3"/>
            <a:endCxn id="146" idx="2"/>
          </p:cNvCxnSpPr>
          <p:nvPr/>
        </p:nvCxnSpPr>
        <p:spPr>
          <a:xfrm>
            <a:off x="2595938" y="2981560"/>
            <a:ext cx="1372500" cy="0"/>
          </a:xfrm>
          <a:prstGeom prst="straightConnector1">
            <a:avLst/>
          </a:prstGeom>
          <a:noFill/>
          <a:ln cap="flat" cmpd="sng" w="76200">
            <a:solidFill>
              <a:schemeClr val="dk1"/>
            </a:solidFill>
            <a:prstDash val="solid"/>
            <a:round/>
            <a:headEnd len="sm" w="sm" type="none"/>
            <a:tailEnd len="med" w="med" type="triangle"/>
          </a:ln>
        </p:spPr>
      </p:cxnSp>
      <p:cxnSp>
        <p:nvCxnSpPr>
          <p:cNvPr id="157" name="Google Shape;157;p20"/>
          <p:cNvCxnSpPr>
            <a:endCxn id="148" idx="1"/>
          </p:cNvCxnSpPr>
          <p:nvPr/>
        </p:nvCxnSpPr>
        <p:spPr>
          <a:xfrm>
            <a:off x="4698319" y="2981560"/>
            <a:ext cx="1372500" cy="0"/>
          </a:xfrm>
          <a:prstGeom prst="straightConnector1">
            <a:avLst/>
          </a:prstGeom>
          <a:noFill/>
          <a:ln cap="flat" cmpd="sng" w="76200">
            <a:solidFill>
              <a:schemeClr val="dk1"/>
            </a:solidFill>
            <a:prstDash val="solid"/>
            <a:round/>
            <a:headEnd len="sm" w="sm" type="none"/>
            <a:tailEnd len="med" w="med" type="triangle"/>
          </a:ln>
        </p:spPr>
      </p:cxnSp>
      <p:sp>
        <p:nvSpPr>
          <p:cNvPr id="158" name="Google Shape;158;p20"/>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9" name="Google Shape;159;p20"/>
          <p:cNvPicPr preferRelativeResize="0"/>
          <p:nvPr/>
        </p:nvPicPr>
        <p:blipFill>
          <a:blip r:embed="rId9">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1"/>
          <p:cNvSpPr txBox="1"/>
          <p:nvPr>
            <p:ph idx="4294967295" type="title"/>
          </p:nvPr>
        </p:nvSpPr>
        <p:spPr>
          <a:xfrm>
            <a:off x="352425" y="45225"/>
            <a:ext cx="7030800" cy="1140600"/>
          </a:xfrm>
          <a:prstGeom prst="rect">
            <a:avLst/>
          </a:prstGeom>
          <a:noFill/>
          <a:ln>
            <a:noFill/>
          </a:ln>
        </p:spPr>
        <p:txBody>
          <a:bodyPr anchorCtr="0" anchor="ctr" bIns="17150" lIns="17150" spcFirstLastPara="1" rIns="17150" wrap="square" tIns="17150">
            <a:noAutofit/>
          </a:bodyPr>
          <a:lstStyle/>
          <a:p>
            <a:pPr indent="0" lvl="0" marL="0" rtl="0" algn="l">
              <a:lnSpc>
                <a:spcPct val="100000"/>
              </a:lnSpc>
              <a:spcBef>
                <a:spcPts val="0"/>
              </a:spcBef>
              <a:spcAft>
                <a:spcPts val="0"/>
              </a:spcAft>
              <a:buSzPts val="3000"/>
              <a:buNone/>
            </a:pPr>
            <a:r>
              <a:rPr b="1" lang="en-GB" sz="3800">
                <a:solidFill>
                  <a:srgbClr val="5900CB"/>
                </a:solidFill>
                <a:latin typeface="Inter"/>
                <a:ea typeface="Inter"/>
                <a:cs typeface="Inter"/>
                <a:sym typeface="Inter"/>
              </a:rPr>
              <a:t>Why it’s important?</a:t>
            </a:r>
            <a:endParaRPr b="1" sz="3800">
              <a:solidFill>
                <a:srgbClr val="5900CB"/>
              </a:solidFill>
              <a:latin typeface="Inter"/>
              <a:ea typeface="Inter"/>
              <a:cs typeface="Inter"/>
              <a:sym typeface="Inter"/>
            </a:endParaRPr>
          </a:p>
        </p:txBody>
      </p:sp>
      <p:sp>
        <p:nvSpPr>
          <p:cNvPr id="165" name="Google Shape;165;p21"/>
          <p:cNvSpPr txBox="1"/>
          <p:nvPr/>
        </p:nvSpPr>
        <p:spPr>
          <a:xfrm>
            <a:off x="432225" y="1236169"/>
            <a:ext cx="8411100" cy="1771500"/>
          </a:xfrm>
          <a:prstGeom prst="rect">
            <a:avLst/>
          </a:prstGeom>
          <a:noFill/>
          <a:ln>
            <a:noFill/>
          </a:ln>
        </p:spPr>
        <p:txBody>
          <a:bodyPr anchorCtr="0" anchor="t" bIns="34275" lIns="34275" spcFirstLastPara="1" rIns="34275" wrap="square" tIns="34275">
            <a:spAutoFit/>
          </a:bodyPr>
          <a:lstStyle/>
          <a:p>
            <a:pPr indent="0" lvl="0" marL="0" marR="0" rtl="0" algn="l">
              <a:lnSpc>
                <a:spcPct val="115000"/>
              </a:lnSpc>
              <a:spcBef>
                <a:spcPts val="0"/>
              </a:spcBef>
              <a:spcAft>
                <a:spcPts val="0"/>
              </a:spcAft>
              <a:buNone/>
            </a:pPr>
            <a:r>
              <a:rPr lang="en-GB">
                <a:solidFill>
                  <a:srgbClr val="505071"/>
                </a:solidFill>
                <a:latin typeface="Inter"/>
                <a:ea typeface="Inter"/>
                <a:cs typeface="Inter"/>
                <a:sym typeface="Inter"/>
              </a:rPr>
              <a:t>Help mitigate</a:t>
            </a:r>
            <a:r>
              <a:rPr i="0" lang="en-GB" u="none" cap="none" strike="noStrike">
                <a:solidFill>
                  <a:srgbClr val="505071"/>
                </a:solidFill>
                <a:latin typeface="Inter"/>
                <a:ea typeface="Inter"/>
                <a:cs typeface="Inter"/>
                <a:sym typeface="Inter"/>
              </a:rPr>
              <a:t> API abuse and maintain performance</a:t>
            </a:r>
            <a:endParaRPr>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t/>
            </a:r>
            <a:endParaRPr>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rPr lang="en-GB">
                <a:solidFill>
                  <a:srgbClr val="505071"/>
                </a:solidFill>
                <a:latin typeface="Inter"/>
                <a:ea typeface="Inter"/>
                <a:cs typeface="Inter"/>
                <a:sym typeface="Inter"/>
              </a:rPr>
              <a:t>Rate limiting may be used as an </a:t>
            </a:r>
            <a:r>
              <a:rPr b="1" lang="en-GB">
                <a:solidFill>
                  <a:srgbClr val="505071"/>
                </a:solidFill>
                <a:latin typeface="Inter"/>
                <a:ea typeface="Inter"/>
                <a:cs typeface="Inter"/>
                <a:sym typeface="Inter"/>
              </a:rPr>
              <a:t>extra line of defense</a:t>
            </a:r>
            <a:r>
              <a:rPr lang="en-GB">
                <a:solidFill>
                  <a:srgbClr val="505071"/>
                </a:solidFill>
                <a:latin typeface="Inter"/>
                <a:ea typeface="Inter"/>
                <a:cs typeface="Inter"/>
                <a:sym typeface="Inter"/>
              </a:rPr>
              <a:t> around attempted denial of service attacks.</a:t>
            </a:r>
            <a:endParaRPr>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rPr lang="en-GB">
                <a:solidFill>
                  <a:srgbClr val="505071"/>
                </a:solidFill>
                <a:latin typeface="Inter"/>
                <a:ea typeface="Inter"/>
                <a:cs typeface="Inter"/>
                <a:sym typeface="Inter"/>
              </a:rPr>
              <a:t> </a:t>
            </a:r>
            <a:endParaRPr>
              <a:solidFill>
                <a:srgbClr val="505071"/>
              </a:solidFill>
              <a:latin typeface="Inter"/>
              <a:ea typeface="Inter"/>
              <a:cs typeface="Inter"/>
              <a:sym typeface="Inter"/>
            </a:endParaRPr>
          </a:p>
          <a:p>
            <a:pPr indent="0" lvl="0" marL="0" marR="0" rtl="0" algn="l">
              <a:lnSpc>
                <a:spcPct val="115000"/>
              </a:lnSpc>
              <a:spcBef>
                <a:spcPts val="0"/>
              </a:spcBef>
              <a:spcAft>
                <a:spcPts val="0"/>
              </a:spcAft>
              <a:buNone/>
            </a:pPr>
            <a:r>
              <a:rPr lang="en-GB">
                <a:solidFill>
                  <a:srgbClr val="505071"/>
                </a:solidFill>
                <a:latin typeface="Inter"/>
                <a:ea typeface="Inter"/>
                <a:cs typeface="Inter"/>
                <a:sym typeface="Inter"/>
              </a:rPr>
              <a:t>For instance, if you have load-tested your current system and established a performance threshold that you would not want to exceed to ensure system availability and/or performance then you may want to set a global rate limit as a defense to ensure it hasn’t exceeded.</a:t>
            </a:r>
            <a:endParaRPr>
              <a:solidFill>
                <a:srgbClr val="505071"/>
              </a:solidFill>
              <a:latin typeface="Inter"/>
              <a:ea typeface="Inter"/>
              <a:cs typeface="Inter"/>
              <a:sym typeface="Inter"/>
            </a:endParaRPr>
          </a:p>
        </p:txBody>
      </p:sp>
      <p:sp>
        <p:nvSpPr>
          <p:cNvPr id="166" name="Google Shape;166;p21"/>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7" name="Google Shape;167;p21"/>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