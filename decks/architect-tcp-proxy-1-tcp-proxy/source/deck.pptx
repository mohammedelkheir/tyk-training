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Inter Light"/>
      <p:regular r:id="rId8"/>
      <p:bold r:id="rId9"/>
      <p:italic r:id="rId10"/>
      <p:boldItalic r:id="rId11"/>
    </p:embeddedFont>
    <p:embeddedFont>
      <p:font typeface="Inter"/>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Light-boldItalic.fntdata"/><Relationship Id="rId10" Type="http://schemas.openxmlformats.org/officeDocument/2006/relationships/font" Target="fonts/InterLight-italic.fntdata"/><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Light-bold.fntdata"/><Relationship Id="rId15" Type="http://schemas.openxmlformats.org/officeDocument/2006/relationships/font" Target="fonts/Inter-boldItalic.fntdata"/><Relationship Id="rId14"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Inter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012da1d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012da1d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012da1d0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012da1d0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is traditionally known for managing APIs over HTTP and HTTPS, but it also supports proxying raw TCP traffic.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means you can use Tyk to route traffic not just for REST or GraphQL APIs, but also for things like databases, Redis, MQTT brokers, or any custom protocol over TCP or TLS.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It’s especially useful when you want to bring centralized access control, monitoring, and failover to those non-HTTP services."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"Here’s what a basic TCP API definition looks like.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this example, Tyk listens on port 30001 using TLS. It forwards traffic to an upstream service also using TLS.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can define this through the Tyk API using JSON. The protocol field supports either tcp or tls, and the target_url needs to use the same scheme.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you’re using TLS, you can specify one or more certificates by ID or path."</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415550" y="1625100"/>
            <a:ext cx="63129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Overview – Using Tyk as a TCP Proxy</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415200" y="925600"/>
            <a:ext cx="7738200" cy="3810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Tyk can act as a reverse proxy for TCP services.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Enables management of non-HTTP applications (e.g., databases, custom protocols).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Configure via:</a:t>
            </a:r>
            <a:endParaRPr>
              <a:solidFill>
                <a:srgbClr val="03031C"/>
              </a:solidFill>
              <a:latin typeface="Inter"/>
              <a:ea typeface="Inter"/>
              <a:cs typeface="Inter"/>
              <a:sym typeface="Inter"/>
            </a:endParaRPr>
          </a:p>
          <a:p>
            <a:pPr indent="-317500" lvl="1" marL="9144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API definitions (JSON)</a:t>
            </a:r>
            <a:endParaRPr>
              <a:solidFill>
                <a:srgbClr val="03031C"/>
              </a:solidFill>
              <a:latin typeface="Inter"/>
              <a:ea typeface="Inter"/>
              <a:cs typeface="Inter"/>
              <a:sym typeface="Inter"/>
            </a:endParaRPr>
          </a:p>
          <a:p>
            <a:pPr indent="-317500" lvl="1" marL="9144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Tyk Dashboard UI</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Basic TCP API Definition</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  "listen_port": 30001,</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  "protocol": "tls",</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  "certificate": ["&lt;cert-id&gt;"],</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  "proxy": {</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    "target_url": "tls://upstream:9191"</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  }</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900">
                <a:solidFill>
                  <a:srgbClr val="03031C"/>
                </a:solidFill>
                <a:latin typeface="Courier New"/>
                <a:ea typeface="Courier New"/>
                <a:cs typeface="Courier New"/>
                <a:sym typeface="Courier New"/>
              </a:rPr>
              <a:t>}</a:t>
            </a:r>
            <a:endParaRPr sz="9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900">
              <a:solidFill>
                <a:srgbClr val="03031C"/>
              </a:solidFill>
              <a:latin typeface="Courier New"/>
              <a:ea typeface="Courier New"/>
              <a:cs typeface="Courier New"/>
              <a:sym typeface="Courier New"/>
            </a:endParaRPr>
          </a:p>
          <a:p>
            <a:pPr indent="-285750" lvl="0" marL="457200" rtl="0" algn="l">
              <a:lnSpc>
                <a:spcPct val="115000"/>
              </a:lnSpc>
              <a:spcBef>
                <a:spcPts val="0"/>
              </a:spcBef>
              <a:spcAft>
                <a:spcPts val="0"/>
              </a:spcAft>
              <a:buClr>
                <a:srgbClr val="03031C"/>
              </a:buClr>
              <a:buSzPts val="900"/>
              <a:buFont typeface="Inter"/>
              <a:buChar char="●"/>
            </a:pPr>
            <a:r>
              <a:rPr lang="en-GB" sz="900">
                <a:solidFill>
                  <a:srgbClr val="03031C"/>
                </a:solidFill>
                <a:latin typeface="Courier New"/>
                <a:ea typeface="Courier New"/>
                <a:cs typeface="Courier New"/>
                <a:sym typeface="Courier New"/>
              </a:rPr>
              <a:t>protocol</a:t>
            </a:r>
            <a:r>
              <a:rPr lang="en-GB" sz="900">
                <a:solidFill>
                  <a:srgbClr val="03031C"/>
                </a:solidFill>
                <a:latin typeface="Inter"/>
                <a:ea typeface="Inter"/>
                <a:cs typeface="Inter"/>
                <a:sym typeface="Inter"/>
              </a:rPr>
              <a:t>: </a:t>
            </a:r>
            <a:r>
              <a:rPr lang="en-GB" sz="900">
                <a:solidFill>
                  <a:srgbClr val="03031C"/>
                </a:solidFill>
                <a:latin typeface="Courier New"/>
                <a:ea typeface="Courier New"/>
                <a:cs typeface="Courier New"/>
                <a:sym typeface="Courier New"/>
              </a:rPr>
              <a:t>"tcp"</a:t>
            </a:r>
            <a:r>
              <a:rPr lang="en-GB" sz="900">
                <a:solidFill>
                  <a:srgbClr val="03031C"/>
                </a:solidFill>
                <a:latin typeface="Inter"/>
                <a:ea typeface="Inter"/>
                <a:cs typeface="Inter"/>
                <a:sym typeface="Inter"/>
              </a:rPr>
              <a:t> or </a:t>
            </a:r>
            <a:r>
              <a:rPr lang="en-GB" sz="900">
                <a:solidFill>
                  <a:srgbClr val="03031C"/>
                </a:solidFill>
                <a:latin typeface="Courier New"/>
                <a:ea typeface="Courier New"/>
                <a:cs typeface="Courier New"/>
                <a:sym typeface="Courier New"/>
              </a:rPr>
              <a:t>"tls"</a:t>
            </a:r>
            <a:endParaRPr sz="900">
              <a:solidFill>
                <a:srgbClr val="03031C"/>
              </a:solidFill>
              <a:latin typeface="Courier New"/>
              <a:ea typeface="Courier New"/>
              <a:cs typeface="Courier New"/>
              <a:sym typeface="Courier New"/>
            </a:endParaRPr>
          </a:p>
          <a:p>
            <a:pPr indent="-285750" lvl="0" marL="457200" rtl="0" algn="l">
              <a:lnSpc>
                <a:spcPct val="115000"/>
              </a:lnSpc>
              <a:spcBef>
                <a:spcPts val="0"/>
              </a:spcBef>
              <a:spcAft>
                <a:spcPts val="0"/>
              </a:spcAft>
              <a:buClr>
                <a:srgbClr val="03031C"/>
              </a:buClr>
              <a:buSzPts val="900"/>
              <a:buFont typeface="Inter"/>
              <a:buChar char="●"/>
            </a:pPr>
            <a:r>
              <a:rPr lang="en-GB" sz="900">
                <a:solidFill>
                  <a:srgbClr val="03031C"/>
                </a:solidFill>
                <a:latin typeface="Courier New"/>
                <a:ea typeface="Courier New"/>
                <a:cs typeface="Courier New"/>
                <a:sym typeface="Courier New"/>
              </a:rPr>
              <a:t>target_url</a:t>
            </a:r>
            <a:r>
              <a:rPr lang="en-GB" sz="900">
                <a:solidFill>
                  <a:srgbClr val="03031C"/>
                </a:solidFill>
                <a:latin typeface="Inter"/>
                <a:ea typeface="Inter"/>
                <a:cs typeface="Inter"/>
                <a:sym typeface="Inter"/>
              </a:rPr>
              <a:t>: must start with </a:t>
            </a:r>
            <a:r>
              <a:rPr lang="en-GB" sz="900">
                <a:solidFill>
                  <a:srgbClr val="03031C"/>
                </a:solidFill>
                <a:latin typeface="Courier New"/>
                <a:ea typeface="Courier New"/>
                <a:cs typeface="Courier New"/>
                <a:sym typeface="Courier New"/>
              </a:rPr>
              <a:t>tcp://</a:t>
            </a:r>
            <a:r>
              <a:rPr lang="en-GB" sz="900">
                <a:solidFill>
                  <a:srgbClr val="03031C"/>
                </a:solidFill>
                <a:latin typeface="Inter"/>
                <a:ea typeface="Inter"/>
                <a:cs typeface="Inter"/>
                <a:sym typeface="Inter"/>
              </a:rPr>
              <a:t> or </a:t>
            </a:r>
            <a:r>
              <a:rPr lang="en-GB" sz="900">
                <a:solidFill>
                  <a:srgbClr val="03031C"/>
                </a:solidFill>
                <a:latin typeface="Courier New"/>
                <a:ea typeface="Courier New"/>
                <a:cs typeface="Courier New"/>
                <a:sym typeface="Courier New"/>
              </a:rPr>
              <a:t>tls://</a:t>
            </a:r>
            <a:endParaRPr sz="900">
              <a:solidFill>
                <a:srgbClr val="03031C"/>
              </a:solidFill>
              <a:latin typeface="Courier New"/>
              <a:ea typeface="Courier New"/>
              <a:cs typeface="Courier New"/>
              <a:sym typeface="Courier New"/>
            </a:endParaRPr>
          </a:p>
          <a:p>
            <a:pPr indent="-285750" lvl="0" marL="457200" rtl="0" algn="l">
              <a:lnSpc>
                <a:spcPct val="115000"/>
              </a:lnSpc>
              <a:spcBef>
                <a:spcPts val="0"/>
              </a:spcBef>
              <a:spcAft>
                <a:spcPts val="0"/>
              </a:spcAft>
              <a:buClr>
                <a:srgbClr val="03031C"/>
              </a:buClr>
              <a:buSzPts val="900"/>
              <a:buFont typeface="Inter"/>
              <a:buChar char="●"/>
            </a:pPr>
            <a:r>
              <a:rPr lang="en-GB" sz="900">
                <a:solidFill>
                  <a:srgbClr val="03031C"/>
                </a:solidFill>
                <a:latin typeface="Inter"/>
                <a:ea typeface="Inter"/>
                <a:cs typeface="Inter"/>
                <a:sym typeface="Inter"/>
              </a:rPr>
              <a:t>For TLS, attach certificates by ID or path</a:t>
            </a:r>
            <a:endParaRPr sz="900">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1570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Overview – Using Tyk as a TCP Proxy</a:t>
            </a:r>
            <a:endParaRPr b="1" sz="3300">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