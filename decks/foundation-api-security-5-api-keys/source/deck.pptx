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Open Sans SemiBold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18AF8C-2EF5-425B-8BE3-61DB5EE5CA17}">
  <a:tblStyle styleId="{A518AF8C-2EF5-425B-8BE3-61DB5EE5CA1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italic.fntdata"/><Relationship Id="rId30" Type="http://schemas.openxmlformats.org/officeDocument/2006/relationships/font" Target="fonts/OpenSansSemiBold-bold.fntdata"/><Relationship Id="rId11" Type="http://schemas.openxmlformats.org/officeDocument/2006/relationships/slide" Target="slides/slide5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32" Type="http://schemas.openxmlformats.org/officeDocument/2006/relationships/font" Target="fonts/OpenSans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a121275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a121275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45e3d8ee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45e3d8ee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45e3d8ee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45e3d8ee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a121275f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a121275f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45e3d8ee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45e3d8ee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45e3d8ee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45e3d8ee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5e3d8ee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5e3d8ee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45e3d8ee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45e3d8ee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45e3d8ee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45e3d8ee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45e3d8ee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45e3d8ee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45e3d8ee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45e3d8ee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45e3d8ee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45e3d8ee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45e3d8ee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45e3d8ee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53" name="Google Shape;53;p13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76425" y="962175"/>
            <a:ext cx="8425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API </a:t>
            </a: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Security with Tyk: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Session Objects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738950" y="2246175"/>
            <a:ext cx="5679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Learn how Tyk handles identity, access, and lifecycle through session objects.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What is a Session Object?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869950" y="1062050"/>
            <a:ext cx="76287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 Tyk, every identity maps to a Session Object.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Supported identity types: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Bearer Tokens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HMAC Keys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JSON Web Tokens (JWT)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OpenID Connect (OIDC) identities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Basic Auth users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Think of it as the user’s metadata — how Tyk knows who is accessing what and how.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D0D1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29741" y="307673"/>
            <a:ext cx="951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What Does a Session Object Contain?</a:t>
            </a:r>
            <a:endParaRPr b="1" sz="36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869950" y="1062050"/>
            <a:ext cx="76287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session object defines: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Rate limit rules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Quota limits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cess Control List (ACL)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Policy ID (if used)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Expiry time of the access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Optional metadata and alias for identification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D0D1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638276" y="307675"/>
            <a:ext cx="877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Where are Session Objects Stored?</a:t>
            </a:r>
            <a:endParaRPr b="1" sz="36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869950" y="1062050"/>
            <a:ext cx="6094500" cy="21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Stored in Redis (not MongoDB or Gateway memory).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Stored as: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&lt;hashed_token_string&gt; : &lt;session_object_JSON&gt;</a:t>
            </a:r>
            <a:endParaRPr sz="1700">
              <a:solidFill>
                <a:srgbClr val="38761D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D0D18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D0D18"/>
                </a:solidFill>
                <a:latin typeface="Inter"/>
                <a:ea typeface="Inter"/>
                <a:cs typeface="Inter"/>
                <a:sym typeface="Inter"/>
              </a:rPr>
              <a:t>Tokens are hashed for security.</a:t>
            </a:r>
            <a:endParaRPr>
              <a:solidFill>
                <a:srgbClr val="0D0D1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D0D18"/>
                </a:solidFill>
                <a:latin typeface="Inter"/>
                <a:ea typeface="Inter"/>
                <a:cs typeface="Inter"/>
                <a:sym typeface="Inter"/>
              </a:rPr>
              <a:t>Use Alias to identify sessions in logs and analytics.</a:t>
            </a:r>
            <a:endParaRPr>
              <a:solidFill>
                <a:srgbClr val="0D0D1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Keys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869950" y="1366850"/>
            <a:ext cx="32172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400"/>
              <a:buFont typeface="Roboto"/>
              <a:buChar char="•"/>
            </a:pPr>
            <a:r>
              <a:rPr lang="en-GB">
                <a:solidFill>
                  <a:srgbClr val="0D0D18"/>
                </a:solidFill>
                <a:latin typeface="Roboto"/>
                <a:ea typeface="Roboto"/>
                <a:cs typeface="Roboto"/>
                <a:sym typeface="Roboto"/>
              </a:rPr>
              <a:t>Underlying data structure for keys stored in Tyk (in Redis)</a:t>
            </a:r>
            <a:endParaRPr>
              <a:solidFill>
                <a:srgbClr val="0D0D1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400"/>
              <a:buFont typeface="Roboto"/>
              <a:buChar char="•"/>
            </a:pPr>
            <a:r>
              <a:rPr lang="en-GB">
                <a:solidFill>
                  <a:srgbClr val="0D0D18"/>
                </a:solidFill>
                <a:latin typeface="Roboto"/>
                <a:ea typeface="Roboto"/>
                <a:cs typeface="Roboto"/>
                <a:sym typeface="Roboto"/>
              </a:rPr>
              <a:t>Every auth type in the gateway will result in a structure like this existing under the hood.</a:t>
            </a:r>
            <a:endParaRPr>
              <a:solidFill>
                <a:srgbClr val="0D0D1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400"/>
              <a:buFont typeface="Roboto"/>
              <a:buChar char="•"/>
            </a:pPr>
            <a:r>
              <a:rPr lang="en-GB">
                <a:solidFill>
                  <a:srgbClr val="0D0D18"/>
                </a:solidFill>
                <a:latin typeface="Roboto"/>
                <a:ea typeface="Roboto"/>
                <a:cs typeface="Roboto"/>
                <a:sym typeface="Roboto"/>
              </a:rPr>
              <a:t>Can be hashed with a number of algorithms i.e. murmur 64/128, sha1/256 or not at all.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0950" y="0"/>
            <a:ext cx="233346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Key Fields Explained (1/2)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04" name="Google Shape;104;p19"/>
          <p:cNvGraphicFramePr/>
          <p:nvPr/>
        </p:nvGraphicFramePr>
        <p:xfrm>
          <a:off x="2038493" y="11834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{A518AF8C-2EF5-425B-8BE3-61DB5EE5CA17}</a:tableStyleId>
              </a:tblPr>
              <a:tblGrid>
                <a:gridCol w="1578625"/>
                <a:gridCol w="34884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Field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Description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rate</a:t>
                      </a:r>
                      <a:r>
                        <a:rPr lang="en-GB" sz="1100"/>
                        <a:t> / </a:t>
                      </a: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Defines rate limiting window (e.g., 1000 req/sec)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quota_max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Max requests in a quota period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quota_remaining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Remaining quota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quota_renewal_rate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How long the quota lasts (e.g., 3600 = 1h)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access_rights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Defines which APIs/versions are accessible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org_id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Organization that owns the token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Key Fields Explained (2/2)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12" name="Google Shape;112;p20"/>
          <p:cNvGraphicFramePr/>
          <p:nvPr/>
        </p:nvGraphicFramePr>
        <p:xfrm>
          <a:off x="2171688" y="127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{A518AF8C-2EF5-425B-8BE3-61DB5EE5CA17}</a:tableStyleId>
              </a:tblPr>
              <a:tblGrid>
                <a:gridCol w="1457100"/>
                <a:gridCol w="33435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Field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Description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apply_policies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List of attached policy IDs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meta_data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Custom info for transforms/middleware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tags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Tags added to analytics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alias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Human-readable identifier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is_inactive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If true → denies access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expires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UNIX timestamp for key expiry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638269" y="307675"/>
            <a:ext cx="79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Metadata &amp; Alias</a:t>
            </a:r>
            <a:endParaRPr b="1" sz="36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869950" y="1062050"/>
            <a:ext cx="76287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Metadata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Key/value pairs for user context (e.g., user_id, email, plan_type)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Can be injected into: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Headers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URL rewrites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Request/Response transforms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Virtual Endpoints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Used for personalization, validation, or upstream enrichment.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Alias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Human-readable identifier for a token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Appears in logs and analytics (important because tokens are hashed in Redis)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D0D1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638276" y="307675"/>
            <a:ext cx="877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Session Metadata in Action</a:t>
            </a:r>
            <a:endParaRPr b="1" sz="36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869950" y="1143155"/>
            <a:ext cx="6094500" cy="3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Metadata can be used by: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URL Rewrite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Header Transformations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Body Transformations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Virtual Endpoints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Custom Plugins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Example use case: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Inject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meta_data.user_email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into a header for upstream logging.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638276" y="307675"/>
            <a:ext cx="877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Expiry vs Invalidation</a:t>
            </a:r>
            <a:endParaRPr b="1" sz="36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36" name="Google Shape;136;p23"/>
          <p:cNvGraphicFramePr/>
          <p:nvPr/>
        </p:nvGraphicFramePr>
        <p:xfrm>
          <a:off x="990075" y="11316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{A518AF8C-2EF5-425B-8BE3-61DB5EE5CA17}</a:tableStyleId>
              </a:tblPr>
              <a:tblGrid>
                <a:gridCol w="2028775"/>
                <a:gridCol w="51350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Term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Meaning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Expiry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Token remains in Redis but is no longer valid — returns </a:t>
                      </a: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401 Key has expired</a:t>
                      </a:r>
                      <a:r>
                        <a:rPr lang="en-GB" sz="1100"/>
                        <a:t>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Invalidation / Deletion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Token is deleted from Redis — returns </a:t>
                      </a: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400 Access disallowed</a:t>
                      </a:r>
                      <a:r>
                        <a:rPr lang="en-GB" sz="1100"/>
                        <a:t>.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" name="Google Shape;137;p23"/>
          <p:cNvSpPr txBox="1"/>
          <p:nvPr/>
        </p:nvSpPr>
        <p:spPr>
          <a:xfrm>
            <a:off x="1033325" y="3225127"/>
            <a:ext cx="65916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Important: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Developers who hardcode tokens may need expiry to notify renewal instead of full invalidation.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638276" y="307675"/>
            <a:ext cx="877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Key Lifetime and Expiry</a:t>
            </a:r>
            <a:endParaRPr b="1" sz="36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778475" y="1151500"/>
            <a:ext cx="80745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distinguishes between: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Expiry: token can’t be used (but still in Redis)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Lifetime: how long token stays in Redis before deletion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Controlling Key Lifetime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 can control key deletion at: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AutoNum type="arabicPeriod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level →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session_lifetime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in API definition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AutoNum type="arabicPeriod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Gateway level →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global_session_lifetime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tyk.conf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Note: a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value means infinite lifetime (never deleted).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638276" y="307675"/>
            <a:ext cx="877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Lifetime Example</a:t>
            </a:r>
            <a:endParaRPr b="1" sz="36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778475" y="1151500"/>
            <a:ext cx="80745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"session_lifetime": 86400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→ Token deleted from Redis after 24 hours of creation.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Use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session_lifetime_respects_key_expiration: true</a:t>
            </a:r>
            <a:r>
              <a:rPr lang="en-GB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to prevent early deletion.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/>
          <p:nvPr/>
        </p:nvSpPr>
        <p:spPr>
          <a:xfrm>
            <a:off x="638276" y="307675"/>
            <a:ext cx="877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Key Lifetime Precedence Summary</a:t>
            </a:r>
            <a:endParaRPr b="1" sz="36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61" name="Google Shape;161;p26"/>
          <p:cNvGraphicFramePr/>
          <p:nvPr/>
        </p:nvGraphicFramePr>
        <p:xfrm>
          <a:off x="402225" y="141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{A518AF8C-2EF5-425B-8BE3-61DB5EE5CA17}</a:tableStyleId>
              </a:tblPr>
              <a:tblGrid>
                <a:gridCol w="2403425"/>
                <a:gridCol w="3371975"/>
                <a:gridCol w="2774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force_global_session_lifetime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session_lifetime_respects_key_expiration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Effective Lifetime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global_session_lifetime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global_session_lifetime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larger of</a:t>
                      </a:r>
                      <a:r>
                        <a:rPr lang="en-GB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session_lifetime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</a:t>
                      </a:r>
                      <a:r>
                        <a:rPr lang="en-GB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expires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session_lifetime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638276" y="307675"/>
            <a:ext cx="877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Recap</a:t>
            </a:r>
            <a:endParaRPr b="1" sz="36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778475" y="1151500"/>
            <a:ext cx="80745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Session Object = Identity + Access Metadata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Stored in Redis (hashed key → JSON object)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Controls rate limit, quota, ACL, expiry, and policy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Metadata enhances flexibility and customization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Separate expiry and deletion behavior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 lifetime configurable at API or Gateway level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